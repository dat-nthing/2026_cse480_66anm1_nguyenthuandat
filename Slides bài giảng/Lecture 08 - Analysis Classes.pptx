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6858000" cx="9144000"/>
  <p:notesSz cx="6858000" cy="9144000"/>
  <p:embeddedFontLst>
    <p:embeddedFont>
      <p:font typeface="Constantia"/>
      <p:regular r:id="rId47"/>
      <p:bold r:id="rId48"/>
      <p:italic r:id="rId49"/>
      <p:boldItalic r:id="rId50"/>
    </p:embeddedFont>
    <p:embeddedFont>
      <p:font typeface="Franklin Gothic"/>
      <p:bold r:id="rId51"/>
    </p:embeddedFont>
    <p:embeddedFont>
      <p:font typeface="Helvetica Neue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6" roundtripDataSignature="AMtx7migrCfGphQt0JEC2sAOQkP1SQzU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Constantia-bold.fntdata"/><Relationship Id="rId47" Type="http://schemas.openxmlformats.org/officeDocument/2006/relationships/font" Target="fonts/Constantia-regular.fntdata"/><Relationship Id="rId49" Type="http://schemas.openxmlformats.org/officeDocument/2006/relationships/font" Target="fonts/Constantia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FranklinGothic-bold.fntdata"/><Relationship Id="rId50" Type="http://schemas.openxmlformats.org/officeDocument/2006/relationships/font" Target="fonts/Constantia-boldItalic.fntdata"/><Relationship Id="rId53" Type="http://schemas.openxmlformats.org/officeDocument/2006/relationships/font" Target="fonts/HelveticaNeue-bold.fntdata"/><Relationship Id="rId52" Type="http://schemas.openxmlformats.org/officeDocument/2006/relationships/font" Target="fonts/HelveticaNeue-regular.fntdata"/><Relationship Id="rId11" Type="http://schemas.openxmlformats.org/officeDocument/2006/relationships/slide" Target="slides/slide5.xml"/><Relationship Id="rId55" Type="http://schemas.openxmlformats.org/officeDocument/2006/relationships/font" Target="fonts/HelveticaNeue-boldItalic.fntdata"/><Relationship Id="rId10" Type="http://schemas.openxmlformats.org/officeDocument/2006/relationships/slide" Target="slides/slide4.xml"/><Relationship Id="rId54" Type="http://schemas.openxmlformats.org/officeDocument/2006/relationships/font" Target="fonts/HelveticaNeue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6" name="Google Shape;110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4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4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3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3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6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6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7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47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8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48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48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48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9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1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1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51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2"/>
          <p:cNvSpPr/>
          <p:nvPr/>
        </p:nvSpPr>
        <p:spPr>
          <a:xfrm flipH="1" rot="-10380000">
            <a:off x="3165753" y="1108077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9" name="Google Shape;89;p52"/>
          <p:cNvSpPr/>
          <p:nvPr/>
        </p:nvSpPr>
        <p:spPr>
          <a:xfrm flipH="1" rot="-10380000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0" name="Google Shape;90;p52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2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2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52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accent3"/>
              </a:buClr>
              <a:buSzPts val="304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6" name="Google Shape;96;p52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7" name="Google Shape;97;p52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3"/>
          <p:cNvSpPr txBox="1"/>
          <p:nvPr>
            <p:ph idx="1" type="body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5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4"/>
          <p:cNvSpPr txBox="1"/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4"/>
          <p:cNvSpPr txBox="1"/>
          <p:nvPr>
            <p:ph idx="1" type="body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1" name="Google Shape;11;p42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" name="Google Shape;12;p4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4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4" name="Google Shape;14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5" name="Google Shape;15;p4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6" name="Google Shape;16;p4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42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8" name="Google Shape;18;p42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9" name="Google Shape;19;p42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1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" name="Google Shape;28;p41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9" name="Google Shape;29;p4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4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1" name="Google Shape;3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2" name="Google Shape;32;p4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3" name="Google Shape;33;p4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4" name="Google Shape;34;p41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35" name="Google Shape;35;p4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6" name="Google Shape;36;p4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namnv@tlu.edu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Phân tích Thiết kế HTTT</a:t>
            </a:r>
            <a:endParaRPr/>
          </a:p>
        </p:txBody>
      </p:sp>
      <p:sp>
        <p:nvSpPr>
          <p:cNvPr id="115" name="Google Shape;115;p1"/>
          <p:cNvSpPr txBox="1"/>
          <p:nvPr>
            <p:ph idx="1" type="subTitle"/>
          </p:nvPr>
        </p:nvSpPr>
        <p:spPr>
          <a:xfrm>
            <a:off x="533400" y="4191000"/>
            <a:ext cx="7854696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Ths. Nguyễn Văn Nam</a:t>
            </a:r>
            <a:endParaRPr/>
          </a:p>
          <a:p>
            <a:pPr indent="0" lvl="0" marL="0" marR="45720" rtl="0" algn="r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Email: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namnv@tlu.edu.vn</a:t>
            </a:r>
            <a:endParaRPr/>
          </a:p>
          <a:p>
            <a:pPr indent="0" lvl="0" marL="0" marR="45720" rtl="0" algn="r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Website: namvannguyen.blogspot.com</a:t>
            </a:r>
            <a:endParaRPr/>
          </a:p>
          <a:p>
            <a:pPr indent="0" lvl="0" marL="0" marR="45720" rtl="0" algn="r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116" name="Google Shape;116;p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609600" y="3200400"/>
            <a:ext cx="78546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4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Phân tích ca sử dụng</a:t>
            </a:r>
            <a:endParaRPr b="0" i="0" sz="32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23" name="Google Shape;123;p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Tổng quan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Xác định lớp phân tích</a:t>
            </a:r>
            <a:endParaRPr/>
          </a:p>
        </p:txBody>
      </p:sp>
      <p:sp>
        <p:nvSpPr>
          <p:cNvPr id="124" name="Google Shape;124;p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Tổng quan phân tích ca sử dụng</a:t>
            </a:r>
            <a:endParaRPr/>
          </a:p>
        </p:txBody>
      </p:sp>
      <p:sp>
        <p:nvSpPr>
          <p:cNvPr id="130" name="Google Shape;130;p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1" name="Google Shape;131;p3"/>
          <p:cNvGrpSpPr/>
          <p:nvPr/>
        </p:nvGrpSpPr>
        <p:grpSpPr>
          <a:xfrm>
            <a:off x="457204" y="1935163"/>
            <a:ext cx="8229597" cy="4389437"/>
            <a:chOff x="304812" y="865188"/>
            <a:chExt cx="8637579" cy="5384800"/>
          </a:xfrm>
        </p:grpSpPr>
        <p:grpSp>
          <p:nvGrpSpPr>
            <p:cNvPr id="132" name="Google Shape;132;p3"/>
            <p:cNvGrpSpPr/>
            <p:nvPr/>
          </p:nvGrpSpPr>
          <p:grpSpPr>
            <a:xfrm>
              <a:off x="304812" y="2730501"/>
              <a:ext cx="1736728" cy="1589088"/>
              <a:chOff x="3971" y="1776"/>
              <a:chExt cx="1094" cy="1001"/>
            </a:xfrm>
          </p:grpSpPr>
          <p:grpSp>
            <p:nvGrpSpPr>
              <p:cNvPr id="133" name="Google Shape;133;p3"/>
              <p:cNvGrpSpPr/>
              <p:nvPr/>
            </p:nvGrpSpPr>
            <p:grpSpPr>
              <a:xfrm>
                <a:off x="4297" y="1776"/>
                <a:ext cx="432" cy="720"/>
                <a:chOff x="1249" y="2496"/>
                <a:chExt cx="432" cy="720"/>
              </a:xfrm>
            </p:grpSpPr>
            <p:sp>
              <p:nvSpPr>
                <p:cNvPr id="134" name="Google Shape;134;p3"/>
                <p:cNvSpPr/>
                <p:nvPr/>
              </p:nvSpPr>
              <p:spPr>
                <a:xfrm>
                  <a:off x="1249" y="2496"/>
                  <a:ext cx="432" cy="72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35" name="Google Shape;135;p3"/>
                <p:cNvCxnSpPr/>
                <p:nvPr/>
              </p:nvCxnSpPr>
              <p:spPr>
                <a:xfrm>
                  <a:off x="1537" y="2496"/>
                  <a:ext cx="144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6" name="Google Shape;136;p3"/>
                <p:cNvCxnSpPr/>
                <p:nvPr/>
              </p:nvCxnSpPr>
              <p:spPr>
                <a:xfrm>
                  <a:off x="1537" y="2496"/>
                  <a:ext cx="0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7" name="Google Shape;137;p3"/>
                <p:cNvCxnSpPr/>
                <p:nvPr/>
              </p:nvCxnSpPr>
              <p:spPr>
                <a:xfrm rot="10800000">
                  <a:off x="1537" y="2640"/>
                  <a:ext cx="1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8" name="Google Shape;138;p3"/>
                <p:cNvCxnSpPr/>
                <p:nvPr/>
              </p:nvCxnSpPr>
              <p:spPr>
                <a:xfrm>
                  <a:off x="1297" y="273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9" name="Google Shape;139;p3"/>
                <p:cNvCxnSpPr/>
                <p:nvPr/>
              </p:nvCxnSpPr>
              <p:spPr>
                <a:xfrm>
                  <a:off x="1297" y="278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0" name="Google Shape;140;p3"/>
                <p:cNvCxnSpPr/>
                <p:nvPr/>
              </p:nvCxnSpPr>
              <p:spPr>
                <a:xfrm>
                  <a:off x="1297" y="283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1" name="Google Shape;141;p3"/>
                <p:cNvCxnSpPr/>
                <p:nvPr/>
              </p:nvCxnSpPr>
              <p:spPr>
                <a:xfrm>
                  <a:off x="1297" y="292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2" name="Google Shape;142;p3"/>
                <p:cNvCxnSpPr/>
                <p:nvPr/>
              </p:nvCxnSpPr>
              <p:spPr>
                <a:xfrm>
                  <a:off x="1297" y="288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3" name="Google Shape;143;p3"/>
                <p:cNvCxnSpPr/>
                <p:nvPr/>
              </p:nvCxnSpPr>
              <p:spPr>
                <a:xfrm>
                  <a:off x="1297" y="297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4" name="Google Shape;144;p3"/>
                <p:cNvCxnSpPr/>
                <p:nvPr/>
              </p:nvCxnSpPr>
              <p:spPr>
                <a:xfrm>
                  <a:off x="1297" y="302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5" name="Google Shape;145;p3"/>
                <p:cNvCxnSpPr/>
                <p:nvPr/>
              </p:nvCxnSpPr>
              <p:spPr>
                <a:xfrm>
                  <a:off x="1297" y="307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6" name="Google Shape;146;p3"/>
                <p:cNvCxnSpPr/>
                <p:nvPr/>
              </p:nvCxnSpPr>
              <p:spPr>
                <a:xfrm>
                  <a:off x="1297" y="312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7" name="Google Shape;147;p3"/>
                <p:cNvCxnSpPr/>
                <p:nvPr/>
              </p:nvCxnSpPr>
              <p:spPr>
                <a:xfrm>
                  <a:off x="1297" y="316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8" name="Google Shape;148;p3"/>
                <p:cNvCxnSpPr/>
                <p:nvPr/>
              </p:nvCxnSpPr>
              <p:spPr>
                <a:xfrm>
                  <a:off x="1297" y="268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9" name="Google Shape;149;p3"/>
                <p:cNvCxnSpPr/>
                <p:nvPr/>
              </p:nvCxnSpPr>
              <p:spPr>
                <a:xfrm>
                  <a:off x="1297" y="2592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0" name="Google Shape;150;p3"/>
                <p:cNvCxnSpPr/>
                <p:nvPr/>
              </p:nvCxnSpPr>
              <p:spPr>
                <a:xfrm>
                  <a:off x="1297" y="2544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1" name="Google Shape;151;p3"/>
                <p:cNvCxnSpPr/>
                <p:nvPr/>
              </p:nvCxnSpPr>
              <p:spPr>
                <a:xfrm>
                  <a:off x="1297" y="2640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52" name="Google Shape;152;p3"/>
              <p:cNvSpPr txBox="1"/>
              <p:nvPr/>
            </p:nvSpPr>
            <p:spPr>
              <a:xfrm>
                <a:off x="3971" y="2544"/>
                <a:ext cx="1094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Đặc tả bổ xung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153" name="Google Shape;153;p3"/>
            <p:cNvGrpSpPr/>
            <p:nvPr/>
          </p:nvGrpSpPr>
          <p:grpSpPr>
            <a:xfrm>
              <a:off x="1019187" y="1041400"/>
              <a:ext cx="1171577" cy="1865313"/>
              <a:chOff x="4171" y="1776"/>
              <a:chExt cx="738" cy="1175"/>
            </a:xfrm>
          </p:grpSpPr>
          <p:grpSp>
            <p:nvGrpSpPr>
              <p:cNvPr id="154" name="Google Shape;154;p3"/>
              <p:cNvGrpSpPr/>
              <p:nvPr/>
            </p:nvGrpSpPr>
            <p:grpSpPr>
              <a:xfrm>
                <a:off x="4297" y="1776"/>
                <a:ext cx="432" cy="720"/>
                <a:chOff x="1249" y="2496"/>
                <a:chExt cx="432" cy="720"/>
              </a:xfrm>
            </p:grpSpPr>
            <p:sp>
              <p:nvSpPr>
                <p:cNvPr id="155" name="Google Shape;155;p3"/>
                <p:cNvSpPr/>
                <p:nvPr/>
              </p:nvSpPr>
              <p:spPr>
                <a:xfrm>
                  <a:off x="1249" y="2496"/>
                  <a:ext cx="432" cy="72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56" name="Google Shape;156;p3"/>
                <p:cNvCxnSpPr/>
                <p:nvPr/>
              </p:nvCxnSpPr>
              <p:spPr>
                <a:xfrm>
                  <a:off x="1537" y="2496"/>
                  <a:ext cx="144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7" name="Google Shape;157;p3"/>
                <p:cNvCxnSpPr/>
                <p:nvPr/>
              </p:nvCxnSpPr>
              <p:spPr>
                <a:xfrm>
                  <a:off x="1537" y="2496"/>
                  <a:ext cx="0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8" name="Google Shape;158;p3"/>
                <p:cNvCxnSpPr/>
                <p:nvPr/>
              </p:nvCxnSpPr>
              <p:spPr>
                <a:xfrm rot="10800000">
                  <a:off x="1537" y="2640"/>
                  <a:ext cx="1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9" name="Google Shape;159;p3"/>
                <p:cNvCxnSpPr/>
                <p:nvPr/>
              </p:nvCxnSpPr>
              <p:spPr>
                <a:xfrm>
                  <a:off x="1297" y="273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0" name="Google Shape;160;p3"/>
                <p:cNvCxnSpPr/>
                <p:nvPr/>
              </p:nvCxnSpPr>
              <p:spPr>
                <a:xfrm>
                  <a:off x="1297" y="278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1" name="Google Shape;161;p3"/>
                <p:cNvCxnSpPr/>
                <p:nvPr/>
              </p:nvCxnSpPr>
              <p:spPr>
                <a:xfrm>
                  <a:off x="1297" y="283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2" name="Google Shape;162;p3"/>
                <p:cNvCxnSpPr/>
                <p:nvPr/>
              </p:nvCxnSpPr>
              <p:spPr>
                <a:xfrm>
                  <a:off x="1297" y="292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3" name="Google Shape;163;p3"/>
                <p:cNvCxnSpPr/>
                <p:nvPr/>
              </p:nvCxnSpPr>
              <p:spPr>
                <a:xfrm>
                  <a:off x="1297" y="288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4" name="Google Shape;164;p3"/>
                <p:cNvCxnSpPr/>
                <p:nvPr/>
              </p:nvCxnSpPr>
              <p:spPr>
                <a:xfrm>
                  <a:off x="1297" y="297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5" name="Google Shape;165;p3"/>
                <p:cNvCxnSpPr/>
                <p:nvPr/>
              </p:nvCxnSpPr>
              <p:spPr>
                <a:xfrm>
                  <a:off x="1297" y="302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6" name="Google Shape;166;p3"/>
                <p:cNvCxnSpPr/>
                <p:nvPr/>
              </p:nvCxnSpPr>
              <p:spPr>
                <a:xfrm>
                  <a:off x="1297" y="307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7" name="Google Shape;167;p3"/>
                <p:cNvCxnSpPr/>
                <p:nvPr/>
              </p:nvCxnSpPr>
              <p:spPr>
                <a:xfrm>
                  <a:off x="1297" y="312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8" name="Google Shape;168;p3"/>
                <p:cNvCxnSpPr/>
                <p:nvPr/>
              </p:nvCxnSpPr>
              <p:spPr>
                <a:xfrm>
                  <a:off x="1297" y="316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69" name="Google Shape;169;p3"/>
                <p:cNvCxnSpPr/>
                <p:nvPr/>
              </p:nvCxnSpPr>
              <p:spPr>
                <a:xfrm>
                  <a:off x="1297" y="268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0" name="Google Shape;170;p3"/>
                <p:cNvCxnSpPr/>
                <p:nvPr/>
              </p:nvCxnSpPr>
              <p:spPr>
                <a:xfrm>
                  <a:off x="1297" y="2592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1" name="Google Shape;171;p3"/>
                <p:cNvCxnSpPr/>
                <p:nvPr/>
              </p:nvCxnSpPr>
              <p:spPr>
                <a:xfrm>
                  <a:off x="1297" y="2544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72" name="Google Shape;172;p3"/>
                <p:cNvCxnSpPr/>
                <p:nvPr/>
              </p:nvCxnSpPr>
              <p:spPr>
                <a:xfrm>
                  <a:off x="1297" y="2640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73" name="Google Shape;173;p3"/>
              <p:cNvSpPr txBox="1"/>
              <p:nvPr/>
            </p:nvSpPr>
            <p:spPr>
              <a:xfrm>
                <a:off x="4171" y="2544"/>
                <a:ext cx="738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Từ điển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thuật ngữ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sp>
          <p:nvSpPr>
            <p:cNvPr id="174" name="Google Shape;174;p3"/>
            <p:cNvSpPr/>
            <p:nvPr/>
          </p:nvSpPr>
          <p:spPr>
            <a:xfrm>
              <a:off x="3997325" y="3381375"/>
              <a:ext cx="1751013" cy="966788"/>
            </a:xfrm>
            <a:prstGeom prst="homePlate">
              <a:avLst>
                <a:gd fmla="val 54955" name="adj"/>
              </a:avLst>
            </a:prstGeom>
            <a:solidFill>
              <a:srgbClr val="00CCFF"/>
            </a:solidFill>
            <a:ln cap="flat" cmpd="sng" w="2857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859213" y="3519488"/>
              <a:ext cx="1751012" cy="966787"/>
            </a:xfrm>
            <a:prstGeom prst="homePlate">
              <a:avLst>
                <a:gd fmla="val 54955" name="adj"/>
              </a:avLst>
            </a:prstGeom>
            <a:solidFill>
              <a:srgbClr val="00CCFF"/>
            </a:solidFill>
            <a:ln cap="flat" cmpd="sng" w="2857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746500" y="3657600"/>
              <a:ext cx="1752600" cy="966788"/>
            </a:xfrm>
            <a:prstGeom prst="homePlate">
              <a:avLst>
                <a:gd fmla="val 55005" name="adj"/>
              </a:avLst>
            </a:prstGeom>
            <a:solidFill>
              <a:srgbClr val="00CCFF"/>
            </a:solidFill>
            <a:ln cap="flat" cmpd="sng" w="28575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Phân tích ca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2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sử dụng</a:t>
              </a:r>
              <a:endParaRPr sz="1800">
                <a:solidFill>
                  <a:schemeClr val="lt2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177" name="Google Shape;177;p3"/>
            <p:cNvGrpSpPr/>
            <p:nvPr/>
          </p:nvGrpSpPr>
          <p:grpSpPr>
            <a:xfrm>
              <a:off x="2316175" y="866778"/>
              <a:ext cx="1684340" cy="2143127"/>
              <a:chOff x="3959" y="1776"/>
              <a:chExt cx="1061" cy="1350"/>
            </a:xfrm>
          </p:grpSpPr>
          <p:grpSp>
            <p:nvGrpSpPr>
              <p:cNvPr id="178" name="Google Shape;178;p3"/>
              <p:cNvGrpSpPr/>
              <p:nvPr/>
            </p:nvGrpSpPr>
            <p:grpSpPr>
              <a:xfrm>
                <a:off x="4297" y="1776"/>
                <a:ext cx="432" cy="720"/>
                <a:chOff x="1249" y="2496"/>
                <a:chExt cx="432" cy="720"/>
              </a:xfrm>
            </p:grpSpPr>
            <p:sp>
              <p:nvSpPr>
                <p:cNvPr id="179" name="Google Shape;179;p3"/>
                <p:cNvSpPr/>
                <p:nvPr/>
              </p:nvSpPr>
              <p:spPr>
                <a:xfrm>
                  <a:off x="1249" y="2496"/>
                  <a:ext cx="432" cy="72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80" name="Google Shape;180;p3"/>
                <p:cNvCxnSpPr/>
                <p:nvPr/>
              </p:nvCxnSpPr>
              <p:spPr>
                <a:xfrm>
                  <a:off x="1537" y="2496"/>
                  <a:ext cx="144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1" name="Google Shape;181;p3"/>
                <p:cNvCxnSpPr/>
                <p:nvPr/>
              </p:nvCxnSpPr>
              <p:spPr>
                <a:xfrm>
                  <a:off x="1537" y="2496"/>
                  <a:ext cx="0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2" name="Google Shape;182;p3"/>
                <p:cNvCxnSpPr/>
                <p:nvPr/>
              </p:nvCxnSpPr>
              <p:spPr>
                <a:xfrm rot="10800000">
                  <a:off x="1537" y="2640"/>
                  <a:ext cx="1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3" name="Google Shape;183;p3"/>
                <p:cNvCxnSpPr/>
                <p:nvPr/>
              </p:nvCxnSpPr>
              <p:spPr>
                <a:xfrm>
                  <a:off x="1297" y="273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4" name="Google Shape;184;p3"/>
                <p:cNvCxnSpPr/>
                <p:nvPr/>
              </p:nvCxnSpPr>
              <p:spPr>
                <a:xfrm>
                  <a:off x="1297" y="278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5" name="Google Shape;185;p3"/>
                <p:cNvCxnSpPr/>
                <p:nvPr/>
              </p:nvCxnSpPr>
              <p:spPr>
                <a:xfrm>
                  <a:off x="1297" y="283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6" name="Google Shape;186;p3"/>
                <p:cNvCxnSpPr/>
                <p:nvPr/>
              </p:nvCxnSpPr>
              <p:spPr>
                <a:xfrm>
                  <a:off x="1297" y="292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7" name="Google Shape;187;p3"/>
                <p:cNvCxnSpPr/>
                <p:nvPr/>
              </p:nvCxnSpPr>
              <p:spPr>
                <a:xfrm>
                  <a:off x="1297" y="288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8" name="Google Shape;188;p3"/>
                <p:cNvCxnSpPr/>
                <p:nvPr/>
              </p:nvCxnSpPr>
              <p:spPr>
                <a:xfrm>
                  <a:off x="1297" y="297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89" name="Google Shape;189;p3"/>
                <p:cNvCxnSpPr/>
                <p:nvPr/>
              </p:nvCxnSpPr>
              <p:spPr>
                <a:xfrm>
                  <a:off x="1297" y="302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0" name="Google Shape;190;p3"/>
                <p:cNvCxnSpPr/>
                <p:nvPr/>
              </p:nvCxnSpPr>
              <p:spPr>
                <a:xfrm>
                  <a:off x="1297" y="307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1" name="Google Shape;191;p3"/>
                <p:cNvCxnSpPr/>
                <p:nvPr/>
              </p:nvCxnSpPr>
              <p:spPr>
                <a:xfrm>
                  <a:off x="1297" y="312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2" name="Google Shape;192;p3"/>
                <p:cNvCxnSpPr/>
                <p:nvPr/>
              </p:nvCxnSpPr>
              <p:spPr>
                <a:xfrm>
                  <a:off x="1297" y="316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3" name="Google Shape;193;p3"/>
                <p:cNvCxnSpPr/>
                <p:nvPr/>
              </p:nvCxnSpPr>
              <p:spPr>
                <a:xfrm>
                  <a:off x="1297" y="268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4" name="Google Shape;194;p3"/>
                <p:cNvCxnSpPr/>
                <p:nvPr/>
              </p:nvCxnSpPr>
              <p:spPr>
                <a:xfrm>
                  <a:off x="1297" y="2592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5" name="Google Shape;195;p3"/>
                <p:cNvCxnSpPr/>
                <p:nvPr/>
              </p:nvCxnSpPr>
              <p:spPr>
                <a:xfrm>
                  <a:off x="1297" y="2544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6" name="Google Shape;196;p3"/>
                <p:cNvCxnSpPr/>
                <p:nvPr/>
              </p:nvCxnSpPr>
              <p:spPr>
                <a:xfrm>
                  <a:off x="1297" y="2640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97" name="Google Shape;197;p3"/>
              <p:cNvSpPr txBox="1"/>
              <p:nvPr/>
            </p:nvSpPr>
            <p:spPr>
              <a:xfrm>
                <a:off x="3959" y="2544"/>
                <a:ext cx="1061" cy="5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Tài liệu hướng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dẫn đặc trưng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cho dự án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198" name="Google Shape;198;p3"/>
            <p:cNvGrpSpPr/>
            <p:nvPr/>
          </p:nvGrpSpPr>
          <p:grpSpPr>
            <a:xfrm>
              <a:off x="6007117" y="1577975"/>
              <a:ext cx="2852743" cy="860425"/>
              <a:chOff x="3484" y="3648"/>
              <a:chExt cx="1797" cy="542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3925" y="3648"/>
                <a:ext cx="624" cy="288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200" name="Google Shape;200;p3"/>
              <p:cNvSpPr txBox="1"/>
              <p:nvPr/>
            </p:nvSpPr>
            <p:spPr>
              <a:xfrm>
                <a:off x="3484" y="3957"/>
                <a:ext cx="1797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Hiện thực hóa ca sử dụng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cxnSp>
          <p:nvCxnSpPr>
            <p:cNvPr id="201" name="Google Shape;201;p3"/>
            <p:cNvCxnSpPr/>
            <p:nvPr/>
          </p:nvCxnSpPr>
          <p:spPr>
            <a:xfrm>
              <a:off x="4919663" y="2971800"/>
              <a:ext cx="0" cy="377825"/>
            </a:xfrm>
            <a:prstGeom prst="straightConnector1">
              <a:avLst/>
            </a:prstGeom>
            <a:noFill/>
            <a:ln cap="flat" cmpd="sng" w="28575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202" name="Google Shape;202;p3"/>
            <p:cNvGrpSpPr/>
            <p:nvPr/>
          </p:nvGrpSpPr>
          <p:grpSpPr>
            <a:xfrm>
              <a:off x="6794502" y="3060703"/>
              <a:ext cx="2147889" cy="1625601"/>
              <a:chOff x="3856" y="2984"/>
              <a:chExt cx="1353" cy="1024"/>
            </a:xfrm>
          </p:grpSpPr>
          <p:grpSp>
            <p:nvGrpSpPr>
              <p:cNvPr id="203" name="Google Shape;203;p3"/>
              <p:cNvGrpSpPr/>
              <p:nvPr/>
            </p:nvGrpSpPr>
            <p:grpSpPr>
              <a:xfrm>
                <a:off x="3856" y="2984"/>
                <a:ext cx="1245" cy="766"/>
                <a:chOff x="1309" y="1072"/>
                <a:chExt cx="1245" cy="766"/>
              </a:xfrm>
            </p:grpSpPr>
            <p:grpSp>
              <p:nvGrpSpPr>
                <p:cNvPr id="204" name="Google Shape;204;p3"/>
                <p:cNvGrpSpPr/>
                <p:nvPr/>
              </p:nvGrpSpPr>
              <p:grpSpPr>
                <a:xfrm>
                  <a:off x="1309" y="1231"/>
                  <a:ext cx="302" cy="175"/>
                  <a:chOff x="144" y="1440"/>
                  <a:chExt cx="881" cy="510"/>
                </a:xfrm>
              </p:grpSpPr>
              <p:sp>
                <p:nvSpPr>
                  <p:cNvPr id="205" name="Google Shape;205;p3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206" name="Google Shape;206;p3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07" name="Google Shape;207;p3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08" name="Google Shape;208;p3"/>
                <p:cNvGrpSpPr/>
                <p:nvPr/>
              </p:nvGrpSpPr>
              <p:grpSpPr>
                <a:xfrm>
                  <a:off x="1950" y="1072"/>
                  <a:ext cx="302" cy="175"/>
                  <a:chOff x="144" y="1440"/>
                  <a:chExt cx="881" cy="510"/>
                </a:xfrm>
              </p:grpSpPr>
              <p:sp>
                <p:nvSpPr>
                  <p:cNvPr id="209" name="Google Shape;209;p3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210" name="Google Shape;210;p3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1" name="Google Shape;211;p3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12" name="Google Shape;212;p3"/>
                <p:cNvGrpSpPr/>
                <p:nvPr/>
              </p:nvGrpSpPr>
              <p:grpSpPr>
                <a:xfrm>
                  <a:off x="1648" y="1663"/>
                  <a:ext cx="302" cy="175"/>
                  <a:chOff x="144" y="1440"/>
                  <a:chExt cx="881" cy="510"/>
                </a:xfrm>
              </p:grpSpPr>
              <p:sp>
                <p:nvSpPr>
                  <p:cNvPr id="213" name="Google Shape;213;p3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214" name="Google Shape;214;p3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5" name="Google Shape;215;p3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216" name="Google Shape;216;p3"/>
                <p:cNvGrpSpPr/>
                <p:nvPr/>
              </p:nvGrpSpPr>
              <p:grpSpPr>
                <a:xfrm>
                  <a:off x="2252" y="1581"/>
                  <a:ext cx="302" cy="175"/>
                  <a:chOff x="144" y="1440"/>
                  <a:chExt cx="881" cy="510"/>
                </a:xfrm>
              </p:grpSpPr>
              <p:sp>
                <p:nvSpPr>
                  <p:cNvPr id="217" name="Google Shape;217;p3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218" name="Google Shape;218;p3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19" name="Google Shape;219;p3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220" name="Google Shape;220;p3"/>
                <p:cNvCxnSpPr/>
                <p:nvPr/>
              </p:nvCxnSpPr>
              <p:spPr>
                <a:xfrm rot="10800000">
                  <a:off x="1463" y="1406"/>
                  <a:ext cx="312" cy="2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1" name="Google Shape;221;p3"/>
                <p:cNvCxnSpPr/>
                <p:nvPr/>
              </p:nvCxnSpPr>
              <p:spPr>
                <a:xfrm flipH="1" rot="10800000">
                  <a:off x="1611" y="1160"/>
                  <a:ext cx="339" cy="153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2" name="Google Shape;222;p3"/>
                <p:cNvCxnSpPr/>
                <p:nvPr/>
              </p:nvCxnSpPr>
              <p:spPr>
                <a:xfrm flipH="1" rot="10800000">
                  <a:off x="1950" y="1663"/>
                  <a:ext cx="302" cy="8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23" name="Google Shape;223;p3"/>
                <p:cNvCxnSpPr/>
                <p:nvPr/>
              </p:nvCxnSpPr>
              <p:spPr>
                <a:xfrm flipH="1" rot="10800000">
                  <a:off x="1775" y="1247"/>
                  <a:ext cx="329" cy="41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24" name="Google Shape;224;p3"/>
              <p:cNvSpPr txBox="1"/>
              <p:nvPr/>
            </p:nvSpPr>
            <p:spPr>
              <a:xfrm>
                <a:off x="3929" y="3775"/>
                <a:ext cx="128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Mô hình phân tích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cxnSp>
          <p:nvCxnSpPr>
            <p:cNvPr id="225" name="Google Shape;225;p3"/>
            <p:cNvCxnSpPr/>
            <p:nvPr/>
          </p:nvCxnSpPr>
          <p:spPr>
            <a:xfrm>
              <a:off x="3311525" y="2692400"/>
              <a:ext cx="803275" cy="622300"/>
            </a:xfrm>
            <a:prstGeom prst="straightConnector1">
              <a:avLst/>
            </a:prstGeom>
            <a:noFill/>
            <a:ln cap="flat" cmpd="sng" w="28575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6" name="Google Shape;226;p3"/>
            <p:cNvCxnSpPr/>
            <p:nvPr/>
          </p:nvCxnSpPr>
          <p:spPr>
            <a:xfrm>
              <a:off x="2057400" y="2603500"/>
              <a:ext cx="1625600" cy="1014413"/>
            </a:xfrm>
            <a:prstGeom prst="straightConnector1">
              <a:avLst/>
            </a:prstGeom>
            <a:noFill/>
            <a:ln cap="flat" cmpd="sng" w="28575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7" name="Google Shape;227;p3"/>
            <p:cNvCxnSpPr/>
            <p:nvPr/>
          </p:nvCxnSpPr>
          <p:spPr>
            <a:xfrm>
              <a:off x="1981200" y="4165600"/>
              <a:ext cx="1701800" cy="0"/>
            </a:xfrm>
            <a:prstGeom prst="straightConnector1">
              <a:avLst/>
            </a:prstGeom>
            <a:noFill/>
            <a:ln cap="flat" cmpd="sng" w="28575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228" name="Google Shape;228;p3"/>
            <p:cNvGrpSpPr/>
            <p:nvPr/>
          </p:nvGrpSpPr>
          <p:grpSpPr>
            <a:xfrm>
              <a:off x="1038225" y="4699000"/>
              <a:ext cx="2911476" cy="1550988"/>
              <a:chOff x="614" y="2960"/>
              <a:chExt cx="1834" cy="977"/>
            </a:xfrm>
          </p:grpSpPr>
          <p:grpSp>
            <p:nvGrpSpPr>
              <p:cNvPr id="229" name="Google Shape;229;p3"/>
              <p:cNvGrpSpPr/>
              <p:nvPr/>
            </p:nvGrpSpPr>
            <p:grpSpPr>
              <a:xfrm>
                <a:off x="614" y="3026"/>
                <a:ext cx="1381" cy="665"/>
                <a:chOff x="614" y="3026"/>
                <a:chExt cx="1381" cy="665"/>
              </a:xfrm>
            </p:grpSpPr>
            <p:grpSp>
              <p:nvGrpSpPr>
                <p:cNvPr id="230" name="Google Shape;230;p3"/>
                <p:cNvGrpSpPr/>
                <p:nvPr/>
              </p:nvGrpSpPr>
              <p:grpSpPr>
                <a:xfrm>
                  <a:off x="614" y="3026"/>
                  <a:ext cx="289" cy="395"/>
                  <a:chOff x="582" y="3010"/>
                  <a:chExt cx="289" cy="395"/>
                </a:xfrm>
              </p:grpSpPr>
              <p:sp>
                <p:nvSpPr>
                  <p:cNvPr id="231" name="Google Shape;231;p3"/>
                  <p:cNvSpPr/>
                  <p:nvPr/>
                </p:nvSpPr>
                <p:spPr>
                  <a:xfrm>
                    <a:off x="669" y="3010"/>
                    <a:ext cx="132" cy="133"/>
                  </a:xfrm>
                  <a:prstGeom prst="ellipse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232" name="Google Shape;232;p3"/>
                  <p:cNvCxnSpPr/>
                  <p:nvPr/>
                </p:nvCxnSpPr>
                <p:spPr>
                  <a:xfrm>
                    <a:off x="735" y="3144"/>
                    <a:ext cx="0" cy="124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233" name="Google Shape;233;p3"/>
                  <p:cNvCxnSpPr/>
                  <p:nvPr/>
                </p:nvCxnSpPr>
                <p:spPr>
                  <a:xfrm>
                    <a:off x="630" y="3194"/>
                    <a:ext cx="209" cy="1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234" name="Google Shape;234;p3"/>
                  <p:cNvSpPr/>
                  <p:nvPr/>
                </p:nvSpPr>
                <p:spPr>
                  <a:xfrm>
                    <a:off x="582" y="3260"/>
                    <a:ext cx="289" cy="145"/>
                  </a:xfrm>
                  <a:custGeom>
                    <a:rect b="b" l="l" r="r" t="t"/>
                    <a:pathLst>
                      <a:path extrusionOk="0" h="54" w="108">
                        <a:moveTo>
                          <a:pt x="0" y="54"/>
                        </a:moveTo>
                        <a:lnTo>
                          <a:pt x="54" y="0"/>
                        </a:lnTo>
                        <a:lnTo>
                          <a:pt x="108" y="54"/>
                        </a:lnTo>
                      </a:path>
                    </a:pathLst>
                  </a:cu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</p:grpSp>
            <p:sp>
              <p:nvSpPr>
                <p:cNvPr id="235" name="Google Shape;235;p3"/>
                <p:cNvSpPr/>
                <p:nvPr/>
              </p:nvSpPr>
              <p:spPr>
                <a:xfrm>
                  <a:off x="1254" y="3096"/>
                  <a:ext cx="451" cy="23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236" name="Google Shape;236;p3"/>
                <p:cNvSpPr/>
                <p:nvPr/>
              </p:nvSpPr>
              <p:spPr>
                <a:xfrm>
                  <a:off x="971" y="3461"/>
                  <a:ext cx="451" cy="23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237" name="Google Shape;237;p3"/>
                <p:cNvSpPr/>
                <p:nvPr/>
              </p:nvSpPr>
              <p:spPr>
                <a:xfrm>
                  <a:off x="1544" y="3461"/>
                  <a:ext cx="451" cy="23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238" name="Google Shape;238;p3"/>
                <p:cNvCxnSpPr/>
                <p:nvPr/>
              </p:nvCxnSpPr>
              <p:spPr>
                <a:xfrm>
                  <a:off x="918" y="3219"/>
                  <a:ext cx="312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stealth"/>
                </a:ln>
              </p:spPr>
            </p:cxnSp>
            <p:cxnSp>
              <p:nvCxnSpPr>
                <p:cNvPr id="239" name="Google Shape;239;p3"/>
                <p:cNvCxnSpPr/>
                <p:nvPr/>
              </p:nvCxnSpPr>
              <p:spPr>
                <a:xfrm flipH="1" rot="10800000">
                  <a:off x="1276" y="3326"/>
                  <a:ext cx="130" cy="135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  <p:cxnSp>
              <p:nvCxnSpPr>
                <p:cNvPr id="240" name="Google Shape;240;p3"/>
                <p:cNvCxnSpPr/>
                <p:nvPr/>
              </p:nvCxnSpPr>
              <p:spPr>
                <a:xfrm rot="10800000">
                  <a:off x="1560" y="3326"/>
                  <a:ext cx="129" cy="135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med" w="med" type="triangle"/>
                </a:ln>
              </p:spPr>
            </p:cxnSp>
          </p:grpSp>
          <p:sp>
            <p:nvSpPr>
              <p:cNvPr id="241" name="Google Shape;241;p3"/>
              <p:cNvSpPr txBox="1"/>
              <p:nvPr/>
            </p:nvSpPr>
            <p:spPr>
              <a:xfrm>
                <a:off x="655" y="3704"/>
                <a:ext cx="1409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Mô hình ca sử dụng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242" name="Google Shape;242;p3"/>
              <p:cNvCxnSpPr/>
              <p:nvPr/>
            </p:nvCxnSpPr>
            <p:spPr>
              <a:xfrm flipH="1" rot="10800000">
                <a:off x="1864" y="2960"/>
                <a:ext cx="584" cy="22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hlink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cxnSp>
          <p:nvCxnSpPr>
            <p:cNvPr id="243" name="Google Shape;243;p3"/>
            <p:cNvCxnSpPr/>
            <p:nvPr/>
          </p:nvCxnSpPr>
          <p:spPr>
            <a:xfrm flipH="1" rot="10800000">
              <a:off x="5575300" y="2514600"/>
              <a:ext cx="800100" cy="1003300"/>
            </a:xfrm>
            <a:prstGeom prst="straightConnector1">
              <a:avLst/>
            </a:prstGeom>
            <a:noFill/>
            <a:ln cap="flat" cmpd="sng" w="28575">
              <a:solidFill>
                <a:schemeClr val="hlink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44" name="Google Shape;244;p3"/>
            <p:cNvCxnSpPr/>
            <p:nvPr/>
          </p:nvCxnSpPr>
          <p:spPr>
            <a:xfrm>
              <a:off x="5791200" y="3860800"/>
              <a:ext cx="1160463" cy="0"/>
            </a:xfrm>
            <a:prstGeom prst="straightConnector1">
              <a:avLst/>
            </a:prstGeom>
            <a:noFill/>
            <a:ln cap="flat" cmpd="sng" w="28575">
              <a:solidFill>
                <a:schemeClr val="hlink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grpSp>
          <p:nvGrpSpPr>
            <p:cNvPr id="245" name="Google Shape;245;p3"/>
            <p:cNvGrpSpPr/>
            <p:nvPr/>
          </p:nvGrpSpPr>
          <p:grpSpPr>
            <a:xfrm>
              <a:off x="6018221" y="5203832"/>
              <a:ext cx="1817690" cy="1044579"/>
              <a:chOff x="4147" y="1200"/>
              <a:chExt cx="1145" cy="658"/>
            </a:xfrm>
          </p:grpSpPr>
          <p:sp>
            <p:nvSpPr>
              <p:cNvPr id="246" name="Google Shape;246;p3"/>
              <p:cNvSpPr txBox="1"/>
              <p:nvPr/>
            </p:nvSpPr>
            <p:spPr>
              <a:xfrm>
                <a:off x="4147" y="1684"/>
                <a:ext cx="1145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Các lớp phân tích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grpSp>
            <p:nvGrpSpPr>
              <p:cNvPr id="247" name="Google Shape;247;p3"/>
              <p:cNvGrpSpPr/>
              <p:nvPr/>
            </p:nvGrpSpPr>
            <p:grpSpPr>
              <a:xfrm>
                <a:off x="4416" y="1200"/>
                <a:ext cx="576" cy="384"/>
                <a:chOff x="144" y="1440"/>
                <a:chExt cx="881" cy="510"/>
              </a:xfrm>
            </p:grpSpPr>
            <p:sp>
              <p:nvSpPr>
                <p:cNvPr id="248" name="Google Shape;248;p3"/>
                <p:cNvSpPr/>
                <p:nvPr/>
              </p:nvSpPr>
              <p:spPr>
                <a:xfrm>
                  <a:off x="144" y="1440"/>
                  <a:ext cx="881" cy="51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249" name="Google Shape;249;p3"/>
                <p:cNvCxnSpPr/>
                <p:nvPr/>
              </p:nvCxnSpPr>
              <p:spPr>
                <a:xfrm>
                  <a:off x="144" y="181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0" name="Google Shape;250;p3"/>
                <p:cNvCxnSpPr/>
                <p:nvPr/>
              </p:nvCxnSpPr>
              <p:spPr>
                <a:xfrm>
                  <a:off x="144" y="168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251" name="Google Shape;251;p3"/>
            <p:cNvGrpSpPr/>
            <p:nvPr/>
          </p:nvGrpSpPr>
          <p:grpSpPr>
            <a:xfrm>
              <a:off x="4222756" y="865188"/>
              <a:ext cx="1792290" cy="1851025"/>
              <a:chOff x="2796" y="585"/>
              <a:chExt cx="1129" cy="1166"/>
            </a:xfrm>
          </p:grpSpPr>
          <p:grpSp>
            <p:nvGrpSpPr>
              <p:cNvPr id="252" name="Google Shape;252;p3"/>
              <p:cNvGrpSpPr/>
              <p:nvPr/>
            </p:nvGrpSpPr>
            <p:grpSpPr>
              <a:xfrm>
                <a:off x="3022" y="585"/>
                <a:ext cx="432" cy="720"/>
                <a:chOff x="1249" y="2496"/>
                <a:chExt cx="432" cy="720"/>
              </a:xfrm>
            </p:grpSpPr>
            <p:sp>
              <p:nvSpPr>
                <p:cNvPr id="253" name="Google Shape;253;p3"/>
                <p:cNvSpPr/>
                <p:nvPr/>
              </p:nvSpPr>
              <p:spPr>
                <a:xfrm>
                  <a:off x="1249" y="2496"/>
                  <a:ext cx="432" cy="72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254" name="Google Shape;254;p3"/>
                <p:cNvCxnSpPr/>
                <p:nvPr/>
              </p:nvCxnSpPr>
              <p:spPr>
                <a:xfrm>
                  <a:off x="1537" y="2496"/>
                  <a:ext cx="144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5" name="Google Shape;255;p3"/>
                <p:cNvCxnSpPr/>
                <p:nvPr/>
              </p:nvCxnSpPr>
              <p:spPr>
                <a:xfrm>
                  <a:off x="1537" y="2496"/>
                  <a:ext cx="0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6" name="Google Shape;256;p3"/>
                <p:cNvCxnSpPr/>
                <p:nvPr/>
              </p:nvCxnSpPr>
              <p:spPr>
                <a:xfrm rot="10800000">
                  <a:off x="1537" y="2640"/>
                  <a:ext cx="1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7" name="Google Shape;257;p3"/>
                <p:cNvCxnSpPr/>
                <p:nvPr/>
              </p:nvCxnSpPr>
              <p:spPr>
                <a:xfrm>
                  <a:off x="1297" y="273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8" name="Google Shape;258;p3"/>
                <p:cNvCxnSpPr/>
                <p:nvPr/>
              </p:nvCxnSpPr>
              <p:spPr>
                <a:xfrm>
                  <a:off x="1297" y="278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59" name="Google Shape;259;p3"/>
                <p:cNvCxnSpPr/>
                <p:nvPr/>
              </p:nvCxnSpPr>
              <p:spPr>
                <a:xfrm>
                  <a:off x="1297" y="283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0" name="Google Shape;260;p3"/>
                <p:cNvCxnSpPr/>
                <p:nvPr/>
              </p:nvCxnSpPr>
              <p:spPr>
                <a:xfrm>
                  <a:off x="1297" y="292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1" name="Google Shape;261;p3"/>
                <p:cNvCxnSpPr/>
                <p:nvPr/>
              </p:nvCxnSpPr>
              <p:spPr>
                <a:xfrm>
                  <a:off x="1297" y="288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2" name="Google Shape;262;p3"/>
                <p:cNvCxnSpPr/>
                <p:nvPr/>
              </p:nvCxnSpPr>
              <p:spPr>
                <a:xfrm>
                  <a:off x="1297" y="297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3" name="Google Shape;263;p3"/>
                <p:cNvCxnSpPr/>
                <p:nvPr/>
              </p:nvCxnSpPr>
              <p:spPr>
                <a:xfrm>
                  <a:off x="1297" y="302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4" name="Google Shape;264;p3"/>
                <p:cNvCxnSpPr/>
                <p:nvPr/>
              </p:nvCxnSpPr>
              <p:spPr>
                <a:xfrm>
                  <a:off x="1297" y="307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5" name="Google Shape;265;p3"/>
                <p:cNvCxnSpPr/>
                <p:nvPr/>
              </p:nvCxnSpPr>
              <p:spPr>
                <a:xfrm>
                  <a:off x="1297" y="312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6" name="Google Shape;266;p3"/>
                <p:cNvCxnSpPr/>
                <p:nvPr/>
              </p:nvCxnSpPr>
              <p:spPr>
                <a:xfrm>
                  <a:off x="1297" y="316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7" name="Google Shape;267;p3"/>
                <p:cNvCxnSpPr/>
                <p:nvPr/>
              </p:nvCxnSpPr>
              <p:spPr>
                <a:xfrm>
                  <a:off x="1297" y="268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8" name="Google Shape;268;p3"/>
                <p:cNvCxnSpPr/>
                <p:nvPr/>
              </p:nvCxnSpPr>
              <p:spPr>
                <a:xfrm>
                  <a:off x="1297" y="2592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69" name="Google Shape;269;p3"/>
                <p:cNvCxnSpPr/>
                <p:nvPr/>
              </p:nvCxnSpPr>
              <p:spPr>
                <a:xfrm>
                  <a:off x="1297" y="2544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70" name="Google Shape;270;p3"/>
                <p:cNvCxnSpPr/>
                <p:nvPr/>
              </p:nvCxnSpPr>
              <p:spPr>
                <a:xfrm>
                  <a:off x="1297" y="2640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271" name="Google Shape;271;p3"/>
              <p:cNvSpPr txBox="1"/>
              <p:nvPr/>
            </p:nvSpPr>
            <p:spPr>
              <a:xfrm>
                <a:off x="2796" y="1344"/>
                <a:ext cx="1129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Tài liệu kiến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trúc phần mềm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cxnSp>
          <p:nvCxnSpPr>
            <p:cNvPr id="272" name="Google Shape;272;p3"/>
            <p:cNvCxnSpPr/>
            <p:nvPr/>
          </p:nvCxnSpPr>
          <p:spPr>
            <a:xfrm>
              <a:off x="5575300" y="4216400"/>
              <a:ext cx="800100" cy="1003300"/>
            </a:xfrm>
            <a:prstGeom prst="straightConnector1">
              <a:avLst/>
            </a:prstGeom>
            <a:noFill/>
            <a:ln cap="flat" cmpd="sng" w="28575">
              <a:solidFill>
                <a:schemeClr val="hlink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8" name="Google Shape;278;p4"/>
          <p:cNvSpPr txBox="1"/>
          <p:nvPr/>
        </p:nvSpPr>
        <p:spPr>
          <a:xfrm>
            <a:off x="533400" y="685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Calibri"/>
              <a:buNone/>
            </a:pPr>
            <a:r>
              <a:rPr b="0" i="0" lang="en-US" sz="39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Lớp phân tích: Bước đầu tiến tới các phần tử có thể thực thi</a:t>
            </a:r>
            <a:endParaRPr b="0" i="0" sz="39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9" name="Google Shape;279;p4"/>
          <p:cNvGrpSpPr/>
          <p:nvPr/>
        </p:nvGrpSpPr>
        <p:grpSpPr>
          <a:xfrm>
            <a:off x="457200" y="1905000"/>
            <a:ext cx="8229600" cy="4419600"/>
            <a:chOff x="138113" y="939800"/>
            <a:chExt cx="8705850" cy="5250361"/>
          </a:xfrm>
        </p:grpSpPr>
        <p:sp>
          <p:nvSpPr>
            <p:cNvPr id="280" name="Google Shape;280;p4"/>
            <p:cNvSpPr/>
            <p:nvPr/>
          </p:nvSpPr>
          <p:spPr>
            <a:xfrm>
              <a:off x="1908175" y="2692400"/>
              <a:ext cx="536575" cy="457200"/>
            </a:xfrm>
            <a:prstGeom prst="rightArrow">
              <a:avLst>
                <a:gd fmla="val 54759" name="adj1"/>
                <a:gd fmla="val 71992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81" name="Google Shape;281;p4"/>
            <p:cNvSpPr txBox="1"/>
            <p:nvPr/>
          </p:nvSpPr>
          <p:spPr>
            <a:xfrm>
              <a:off x="138113" y="4444999"/>
              <a:ext cx="1906316" cy="5522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Ca sử dụng</a:t>
              </a:r>
              <a:endParaRPr b="1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82" name="Google Shape;282;p4"/>
            <p:cNvSpPr txBox="1"/>
            <p:nvPr/>
          </p:nvSpPr>
          <p:spPr>
            <a:xfrm>
              <a:off x="2367455" y="4066627"/>
              <a:ext cx="1056939" cy="1435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Lớp</a:t>
              </a:r>
              <a:endParaRPr b="1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 phân</a:t>
              </a:r>
              <a:endParaRPr b="1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 tích</a:t>
              </a:r>
              <a:endParaRPr b="1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83" name="Google Shape;283;p4"/>
            <p:cNvSpPr txBox="1"/>
            <p:nvPr/>
          </p:nvSpPr>
          <p:spPr>
            <a:xfrm>
              <a:off x="5814408" y="4445000"/>
              <a:ext cx="1906200" cy="138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folHlink"/>
                  </a:solidFill>
                  <a:latin typeface="Constantia"/>
                  <a:ea typeface="Constantia"/>
                  <a:cs typeface="Constantia"/>
                  <a:sym typeface="Constantia"/>
                </a:rPr>
                <a:t>Mã</a:t>
              </a:r>
              <a:endParaRPr b="1" sz="2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folHlink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chương</a:t>
              </a:r>
              <a:endParaRPr b="1" sz="2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folHlink"/>
                  </a:solidFill>
                  <a:latin typeface="Constantia"/>
                  <a:ea typeface="Constantia"/>
                  <a:cs typeface="Constantia"/>
                  <a:sym typeface="Constantia"/>
                </a:rPr>
                <a:t>trình</a:t>
              </a:r>
              <a:endParaRPr b="1" sz="2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284" name="Google Shape;284;p4"/>
            <p:cNvSpPr txBox="1"/>
            <p:nvPr/>
          </p:nvSpPr>
          <p:spPr>
            <a:xfrm>
              <a:off x="7827963" y="4445000"/>
              <a:ext cx="1016000" cy="5191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folHlink"/>
                  </a:solidFill>
                  <a:latin typeface="Constantia"/>
                  <a:ea typeface="Constantia"/>
                  <a:cs typeface="Constantia"/>
                  <a:sym typeface="Constantia"/>
                </a:rPr>
                <a:t>Exec</a:t>
              </a:r>
              <a:endParaRPr/>
            </a:p>
          </p:txBody>
        </p:sp>
        <p:grpSp>
          <p:nvGrpSpPr>
            <p:cNvPr id="285" name="Google Shape;285;p4"/>
            <p:cNvGrpSpPr/>
            <p:nvPr/>
          </p:nvGrpSpPr>
          <p:grpSpPr>
            <a:xfrm>
              <a:off x="533400" y="2692400"/>
              <a:ext cx="1196975" cy="1600200"/>
              <a:chOff x="446" y="2208"/>
              <a:chExt cx="754" cy="1008"/>
            </a:xfrm>
          </p:grpSpPr>
          <p:sp>
            <p:nvSpPr>
              <p:cNvPr id="286" name="Google Shape;286;p4"/>
              <p:cNvSpPr/>
              <p:nvPr/>
            </p:nvSpPr>
            <p:spPr>
              <a:xfrm>
                <a:off x="446" y="2208"/>
                <a:ext cx="624" cy="288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768" y="2496"/>
                <a:ext cx="432" cy="72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288" name="Google Shape;288;p4"/>
              <p:cNvCxnSpPr/>
              <p:nvPr/>
            </p:nvCxnSpPr>
            <p:spPr>
              <a:xfrm>
                <a:off x="1056" y="2496"/>
                <a:ext cx="144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9" name="Google Shape;289;p4"/>
              <p:cNvCxnSpPr/>
              <p:nvPr/>
            </p:nvCxnSpPr>
            <p:spPr>
              <a:xfrm>
                <a:off x="1056" y="2496"/>
                <a:ext cx="0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0" name="Google Shape;290;p4"/>
              <p:cNvCxnSpPr/>
              <p:nvPr/>
            </p:nvCxnSpPr>
            <p:spPr>
              <a:xfrm rot="10800000">
                <a:off x="1056" y="2640"/>
                <a:ext cx="1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1" name="Google Shape;291;p4"/>
              <p:cNvCxnSpPr/>
              <p:nvPr/>
            </p:nvCxnSpPr>
            <p:spPr>
              <a:xfrm>
                <a:off x="816" y="2736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2" name="Google Shape;292;p4"/>
              <p:cNvCxnSpPr/>
              <p:nvPr/>
            </p:nvCxnSpPr>
            <p:spPr>
              <a:xfrm>
                <a:off x="816" y="2784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3" name="Google Shape;293;p4"/>
              <p:cNvCxnSpPr/>
              <p:nvPr/>
            </p:nvCxnSpPr>
            <p:spPr>
              <a:xfrm>
                <a:off x="816" y="2832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4" name="Google Shape;294;p4"/>
              <p:cNvCxnSpPr/>
              <p:nvPr/>
            </p:nvCxnSpPr>
            <p:spPr>
              <a:xfrm>
                <a:off x="816" y="292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" name="Google Shape;295;p4"/>
              <p:cNvCxnSpPr/>
              <p:nvPr/>
            </p:nvCxnSpPr>
            <p:spPr>
              <a:xfrm>
                <a:off x="816" y="2880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6" name="Google Shape;296;p4"/>
              <p:cNvCxnSpPr/>
              <p:nvPr/>
            </p:nvCxnSpPr>
            <p:spPr>
              <a:xfrm>
                <a:off x="816" y="2976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7" name="Google Shape;297;p4"/>
              <p:cNvCxnSpPr/>
              <p:nvPr/>
            </p:nvCxnSpPr>
            <p:spPr>
              <a:xfrm>
                <a:off x="816" y="3024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4"/>
              <p:cNvCxnSpPr/>
              <p:nvPr/>
            </p:nvCxnSpPr>
            <p:spPr>
              <a:xfrm>
                <a:off x="816" y="3072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4"/>
              <p:cNvCxnSpPr/>
              <p:nvPr/>
            </p:nvCxnSpPr>
            <p:spPr>
              <a:xfrm>
                <a:off x="816" y="3120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0" name="Google Shape;300;p4"/>
              <p:cNvCxnSpPr/>
              <p:nvPr/>
            </p:nvCxnSpPr>
            <p:spPr>
              <a:xfrm>
                <a:off x="816" y="316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1" name="Google Shape;301;p4"/>
              <p:cNvCxnSpPr/>
              <p:nvPr/>
            </p:nvCxnSpPr>
            <p:spPr>
              <a:xfrm>
                <a:off x="816" y="268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2" name="Google Shape;302;p4"/>
              <p:cNvCxnSpPr/>
              <p:nvPr/>
            </p:nvCxnSpPr>
            <p:spPr>
              <a:xfrm>
                <a:off x="816" y="2592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" name="Google Shape;303;p4"/>
              <p:cNvCxnSpPr/>
              <p:nvPr/>
            </p:nvCxnSpPr>
            <p:spPr>
              <a:xfrm>
                <a:off x="816" y="2544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" name="Google Shape;304;p4"/>
              <p:cNvCxnSpPr/>
              <p:nvPr/>
            </p:nvCxnSpPr>
            <p:spPr>
              <a:xfrm>
                <a:off x="816" y="2640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05" name="Google Shape;305;p4"/>
            <p:cNvGrpSpPr/>
            <p:nvPr/>
          </p:nvGrpSpPr>
          <p:grpSpPr>
            <a:xfrm>
              <a:off x="533400" y="939800"/>
              <a:ext cx="1196975" cy="1600200"/>
              <a:chOff x="446" y="2208"/>
              <a:chExt cx="754" cy="1008"/>
            </a:xfrm>
          </p:grpSpPr>
          <p:sp>
            <p:nvSpPr>
              <p:cNvPr id="306" name="Google Shape;306;p4"/>
              <p:cNvSpPr/>
              <p:nvPr/>
            </p:nvSpPr>
            <p:spPr>
              <a:xfrm>
                <a:off x="446" y="2208"/>
                <a:ext cx="624" cy="288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07" name="Google Shape;307;p4"/>
              <p:cNvSpPr/>
              <p:nvPr/>
            </p:nvSpPr>
            <p:spPr>
              <a:xfrm>
                <a:off x="768" y="2496"/>
                <a:ext cx="432" cy="72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308" name="Google Shape;308;p4"/>
              <p:cNvCxnSpPr/>
              <p:nvPr/>
            </p:nvCxnSpPr>
            <p:spPr>
              <a:xfrm>
                <a:off x="1056" y="2496"/>
                <a:ext cx="144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9" name="Google Shape;309;p4"/>
              <p:cNvCxnSpPr/>
              <p:nvPr/>
            </p:nvCxnSpPr>
            <p:spPr>
              <a:xfrm>
                <a:off x="1056" y="2496"/>
                <a:ext cx="0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0" name="Google Shape;310;p4"/>
              <p:cNvCxnSpPr/>
              <p:nvPr/>
            </p:nvCxnSpPr>
            <p:spPr>
              <a:xfrm rot="10800000">
                <a:off x="1056" y="2640"/>
                <a:ext cx="1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1" name="Google Shape;311;p4"/>
              <p:cNvCxnSpPr/>
              <p:nvPr/>
            </p:nvCxnSpPr>
            <p:spPr>
              <a:xfrm>
                <a:off x="816" y="2736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2" name="Google Shape;312;p4"/>
              <p:cNvCxnSpPr/>
              <p:nvPr/>
            </p:nvCxnSpPr>
            <p:spPr>
              <a:xfrm>
                <a:off x="816" y="2784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3" name="Google Shape;313;p4"/>
              <p:cNvCxnSpPr/>
              <p:nvPr/>
            </p:nvCxnSpPr>
            <p:spPr>
              <a:xfrm>
                <a:off x="816" y="2832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4" name="Google Shape;314;p4"/>
              <p:cNvCxnSpPr/>
              <p:nvPr/>
            </p:nvCxnSpPr>
            <p:spPr>
              <a:xfrm>
                <a:off x="816" y="292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5" name="Google Shape;315;p4"/>
              <p:cNvCxnSpPr/>
              <p:nvPr/>
            </p:nvCxnSpPr>
            <p:spPr>
              <a:xfrm>
                <a:off x="816" y="2880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6" name="Google Shape;316;p4"/>
              <p:cNvCxnSpPr/>
              <p:nvPr/>
            </p:nvCxnSpPr>
            <p:spPr>
              <a:xfrm>
                <a:off x="816" y="2976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7" name="Google Shape;317;p4"/>
              <p:cNvCxnSpPr/>
              <p:nvPr/>
            </p:nvCxnSpPr>
            <p:spPr>
              <a:xfrm>
                <a:off x="816" y="3024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8" name="Google Shape;318;p4"/>
              <p:cNvCxnSpPr/>
              <p:nvPr/>
            </p:nvCxnSpPr>
            <p:spPr>
              <a:xfrm>
                <a:off x="816" y="3072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9" name="Google Shape;319;p4"/>
              <p:cNvCxnSpPr/>
              <p:nvPr/>
            </p:nvCxnSpPr>
            <p:spPr>
              <a:xfrm>
                <a:off x="816" y="3120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4"/>
              <p:cNvCxnSpPr/>
              <p:nvPr/>
            </p:nvCxnSpPr>
            <p:spPr>
              <a:xfrm>
                <a:off x="816" y="316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4"/>
              <p:cNvCxnSpPr/>
              <p:nvPr/>
            </p:nvCxnSpPr>
            <p:spPr>
              <a:xfrm>
                <a:off x="816" y="268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2" name="Google Shape;322;p4"/>
              <p:cNvCxnSpPr/>
              <p:nvPr/>
            </p:nvCxnSpPr>
            <p:spPr>
              <a:xfrm>
                <a:off x="816" y="2592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4"/>
              <p:cNvCxnSpPr/>
              <p:nvPr/>
            </p:nvCxnSpPr>
            <p:spPr>
              <a:xfrm>
                <a:off x="816" y="2544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4" name="Google Shape;324;p4"/>
              <p:cNvCxnSpPr/>
              <p:nvPr/>
            </p:nvCxnSpPr>
            <p:spPr>
              <a:xfrm>
                <a:off x="816" y="2640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25" name="Google Shape;325;p4"/>
            <p:cNvGrpSpPr/>
            <p:nvPr/>
          </p:nvGrpSpPr>
          <p:grpSpPr>
            <a:xfrm>
              <a:off x="4533900" y="2006600"/>
              <a:ext cx="762000" cy="533400"/>
              <a:chOff x="144" y="1440"/>
              <a:chExt cx="881" cy="510"/>
            </a:xfrm>
          </p:grpSpPr>
          <p:sp>
            <p:nvSpPr>
              <p:cNvPr id="326" name="Google Shape;326;p4"/>
              <p:cNvSpPr/>
              <p:nvPr/>
            </p:nvSpPr>
            <p:spPr>
              <a:xfrm>
                <a:off x="144" y="1440"/>
                <a:ext cx="881" cy="510"/>
              </a:xfrm>
              <a:prstGeom prst="rect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327" name="Google Shape;327;p4"/>
              <p:cNvCxnSpPr/>
              <p:nvPr/>
            </p:nvCxnSpPr>
            <p:spPr>
              <a:xfrm>
                <a:off x="144" y="1810"/>
                <a:ext cx="88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8" name="Google Shape;328;p4"/>
              <p:cNvCxnSpPr/>
              <p:nvPr/>
            </p:nvCxnSpPr>
            <p:spPr>
              <a:xfrm>
                <a:off x="144" y="1680"/>
                <a:ext cx="88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29" name="Google Shape;329;p4"/>
            <p:cNvGrpSpPr/>
            <p:nvPr/>
          </p:nvGrpSpPr>
          <p:grpSpPr>
            <a:xfrm>
              <a:off x="4533900" y="2692400"/>
              <a:ext cx="762000" cy="533400"/>
              <a:chOff x="144" y="1440"/>
              <a:chExt cx="881" cy="510"/>
            </a:xfrm>
          </p:grpSpPr>
          <p:sp>
            <p:nvSpPr>
              <p:cNvPr id="330" name="Google Shape;330;p4"/>
              <p:cNvSpPr/>
              <p:nvPr/>
            </p:nvSpPr>
            <p:spPr>
              <a:xfrm>
                <a:off x="144" y="1440"/>
                <a:ext cx="881" cy="510"/>
              </a:xfrm>
              <a:prstGeom prst="rect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331" name="Google Shape;331;p4"/>
              <p:cNvCxnSpPr/>
              <p:nvPr/>
            </p:nvCxnSpPr>
            <p:spPr>
              <a:xfrm>
                <a:off x="144" y="1810"/>
                <a:ext cx="88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2" name="Google Shape;332;p4"/>
              <p:cNvCxnSpPr/>
              <p:nvPr/>
            </p:nvCxnSpPr>
            <p:spPr>
              <a:xfrm>
                <a:off x="144" y="1680"/>
                <a:ext cx="88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33" name="Google Shape;333;p4"/>
            <p:cNvGrpSpPr/>
            <p:nvPr/>
          </p:nvGrpSpPr>
          <p:grpSpPr>
            <a:xfrm>
              <a:off x="5763380" y="1701800"/>
              <a:ext cx="832" cy="584200"/>
              <a:chOff x="1961" y="2928"/>
              <a:chExt cx="832" cy="336"/>
            </a:xfrm>
          </p:grpSpPr>
          <p:cxnSp>
            <p:nvCxnSpPr>
              <p:cNvPr id="334" name="Google Shape;334;p4"/>
              <p:cNvCxnSpPr/>
              <p:nvPr/>
            </p:nvCxnSpPr>
            <p:spPr>
              <a:xfrm>
                <a:off x="2793" y="2928"/>
                <a:ext cx="0" cy="33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5" name="Google Shape;335;p4"/>
              <p:cNvCxnSpPr/>
              <p:nvPr/>
            </p:nvCxnSpPr>
            <p:spPr>
              <a:xfrm rot="10800000">
                <a:off x="2075" y="2928"/>
                <a:ext cx="718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6" name="Google Shape;336;p4"/>
              <p:cNvCxnSpPr/>
              <p:nvPr/>
            </p:nvCxnSpPr>
            <p:spPr>
              <a:xfrm rot="10800000">
                <a:off x="2075" y="3264"/>
                <a:ext cx="718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4"/>
              <p:cNvCxnSpPr/>
              <p:nvPr/>
            </p:nvCxnSpPr>
            <p:spPr>
              <a:xfrm>
                <a:off x="2075" y="2928"/>
                <a:ext cx="0" cy="7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38" name="Google Shape;338;p4"/>
              <p:cNvCxnSpPr/>
              <p:nvPr/>
            </p:nvCxnSpPr>
            <p:spPr>
              <a:xfrm rot="10800000">
                <a:off x="2075" y="3192"/>
                <a:ext cx="0" cy="7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39" name="Google Shape;339;p4"/>
              <p:cNvSpPr/>
              <p:nvPr/>
            </p:nvSpPr>
            <p:spPr>
              <a:xfrm>
                <a:off x="1961" y="3000"/>
                <a:ext cx="235" cy="72"/>
              </a:xfrm>
              <a:prstGeom prst="rect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40" name="Google Shape;340;p4"/>
              <p:cNvSpPr/>
              <p:nvPr/>
            </p:nvSpPr>
            <p:spPr>
              <a:xfrm>
                <a:off x="1961" y="3120"/>
                <a:ext cx="235" cy="72"/>
              </a:xfrm>
              <a:prstGeom prst="rect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341" name="Google Shape;341;p4"/>
              <p:cNvCxnSpPr/>
              <p:nvPr/>
            </p:nvCxnSpPr>
            <p:spPr>
              <a:xfrm rot="10800000">
                <a:off x="2075" y="3072"/>
                <a:ext cx="0" cy="48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42" name="Google Shape;342;p4"/>
            <p:cNvGrpSpPr/>
            <p:nvPr/>
          </p:nvGrpSpPr>
          <p:grpSpPr>
            <a:xfrm>
              <a:off x="5763380" y="2616200"/>
              <a:ext cx="832" cy="584200"/>
              <a:chOff x="1961" y="2928"/>
              <a:chExt cx="832" cy="336"/>
            </a:xfrm>
          </p:grpSpPr>
          <p:cxnSp>
            <p:nvCxnSpPr>
              <p:cNvPr id="343" name="Google Shape;343;p4"/>
              <p:cNvCxnSpPr/>
              <p:nvPr/>
            </p:nvCxnSpPr>
            <p:spPr>
              <a:xfrm>
                <a:off x="2793" y="2928"/>
                <a:ext cx="0" cy="33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4" name="Google Shape;344;p4"/>
              <p:cNvCxnSpPr/>
              <p:nvPr/>
            </p:nvCxnSpPr>
            <p:spPr>
              <a:xfrm rot="10800000">
                <a:off x="2075" y="2928"/>
                <a:ext cx="718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5" name="Google Shape;345;p4"/>
              <p:cNvCxnSpPr/>
              <p:nvPr/>
            </p:nvCxnSpPr>
            <p:spPr>
              <a:xfrm rot="10800000">
                <a:off x="2075" y="3264"/>
                <a:ext cx="718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6" name="Google Shape;346;p4"/>
              <p:cNvCxnSpPr/>
              <p:nvPr/>
            </p:nvCxnSpPr>
            <p:spPr>
              <a:xfrm>
                <a:off x="2075" y="2928"/>
                <a:ext cx="0" cy="7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7" name="Google Shape;347;p4"/>
              <p:cNvCxnSpPr/>
              <p:nvPr/>
            </p:nvCxnSpPr>
            <p:spPr>
              <a:xfrm rot="10800000">
                <a:off x="2075" y="3192"/>
                <a:ext cx="0" cy="7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48" name="Google Shape;348;p4"/>
              <p:cNvSpPr/>
              <p:nvPr/>
            </p:nvSpPr>
            <p:spPr>
              <a:xfrm>
                <a:off x="1961" y="3000"/>
                <a:ext cx="235" cy="72"/>
              </a:xfrm>
              <a:prstGeom prst="rect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49" name="Google Shape;349;p4"/>
              <p:cNvSpPr/>
              <p:nvPr/>
            </p:nvSpPr>
            <p:spPr>
              <a:xfrm>
                <a:off x="1961" y="3120"/>
                <a:ext cx="235" cy="72"/>
              </a:xfrm>
              <a:prstGeom prst="rect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350" name="Google Shape;350;p4"/>
              <p:cNvCxnSpPr/>
              <p:nvPr/>
            </p:nvCxnSpPr>
            <p:spPr>
              <a:xfrm rot="10800000">
                <a:off x="2075" y="3072"/>
                <a:ext cx="0" cy="48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51" name="Google Shape;351;p4"/>
            <p:cNvGrpSpPr/>
            <p:nvPr/>
          </p:nvGrpSpPr>
          <p:grpSpPr>
            <a:xfrm>
              <a:off x="5763380" y="3454400"/>
              <a:ext cx="832" cy="584200"/>
              <a:chOff x="1961" y="2928"/>
              <a:chExt cx="832" cy="336"/>
            </a:xfrm>
          </p:grpSpPr>
          <p:cxnSp>
            <p:nvCxnSpPr>
              <p:cNvPr id="352" name="Google Shape;352;p4"/>
              <p:cNvCxnSpPr/>
              <p:nvPr/>
            </p:nvCxnSpPr>
            <p:spPr>
              <a:xfrm>
                <a:off x="2793" y="2928"/>
                <a:ext cx="0" cy="33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4"/>
              <p:cNvCxnSpPr/>
              <p:nvPr/>
            </p:nvCxnSpPr>
            <p:spPr>
              <a:xfrm rot="10800000">
                <a:off x="2075" y="2928"/>
                <a:ext cx="718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4" name="Google Shape;354;p4"/>
              <p:cNvCxnSpPr/>
              <p:nvPr/>
            </p:nvCxnSpPr>
            <p:spPr>
              <a:xfrm rot="10800000">
                <a:off x="2075" y="3264"/>
                <a:ext cx="718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5" name="Google Shape;355;p4"/>
              <p:cNvCxnSpPr/>
              <p:nvPr/>
            </p:nvCxnSpPr>
            <p:spPr>
              <a:xfrm>
                <a:off x="2075" y="2928"/>
                <a:ext cx="0" cy="7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4"/>
              <p:cNvCxnSpPr/>
              <p:nvPr/>
            </p:nvCxnSpPr>
            <p:spPr>
              <a:xfrm rot="10800000">
                <a:off x="2075" y="3192"/>
                <a:ext cx="0" cy="7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57" name="Google Shape;357;p4"/>
              <p:cNvSpPr/>
              <p:nvPr/>
            </p:nvSpPr>
            <p:spPr>
              <a:xfrm>
                <a:off x="1961" y="3000"/>
                <a:ext cx="235" cy="72"/>
              </a:xfrm>
              <a:prstGeom prst="rect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58" name="Google Shape;358;p4"/>
              <p:cNvSpPr/>
              <p:nvPr/>
            </p:nvSpPr>
            <p:spPr>
              <a:xfrm>
                <a:off x="1961" y="3120"/>
                <a:ext cx="235" cy="72"/>
              </a:xfrm>
              <a:prstGeom prst="rect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359" name="Google Shape;359;p4"/>
              <p:cNvCxnSpPr/>
              <p:nvPr/>
            </p:nvCxnSpPr>
            <p:spPr>
              <a:xfrm rot="10800000">
                <a:off x="2075" y="3072"/>
                <a:ext cx="0" cy="48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60" name="Google Shape;360;p4"/>
            <p:cNvSpPr/>
            <p:nvPr/>
          </p:nvSpPr>
          <p:spPr>
            <a:xfrm>
              <a:off x="3746500" y="2692400"/>
              <a:ext cx="536575" cy="457200"/>
            </a:xfrm>
            <a:prstGeom prst="rightArrow">
              <a:avLst>
                <a:gd fmla="val 54759" name="adj1"/>
                <a:gd fmla="val 71992" name="adj2"/>
              </a:avLst>
            </a:prstGeom>
            <a:noFill/>
            <a:ln cap="flat" cmpd="sng" w="28575">
              <a:solidFill>
                <a:schemeClr val="folHlink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61" name="Google Shape;361;p4"/>
            <p:cNvSpPr/>
            <p:nvPr/>
          </p:nvSpPr>
          <p:spPr>
            <a:xfrm>
              <a:off x="5600700" y="2692400"/>
              <a:ext cx="536575" cy="457200"/>
            </a:xfrm>
            <a:prstGeom prst="rightArrow">
              <a:avLst>
                <a:gd fmla="val 54759" name="adj1"/>
                <a:gd fmla="val 71992" name="adj2"/>
              </a:avLst>
            </a:prstGeom>
            <a:noFill/>
            <a:ln cap="flat" cmpd="sng" w="28575">
              <a:solidFill>
                <a:schemeClr val="folHlink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62" name="Google Shape;362;p4"/>
            <p:cNvSpPr/>
            <p:nvPr/>
          </p:nvSpPr>
          <p:spPr>
            <a:xfrm>
              <a:off x="7150100" y="2692400"/>
              <a:ext cx="536575" cy="457200"/>
            </a:xfrm>
            <a:prstGeom prst="rightArrow">
              <a:avLst>
                <a:gd fmla="val 54759" name="adj1"/>
                <a:gd fmla="val 71992" name="adj2"/>
              </a:avLst>
            </a:prstGeom>
            <a:noFill/>
            <a:ln cap="flat" cmpd="sng" w="28575">
              <a:solidFill>
                <a:schemeClr val="folHlink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63" name="Google Shape;363;p4"/>
            <p:cNvSpPr txBox="1"/>
            <p:nvPr/>
          </p:nvSpPr>
          <p:spPr>
            <a:xfrm>
              <a:off x="3960813" y="4445000"/>
              <a:ext cx="1542410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folHlink"/>
                  </a:solidFill>
                  <a:latin typeface="Constantia"/>
                  <a:ea typeface="Constantia"/>
                  <a:cs typeface="Constantia"/>
                  <a:sym typeface="Constantia"/>
                </a:rPr>
                <a:t>Phần tử</a:t>
              </a:r>
              <a:endParaRPr b="1" sz="2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chemeClr val="folHlink"/>
                  </a:solidFill>
                  <a:latin typeface="Constantia"/>
                  <a:ea typeface="Constantia"/>
                  <a:cs typeface="Constantia"/>
                  <a:sym typeface="Constantia"/>
                </a:rPr>
                <a:t>thiết kế</a:t>
              </a:r>
              <a:endParaRPr b="1" sz="2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364" name="Google Shape;364;p4"/>
            <p:cNvGrpSpPr/>
            <p:nvPr/>
          </p:nvGrpSpPr>
          <p:grpSpPr>
            <a:xfrm>
              <a:off x="6337300" y="1778000"/>
              <a:ext cx="563563" cy="685800"/>
              <a:chOff x="1776" y="2400"/>
              <a:chExt cx="355" cy="432"/>
            </a:xfrm>
          </p:grpSpPr>
          <p:sp>
            <p:nvSpPr>
              <p:cNvPr id="365" name="Google Shape;365;p4"/>
              <p:cNvSpPr/>
              <p:nvPr/>
            </p:nvSpPr>
            <p:spPr>
              <a:xfrm>
                <a:off x="1776" y="2400"/>
                <a:ext cx="355" cy="432"/>
              </a:xfrm>
              <a:prstGeom prst="flowChartDocument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366" name="Google Shape;366;p4"/>
              <p:cNvCxnSpPr/>
              <p:nvPr/>
            </p:nvCxnSpPr>
            <p:spPr>
              <a:xfrm>
                <a:off x="1829" y="2448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7" name="Google Shape;367;p4"/>
              <p:cNvCxnSpPr/>
              <p:nvPr/>
            </p:nvCxnSpPr>
            <p:spPr>
              <a:xfrm>
                <a:off x="1829" y="2496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8" name="Google Shape;368;p4"/>
              <p:cNvCxnSpPr/>
              <p:nvPr/>
            </p:nvCxnSpPr>
            <p:spPr>
              <a:xfrm>
                <a:off x="1829" y="2544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9" name="Google Shape;369;p4"/>
              <p:cNvCxnSpPr/>
              <p:nvPr/>
            </p:nvCxnSpPr>
            <p:spPr>
              <a:xfrm>
                <a:off x="1829" y="2592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0" name="Google Shape;370;p4"/>
              <p:cNvCxnSpPr/>
              <p:nvPr/>
            </p:nvCxnSpPr>
            <p:spPr>
              <a:xfrm>
                <a:off x="1829" y="2640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1" name="Google Shape;371;p4"/>
              <p:cNvCxnSpPr/>
              <p:nvPr/>
            </p:nvCxnSpPr>
            <p:spPr>
              <a:xfrm>
                <a:off x="1829" y="2688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2" name="Google Shape;372;p4"/>
              <p:cNvCxnSpPr/>
              <p:nvPr/>
            </p:nvCxnSpPr>
            <p:spPr>
              <a:xfrm>
                <a:off x="1829" y="2736"/>
                <a:ext cx="1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3" name="Google Shape;373;p4"/>
              <p:cNvCxnSpPr/>
              <p:nvPr/>
            </p:nvCxnSpPr>
            <p:spPr>
              <a:xfrm>
                <a:off x="1829" y="2784"/>
                <a:ext cx="9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74" name="Google Shape;374;p4"/>
            <p:cNvGrpSpPr/>
            <p:nvPr/>
          </p:nvGrpSpPr>
          <p:grpSpPr>
            <a:xfrm>
              <a:off x="6337300" y="2616200"/>
              <a:ext cx="563563" cy="685800"/>
              <a:chOff x="1776" y="2400"/>
              <a:chExt cx="355" cy="432"/>
            </a:xfrm>
          </p:grpSpPr>
          <p:sp>
            <p:nvSpPr>
              <p:cNvPr id="375" name="Google Shape;375;p4"/>
              <p:cNvSpPr/>
              <p:nvPr/>
            </p:nvSpPr>
            <p:spPr>
              <a:xfrm>
                <a:off x="1776" y="2400"/>
                <a:ext cx="355" cy="432"/>
              </a:xfrm>
              <a:prstGeom prst="flowChartDocument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376" name="Google Shape;376;p4"/>
              <p:cNvCxnSpPr/>
              <p:nvPr/>
            </p:nvCxnSpPr>
            <p:spPr>
              <a:xfrm>
                <a:off x="1829" y="2448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7" name="Google Shape;377;p4"/>
              <p:cNvCxnSpPr/>
              <p:nvPr/>
            </p:nvCxnSpPr>
            <p:spPr>
              <a:xfrm>
                <a:off x="1829" y="2496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8" name="Google Shape;378;p4"/>
              <p:cNvCxnSpPr/>
              <p:nvPr/>
            </p:nvCxnSpPr>
            <p:spPr>
              <a:xfrm>
                <a:off x="1829" y="2544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79" name="Google Shape;379;p4"/>
              <p:cNvCxnSpPr/>
              <p:nvPr/>
            </p:nvCxnSpPr>
            <p:spPr>
              <a:xfrm>
                <a:off x="1829" y="2592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4"/>
              <p:cNvCxnSpPr/>
              <p:nvPr/>
            </p:nvCxnSpPr>
            <p:spPr>
              <a:xfrm>
                <a:off x="1829" y="2640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4"/>
              <p:cNvCxnSpPr/>
              <p:nvPr/>
            </p:nvCxnSpPr>
            <p:spPr>
              <a:xfrm>
                <a:off x="1829" y="2688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4"/>
              <p:cNvCxnSpPr/>
              <p:nvPr/>
            </p:nvCxnSpPr>
            <p:spPr>
              <a:xfrm>
                <a:off x="1829" y="2736"/>
                <a:ext cx="1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4"/>
              <p:cNvCxnSpPr/>
              <p:nvPr/>
            </p:nvCxnSpPr>
            <p:spPr>
              <a:xfrm>
                <a:off x="1829" y="2784"/>
                <a:ext cx="9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84" name="Google Shape;384;p4"/>
            <p:cNvGrpSpPr/>
            <p:nvPr/>
          </p:nvGrpSpPr>
          <p:grpSpPr>
            <a:xfrm>
              <a:off x="6337300" y="3530600"/>
              <a:ext cx="563563" cy="685800"/>
              <a:chOff x="1776" y="2400"/>
              <a:chExt cx="355" cy="432"/>
            </a:xfrm>
          </p:grpSpPr>
          <p:sp>
            <p:nvSpPr>
              <p:cNvPr id="385" name="Google Shape;385;p4"/>
              <p:cNvSpPr/>
              <p:nvPr/>
            </p:nvSpPr>
            <p:spPr>
              <a:xfrm>
                <a:off x="1776" y="2400"/>
                <a:ext cx="355" cy="432"/>
              </a:xfrm>
              <a:prstGeom prst="flowChartDocument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386" name="Google Shape;386;p4"/>
              <p:cNvCxnSpPr/>
              <p:nvPr/>
            </p:nvCxnSpPr>
            <p:spPr>
              <a:xfrm>
                <a:off x="1829" y="2448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7" name="Google Shape;387;p4"/>
              <p:cNvCxnSpPr/>
              <p:nvPr/>
            </p:nvCxnSpPr>
            <p:spPr>
              <a:xfrm>
                <a:off x="1829" y="2496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8" name="Google Shape;388;p4"/>
              <p:cNvCxnSpPr/>
              <p:nvPr/>
            </p:nvCxnSpPr>
            <p:spPr>
              <a:xfrm>
                <a:off x="1829" y="2544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89" name="Google Shape;389;p4"/>
              <p:cNvCxnSpPr/>
              <p:nvPr/>
            </p:nvCxnSpPr>
            <p:spPr>
              <a:xfrm>
                <a:off x="1829" y="2592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0" name="Google Shape;390;p4"/>
              <p:cNvCxnSpPr/>
              <p:nvPr/>
            </p:nvCxnSpPr>
            <p:spPr>
              <a:xfrm>
                <a:off x="1829" y="2640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4"/>
              <p:cNvCxnSpPr/>
              <p:nvPr/>
            </p:nvCxnSpPr>
            <p:spPr>
              <a:xfrm>
                <a:off x="1829" y="2688"/>
                <a:ext cx="23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2" name="Google Shape;392;p4"/>
              <p:cNvCxnSpPr/>
              <p:nvPr/>
            </p:nvCxnSpPr>
            <p:spPr>
              <a:xfrm>
                <a:off x="1829" y="2736"/>
                <a:ext cx="1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3" name="Google Shape;393;p4"/>
              <p:cNvCxnSpPr/>
              <p:nvPr/>
            </p:nvCxnSpPr>
            <p:spPr>
              <a:xfrm>
                <a:off x="1829" y="2784"/>
                <a:ext cx="9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394" name="Google Shape;394;p4"/>
            <p:cNvSpPr/>
            <p:nvPr/>
          </p:nvSpPr>
          <p:spPr>
            <a:xfrm rot="-5400000">
              <a:off x="1808163" y="3784600"/>
              <a:ext cx="381000" cy="3441700"/>
            </a:xfrm>
            <a:prstGeom prst="leftBrace">
              <a:avLst>
                <a:gd fmla="val 75278" name="adj1"/>
                <a:gd fmla="val 50000" name="adj2"/>
              </a:avLst>
            </a:prstGeom>
            <a:noFill/>
            <a:ln cap="flat" cmpd="sng" w="38100">
              <a:solidFill>
                <a:schemeClr val="hlink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395" name="Google Shape;395;p4"/>
            <p:cNvGrpSpPr/>
            <p:nvPr/>
          </p:nvGrpSpPr>
          <p:grpSpPr>
            <a:xfrm>
              <a:off x="2590800" y="1930400"/>
              <a:ext cx="762000" cy="533400"/>
              <a:chOff x="144" y="1440"/>
              <a:chExt cx="881" cy="510"/>
            </a:xfrm>
          </p:grpSpPr>
          <p:sp>
            <p:nvSpPr>
              <p:cNvPr id="396" name="Google Shape;396;p4"/>
              <p:cNvSpPr/>
              <p:nvPr/>
            </p:nvSpPr>
            <p:spPr>
              <a:xfrm>
                <a:off x="144" y="1440"/>
                <a:ext cx="881" cy="51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397" name="Google Shape;397;p4"/>
              <p:cNvCxnSpPr/>
              <p:nvPr/>
            </p:nvCxnSpPr>
            <p:spPr>
              <a:xfrm>
                <a:off x="144" y="1810"/>
                <a:ext cx="88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4"/>
              <p:cNvCxnSpPr/>
              <p:nvPr/>
            </p:nvCxnSpPr>
            <p:spPr>
              <a:xfrm>
                <a:off x="144" y="1680"/>
                <a:ext cx="88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399" name="Google Shape;399;p4"/>
            <p:cNvGrpSpPr/>
            <p:nvPr/>
          </p:nvGrpSpPr>
          <p:grpSpPr>
            <a:xfrm>
              <a:off x="2590800" y="2616200"/>
              <a:ext cx="762000" cy="533400"/>
              <a:chOff x="144" y="1440"/>
              <a:chExt cx="881" cy="510"/>
            </a:xfrm>
          </p:grpSpPr>
          <p:sp>
            <p:nvSpPr>
              <p:cNvPr id="400" name="Google Shape;400;p4"/>
              <p:cNvSpPr/>
              <p:nvPr/>
            </p:nvSpPr>
            <p:spPr>
              <a:xfrm>
                <a:off x="144" y="1440"/>
                <a:ext cx="881" cy="51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401" name="Google Shape;401;p4"/>
              <p:cNvCxnSpPr/>
              <p:nvPr/>
            </p:nvCxnSpPr>
            <p:spPr>
              <a:xfrm>
                <a:off x="144" y="1810"/>
                <a:ext cx="88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2" name="Google Shape;402;p4"/>
              <p:cNvCxnSpPr/>
              <p:nvPr/>
            </p:nvCxnSpPr>
            <p:spPr>
              <a:xfrm>
                <a:off x="144" y="1680"/>
                <a:ext cx="88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03" name="Google Shape;403;p4"/>
            <p:cNvGrpSpPr/>
            <p:nvPr/>
          </p:nvGrpSpPr>
          <p:grpSpPr>
            <a:xfrm>
              <a:off x="2590800" y="3302000"/>
              <a:ext cx="762000" cy="533400"/>
              <a:chOff x="144" y="1440"/>
              <a:chExt cx="881" cy="510"/>
            </a:xfrm>
          </p:grpSpPr>
          <p:sp>
            <p:nvSpPr>
              <p:cNvPr id="404" name="Google Shape;404;p4"/>
              <p:cNvSpPr/>
              <p:nvPr/>
            </p:nvSpPr>
            <p:spPr>
              <a:xfrm>
                <a:off x="144" y="1440"/>
                <a:ext cx="881" cy="51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405" name="Google Shape;405;p4"/>
              <p:cNvCxnSpPr/>
              <p:nvPr/>
            </p:nvCxnSpPr>
            <p:spPr>
              <a:xfrm>
                <a:off x="144" y="1810"/>
                <a:ext cx="88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06" name="Google Shape;406;p4"/>
              <p:cNvCxnSpPr/>
              <p:nvPr/>
            </p:nvCxnSpPr>
            <p:spPr>
              <a:xfrm>
                <a:off x="144" y="1680"/>
                <a:ext cx="88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07" name="Google Shape;407;p4"/>
            <p:cNvGrpSpPr/>
            <p:nvPr/>
          </p:nvGrpSpPr>
          <p:grpSpPr>
            <a:xfrm>
              <a:off x="4000500" y="1168403"/>
              <a:ext cx="1398588" cy="685801"/>
              <a:chOff x="4416" y="1440"/>
              <a:chExt cx="1200" cy="576"/>
            </a:xfrm>
          </p:grpSpPr>
          <p:grpSp>
            <p:nvGrpSpPr>
              <p:cNvPr id="408" name="Google Shape;408;p4"/>
              <p:cNvGrpSpPr/>
              <p:nvPr/>
            </p:nvGrpSpPr>
            <p:grpSpPr>
              <a:xfrm>
                <a:off x="4752" y="1440"/>
                <a:ext cx="864" cy="576"/>
                <a:chOff x="1252" y="3089"/>
                <a:chExt cx="1114" cy="758"/>
              </a:xfrm>
            </p:grpSpPr>
            <p:sp>
              <p:nvSpPr>
                <p:cNvPr id="409" name="Google Shape;409;p4"/>
                <p:cNvSpPr/>
                <p:nvPr/>
              </p:nvSpPr>
              <p:spPr>
                <a:xfrm>
                  <a:off x="1252" y="3290"/>
                  <a:ext cx="1114" cy="557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folHlink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410" name="Google Shape;410;p4"/>
                <p:cNvSpPr/>
                <p:nvPr/>
              </p:nvSpPr>
              <p:spPr>
                <a:xfrm>
                  <a:off x="1252" y="3089"/>
                  <a:ext cx="445" cy="201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folHlink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grpSp>
            <p:nvGrpSpPr>
              <p:cNvPr id="411" name="Google Shape;411;p4"/>
              <p:cNvGrpSpPr/>
              <p:nvPr/>
            </p:nvGrpSpPr>
            <p:grpSpPr>
              <a:xfrm>
                <a:off x="4416" y="1632"/>
                <a:ext cx="336" cy="144"/>
                <a:chOff x="4368" y="3312"/>
                <a:chExt cx="336" cy="144"/>
              </a:xfrm>
            </p:grpSpPr>
            <p:sp>
              <p:nvSpPr>
                <p:cNvPr id="412" name="Google Shape;412;p4"/>
                <p:cNvSpPr/>
                <p:nvPr/>
              </p:nvSpPr>
              <p:spPr>
                <a:xfrm>
                  <a:off x="4368" y="3312"/>
                  <a:ext cx="144" cy="144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folHlink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413" name="Google Shape;413;p4"/>
                <p:cNvCxnSpPr/>
                <p:nvPr/>
              </p:nvCxnSpPr>
              <p:spPr>
                <a:xfrm>
                  <a:off x="4512" y="3384"/>
                  <a:ext cx="192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folHlink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414" name="Google Shape;414;p4"/>
              <p:cNvGrpSpPr/>
              <p:nvPr/>
            </p:nvGrpSpPr>
            <p:grpSpPr>
              <a:xfrm>
                <a:off x="4416" y="1872"/>
                <a:ext cx="336" cy="144"/>
                <a:chOff x="4368" y="3312"/>
                <a:chExt cx="336" cy="144"/>
              </a:xfrm>
            </p:grpSpPr>
            <p:sp>
              <p:nvSpPr>
                <p:cNvPr id="415" name="Google Shape;415;p4"/>
                <p:cNvSpPr/>
                <p:nvPr/>
              </p:nvSpPr>
              <p:spPr>
                <a:xfrm>
                  <a:off x="4368" y="3312"/>
                  <a:ext cx="144" cy="144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folHlink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53975" lIns="107950" spcFirstLastPara="1" rIns="107950" wrap="square" tIns="539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416" name="Google Shape;416;p4"/>
                <p:cNvCxnSpPr/>
                <p:nvPr/>
              </p:nvCxnSpPr>
              <p:spPr>
                <a:xfrm>
                  <a:off x="4512" y="3384"/>
                  <a:ext cx="192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folHlink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417" name="Google Shape;417;p4"/>
            <p:cNvGrpSpPr/>
            <p:nvPr/>
          </p:nvGrpSpPr>
          <p:grpSpPr>
            <a:xfrm>
              <a:off x="4392613" y="3352796"/>
              <a:ext cx="1006475" cy="685799"/>
              <a:chOff x="1252" y="3089"/>
              <a:chExt cx="1114" cy="758"/>
            </a:xfrm>
          </p:grpSpPr>
          <p:sp>
            <p:nvSpPr>
              <p:cNvPr id="418" name="Google Shape;418;p4"/>
              <p:cNvSpPr/>
              <p:nvPr/>
            </p:nvSpPr>
            <p:spPr>
              <a:xfrm>
                <a:off x="1252" y="3290"/>
                <a:ext cx="1114" cy="557"/>
              </a:xfrm>
              <a:prstGeom prst="rect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419" name="Google Shape;419;p4"/>
              <p:cNvSpPr/>
              <p:nvPr/>
            </p:nvSpPr>
            <p:spPr>
              <a:xfrm>
                <a:off x="1252" y="3089"/>
                <a:ext cx="445" cy="201"/>
              </a:xfrm>
              <a:prstGeom prst="rect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sp>
          <p:nvSpPr>
            <p:cNvPr id="420" name="Google Shape;420;p4"/>
            <p:cNvSpPr txBox="1"/>
            <p:nvPr/>
          </p:nvSpPr>
          <p:spPr>
            <a:xfrm>
              <a:off x="220717" y="5711825"/>
              <a:ext cx="3657600" cy="4783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rgbClr val="0000FF"/>
                  </a:solidFill>
                  <a:latin typeface="Constantia"/>
                  <a:ea typeface="Constantia"/>
                  <a:cs typeface="Constantia"/>
                  <a:sym typeface="Constantia"/>
                </a:rPr>
                <a:t>Phân tích ca sử dung</a:t>
              </a:r>
              <a:endParaRPr b="1" i="1" sz="2400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"/>
          <p:cNvSpPr txBox="1"/>
          <p:nvPr>
            <p:ph type="title"/>
          </p:nvPr>
        </p:nvSpPr>
        <p:spPr>
          <a:xfrm>
            <a:off x="457200" y="704100"/>
            <a:ext cx="83952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Tìm các lớp trong hành </a:t>
            </a:r>
            <a:r>
              <a:rPr lang="en-US" sz="4000"/>
              <a:t>vi</a:t>
            </a:r>
            <a:r>
              <a:rPr lang="en-US" sz="4000"/>
              <a:t> của ca sử dụng</a:t>
            </a:r>
            <a:endParaRPr sz="4000"/>
          </a:p>
        </p:txBody>
      </p:sp>
      <p:sp>
        <p:nvSpPr>
          <p:cNvPr id="426" name="Google Shape;426;p5"/>
          <p:cNvSpPr txBox="1"/>
          <p:nvPr>
            <p:ph idx="1" type="body"/>
          </p:nvPr>
        </p:nvSpPr>
        <p:spPr>
          <a:xfrm>
            <a:off x="457200" y="14478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Toàn bộ hành vi của ca sử dụng cần phải được phân phối vào các lớp phân tích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427" name="Google Shape;427;p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28" name="Google Shape;428;p5"/>
          <p:cNvGrpSpPr/>
          <p:nvPr/>
        </p:nvGrpSpPr>
        <p:grpSpPr>
          <a:xfrm>
            <a:off x="1830312" y="2587749"/>
            <a:ext cx="5668384" cy="3884005"/>
            <a:chOff x="898" y="1342"/>
            <a:chExt cx="3750" cy="2546"/>
          </a:xfrm>
        </p:grpSpPr>
        <p:grpSp>
          <p:nvGrpSpPr>
            <p:cNvPr id="429" name="Google Shape;429;p5"/>
            <p:cNvGrpSpPr/>
            <p:nvPr/>
          </p:nvGrpSpPr>
          <p:grpSpPr>
            <a:xfrm>
              <a:off x="2160" y="1342"/>
              <a:ext cx="1077" cy="1439"/>
              <a:chOff x="446" y="2208"/>
              <a:chExt cx="754" cy="1008"/>
            </a:xfrm>
          </p:grpSpPr>
          <p:sp>
            <p:nvSpPr>
              <p:cNvPr id="430" name="Google Shape;430;p5"/>
              <p:cNvSpPr/>
              <p:nvPr/>
            </p:nvSpPr>
            <p:spPr>
              <a:xfrm>
                <a:off x="446" y="2208"/>
                <a:ext cx="624" cy="288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431" name="Google Shape;431;p5"/>
              <p:cNvSpPr/>
              <p:nvPr/>
            </p:nvSpPr>
            <p:spPr>
              <a:xfrm>
                <a:off x="768" y="2496"/>
                <a:ext cx="432" cy="72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432" name="Google Shape;432;p5"/>
              <p:cNvCxnSpPr/>
              <p:nvPr/>
            </p:nvCxnSpPr>
            <p:spPr>
              <a:xfrm>
                <a:off x="1056" y="2496"/>
                <a:ext cx="144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3" name="Google Shape;433;p5"/>
              <p:cNvCxnSpPr/>
              <p:nvPr/>
            </p:nvCxnSpPr>
            <p:spPr>
              <a:xfrm>
                <a:off x="1056" y="2496"/>
                <a:ext cx="0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4" name="Google Shape;434;p5"/>
              <p:cNvCxnSpPr/>
              <p:nvPr/>
            </p:nvCxnSpPr>
            <p:spPr>
              <a:xfrm rot="10800000">
                <a:off x="1056" y="2640"/>
                <a:ext cx="1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5" name="Google Shape;435;p5"/>
              <p:cNvCxnSpPr/>
              <p:nvPr/>
            </p:nvCxnSpPr>
            <p:spPr>
              <a:xfrm>
                <a:off x="816" y="2736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6" name="Google Shape;436;p5"/>
              <p:cNvCxnSpPr/>
              <p:nvPr/>
            </p:nvCxnSpPr>
            <p:spPr>
              <a:xfrm>
                <a:off x="816" y="2784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7" name="Google Shape;437;p5"/>
              <p:cNvCxnSpPr/>
              <p:nvPr/>
            </p:nvCxnSpPr>
            <p:spPr>
              <a:xfrm>
                <a:off x="816" y="2832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8" name="Google Shape;438;p5"/>
              <p:cNvCxnSpPr/>
              <p:nvPr/>
            </p:nvCxnSpPr>
            <p:spPr>
              <a:xfrm>
                <a:off x="816" y="292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9" name="Google Shape;439;p5"/>
              <p:cNvCxnSpPr/>
              <p:nvPr/>
            </p:nvCxnSpPr>
            <p:spPr>
              <a:xfrm>
                <a:off x="816" y="2880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0" name="Google Shape;440;p5"/>
              <p:cNvCxnSpPr/>
              <p:nvPr/>
            </p:nvCxnSpPr>
            <p:spPr>
              <a:xfrm>
                <a:off x="816" y="2976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1" name="Google Shape;441;p5"/>
              <p:cNvCxnSpPr/>
              <p:nvPr/>
            </p:nvCxnSpPr>
            <p:spPr>
              <a:xfrm>
                <a:off x="816" y="3024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2" name="Google Shape;442;p5"/>
              <p:cNvCxnSpPr/>
              <p:nvPr/>
            </p:nvCxnSpPr>
            <p:spPr>
              <a:xfrm>
                <a:off x="816" y="3072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3" name="Google Shape;443;p5"/>
              <p:cNvCxnSpPr/>
              <p:nvPr/>
            </p:nvCxnSpPr>
            <p:spPr>
              <a:xfrm>
                <a:off x="816" y="3120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4" name="Google Shape;444;p5"/>
              <p:cNvCxnSpPr/>
              <p:nvPr/>
            </p:nvCxnSpPr>
            <p:spPr>
              <a:xfrm>
                <a:off x="816" y="316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5" name="Google Shape;445;p5"/>
              <p:cNvCxnSpPr/>
              <p:nvPr/>
            </p:nvCxnSpPr>
            <p:spPr>
              <a:xfrm>
                <a:off x="816" y="268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6" name="Google Shape;446;p5"/>
              <p:cNvCxnSpPr/>
              <p:nvPr/>
            </p:nvCxnSpPr>
            <p:spPr>
              <a:xfrm>
                <a:off x="816" y="2592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7" name="Google Shape;447;p5"/>
              <p:cNvCxnSpPr/>
              <p:nvPr/>
            </p:nvCxnSpPr>
            <p:spPr>
              <a:xfrm>
                <a:off x="816" y="2544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48" name="Google Shape;448;p5"/>
              <p:cNvCxnSpPr/>
              <p:nvPr/>
            </p:nvCxnSpPr>
            <p:spPr>
              <a:xfrm>
                <a:off x="816" y="2640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449" name="Google Shape;449;p5"/>
            <p:cNvCxnSpPr/>
            <p:nvPr/>
          </p:nvCxnSpPr>
          <p:spPr>
            <a:xfrm rot="10800000">
              <a:off x="1784" y="1920"/>
              <a:ext cx="968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450" name="Google Shape;450;p5"/>
            <p:cNvCxnSpPr/>
            <p:nvPr/>
          </p:nvCxnSpPr>
          <p:spPr>
            <a:xfrm flipH="1" rot="10800000">
              <a:off x="3136" y="2056"/>
              <a:ext cx="784" cy="2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451" name="Google Shape;451;p5"/>
            <p:cNvCxnSpPr/>
            <p:nvPr/>
          </p:nvCxnSpPr>
          <p:spPr>
            <a:xfrm>
              <a:off x="2904" y="2592"/>
              <a:ext cx="0" cy="57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452" name="Google Shape;452;p5"/>
            <p:cNvCxnSpPr/>
            <p:nvPr/>
          </p:nvCxnSpPr>
          <p:spPr>
            <a:xfrm>
              <a:off x="3136" y="2448"/>
              <a:ext cx="728" cy="44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453" name="Google Shape;453;p5"/>
            <p:cNvCxnSpPr/>
            <p:nvPr/>
          </p:nvCxnSpPr>
          <p:spPr>
            <a:xfrm flipH="1">
              <a:off x="1760" y="2080"/>
              <a:ext cx="944" cy="87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sp>
          <p:nvSpPr>
            <p:cNvPr id="454" name="Google Shape;454;p5"/>
            <p:cNvSpPr/>
            <p:nvPr/>
          </p:nvSpPr>
          <p:spPr>
            <a:xfrm>
              <a:off x="2688" y="1872"/>
              <a:ext cx="298" cy="9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455" name="Google Shape;455;p5"/>
            <p:cNvSpPr/>
            <p:nvPr/>
          </p:nvSpPr>
          <p:spPr>
            <a:xfrm>
              <a:off x="2688" y="2016"/>
              <a:ext cx="480" cy="96"/>
            </a:xfrm>
            <a:prstGeom prst="rect">
              <a:avLst/>
            </a:prstGeom>
            <a:solidFill>
              <a:srgbClr val="66FF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456" name="Google Shape;456;p5"/>
            <p:cNvSpPr/>
            <p:nvPr/>
          </p:nvSpPr>
          <p:spPr>
            <a:xfrm>
              <a:off x="2688" y="2208"/>
              <a:ext cx="480" cy="1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457" name="Google Shape;457;p5"/>
            <p:cNvSpPr/>
            <p:nvPr/>
          </p:nvSpPr>
          <p:spPr>
            <a:xfrm>
              <a:off x="2688" y="2400"/>
              <a:ext cx="480" cy="96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458" name="Google Shape;458;p5"/>
            <p:cNvSpPr/>
            <p:nvPr/>
          </p:nvSpPr>
          <p:spPr>
            <a:xfrm>
              <a:off x="2688" y="2592"/>
              <a:ext cx="480" cy="96"/>
            </a:xfrm>
            <a:prstGeom prst="rect">
              <a:avLst/>
            </a:prstGeom>
            <a:solidFill>
              <a:srgbClr val="99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459" name="Google Shape;459;p5"/>
            <p:cNvGrpSpPr/>
            <p:nvPr/>
          </p:nvGrpSpPr>
          <p:grpSpPr>
            <a:xfrm>
              <a:off x="4040" y="1664"/>
              <a:ext cx="608" cy="624"/>
              <a:chOff x="4192" y="2208"/>
              <a:chExt cx="464" cy="473"/>
            </a:xfrm>
          </p:grpSpPr>
          <p:sp>
            <p:nvSpPr>
              <p:cNvPr id="460" name="Google Shape;460;p5"/>
              <p:cNvSpPr/>
              <p:nvPr/>
            </p:nvSpPr>
            <p:spPr>
              <a:xfrm>
                <a:off x="4192" y="2208"/>
                <a:ext cx="458" cy="466"/>
              </a:xfrm>
              <a:prstGeom prst="ellipse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461" name="Google Shape;461;p5"/>
              <p:cNvCxnSpPr/>
              <p:nvPr/>
            </p:nvCxnSpPr>
            <p:spPr>
              <a:xfrm>
                <a:off x="4198" y="2680"/>
                <a:ext cx="458" cy="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62" name="Google Shape;462;p5"/>
            <p:cNvGrpSpPr/>
            <p:nvPr/>
          </p:nvGrpSpPr>
          <p:grpSpPr>
            <a:xfrm>
              <a:off x="1160" y="2817"/>
              <a:ext cx="621" cy="639"/>
              <a:chOff x="1019" y="2289"/>
              <a:chExt cx="418" cy="444"/>
            </a:xfrm>
          </p:grpSpPr>
          <p:sp>
            <p:nvSpPr>
              <p:cNvPr id="463" name="Google Shape;463;p5"/>
              <p:cNvSpPr/>
              <p:nvPr/>
            </p:nvSpPr>
            <p:spPr>
              <a:xfrm>
                <a:off x="1019" y="2323"/>
                <a:ext cx="418" cy="410"/>
              </a:xfrm>
              <a:prstGeom prst="ellipse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464" name="Google Shape;464;p5"/>
              <p:cNvCxnSpPr/>
              <p:nvPr/>
            </p:nvCxnSpPr>
            <p:spPr>
              <a:xfrm flipH="1">
                <a:off x="1178" y="2289"/>
                <a:ext cx="92" cy="4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" name="Google Shape;465;p5"/>
              <p:cNvCxnSpPr/>
              <p:nvPr/>
            </p:nvCxnSpPr>
            <p:spPr>
              <a:xfrm rot="10800000">
                <a:off x="1178" y="2331"/>
                <a:ext cx="92" cy="33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66" name="Google Shape;466;p5"/>
            <p:cNvGrpSpPr/>
            <p:nvPr/>
          </p:nvGrpSpPr>
          <p:grpSpPr>
            <a:xfrm>
              <a:off x="898" y="1688"/>
              <a:ext cx="840" cy="582"/>
              <a:chOff x="753" y="1578"/>
              <a:chExt cx="518" cy="347"/>
            </a:xfrm>
          </p:grpSpPr>
          <p:sp>
            <p:nvSpPr>
              <p:cNvPr id="467" name="Google Shape;467;p5"/>
              <p:cNvSpPr/>
              <p:nvPr/>
            </p:nvSpPr>
            <p:spPr>
              <a:xfrm>
                <a:off x="923" y="1578"/>
                <a:ext cx="348" cy="347"/>
              </a:xfrm>
              <a:prstGeom prst="ellipse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468" name="Google Shape;468;p5"/>
              <p:cNvCxnSpPr/>
              <p:nvPr/>
            </p:nvCxnSpPr>
            <p:spPr>
              <a:xfrm>
                <a:off x="753" y="1663"/>
                <a:ext cx="1" cy="17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9" name="Google Shape;469;p5"/>
              <p:cNvCxnSpPr/>
              <p:nvPr/>
            </p:nvCxnSpPr>
            <p:spPr>
              <a:xfrm>
                <a:off x="753" y="1748"/>
                <a:ext cx="170" cy="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70" name="Google Shape;470;p5"/>
            <p:cNvGrpSpPr/>
            <p:nvPr/>
          </p:nvGrpSpPr>
          <p:grpSpPr>
            <a:xfrm>
              <a:off x="2591" y="3264"/>
              <a:ext cx="608" cy="624"/>
              <a:chOff x="4192" y="2208"/>
              <a:chExt cx="464" cy="473"/>
            </a:xfrm>
          </p:grpSpPr>
          <p:sp>
            <p:nvSpPr>
              <p:cNvPr id="471" name="Google Shape;471;p5"/>
              <p:cNvSpPr/>
              <p:nvPr/>
            </p:nvSpPr>
            <p:spPr>
              <a:xfrm>
                <a:off x="4192" y="2208"/>
                <a:ext cx="458" cy="466"/>
              </a:xfrm>
              <a:prstGeom prst="ellipse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472" name="Google Shape;472;p5"/>
              <p:cNvCxnSpPr/>
              <p:nvPr/>
            </p:nvCxnSpPr>
            <p:spPr>
              <a:xfrm>
                <a:off x="4198" y="2680"/>
                <a:ext cx="458" cy="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73" name="Google Shape;473;p5"/>
            <p:cNvGrpSpPr/>
            <p:nvPr/>
          </p:nvGrpSpPr>
          <p:grpSpPr>
            <a:xfrm>
              <a:off x="3778" y="2840"/>
              <a:ext cx="840" cy="582"/>
              <a:chOff x="753" y="1578"/>
              <a:chExt cx="518" cy="347"/>
            </a:xfrm>
          </p:grpSpPr>
          <p:sp>
            <p:nvSpPr>
              <p:cNvPr id="474" name="Google Shape;474;p5"/>
              <p:cNvSpPr/>
              <p:nvPr/>
            </p:nvSpPr>
            <p:spPr>
              <a:xfrm>
                <a:off x="923" y="1578"/>
                <a:ext cx="348" cy="347"/>
              </a:xfrm>
              <a:prstGeom prst="ellipse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475" name="Google Shape;475;p5"/>
              <p:cNvCxnSpPr/>
              <p:nvPr/>
            </p:nvCxnSpPr>
            <p:spPr>
              <a:xfrm>
                <a:off x="753" y="1663"/>
                <a:ext cx="1" cy="17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76" name="Google Shape;476;p5"/>
              <p:cNvCxnSpPr/>
              <p:nvPr/>
            </p:nvCxnSpPr>
            <p:spPr>
              <a:xfrm>
                <a:off x="753" y="1748"/>
                <a:ext cx="170" cy="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2" name="Google Shape;482;p6"/>
          <p:cNvSpPr txBox="1"/>
          <p:nvPr>
            <p:ph type="title"/>
          </p:nvPr>
        </p:nvSpPr>
        <p:spPr>
          <a:xfrm>
            <a:off x="457200" y="704088"/>
            <a:ext cx="82296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Lớp phân tích là gì?</a:t>
            </a:r>
            <a:endParaRPr/>
          </a:p>
        </p:txBody>
      </p:sp>
      <p:grpSp>
        <p:nvGrpSpPr>
          <p:cNvPr id="483" name="Google Shape;483;p6"/>
          <p:cNvGrpSpPr/>
          <p:nvPr/>
        </p:nvGrpSpPr>
        <p:grpSpPr>
          <a:xfrm>
            <a:off x="457200" y="1752603"/>
            <a:ext cx="8229601" cy="4571998"/>
            <a:chOff x="355600" y="1612902"/>
            <a:chExt cx="8586788" cy="4676992"/>
          </a:xfrm>
        </p:grpSpPr>
        <p:sp>
          <p:nvSpPr>
            <p:cNvPr id="484" name="Google Shape;484;p6"/>
            <p:cNvSpPr txBox="1"/>
            <p:nvPr/>
          </p:nvSpPr>
          <p:spPr>
            <a:xfrm>
              <a:off x="355600" y="2590800"/>
              <a:ext cx="1295400" cy="10618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FF66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Lớp biên</a:t>
              </a:r>
              <a:endParaRPr i="1" sz="1800">
                <a:solidFill>
                  <a:srgbClr val="FF6600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  <a:p>
              <a:pPr indent="0" lvl="0" marL="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FF66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của hệ thống</a:t>
              </a:r>
              <a:endParaRPr i="1" sz="1800">
                <a:solidFill>
                  <a:srgbClr val="FF6600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485" name="Google Shape;485;p6"/>
            <p:cNvSpPr txBox="1"/>
            <p:nvPr/>
          </p:nvSpPr>
          <p:spPr>
            <a:xfrm>
              <a:off x="647700" y="4271963"/>
              <a:ext cx="1447800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FF66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Phối hợp hành vi của ca sử dụng</a:t>
              </a:r>
              <a:endParaRPr i="1" sz="1800">
                <a:solidFill>
                  <a:srgbClr val="FF6600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486" name="Google Shape;486;p6"/>
            <p:cNvSpPr txBox="1"/>
            <p:nvPr/>
          </p:nvSpPr>
          <p:spPr>
            <a:xfrm>
              <a:off x="7418388" y="2481263"/>
              <a:ext cx="15240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FF66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Thông tin của hệ thống</a:t>
              </a:r>
              <a:endParaRPr i="1" sz="1800">
                <a:solidFill>
                  <a:srgbClr val="FF6600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487" name="Google Shape;487;p6"/>
            <p:cNvSpPr txBox="1"/>
            <p:nvPr/>
          </p:nvSpPr>
          <p:spPr>
            <a:xfrm>
              <a:off x="1295396" y="1755770"/>
              <a:ext cx="1911300" cy="38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&lt;&lt;boundary&gt;&gt;</a:t>
              </a: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1670058" y="3555995"/>
              <a:ext cx="1536600" cy="38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&lt;&lt;control&gt;&gt;</a:t>
              </a: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6248390" y="1714496"/>
              <a:ext cx="1498500" cy="38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&lt;&lt;entity&gt;&gt;</a:t>
              </a:r>
              <a:endParaRPr/>
            </a:p>
          </p:txBody>
        </p:sp>
        <p:sp>
          <p:nvSpPr>
            <p:cNvPr id="490" name="Google Shape;490;p6"/>
            <p:cNvSpPr txBox="1"/>
            <p:nvPr/>
          </p:nvSpPr>
          <p:spPr>
            <a:xfrm>
              <a:off x="5143500" y="5643563"/>
              <a:ext cx="152400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FF66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Thông tin hệ thống</a:t>
              </a:r>
              <a:endParaRPr i="1" sz="1800">
                <a:solidFill>
                  <a:srgbClr val="FF6600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3973503" y="4813309"/>
              <a:ext cx="1727400" cy="38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&lt;&lt;entity&gt;&gt;</a:t>
              </a:r>
              <a:endParaRPr/>
            </a:p>
          </p:txBody>
        </p:sp>
        <p:sp>
          <p:nvSpPr>
            <p:cNvPr id="492" name="Google Shape;492;p6"/>
            <p:cNvSpPr txBox="1"/>
            <p:nvPr/>
          </p:nvSpPr>
          <p:spPr>
            <a:xfrm>
              <a:off x="7480300" y="4127500"/>
              <a:ext cx="1295400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FF66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Lớp biên của hệ thống</a:t>
              </a:r>
              <a:endParaRPr i="1" sz="1800">
                <a:solidFill>
                  <a:srgbClr val="FF6600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493" name="Google Shape;493;p6"/>
            <p:cNvSpPr txBox="1"/>
            <p:nvPr/>
          </p:nvSpPr>
          <p:spPr>
            <a:xfrm>
              <a:off x="6083298" y="3609979"/>
              <a:ext cx="2174100" cy="38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&lt;&lt;boundary&gt;&gt;</a:t>
              </a:r>
              <a:endParaRPr/>
            </a:p>
          </p:txBody>
        </p:sp>
        <p:grpSp>
          <p:nvGrpSpPr>
            <p:cNvPr id="494" name="Google Shape;494;p6"/>
            <p:cNvGrpSpPr/>
            <p:nvPr/>
          </p:nvGrpSpPr>
          <p:grpSpPr>
            <a:xfrm>
              <a:off x="3454400" y="1612902"/>
              <a:ext cx="1709739" cy="2286001"/>
              <a:chOff x="446" y="2208"/>
              <a:chExt cx="754" cy="1008"/>
            </a:xfrm>
          </p:grpSpPr>
          <p:sp>
            <p:nvSpPr>
              <p:cNvPr id="495" name="Google Shape;495;p6"/>
              <p:cNvSpPr/>
              <p:nvPr/>
            </p:nvSpPr>
            <p:spPr>
              <a:xfrm>
                <a:off x="446" y="2208"/>
                <a:ext cx="624" cy="288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496" name="Google Shape;496;p6"/>
              <p:cNvSpPr/>
              <p:nvPr/>
            </p:nvSpPr>
            <p:spPr>
              <a:xfrm>
                <a:off x="768" y="2496"/>
                <a:ext cx="432" cy="72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497" name="Google Shape;497;p6"/>
              <p:cNvCxnSpPr/>
              <p:nvPr/>
            </p:nvCxnSpPr>
            <p:spPr>
              <a:xfrm>
                <a:off x="1056" y="2496"/>
                <a:ext cx="144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8" name="Google Shape;498;p6"/>
              <p:cNvCxnSpPr/>
              <p:nvPr/>
            </p:nvCxnSpPr>
            <p:spPr>
              <a:xfrm>
                <a:off x="1056" y="2496"/>
                <a:ext cx="0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99" name="Google Shape;499;p6"/>
              <p:cNvCxnSpPr/>
              <p:nvPr/>
            </p:nvCxnSpPr>
            <p:spPr>
              <a:xfrm rot="10800000">
                <a:off x="1056" y="2640"/>
                <a:ext cx="1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0" name="Google Shape;500;p6"/>
              <p:cNvCxnSpPr/>
              <p:nvPr/>
            </p:nvCxnSpPr>
            <p:spPr>
              <a:xfrm>
                <a:off x="816" y="2736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1" name="Google Shape;501;p6"/>
              <p:cNvCxnSpPr/>
              <p:nvPr/>
            </p:nvCxnSpPr>
            <p:spPr>
              <a:xfrm>
                <a:off x="816" y="2784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2" name="Google Shape;502;p6"/>
              <p:cNvCxnSpPr/>
              <p:nvPr/>
            </p:nvCxnSpPr>
            <p:spPr>
              <a:xfrm>
                <a:off x="816" y="2832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3" name="Google Shape;503;p6"/>
              <p:cNvCxnSpPr/>
              <p:nvPr/>
            </p:nvCxnSpPr>
            <p:spPr>
              <a:xfrm>
                <a:off x="816" y="292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4" name="Google Shape;504;p6"/>
              <p:cNvCxnSpPr/>
              <p:nvPr/>
            </p:nvCxnSpPr>
            <p:spPr>
              <a:xfrm>
                <a:off x="816" y="2880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5" name="Google Shape;505;p6"/>
              <p:cNvCxnSpPr/>
              <p:nvPr/>
            </p:nvCxnSpPr>
            <p:spPr>
              <a:xfrm>
                <a:off x="816" y="2976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6" name="Google Shape;506;p6"/>
              <p:cNvCxnSpPr/>
              <p:nvPr/>
            </p:nvCxnSpPr>
            <p:spPr>
              <a:xfrm>
                <a:off x="816" y="3024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7" name="Google Shape;507;p6"/>
              <p:cNvCxnSpPr/>
              <p:nvPr/>
            </p:nvCxnSpPr>
            <p:spPr>
              <a:xfrm>
                <a:off x="816" y="3072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8" name="Google Shape;508;p6"/>
              <p:cNvCxnSpPr/>
              <p:nvPr/>
            </p:nvCxnSpPr>
            <p:spPr>
              <a:xfrm>
                <a:off x="816" y="3120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09" name="Google Shape;509;p6"/>
              <p:cNvCxnSpPr/>
              <p:nvPr/>
            </p:nvCxnSpPr>
            <p:spPr>
              <a:xfrm>
                <a:off x="816" y="316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0" name="Google Shape;510;p6"/>
              <p:cNvCxnSpPr/>
              <p:nvPr/>
            </p:nvCxnSpPr>
            <p:spPr>
              <a:xfrm>
                <a:off x="816" y="268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" name="Google Shape;511;p6"/>
              <p:cNvCxnSpPr/>
              <p:nvPr/>
            </p:nvCxnSpPr>
            <p:spPr>
              <a:xfrm>
                <a:off x="816" y="2592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" name="Google Shape;512;p6"/>
              <p:cNvCxnSpPr/>
              <p:nvPr/>
            </p:nvCxnSpPr>
            <p:spPr>
              <a:xfrm>
                <a:off x="816" y="2544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3" name="Google Shape;513;p6"/>
              <p:cNvCxnSpPr/>
              <p:nvPr/>
            </p:nvCxnSpPr>
            <p:spPr>
              <a:xfrm>
                <a:off x="816" y="2640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514" name="Google Shape;514;p6"/>
            <p:cNvCxnSpPr/>
            <p:nvPr/>
          </p:nvCxnSpPr>
          <p:spPr>
            <a:xfrm rot="10800000">
              <a:off x="2857500" y="2527300"/>
              <a:ext cx="15367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515" name="Google Shape;515;p6"/>
            <p:cNvCxnSpPr/>
            <p:nvPr/>
          </p:nvCxnSpPr>
          <p:spPr>
            <a:xfrm flipH="1" rot="10800000">
              <a:off x="5003800" y="2743200"/>
              <a:ext cx="1244600" cy="317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516" name="Google Shape;516;p6"/>
            <p:cNvCxnSpPr/>
            <p:nvPr/>
          </p:nvCxnSpPr>
          <p:spPr>
            <a:xfrm>
              <a:off x="4635500" y="3594100"/>
              <a:ext cx="0" cy="1193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517" name="Google Shape;517;p6"/>
            <p:cNvCxnSpPr/>
            <p:nvPr/>
          </p:nvCxnSpPr>
          <p:spPr>
            <a:xfrm>
              <a:off x="5003800" y="3365500"/>
              <a:ext cx="1155700" cy="6985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518" name="Google Shape;518;p6"/>
            <p:cNvCxnSpPr/>
            <p:nvPr/>
          </p:nvCxnSpPr>
          <p:spPr>
            <a:xfrm flipH="1">
              <a:off x="2819400" y="2781300"/>
              <a:ext cx="1498600" cy="13843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sp>
          <p:nvSpPr>
            <p:cNvPr id="519" name="Google Shape;519;p6"/>
            <p:cNvSpPr/>
            <p:nvPr/>
          </p:nvSpPr>
          <p:spPr>
            <a:xfrm>
              <a:off x="4292600" y="2451100"/>
              <a:ext cx="473075" cy="1571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520" name="Google Shape;520;p6"/>
            <p:cNvSpPr/>
            <p:nvPr/>
          </p:nvSpPr>
          <p:spPr>
            <a:xfrm>
              <a:off x="4292600" y="2679700"/>
              <a:ext cx="762000" cy="152400"/>
            </a:xfrm>
            <a:prstGeom prst="rect">
              <a:avLst/>
            </a:prstGeom>
            <a:solidFill>
              <a:srgbClr val="66FF3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521" name="Google Shape;521;p6"/>
            <p:cNvSpPr/>
            <p:nvPr/>
          </p:nvSpPr>
          <p:spPr>
            <a:xfrm>
              <a:off x="4292600" y="2984500"/>
              <a:ext cx="762000" cy="1666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4292600" y="3289300"/>
              <a:ext cx="762000" cy="1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4292600" y="3594100"/>
              <a:ext cx="762000" cy="152400"/>
            </a:xfrm>
            <a:prstGeom prst="rect">
              <a:avLst/>
            </a:prstGeom>
            <a:solidFill>
              <a:srgbClr val="99336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524" name="Google Shape;524;p6"/>
            <p:cNvGrpSpPr/>
            <p:nvPr/>
          </p:nvGrpSpPr>
          <p:grpSpPr>
            <a:xfrm>
              <a:off x="6438899" y="2120900"/>
              <a:ext cx="965200" cy="990600"/>
              <a:chOff x="4192" y="2208"/>
              <a:chExt cx="464" cy="473"/>
            </a:xfrm>
          </p:grpSpPr>
          <p:sp>
            <p:nvSpPr>
              <p:cNvPr id="525" name="Google Shape;525;p6"/>
              <p:cNvSpPr/>
              <p:nvPr/>
            </p:nvSpPr>
            <p:spPr>
              <a:xfrm>
                <a:off x="4192" y="2208"/>
                <a:ext cx="458" cy="466"/>
              </a:xfrm>
              <a:prstGeom prst="ellipse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526" name="Google Shape;526;p6"/>
              <p:cNvCxnSpPr/>
              <p:nvPr/>
            </p:nvCxnSpPr>
            <p:spPr>
              <a:xfrm>
                <a:off x="4198" y="2680"/>
                <a:ext cx="458" cy="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27" name="Google Shape;527;p6"/>
            <p:cNvGrpSpPr/>
            <p:nvPr/>
          </p:nvGrpSpPr>
          <p:grpSpPr>
            <a:xfrm>
              <a:off x="1866900" y="3951288"/>
              <a:ext cx="985838" cy="1014412"/>
              <a:chOff x="1019" y="2289"/>
              <a:chExt cx="418" cy="444"/>
            </a:xfrm>
          </p:grpSpPr>
          <p:sp>
            <p:nvSpPr>
              <p:cNvPr id="528" name="Google Shape;528;p6"/>
              <p:cNvSpPr/>
              <p:nvPr/>
            </p:nvSpPr>
            <p:spPr>
              <a:xfrm>
                <a:off x="1019" y="2323"/>
                <a:ext cx="418" cy="410"/>
              </a:xfrm>
              <a:prstGeom prst="ellipse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529" name="Google Shape;529;p6"/>
              <p:cNvCxnSpPr/>
              <p:nvPr/>
            </p:nvCxnSpPr>
            <p:spPr>
              <a:xfrm flipH="1">
                <a:off x="1178" y="2289"/>
                <a:ext cx="92" cy="4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0" name="Google Shape;530;p6"/>
              <p:cNvCxnSpPr/>
              <p:nvPr/>
            </p:nvCxnSpPr>
            <p:spPr>
              <a:xfrm rot="10800000">
                <a:off x="1178" y="2331"/>
                <a:ext cx="92" cy="33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31" name="Google Shape;531;p6"/>
            <p:cNvGrpSpPr/>
            <p:nvPr/>
          </p:nvGrpSpPr>
          <p:grpSpPr>
            <a:xfrm>
              <a:off x="1449388" y="2159000"/>
              <a:ext cx="1331912" cy="923925"/>
              <a:chOff x="753" y="1578"/>
              <a:chExt cx="518" cy="347"/>
            </a:xfrm>
          </p:grpSpPr>
          <p:sp>
            <p:nvSpPr>
              <p:cNvPr id="532" name="Google Shape;532;p6"/>
              <p:cNvSpPr/>
              <p:nvPr/>
            </p:nvSpPr>
            <p:spPr>
              <a:xfrm>
                <a:off x="923" y="1578"/>
                <a:ext cx="348" cy="347"/>
              </a:xfrm>
              <a:prstGeom prst="ellipse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533" name="Google Shape;533;p6"/>
              <p:cNvCxnSpPr/>
              <p:nvPr/>
            </p:nvCxnSpPr>
            <p:spPr>
              <a:xfrm>
                <a:off x="753" y="1663"/>
                <a:ext cx="1" cy="17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34" name="Google Shape;534;p6"/>
              <p:cNvCxnSpPr/>
              <p:nvPr/>
            </p:nvCxnSpPr>
            <p:spPr>
              <a:xfrm>
                <a:off x="753" y="1748"/>
                <a:ext cx="170" cy="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35" name="Google Shape;535;p6"/>
            <p:cNvGrpSpPr/>
            <p:nvPr/>
          </p:nvGrpSpPr>
          <p:grpSpPr>
            <a:xfrm>
              <a:off x="4138612" y="5181600"/>
              <a:ext cx="965200" cy="990600"/>
              <a:chOff x="4192" y="2208"/>
              <a:chExt cx="464" cy="473"/>
            </a:xfrm>
          </p:grpSpPr>
          <p:sp>
            <p:nvSpPr>
              <p:cNvPr id="536" name="Google Shape;536;p6"/>
              <p:cNvSpPr/>
              <p:nvPr/>
            </p:nvSpPr>
            <p:spPr>
              <a:xfrm>
                <a:off x="4192" y="2208"/>
                <a:ext cx="458" cy="466"/>
              </a:xfrm>
              <a:prstGeom prst="ellipse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537" name="Google Shape;537;p6"/>
              <p:cNvCxnSpPr/>
              <p:nvPr/>
            </p:nvCxnSpPr>
            <p:spPr>
              <a:xfrm>
                <a:off x="4198" y="2680"/>
                <a:ext cx="458" cy="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538" name="Google Shape;538;p6"/>
            <p:cNvGrpSpPr/>
            <p:nvPr/>
          </p:nvGrpSpPr>
          <p:grpSpPr>
            <a:xfrm>
              <a:off x="6021388" y="3987800"/>
              <a:ext cx="1331912" cy="923925"/>
              <a:chOff x="753" y="1578"/>
              <a:chExt cx="518" cy="347"/>
            </a:xfrm>
          </p:grpSpPr>
          <p:sp>
            <p:nvSpPr>
              <p:cNvPr id="539" name="Google Shape;539;p6"/>
              <p:cNvSpPr/>
              <p:nvPr/>
            </p:nvSpPr>
            <p:spPr>
              <a:xfrm>
                <a:off x="923" y="1578"/>
                <a:ext cx="348" cy="347"/>
              </a:xfrm>
              <a:prstGeom prst="ellipse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540" name="Google Shape;540;p6"/>
              <p:cNvCxnSpPr/>
              <p:nvPr/>
            </p:nvCxnSpPr>
            <p:spPr>
              <a:xfrm>
                <a:off x="753" y="1663"/>
                <a:ext cx="1" cy="177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1" name="Google Shape;541;p6"/>
              <p:cNvCxnSpPr/>
              <p:nvPr/>
            </p:nvCxnSpPr>
            <p:spPr>
              <a:xfrm>
                <a:off x="753" y="1748"/>
                <a:ext cx="170" cy="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Là cầu nối giữa giao diện và những thứ bên ngoài hệ thống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Một số kiểu lớp biên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Lớp giao diện người dùng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Lớp giao diện hệ thống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Lớp giao diện thiết bị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547" name="Google Shape;547;p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8" name="Google Shape;548;p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Lớp biên là gì?</a:t>
            </a:r>
            <a:endParaRPr/>
          </a:p>
        </p:txBody>
      </p:sp>
      <p:grpSp>
        <p:nvGrpSpPr>
          <p:cNvPr id="549" name="Google Shape;549;p7"/>
          <p:cNvGrpSpPr/>
          <p:nvPr/>
        </p:nvGrpSpPr>
        <p:grpSpPr>
          <a:xfrm>
            <a:off x="3459941" y="4674466"/>
            <a:ext cx="5384800" cy="1851025"/>
            <a:chOff x="2006600" y="4702175"/>
            <a:chExt cx="5384800" cy="1851025"/>
          </a:xfrm>
        </p:grpSpPr>
        <p:sp>
          <p:nvSpPr>
            <p:cNvPr id="550" name="Google Shape;550;p7"/>
            <p:cNvSpPr txBox="1"/>
            <p:nvPr/>
          </p:nvSpPr>
          <p:spPr>
            <a:xfrm>
              <a:off x="2209800" y="6096000"/>
              <a:ext cx="5181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33CCFF"/>
                  </a:solidFill>
                  <a:latin typeface="Constantia"/>
                  <a:ea typeface="Constantia"/>
                  <a:cs typeface="Constantia"/>
                  <a:sym typeface="Constantia"/>
                </a:rPr>
                <a:t>Phụ thuộc môi trường</a:t>
              </a:r>
              <a:endParaRPr i="1" sz="2400">
                <a:solidFill>
                  <a:srgbClr val="33CCFF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551" name="Google Shape;551;p7"/>
            <p:cNvSpPr txBox="1"/>
            <p:nvPr/>
          </p:nvSpPr>
          <p:spPr>
            <a:xfrm>
              <a:off x="2006600" y="4787900"/>
              <a:ext cx="2133600" cy="8476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400">
                  <a:solidFill>
                    <a:srgbClr val="0000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Analysis class stereotype</a:t>
              </a:r>
              <a:endParaRPr/>
            </a:p>
          </p:txBody>
        </p:sp>
        <p:cxnSp>
          <p:nvCxnSpPr>
            <p:cNvPr id="552" name="Google Shape;552;p7"/>
            <p:cNvCxnSpPr/>
            <p:nvPr/>
          </p:nvCxnSpPr>
          <p:spPr>
            <a:xfrm>
              <a:off x="4076700" y="5232400"/>
              <a:ext cx="1143000" cy="0"/>
            </a:xfrm>
            <a:prstGeom prst="straightConnector1">
              <a:avLst/>
            </a:prstGeom>
            <a:noFill/>
            <a:ln cap="flat" cmpd="sng" w="57150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553" name="Google Shape;553;p7"/>
            <p:cNvGrpSpPr/>
            <p:nvPr/>
          </p:nvGrpSpPr>
          <p:grpSpPr>
            <a:xfrm>
              <a:off x="5564188" y="4702175"/>
              <a:ext cx="1560512" cy="1076325"/>
              <a:chOff x="753" y="1578"/>
              <a:chExt cx="518" cy="347"/>
            </a:xfrm>
          </p:grpSpPr>
          <p:sp>
            <p:nvSpPr>
              <p:cNvPr id="554" name="Google Shape;554;p7"/>
              <p:cNvSpPr/>
              <p:nvPr/>
            </p:nvSpPr>
            <p:spPr>
              <a:xfrm>
                <a:off x="923" y="1578"/>
                <a:ext cx="348" cy="347"/>
              </a:xfrm>
              <a:prstGeom prst="ellipse">
                <a:avLst/>
              </a:prstGeom>
              <a:noFill/>
              <a:ln cap="flat" cmpd="sng" w="38100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555" name="Google Shape;555;p7"/>
              <p:cNvCxnSpPr/>
              <p:nvPr/>
            </p:nvCxnSpPr>
            <p:spPr>
              <a:xfrm>
                <a:off x="753" y="1663"/>
                <a:ext cx="1" cy="177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6" name="Google Shape;556;p7"/>
              <p:cNvCxnSpPr/>
              <p:nvPr/>
            </p:nvCxnSpPr>
            <p:spPr>
              <a:xfrm>
                <a:off x="753" y="1748"/>
                <a:ext cx="170" cy="1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8"/>
          <p:cNvSpPr txBox="1"/>
          <p:nvPr>
            <p:ph type="title"/>
          </p:nvPr>
        </p:nvSpPr>
        <p:spPr>
          <a:xfrm>
            <a:off x="457200" y="704088"/>
            <a:ext cx="82296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Vai trò của các lớp biên</a:t>
            </a:r>
            <a:endParaRPr/>
          </a:p>
        </p:txBody>
      </p:sp>
      <p:sp>
        <p:nvSpPr>
          <p:cNvPr id="562" name="Google Shape;562;p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63" name="Google Shape;563;p8"/>
          <p:cNvGrpSpPr/>
          <p:nvPr/>
        </p:nvGrpSpPr>
        <p:grpSpPr>
          <a:xfrm>
            <a:off x="457200" y="1935160"/>
            <a:ext cx="8229600" cy="3703640"/>
            <a:chOff x="628650" y="1862135"/>
            <a:chExt cx="8089900" cy="3394078"/>
          </a:xfrm>
        </p:grpSpPr>
        <p:grpSp>
          <p:nvGrpSpPr>
            <p:cNvPr id="564" name="Google Shape;564;p8"/>
            <p:cNvGrpSpPr/>
            <p:nvPr/>
          </p:nvGrpSpPr>
          <p:grpSpPr>
            <a:xfrm>
              <a:off x="725476" y="1862135"/>
              <a:ext cx="528636" cy="719136"/>
              <a:chOff x="7654" y="3380"/>
              <a:chExt cx="554" cy="754"/>
            </a:xfrm>
          </p:grpSpPr>
          <p:sp>
            <p:nvSpPr>
              <p:cNvPr id="565" name="Google Shape;565;p8"/>
              <p:cNvSpPr/>
              <p:nvPr/>
            </p:nvSpPr>
            <p:spPr>
              <a:xfrm>
                <a:off x="7805" y="3380"/>
                <a:ext cx="253" cy="248"/>
              </a:xfrm>
              <a:prstGeom prst="ellipse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566" name="Google Shape;566;p8"/>
              <p:cNvCxnSpPr/>
              <p:nvPr/>
            </p:nvCxnSpPr>
            <p:spPr>
              <a:xfrm>
                <a:off x="7931" y="3630"/>
                <a:ext cx="1" cy="23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7" name="Google Shape;567;p8"/>
              <p:cNvCxnSpPr/>
              <p:nvPr/>
            </p:nvCxnSpPr>
            <p:spPr>
              <a:xfrm>
                <a:off x="7731" y="3695"/>
                <a:ext cx="401" cy="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68" name="Google Shape;568;p8"/>
              <p:cNvSpPr/>
              <p:nvPr/>
            </p:nvSpPr>
            <p:spPr>
              <a:xfrm>
                <a:off x="7654" y="3862"/>
                <a:ext cx="554" cy="272"/>
              </a:xfrm>
              <a:custGeom>
                <a:rect b="b" l="l" r="r" t="t"/>
                <a:pathLst>
                  <a:path extrusionOk="0" h="54" w="108">
                    <a:moveTo>
                      <a:pt x="0" y="54"/>
                    </a:moveTo>
                    <a:lnTo>
                      <a:pt x="54" y="0"/>
                    </a:lnTo>
                    <a:lnTo>
                      <a:pt x="108" y="54"/>
                    </a:lnTo>
                  </a:path>
                </a:pathLst>
              </a:cu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sp>
          <p:nvSpPr>
            <p:cNvPr id="569" name="Google Shape;569;p8"/>
            <p:cNvSpPr txBox="1"/>
            <p:nvPr/>
          </p:nvSpPr>
          <p:spPr>
            <a:xfrm>
              <a:off x="628650" y="2598738"/>
              <a:ext cx="723900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folHlink"/>
                  </a:solidFill>
                  <a:latin typeface="Constantia"/>
                  <a:ea typeface="Constantia"/>
                  <a:cs typeface="Constantia"/>
                  <a:sym typeface="Constantia"/>
                </a:rPr>
                <a:t>Actor 1</a:t>
              </a:r>
              <a:endParaRPr/>
            </a:p>
          </p:txBody>
        </p:sp>
        <p:grpSp>
          <p:nvGrpSpPr>
            <p:cNvPr id="570" name="Google Shape;570;p8"/>
            <p:cNvGrpSpPr/>
            <p:nvPr/>
          </p:nvGrpSpPr>
          <p:grpSpPr>
            <a:xfrm>
              <a:off x="7974001" y="1973260"/>
              <a:ext cx="528636" cy="719136"/>
              <a:chOff x="7654" y="3380"/>
              <a:chExt cx="554" cy="754"/>
            </a:xfrm>
          </p:grpSpPr>
          <p:sp>
            <p:nvSpPr>
              <p:cNvPr id="571" name="Google Shape;571;p8"/>
              <p:cNvSpPr/>
              <p:nvPr/>
            </p:nvSpPr>
            <p:spPr>
              <a:xfrm>
                <a:off x="7805" y="3380"/>
                <a:ext cx="253" cy="248"/>
              </a:xfrm>
              <a:prstGeom prst="ellipse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572" name="Google Shape;572;p8"/>
              <p:cNvCxnSpPr/>
              <p:nvPr/>
            </p:nvCxnSpPr>
            <p:spPr>
              <a:xfrm>
                <a:off x="7931" y="3630"/>
                <a:ext cx="1" cy="23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73" name="Google Shape;573;p8"/>
              <p:cNvCxnSpPr/>
              <p:nvPr/>
            </p:nvCxnSpPr>
            <p:spPr>
              <a:xfrm>
                <a:off x="7731" y="3695"/>
                <a:ext cx="401" cy="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74" name="Google Shape;574;p8"/>
              <p:cNvSpPr/>
              <p:nvPr/>
            </p:nvSpPr>
            <p:spPr>
              <a:xfrm>
                <a:off x="7654" y="3862"/>
                <a:ext cx="554" cy="272"/>
              </a:xfrm>
              <a:custGeom>
                <a:rect b="b" l="l" r="r" t="t"/>
                <a:pathLst>
                  <a:path extrusionOk="0" h="54" w="108">
                    <a:moveTo>
                      <a:pt x="0" y="54"/>
                    </a:moveTo>
                    <a:lnTo>
                      <a:pt x="54" y="0"/>
                    </a:lnTo>
                    <a:lnTo>
                      <a:pt x="108" y="54"/>
                    </a:lnTo>
                  </a:path>
                </a:pathLst>
              </a:custGeom>
              <a:noFill/>
              <a:ln cap="flat" cmpd="sng" w="28575">
                <a:solidFill>
                  <a:schemeClr val="folHlink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cxnSp>
          <p:nvCxnSpPr>
            <p:cNvPr id="575" name="Google Shape;575;p8"/>
            <p:cNvCxnSpPr/>
            <p:nvPr/>
          </p:nvCxnSpPr>
          <p:spPr>
            <a:xfrm>
              <a:off x="7572375" y="2427288"/>
              <a:ext cx="401638" cy="6350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6" name="Google Shape;576;p8"/>
            <p:cNvCxnSpPr/>
            <p:nvPr/>
          </p:nvCxnSpPr>
          <p:spPr>
            <a:xfrm>
              <a:off x="3705225" y="2374900"/>
              <a:ext cx="250825" cy="1588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7" name="Google Shape;577;p8"/>
            <p:cNvCxnSpPr/>
            <p:nvPr/>
          </p:nvCxnSpPr>
          <p:spPr>
            <a:xfrm flipH="1" rot="10800000">
              <a:off x="3700463" y="2860675"/>
              <a:ext cx="609600" cy="1524000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8" name="Google Shape;578;p8"/>
            <p:cNvCxnSpPr/>
            <p:nvPr/>
          </p:nvCxnSpPr>
          <p:spPr>
            <a:xfrm>
              <a:off x="5232400" y="2862263"/>
              <a:ext cx="754063" cy="1522412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9" name="Google Shape;579;p8"/>
            <p:cNvCxnSpPr/>
            <p:nvPr/>
          </p:nvCxnSpPr>
          <p:spPr>
            <a:xfrm rot="10800000">
              <a:off x="4598988" y="4948238"/>
              <a:ext cx="704850" cy="0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80" name="Google Shape;580;p8"/>
            <p:cNvSpPr/>
            <p:nvPr/>
          </p:nvSpPr>
          <p:spPr>
            <a:xfrm>
              <a:off x="1831975" y="1917700"/>
              <a:ext cx="1803400" cy="1476375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hlink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581" name="Google Shape;581;p8"/>
            <p:cNvSpPr/>
            <p:nvPr/>
          </p:nvSpPr>
          <p:spPr>
            <a:xfrm>
              <a:off x="5765800" y="1981200"/>
              <a:ext cx="1725613" cy="14478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hlink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582" name="Google Shape;582;p8"/>
            <p:cNvGrpSpPr/>
            <p:nvPr/>
          </p:nvGrpSpPr>
          <p:grpSpPr>
            <a:xfrm>
              <a:off x="2012950" y="2322513"/>
              <a:ext cx="1485900" cy="785812"/>
              <a:chOff x="140" y="1440"/>
              <a:chExt cx="893" cy="510"/>
            </a:xfrm>
          </p:grpSpPr>
          <p:grpSp>
            <p:nvGrpSpPr>
              <p:cNvPr id="583" name="Google Shape;583;p8"/>
              <p:cNvGrpSpPr/>
              <p:nvPr/>
            </p:nvGrpSpPr>
            <p:grpSpPr>
              <a:xfrm>
                <a:off x="144" y="1440"/>
                <a:ext cx="881" cy="510"/>
                <a:chOff x="144" y="1440"/>
                <a:chExt cx="881" cy="510"/>
              </a:xfrm>
            </p:grpSpPr>
            <p:sp>
              <p:nvSpPr>
                <p:cNvPr id="584" name="Google Shape;584;p8"/>
                <p:cNvSpPr/>
                <p:nvPr/>
              </p:nvSpPr>
              <p:spPr>
                <a:xfrm>
                  <a:off x="144" y="1440"/>
                  <a:ext cx="881" cy="51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585" name="Google Shape;585;p8"/>
                <p:cNvCxnSpPr/>
                <p:nvPr/>
              </p:nvCxnSpPr>
              <p:spPr>
                <a:xfrm>
                  <a:off x="144" y="181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86" name="Google Shape;586;p8"/>
                <p:cNvCxnSpPr/>
                <p:nvPr/>
              </p:nvCxnSpPr>
              <p:spPr>
                <a:xfrm>
                  <a:off x="144" y="168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87" name="Google Shape;587;p8"/>
              <p:cNvSpPr txBox="1"/>
              <p:nvPr/>
            </p:nvSpPr>
            <p:spPr>
              <a:xfrm>
                <a:off x="140" y="1477"/>
                <a:ext cx="893" cy="1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&lt;&lt;boundary&gt;&gt;</a:t>
                </a:r>
                <a:endParaRPr/>
              </a:p>
            </p:txBody>
          </p:sp>
        </p:grpSp>
        <p:grpSp>
          <p:nvGrpSpPr>
            <p:cNvPr id="588" name="Google Shape;588;p8"/>
            <p:cNvGrpSpPr/>
            <p:nvPr/>
          </p:nvGrpSpPr>
          <p:grpSpPr>
            <a:xfrm>
              <a:off x="4000500" y="1974850"/>
              <a:ext cx="1466850" cy="785813"/>
              <a:chOff x="2632" y="1244"/>
              <a:chExt cx="924" cy="495"/>
            </a:xfrm>
          </p:grpSpPr>
          <p:grpSp>
            <p:nvGrpSpPr>
              <p:cNvPr id="589" name="Google Shape;589;p8"/>
              <p:cNvGrpSpPr/>
              <p:nvPr/>
            </p:nvGrpSpPr>
            <p:grpSpPr>
              <a:xfrm>
                <a:off x="2632" y="1244"/>
                <a:ext cx="924" cy="495"/>
                <a:chOff x="144" y="1440"/>
                <a:chExt cx="881" cy="510"/>
              </a:xfrm>
            </p:grpSpPr>
            <p:sp>
              <p:nvSpPr>
                <p:cNvPr id="590" name="Google Shape;590;p8"/>
                <p:cNvSpPr/>
                <p:nvPr/>
              </p:nvSpPr>
              <p:spPr>
                <a:xfrm>
                  <a:off x="144" y="1440"/>
                  <a:ext cx="881" cy="51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folHlink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591" name="Google Shape;591;p8"/>
                <p:cNvCxnSpPr/>
                <p:nvPr/>
              </p:nvCxnSpPr>
              <p:spPr>
                <a:xfrm>
                  <a:off x="144" y="181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folHlink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2" name="Google Shape;592;p8"/>
                <p:cNvCxnSpPr/>
                <p:nvPr/>
              </p:nvCxnSpPr>
              <p:spPr>
                <a:xfrm>
                  <a:off x="144" y="168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folHlink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93" name="Google Shape;593;p8"/>
              <p:cNvSpPr txBox="1"/>
              <p:nvPr/>
            </p:nvSpPr>
            <p:spPr>
              <a:xfrm>
                <a:off x="2712" y="1280"/>
                <a:ext cx="768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folHlink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&lt;&lt;control&gt;&gt;</a:t>
                </a:r>
                <a:endParaRPr/>
              </a:p>
            </p:txBody>
          </p:sp>
        </p:grpSp>
        <p:grpSp>
          <p:nvGrpSpPr>
            <p:cNvPr id="594" name="Google Shape;594;p8"/>
            <p:cNvGrpSpPr/>
            <p:nvPr/>
          </p:nvGrpSpPr>
          <p:grpSpPr>
            <a:xfrm>
              <a:off x="5870575" y="2349500"/>
              <a:ext cx="1485900" cy="785813"/>
              <a:chOff x="140" y="1440"/>
              <a:chExt cx="893" cy="510"/>
            </a:xfrm>
          </p:grpSpPr>
          <p:grpSp>
            <p:nvGrpSpPr>
              <p:cNvPr id="595" name="Google Shape;595;p8"/>
              <p:cNvGrpSpPr/>
              <p:nvPr/>
            </p:nvGrpSpPr>
            <p:grpSpPr>
              <a:xfrm>
                <a:off x="144" y="1440"/>
                <a:ext cx="881" cy="510"/>
                <a:chOff x="144" y="1440"/>
                <a:chExt cx="881" cy="510"/>
              </a:xfrm>
            </p:grpSpPr>
            <p:sp>
              <p:nvSpPr>
                <p:cNvPr id="596" name="Google Shape;596;p8"/>
                <p:cNvSpPr/>
                <p:nvPr/>
              </p:nvSpPr>
              <p:spPr>
                <a:xfrm>
                  <a:off x="144" y="1440"/>
                  <a:ext cx="881" cy="51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597" name="Google Shape;597;p8"/>
                <p:cNvCxnSpPr/>
                <p:nvPr/>
              </p:nvCxnSpPr>
              <p:spPr>
                <a:xfrm>
                  <a:off x="144" y="181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98" name="Google Shape;598;p8"/>
                <p:cNvCxnSpPr/>
                <p:nvPr/>
              </p:nvCxnSpPr>
              <p:spPr>
                <a:xfrm>
                  <a:off x="144" y="168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599" name="Google Shape;599;p8"/>
              <p:cNvSpPr txBox="1"/>
              <p:nvPr/>
            </p:nvSpPr>
            <p:spPr>
              <a:xfrm>
                <a:off x="140" y="1477"/>
                <a:ext cx="893" cy="17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&lt;&lt;boundary&gt;&gt;</a:t>
                </a:r>
                <a:endParaRPr/>
              </a:p>
            </p:txBody>
          </p:sp>
        </p:grpSp>
        <p:cxnSp>
          <p:nvCxnSpPr>
            <p:cNvPr id="600" name="Google Shape;600;p8"/>
            <p:cNvCxnSpPr/>
            <p:nvPr/>
          </p:nvCxnSpPr>
          <p:spPr>
            <a:xfrm flipH="1">
              <a:off x="5532438" y="2398713"/>
              <a:ext cx="192087" cy="1587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01" name="Google Shape;601;p8"/>
            <p:cNvGrpSpPr/>
            <p:nvPr/>
          </p:nvGrpSpPr>
          <p:grpSpPr>
            <a:xfrm>
              <a:off x="3063875" y="4470400"/>
              <a:ext cx="1466850" cy="785813"/>
              <a:chOff x="2042" y="2816"/>
              <a:chExt cx="924" cy="495"/>
            </a:xfrm>
          </p:grpSpPr>
          <p:grpSp>
            <p:nvGrpSpPr>
              <p:cNvPr id="602" name="Google Shape;602;p8"/>
              <p:cNvGrpSpPr/>
              <p:nvPr/>
            </p:nvGrpSpPr>
            <p:grpSpPr>
              <a:xfrm>
                <a:off x="2042" y="2816"/>
                <a:ext cx="924" cy="495"/>
                <a:chOff x="144" y="1440"/>
                <a:chExt cx="881" cy="510"/>
              </a:xfrm>
            </p:grpSpPr>
            <p:sp>
              <p:nvSpPr>
                <p:cNvPr id="603" name="Google Shape;603;p8"/>
                <p:cNvSpPr/>
                <p:nvPr/>
              </p:nvSpPr>
              <p:spPr>
                <a:xfrm>
                  <a:off x="144" y="1440"/>
                  <a:ext cx="881" cy="51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folHlink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604" name="Google Shape;604;p8"/>
                <p:cNvCxnSpPr/>
                <p:nvPr/>
              </p:nvCxnSpPr>
              <p:spPr>
                <a:xfrm>
                  <a:off x="144" y="181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folHlink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05" name="Google Shape;605;p8"/>
                <p:cNvCxnSpPr/>
                <p:nvPr/>
              </p:nvCxnSpPr>
              <p:spPr>
                <a:xfrm>
                  <a:off x="144" y="168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folHlink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606" name="Google Shape;606;p8"/>
              <p:cNvSpPr txBox="1"/>
              <p:nvPr/>
            </p:nvSpPr>
            <p:spPr>
              <a:xfrm>
                <a:off x="2166" y="2852"/>
                <a:ext cx="680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folHlink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&lt;&lt;entity&gt;&gt;</a:t>
                </a:r>
                <a:endParaRPr/>
              </a:p>
            </p:txBody>
          </p:sp>
        </p:grpSp>
        <p:grpSp>
          <p:nvGrpSpPr>
            <p:cNvPr id="607" name="Google Shape;607;p8"/>
            <p:cNvGrpSpPr/>
            <p:nvPr/>
          </p:nvGrpSpPr>
          <p:grpSpPr>
            <a:xfrm>
              <a:off x="5357813" y="4470400"/>
              <a:ext cx="1466850" cy="785813"/>
              <a:chOff x="3487" y="2816"/>
              <a:chExt cx="924" cy="495"/>
            </a:xfrm>
          </p:grpSpPr>
          <p:grpSp>
            <p:nvGrpSpPr>
              <p:cNvPr id="608" name="Google Shape;608;p8"/>
              <p:cNvGrpSpPr/>
              <p:nvPr/>
            </p:nvGrpSpPr>
            <p:grpSpPr>
              <a:xfrm>
                <a:off x="3487" y="2816"/>
                <a:ext cx="924" cy="495"/>
                <a:chOff x="144" y="1440"/>
                <a:chExt cx="881" cy="510"/>
              </a:xfrm>
            </p:grpSpPr>
            <p:sp>
              <p:nvSpPr>
                <p:cNvPr id="609" name="Google Shape;609;p8"/>
                <p:cNvSpPr/>
                <p:nvPr/>
              </p:nvSpPr>
              <p:spPr>
                <a:xfrm>
                  <a:off x="144" y="1440"/>
                  <a:ext cx="881" cy="51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folHlink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610" name="Google Shape;610;p8"/>
                <p:cNvCxnSpPr/>
                <p:nvPr/>
              </p:nvCxnSpPr>
              <p:spPr>
                <a:xfrm>
                  <a:off x="144" y="181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folHlink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11" name="Google Shape;611;p8"/>
                <p:cNvCxnSpPr/>
                <p:nvPr/>
              </p:nvCxnSpPr>
              <p:spPr>
                <a:xfrm>
                  <a:off x="144" y="168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folHlink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612" name="Google Shape;612;p8"/>
              <p:cNvSpPr txBox="1"/>
              <p:nvPr/>
            </p:nvSpPr>
            <p:spPr>
              <a:xfrm>
                <a:off x="3611" y="2852"/>
                <a:ext cx="680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folHlink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&lt;&lt;entity&gt;&gt;</a:t>
                </a:r>
                <a:endParaRPr/>
              </a:p>
            </p:txBody>
          </p:sp>
        </p:grpSp>
        <p:sp>
          <p:nvSpPr>
            <p:cNvPr id="613" name="Google Shape;613;p8"/>
            <p:cNvSpPr txBox="1"/>
            <p:nvPr/>
          </p:nvSpPr>
          <p:spPr>
            <a:xfrm>
              <a:off x="7778750" y="2644775"/>
              <a:ext cx="939800" cy="382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folHlink"/>
                  </a:solidFill>
                  <a:latin typeface="Constantia"/>
                  <a:ea typeface="Constantia"/>
                  <a:cs typeface="Constantia"/>
                  <a:sym typeface="Constantia"/>
                </a:rPr>
                <a:t>Actor 2</a:t>
              </a:r>
              <a:endParaRPr/>
            </a:p>
          </p:txBody>
        </p:sp>
        <p:cxnSp>
          <p:nvCxnSpPr>
            <p:cNvPr id="614" name="Google Shape;614;p8"/>
            <p:cNvCxnSpPr/>
            <p:nvPr/>
          </p:nvCxnSpPr>
          <p:spPr>
            <a:xfrm>
              <a:off x="1311275" y="2389188"/>
              <a:ext cx="401638" cy="6350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5" name="Google Shape;615;p8"/>
          <p:cNvSpPr txBox="1"/>
          <p:nvPr/>
        </p:nvSpPr>
        <p:spPr>
          <a:xfrm>
            <a:off x="381000" y="5867400"/>
            <a:ext cx="838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Mô hình hóa tương tác giữa hệ thống với môi trường của nó</a:t>
            </a:r>
            <a:endParaRPr i="1" sz="2400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9"/>
          <p:cNvSpPr txBox="1"/>
          <p:nvPr>
            <p:ph type="title"/>
          </p:nvPr>
        </p:nvSpPr>
        <p:spPr>
          <a:xfrm>
            <a:off x="533400" y="914400"/>
            <a:ext cx="82296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Ví dụ: Tìm kiếm các lớp biên</a:t>
            </a:r>
            <a:endParaRPr sz="4500"/>
          </a:p>
        </p:txBody>
      </p:sp>
      <p:sp>
        <p:nvSpPr>
          <p:cNvPr id="621" name="Google Shape;621;p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2" name="Google Shape;622;p9"/>
          <p:cNvSpPr txBox="1"/>
          <p:nvPr>
            <p:ph idx="1" type="body"/>
          </p:nvPr>
        </p:nvSpPr>
        <p:spPr>
          <a:xfrm>
            <a:off x="457200" y="17526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Thông thường, xác định được một lớp biên trên mỗi cặp tác nhân/ca sử dụng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grpSp>
        <p:nvGrpSpPr>
          <p:cNvPr id="623" name="Google Shape;623;p9"/>
          <p:cNvGrpSpPr/>
          <p:nvPr/>
        </p:nvGrpSpPr>
        <p:grpSpPr>
          <a:xfrm>
            <a:off x="990600" y="2979738"/>
            <a:ext cx="6989763" cy="3524255"/>
            <a:chOff x="990600" y="2037479"/>
            <a:chExt cx="6989763" cy="3524255"/>
          </a:xfrm>
        </p:grpSpPr>
        <p:grpSp>
          <p:nvGrpSpPr>
            <p:cNvPr id="624" name="Google Shape;624;p9"/>
            <p:cNvGrpSpPr/>
            <p:nvPr/>
          </p:nvGrpSpPr>
          <p:grpSpPr>
            <a:xfrm>
              <a:off x="1524001" y="2041154"/>
              <a:ext cx="2463801" cy="952006"/>
              <a:chOff x="1824" y="1494"/>
              <a:chExt cx="1344" cy="570"/>
            </a:xfrm>
          </p:grpSpPr>
          <p:grpSp>
            <p:nvGrpSpPr>
              <p:cNvPr id="625" name="Google Shape;625;p9"/>
              <p:cNvGrpSpPr/>
              <p:nvPr/>
            </p:nvGrpSpPr>
            <p:grpSpPr>
              <a:xfrm>
                <a:off x="2322" y="1494"/>
                <a:ext cx="319" cy="404"/>
                <a:chOff x="7654" y="3380"/>
                <a:chExt cx="554" cy="754"/>
              </a:xfrm>
            </p:grpSpPr>
            <p:sp>
              <p:nvSpPr>
                <p:cNvPr id="626" name="Google Shape;626;p9"/>
                <p:cNvSpPr/>
                <p:nvPr/>
              </p:nvSpPr>
              <p:spPr>
                <a:xfrm>
                  <a:off x="7805" y="3380"/>
                  <a:ext cx="253" cy="248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627" name="Google Shape;627;p9"/>
                <p:cNvCxnSpPr/>
                <p:nvPr/>
              </p:nvCxnSpPr>
              <p:spPr>
                <a:xfrm>
                  <a:off x="7931" y="3630"/>
                  <a:ext cx="1" cy="23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628" name="Google Shape;628;p9"/>
                <p:cNvCxnSpPr/>
                <p:nvPr/>
              </p:nvCxnSpPr>
              <p:spPr>
                <a:xfrm>
                  <a:off x="7731" y="3695"/>
                  <a:ext cx="401" cy="1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629" name="Google Shape;629;p9"/>
                <p:cNvSpPr/>
                <p:nvPr/>
              </p:nvSpPr>
              <p:spPr>
                <a:xfrm>
                  <a:off x="7654" y="3862"/>
                  <a:ext cx="554" cy="272"/>
                </a:xfrm>
                <a:custGeom>
                  <a:rect b="b" l="l" r="r" t="t"/>
                  <a:pathLst>
                    <a:path extrusionOk="0" h="54" w="108">
                      <a:moveTo>
                        <a:pt x="0" y="54"/>
                      </a:moveTo>
                      <a:lnTo>
                        <a:pt x="54" y="0"/>
                      </a:lnTo>
                      <a:lnTo>
                        <a:pt x="108" y="54"/>
                      </a:lnTo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sp>
            <p:nvSpPr>
              <p:cNvPr id="630" name="Google Shape;630;p9"/>
              <p:cNvSpPr txBox="1"/>
              <p:nvPr/>
            </p:nvSpPr>
            <p:spPr>
              <a:xfrm>
                <a:off x="1824" y="1872"/>
                <a:ext cx="1344" cy="1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Student</a:t>
                </a:r>
                <a:endParaRPr b="1" sz="15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631" name="Google Shape;631;p9"/>
            <p:cNvGrpSpPr/>
            <p:nvPr/>
          </p:nvGrpSpPr>
          <p:grpSpPr>
            <a:xfrm>
              <a:off x="3095624" y="2037479"/>
              <a:ext cx="4884739" cy="955675"/>
              <a:chOff x="1950" y="1204"/>
              <a:chExt cx="3077" cy="602"/>
            </a:xfrm>
          </p:grpSpPr>
          <p:cxnSp>
            <p:nvCxnSpPr>
              <p:cNvPr id="632" name="Google Shape;632;p9"/>
              <p:cNvCxnSpPr/>
              <p:nvPr/>
            </p:nvCxnSpPr>
            <p:spPr>
              <a:xfrm flipH="1" rot="10800000">
                <a:off x="3146" y="1421"/>
                <a:ext cx="746" cy="8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  <p:grpSp>
            <p:nvGrpSpPr>
              <p:cNvPr id="633" name="Google Shape;633;p9"/>
              <p:cNvGrpSpPr/>
              <p:nvPr/>
            </p:nvGrpSpPr>
            <p:grpSpPr>
              <a:xfrm>
                <a:off x="3472" y="1204"/>
                <a:ext cx="1555" cy="601"/>
                <a:chOff x="3840" y="1494"/>
                <a:chExt cx="1344" cy="571"/>
              </a:xfrm>
            </p:grpSpPr>
            <p:grpSp>
              <p:nvGrpSpPr>
                <p:cNvPr id="634" name="Google Shape;634;p9"/>
                <p:cNvGrpSpPr/>
                <p:nvPr/>
              </p:nvGrpSpPr>
              <p:grpSpPr>
                <a:xfrm>
                  <a:off x="4258" y="1494"/>
                  <a:ext cx="319" cy="404"/>
                  <a:chOff x="7654" y="3380"/>
                  <a:chExt cx="554" cy="754"/>
                </a:xfrm>
              </p:grpSpPr>
              <p:sp>
                <p:nvSpPr>
                  <p:cNvPr id="635" name="Google Shape;635;p9"/>
                  <p:cNvSpPr/>
                  <p:nvPr/>
                </p:nvSpPr>
                <p:spPr>
                  <a:xfrm>
                    <a:off x="7805" y="3380"/>
                    <a:ext cx="253" cy="248"/>
                  </a:xfrm>
                  <a:prstGeom prst="ellipse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636" name="Google Shape;636;p9"/>
                  <p:cNvCxnSpPr/>
                  <p:nvPr/>
                </p:nvCxnSpPr>
                <p:spPr>
                  <a:xfrm>
                    <a:off x="7931" y="3630"/>
                    <a:ext cx="1" cy="232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637" name="Google Shape;637;p9"/>
                  <p:cNvCxnSpPr/>
                  <p:nvPr/>
                </p:nvCxnSpPr>
                <p:spPr>
                  <a:xfrm>
                    <a:off x="7731" y="3695"/>
                    <a:ext cx="401" cy="1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638" name="Google Shape;638;p9"/>
                  <p:cNvSpPr/>
                  <p:nvPr/>
                </p:nvSpPr>
                <p:spPr>
                  <a:xfrm>
                    <a:off x="7654" y="3862"/>
                    <a:ext cx="554" cy="272"/>
                  </a:xfrm>
                  <a:custGeom>
                    <a:rect b="b" l="l" r="r" t="t"/>
                    <a:pathLst>
                      <a:path extrusionOk="0" h="54" w="108">
                        <a:moveTo>
                          <a:pt x="0" y="54"/>
                        </a:moveTo>
                        <a:lnTo>
                          <a:pt x="54" y="0"/>
                        </a:lnTo>
                        <a:lnTo>
                          <a:pt x="108" y="54"/>
                        </a:lnTo>
                      </a:path>
                    </a:pathLst>
                  </a:cu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</p:grpSp>
            <p:sp>
              <p:nvSpPr>
                <p:cNvPr id="639" name="Google Shape;639;p9"/>
                <p:cNvSpPr txBox="1"/>
                <p:nvPr/>
              </p:nvSpPr>
              <p:spPr>
                <a:xfrm>
                  <a:off x="3840" y="1873"/>
                  <a:ext cx="1344" cy="1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5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Course Catalog System</a:t>
                  </a:r>
                  <a:endParaRPr b="1" sz="15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grpSp>
            <p:nvGrpSpPr>
              <p:cNvPr id="640" name="Google Shape;640;p9"/>
              <p:cNvGrpSpPr/>
              <p:nvPr/>
            </p:nvGrpSpPr>
            <p:grpSpPr>
              <a:xfrm>
                <a:off x="2126" y="1301"/>
                <a:ext cx="1443" cy="505"/>
                <a:chOff x="2784" y="1584"/>
                <a:chExt cx="1248" cy="480"/>
              </a:xfrm>
            </p:grpSpPr>
            <p:sp>
              <p:nvSpPr>
                <p:cNvPr id="641" name="Google Shape;641;p9"/>
                <p:cNvSpPr/>
                <p:nvPr/>
              </p:nvSpPr>
              <p:spPr>
                <a:xfrm>
                  <a:off x="3168" y="1584"/>
                  <a:ext cx="499" cy="230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642" name="Google Shape;642;p9"/>
                <p:cNvSpPr txBox="1"/>
                <p:nvPr/>
              </p:nvSpPr>
              <p:spPr>
                <a:xfrm>
                  <a:off x="2784" y="1872"/>
                  <a:ext cx="1248" cy="1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5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rPr>
                    <a:t>Register For Courses</a:t>
                  </a:r>
                  <a:endParaRPr b="1" sz="15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cxnSp>
            <p:nvCxnSpPr>
              <p:cNvPr id="643" name="Google Shape;643;p9"/>
              <p:cNvCxnSpPr/>
              <p:nvPr/>
            </p:nvCxnSpPr>
            <p:spPr>
              <a:xfrm>
                <a:off x="1950" y="1421"/>
                <a:ext cx="61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stealth"/>
              </a:ln>
            </p:spPr>
          </p:cxnSp>
        </p:grpSp>
        <p:cxnSp>
          <p:nvCxnSpPr>
            <p:cNvPr id="644" name="Google Shape;644;p9"/>
            <p:cNvCxnSpPr/>
            <p:nvPr/>
          </p:nvCxnSpPr>
          <p:spPr>
            <a:xfrm flipH="1">
              <a:off x="2438400" y="2640728"/>
              <a:ext cx="1066800" cy="1524000"/>
            </a:xfrm>
            <a:prstGeom prst="straightConnector1">
              <a:avLst/>
            </a:prstGeom>
            <a:noFill/>
            <a:ln cap="flat" cmpd="sng" w="28575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645" name="Google Shape;645;p9"/>
            <p:cNvCxnSpPr/>
            <p:nvPr/>
          </p:nvCxnSpPr>
          <p:spPr>
            <a:xfrm>
              <a:off x="5410200" y="2640728"/>
              <a:ext cx="1066800" cy="1524000"/>
            </a:xfrm>
            <a:prstGeom prst="straightConnector1">
              <a:avLst/>
            </a:prstGeom>
            <a:noFill/>
            <a:ln cap="flat" cmpd="sng" w="28575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46" name="Google Shape;646;p9"/>
            <p:cNvSpPr/>
            <p:nvPr/>
          </p:nvSpPr>
          <p:spPr>
            <a:xfrm rot="5400000">
              <a:off x="4191000" y="3402728"/>
              <a:ext cx="685800" cy="533400"/>
            </a:xfrm>
            <a:prstGeom prst="rightArrow">
              <a:avLst>
                <a:gd fmla="val 54759" name="adj1"/>
                <a:gd fmla="val 78869" name="adj2"/>
              </a:avLst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647" name="Google Shape;647;p9"/>
            <p:cNvGrpSpPr/>
            <p:nvPr/>
          </p:nvGrpSpPr>
          <p:grpSpPr>
            <a:xfrm>
              <a:off x="990600" y="4240928"/>
              <a:ext cx="2459038" cy="1285875"/>
              <a:chOff x="1594" y="2649"/>
              <a:chExt cx="1128" cy="578"/>
            </a:xfrm>
          </p:grpSpPr>
          <p:sp>
            <p:nvSpPr>
              <p:cNvPr id="648" name="Google Shape;648;p9"/>
              <p:cNvSpPr/>
              <p:nvPr/>
            </p:nvSpPr>
            <p:spPr>
              <a:xfrm>
                <a:off x="2012" y="2649"/>
                <a:ext cx="354" cy="347"/>
              </a:xfrm>
              <a:prstGeom prst="ellipse">
                <a:avLst/>
              </a:prstGeom>
              <a:noFill/>
              <a:ln cap="flat" cmpd="sng" w="25400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649" name="Google Shape;649;p9"/>
              <p:cNvCxnSpPr/>
              <p:nvPr/>
            </p:nvCxnSpPr>
            <p:spPr>
              <a:xfrm>
                <a:off x="1842" y="2734"/>
                <a:ext cx="1" cy="177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0" name="Google Shape;650;p9"/>
              <p:cNvCxnSpPr/>
              <p:nvPr/>
            </p:nvCxnSpPr>
            <p:spPr>
              <a:xfrm>
                <a:off x="1849" y="2819"/>
                <a:ext cx="163" cy="1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1" name="Google Shape;651;p9"/>
              <p:cNvSpPr/>
              <p:nvPr/>
            </p:nvSpPr>
            <p:spPr>
              <a:xfrm>
                <a:off x="1594" y="3117"/>
                <a:ext cx="1128" cy="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RegisterForCoursesForm</a:t>
                </a:r>
                <a:endParaRPr/>
              </a:p>
            </p:txBody>
          </p:sp>
        </p:grpSp>
        <p:grpSp>
          <p:nvGrpSpPr>
            <p:cNvPr id="652" name="Google Shape;652;p9"/>
            <p:cNvGrpSpPr/>
            <p:nvPr/>
          </p:nvGrpSpPr>
          <p:grpSpPr>
            <a:xfrm>
              <a:off x="5589583" y="4317133"/>
              <a:ext cx="2165349" cy="1244601"/>
              <a:chOff x="3217" y="2684"/>
              <a:chExt cx="964" cy="581"/>
            </a:xfrm>
          </p:grpSpPr>
          <p:sp>
            <p:nvSpPr>
              <p:cNvPr id="653" name="Google Shape;653;p9"/>
              <p:cNvSpPr/>
              <p:nvPr/>
            </p:nvSpPr>
            <p:spPr>
              <a:xfrm>
                <a:off x="3571" y="2684"/>
                <a:ext cx="347" cy="347"/>
              </a:xfrm>
              <a:prstGeom prst="ellipse">
                <a:avLst/>
              </a:prstGeom>
              <a:noFill/>
              <a:ln cap="flat" cmpd="sng" w="25400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654" name="Google Shape;654;p9"/>
              <p:cNvCxnSpPr/>
              <p:nvPr/>
            </p:nvCxnSpPr>
            <p:spPr>
              <a:xfrm>
                <a:off x="3401" y="2769"/>
                <a:ext cx="1" cy="177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5" name="Google Shape;655;p9"/>
              <p:cNvCxnSpPr/>
              <p:nvPr/>
            </p:nvCxnSpPr>
            <p:spPr>
              <a:xfrm>
                <a:off x="3401" y="2854"/>
                <a:ext cx="170" cy="1"/>
              </a:xfrm>
              <a:prstGeom prst="straightConnector1">
                <a:avLst/>
              </a:prstGeom>
              <a:noFill/>
              <a:ln cap="flat" cmpd="sng" w="25400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6" name="Google Shape;656;p9"/>
              <p:cNvSpPr/>
              <p:nvPr/>
            </p:nvSpPr>
            <p:spPr>
              <a:xfrm>
                <a:off x="3217" y="3151"/>
                <a:ext cx="964" cy="1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CourseCatalogSystem</a:t>
                </a:r>
                <a:endParaRPr b="1" sz="16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0"/>
          <p:cNvSpPr txBox="1"/>
          <p:nvPr>
            <p:ph type="title"/>
          </p:nvPr>
        </p:nvSpPr>
        <p:spPr>
          <a:xfrm>
            <a:off x="457200" y="704088"/>
            <a:ext cx="82296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Lớp Biên</a:t>
            </a:r>
            <a:endParaRPr/>
          </a:p>
        </p:txBody>
      </p:sp>
      <p:sp>
        <p:nvSpPr>
          <p:cNvPr id="662" name="Google Shape;662;p1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3" name="Google Shape;663;p10"/>
          <p:cNvSpPr txBox="1"/>
          <p:nvPr>
            <p:ph idx="1" type="body"/>
          </p:nvPr>
        </p:nvSpPr>
        <p:spPr>
          <a:xfrm>
            <a:off x="457200" y="1828800"/>
            <a:ext cx="8229600" cy="3550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Lớp giao diện người dùng (User Interface Classes)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Tập trung vào thông tin nào được biểu </a:t>
            </a:r>
            <a:r>
              <a:rPr lang="en-US"/>
              <a:t>diễn</a:t>
            </a:r>
            <a:r>
              <a:rPr lang="en-US"/>
              <a:t> cho người dùng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KHÔNG tập trung vào chi tiết của giao diện người dùng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Lớp giao diện hệ thống và thiết bị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Tập trung </a:t>
            </a:r>
            <a:r>
              <a:rPr lang="en-US"/>
              <a:t>v</a:t>
            </a:r>
            <a:r>
              <a:rPr lang="en-US"/>
              <a:t>ào giao thức nào cần được xác định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KHÔNG tập trung vào việc các giao thức được cài đặt ra sao</a:t>
            </a:r>
            <a:endParaRPr/>
          </a:p>
        </p:txBody>
      </p:sp>
      <p:sp>
        <p:nvSpPr>
          <p:cNvPr id="664" name="Google Shape;664;p10"/>
          <p:cNvSpPr txBox="1"/>
          <p:nvPr/>
        </p:nvSpPr>
        <p:spPr>
          <a:xfrm>
            <a:off x="457200" y="5410200"/>
            <a:ext cx="8458200" cy="970779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7674D"/>
                </a:solidFill>
                <a:latin typeface="Constantia"/>
                <a:ea typeface="Constantia"/>
                <a:cs typeface="Constantia"/>
                <a:sym typeface="Constantia"/>
              </a:rPr>
              <a:t>Tập trung vào vai trò, </a:t>
            </a:r>
            <a:r>
              <a:rPr i="1" lang="en-US" sz="2800">
                <a:solidFill>
                  <a:srgbClr val="07674D"/>
                </a:solidFill>
                <a:latin typeface="Constantia"/>
                <a:ea typeface="Constantia"/>
                <a:cs typeface="Constantia"/>
                <a:sym typeface="Constantia"/>
              </a:rPr>
              <a:t>trách</a:t>
            </a:r>
            <a:r>
              <a:rPr i="1" lang="en-US" sz="2800">
                <a:solidFill>
                  <a:srgbClr val="07674D"/>
                </a:solidFill>
                <a:latin typeface="Constantia"/>
                <a:ea typeface="Constantia"/>
                <a:cs typeface="Constantia"/>
                <a:sym typeface="Constantia"/>
              </a:rPr>
              <a:t> nhiệm, không tập trung vào tiểu tiết!</a:t>
            </a:r>
            <a:endParaRPr i="1" sz="2800">
              <a:solidFill>
                <a:srgbClr val="07674D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1"/>
          <p:cNvSpPr txBox="1"/>
          <p:nvPr>
            <p:ph type="title"/>
          </p:nvPr>
        </p:nvSpPr>
        <p:spPr>
          <a:xfrm>
            <a:off x="457200" y="704088"/>
            <a:ext cx="82296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Lớp thực thể là gì?</a:t>
            </a:r>
            <a:endParaRPr sz="4500"/>
          </a:p>
        </p:txBody>
      </p:sp>
      <p:sp>
        <p:nvSpPr>
          <p:cNvPr id="670" name="Google Shape;670;p1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71" name="Google Shape;671;p11"/>
          <p:cNvGrpSpPr/>
          <p:nvPr/>
        </p:nvGrpSpPr>
        <p:grpSpPr>
          <a:xfrm>
            <a:off x="457200" y="2209800"/>
            <a:ext cx="8229600" cy="4114800"/>
            <a:chOff x="493713" y="1704975"/>
            <a:chExt cx="8002587" cy="4289428"/>
          </a:xfrm>
        </p:grpSpPr>
        <p:sp>
          <p:nvSpPr>
            <p:cNvPr id="672" name="Google Shape;672;p11"/>
            <p:cNvSpPr/>
            <p:nvPr/>
          </p:nvSpPr>
          <p:spPr>
            <a:xfrm>
              <a:off x="5575300" y="3606800"/>
              <a:ext cx="787400" cy="533400"/>
            </a:xfrm>
            <a:prstGeom prst="rightArrow">
              <a:avLst>
                <a:gd fmla="val 63093" name="adj1"/>
                <a:gd fmla="val 51188" name="adj2"/>
              </a:avLst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673" name="Google Shape;673;p11"/>
            <p:cNvGrpSpPr/>
            <p:nvPr/>
          </p:nvGrpSpPr>
          <p:grpSpPr>
            <a:xfrm>
              <a:off x="2936879" y="1781176"/>
              <a:ext cx="2646365" cy="1651001"/>
              <a:chOff x="1850" y="2290"/>
              <a:chExt cx="1667" cy="1040"/>
            </a:xfrm>
          </p:grpSpPr>
          <p:grpSp>
            <p:nvGrpSpPr>
              <p:cNvPr id="674" name="Google Shape;674;p11"/>
              <p:cNvGrpSpPr/>
              <p:nvPr/>
            </p:nvGrpSpPr>
            <p:grpSpPr>
              <a:xfrm>
                <a:off x="1869" y="2290"/>
                <a:ext cx="1245" cy="766"/>
                <a:chOff x="1309" y="1072"/>
                <a:chExt cx="1245" cy="766"/>
              </a:xfrm>
            </p:grpSpPr>
            <p:grpSp>
              <p:nvGrpSpPr>
                <p:cNvPr id="675" name="Google Shape;675;p11"/>
                <p:cNvGrpSpPr/>
                <p:nvPr/>
              </p:nvGrpSpPr>
              <p:grpSpPr>
                <a:xfrm>
                  <a:off x="1309" y="1231"/>
                  <a:ext cx="302" cy="175"/>
                  <a:chOff x="144" y="1440"/>
                  <a:chExt cx="881" cy="510"/>
                </a:xfrm>
              </p:grpSpPr>
              <p:sp>
                <p:nvSpPr>
                  <p:cNvPr id="676" name="Google Shape;676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677" name="Google Shape;677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78" name="Google Shape;678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679" name="Google Shape;679;p11"/>
                <p:cNvGrpSpPr/>
                <p:nvPr/>
              </p:nvGrpSpPr>
              <p:grpSpPr>
                <a:xfrm>
                  <a:off x="1950" y="1072"/>
                  <a:ext cx="302" cy="175"/>
                  <a:chOff x="144" y="1440"/>
                  <a:chExt cx="881" cy="510"/>
                </a:xfrm>
              </p:grpSpPr>
              <p:sp>
                <p:nvSpPr>
                  <p:cNvPr id="680" name="Google Shape;680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681" name="Google Shape;681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82" name="Google Shape;682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683" name="Google Shape;683;p11"/>
                <p:cNvGrpSpPr/>
                <p:nvPr/>
              </p:nvGrpSpPr>
              <p:grpSpPr>
                <a:xfrm>
                  <a:off x="1648" y="1663"/>
                  <a:ext cx="302" cy="175"/>
                  <a:chOff x="144" y="1440"/>
                  <a:chExt cx="881" cy="510"/>
                </a:xfrm>
              </p:grpSpPr>
              <p:sp>
                <p:nvSpPr>
                  <p:cNvPr id="684" name="Google Shape;684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685" name="Google Shape;685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86" name="Google Shape;686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687" name="Google Shape;687;p11"/>
                <p:cNvGrpSpPr/>
                <p:nvPr/>
              </p:nvGrpSpPr>
              <p:grpSpPr>
                <a:xfrm>
                  <a:off x="2252" y="1581"/>
                  <a:ext cx="302" cy="175"/>
                  <a:chOff x="144" y="1440"/>
                  <a:chExt cx="881" cy="510"/>
                </a:xfrm>
              </p:grpSpPr>
              <p:sp>
                <p:nvSpPr>
                  <p:cNvPr id="688" name="Google Shape;688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689" name="Google Shape;689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690" name="Google Shape;690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691" name="Google Shape;691;p11"/>
                <p:cNvCxnSpPr/>
                <p:nvPr/>
              </p:nvCxnSpPr>
              <p:spPr>
                <a:xfrm rot="10800000">
                  <a:off x="1463" y="1406"/>
                  <a:ext cx="312" cy="2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92" name="Google Shape;692;p11"/>
                <p:cNvCxnSpPr/>
                <p:nvPr/>
              </p:nvCxnSpPr>
              <p:spPr>
                <a:xfrm flipH="1" rot="10800000">
                  <a:off x="1611" y="1160"/>
                  <a:ext cx="339" cy="153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93" name="Google Shape;693;p11"/>
                <p:cNvCxnSpPr/>
                <p:nvPr/>
              </p:nvCxnSpPr>
              <p:spPr>
                <a:xfrm flipH="1" rot="10800000">
                  <a:off x="1950" y="1663"/>
                  <a:ext cx="302" cy="8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694" name="Google Shape;694;p11"/>
                <p:cNvCxnSpPr/>
                <p:nvPr/>
              </p:nvCxnSpPr>
              <p:spPr>
                <a:xfrm flipH="1" rot="10800000">
                  <a:off x="1775" y="1247"/>
                  <a:ext cx="329" cy="41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695" name="Google Shape;695;p11"/>
              <p:cNvSpPr txBox="1"/>
              <p:nvPr/>
            </p:nvSpPr>
            <p:spPr>
              <a:xfrm>
                <a:off x="1850" y="3097"/>
                <a:ext cx="1667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Mô hình miền nghiệp vụ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sp>
          <p:nvSpPr>
            <p:cNvPr id="696" name="Google Shape;696;p11"/>
            <p:cNvSpPr txBox="1"/>
            <p:nvPr/>
          </p:nvSpPr>
          <p:spPr>
            <a:xfrm>
              <a:off x="6680200" y="2120900"/>
              <a:ext cx="18161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000">
                  <a:solidFill>
                    <a:srgbClr val="0000FF"/>
                  </a:solidFill>
                  <a:latin typeface="Constantia"/>
                  <a:ea typeface="Constantia"/>
                  <a:cs typeface="Constantia"/>
                  <a:sym typeface="Constantia"/>
                </a:rPr>
                <a:t>Analysis class stereotype</a:t>
              </a:r>
              <a:endParaRPr/>
            </a:p>
          </p:txBody>
        </p:sp>
        <p:cxnSp>
          <p:nvCxnSpPr>
            <p:cNvPr id="697" name="Google Shape;697;p11"/>
            <p:cNvCxnSpPr/>
            <p:nvPr/>
          </p:nvCxnSpPr>
          <p:spPr>
            <a:xfrm>
              <a:off x="7607300" y="2819400"/>
              <a:ext cx="0" cy="431800"/>
            </a:xfrm>
            <a:prstGeom prst="straightConnector1">
              <a:avLst/>
            </a:prstGeom>
            <a:noFill/>
            <a:ln cap="flat" cmpd="sng" w="28575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698" name="Google Shape;698;p11"/>
            <p:cNvGrpSpPr/>
            <p:nvPr/>
          </p:nvGrpSpPr>
          <p:grpSpPr>
            <a:xfrm>
              <a:off x="982663" y="1704975"/>
              <a:ext cx="1493838" cy="2273300"/>
              <a:chOff x="288" y="1392"/>
              <a:chExt cx="941" cy="1432"/>
            </a:xfrm>
          </p:grpSpPr>
          <p:grpSp>
            <p:nvGrpSpPr>
              <p:cNvPr id="699" name="Google Shape;699;p11"/>
              <p:cNvGrpSpPr/>
              <p:nvPr/>
            </p:nvGrpSpPr>
            <p:grpSpPr>
              <a:xfrm>
                <a:off x="288" y="1392"/>
                <a:ext cx="754" cy="1008"/>
                <a:chOff x="365" y="2533"/>
                <a:chExt cx="754" cy="1008"/>
              </a:xfrm>
            </p:grpSpPr>
            <p:sp>
              <p:nvSpPr>
                <p:cNvPr id="700" name="Google Shape;700;p11"/>
                <p:cNvSpPr/>
                <p:nvPr/>
              </p:nvSpPr>
              <p:spPr>
                <a:xfrm>
                  <a:off x="365" y="2533"/>
                  <a:ext cx="624" cy="288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701" name="Google Shape;701;p11"/>
                <p:cNvSpPr/>
                <p:nvPr/>
              </p:nvSpPr>
              <p:spPr>
                <a:xfrm>
                  <a:off x="687" y="2821"/>
                  <a:ext cx="432" cy="72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702" name="Google Shape;702;p11"/>
                <p:cNvCxnSpPr/>
                <p:nvPr/>
              </p:nvCxnSpPr>
              <p:spPr>
                <a:xfrm>
                  <a:off x="975" y="2821"/>
                  <a:ext cx="144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03" name="Google Shape;703;p11"/>
                <p:cNvCxnSpPr/>
                <p:nvPr/>
              </p:nvCxnSpPr>
              <p:spPr>
                <a:xfrm>
                  <a:off x="975" y="2821"/>
                  <a:ext cx="0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04" name="Google Shape;704;p11"/>
                <p:cNvCxnSpPr/>
                <p:nvPr/>
              </p:nvCxnSpPr>
              <p:spPr>
                <a:xfrm rot="10800000">
                  <a:off x="975" y="2965"/>
                  <a:ext cx="1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05" name="Google Shape;705;p11"/>
                <p:cNvCxnSpPr/>
                <p:nvPr/>
              </p:nvCxnSpPr>
              <p:spPr>
                <a:xfrm>
                  <a:off x="735" y="3061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06" name="Google Shape;706;p11"/>
                <p:cNvCxnSpPr/>
                <p:nvPr/>
              </p:nvCxnSpPr>
              <p:spPr>
                <a:xfrm>
                  <a:off x="735" y="3109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07" name="Google Shape;707;p11"/>
                <p:cNvCxnSpPr/>
                <p:nvPr/>
              </p:nvCxnSpPr>
              <p:spPr>
                <a:xfrm>
                  <a:off x="735" y="3157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08" name="Google Shape;708;p11"/>
                <p:cNvCxnSpPr/>
                <p:nvPr/>
              </p:nvCxnSpPr>
              <p:spPr>
                <a:xfrm>
                  <a:off x="735" y="3253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09" name="Google Shape;709;p11"/>
                <p:cNvCxnSpPr/>
                <p:nvPr/>
              </p:nvCxnSpPr>
              <p:spPr>
                <a:xfrm>
                  <a:off x="735" y="3205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10" name="Google Shape;710;p11"/>
                <p:cNvCxnSpPr/>
                <p:nvPr/>
              </p:nvCxnSpPr>
              <p:spPr>
                <a:xfrm>
                  <a:off x="735" y="3301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11" name="Google Shape;711;p11"/>
                <p:cNvCxnSpPr/>
                <p:nvPr/>
              </p:nvCxnSpPr>
              <p:spPr>
                <a:xfrm>
                  <a:off x="735" y="3349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12" name="Google Shape;712;p11"/>
                <p:cNvCxnSpPr/>
                <p:nvPr/>
              </p:nvCxnSpPr>
              <p:spPr>
                <a:xfrm>
                  <a:off x="735" y="3397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13" name="Google Shape;713;p11"/>
                <p:cNvCxnSpPr/>
                <p:nvPr/>
              </p:nvCxnSpPr>
              <p:spPr>
                <a:xfrm>
                  <a:off x="735" y="3445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14" name="Google Shape;714;p11"/>
                <p:cNvCxnSpPr/>
                <p:nvPr/>
              </p:nvCxnSpPr>
              <p:spPr>
                <a:xfrm>
                  <a:off x="735" y="3493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15" name="Google Shape;715;p11"/>
                <p:cNvCxnSpPr/>
                <p:nvPr/>
              </p:nvCxnSpPr>
              <p:spPr>
                <a:xfrm>
                  <a:off x="735" y="3013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16" name="Google Shape;716;p11"/>
                <p:cNvCxnSpPr/>
                <p:nvPr/>
              </p:nvCxnSpPr>
              <p:spPr>
                <a:xfrm>
                  <a:off x="735" y="2917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17" name="Google Shape;717;p11"/>
                <p:cNvCxnSpPr/>
                <p:nvPr/>
              </p:nvCxnSpPr>
              <p:spPr>
                <a:xfrm>
                  <a:off x="735" y="2869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18" name="Google Shape;718;p11"/>
                <p:cNvCxnSpPr/>
                <p:nvPr/>
              </p:nvCxnSpPr>
              <p:spPr>
                <a:xfrm>
                  <a:off x="735" y="2965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19" name="Google Shape;719;p11"/>
              <p:cNvSpPr txBox="1"/>
              <p:nvPr/>
            </p:nvSpPr>
            <p:spPr>
              <a:xfrm>
                <a:off x="397" y="2417"/>
                <a:ext cx="832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Ca sử dụng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720" name="Google Shape;720;p11"/>
            <p:cNvGrpSpPr/>
            <p:nvPr/>
          </p:nvGrpSpPr>
          <p:grpSpPr>
            <a:xfrm>
              <a:off x="493713" y="3986215"/>
              <a:ext cx="2473326" cy="2008188"/>
              <a:chOff x="151" y="2783"/>
              <a:chExt cx="1558" cy="1265"/>
            </a:xfrm>
          </p:grpSpPr>
          <p:grpSp>
            <p:nvGrpSpPr>
              <p:cNvPr id="721" name="Google Shape;721;p11"/>
              <p:cNvGrpSpPr/>
              <p:nvPr/>
            </p:nvGrpSpPr>
            <p:grpSpPr>
              <a:xfrm>
                <a:off x="469" y="2783"/>
                <a:ext cx="937" cy="641"/>
                <a:chOff x="55" y="2944"/>
                <a:chExt cx="937" cy="641"/>
              </a:xfrm>
            </p:grpSpPr>
            <p:grpSp>
              <p:nvGrpSpPr>
                <p:cNvPr id="722" name="Google Shape;722;p11"/>
                <p:cNvGrpSpPr/>
                <p:nvPr/>
              </p:nvGrpSpPr>
              <p:grpSpPr>
                <a:xfrm>
                  <a:off x="228" y="2944"/>
                  <a:ext cx="382" cy="257"/>
                  <a:chOff x="144" y="1440"/>
                  <a:chExt cx="881" cy="510"/>
                </a:xfrm>
              </p:grpSpPr>
              <p:sp>
                <p:nvSpPr>
                  <p:cNvPr id="723" name="Google Shape;723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724" name="Google Shape;724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25" name="Google Shape;725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26" name="Google Shape;726;p11"/>
                <p:cNvGrpSpPr/>
                <p:nvPr/>
              </p:nvGrpSpPr>
              <p:grpSpPr>
                <a:xfrm>
                  <a:off x="610" y="3283"/>
                  <a:ext cx="382" cy="257"/>
                  <a:chOff x="144" y="1440"/>
                  <a:chExt cx="881" cy="510"/>
                </a:xfrm>
              </p:grpSpPr>
              <p:sp>
                <p:nvSpPr>
                  <p:cNvPr id="727" name="Google Shape;727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728" name="Google Shape;728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29" name="Google Shape;729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730" name="Google Shape;730;p11"/>
                <p:cNvGrpSpPr/>
                <p:nvPr/>
              </p:nvGrpSpPr>
              <p:grpSpPr>
                <a:xfrm>
                  <a:off x="55" y="3328"/>
                  <a:ext cx="382" cy="257"/>
                  <a:chOff x="144" y="1440"/>
                  <a:chExt cx="881" cy="510"/>
                </a:xfrm>
              </p:grpSpPr>
              <p:sp>
                <p:nvSpPr>
                  <p:cNvPr id="731" name="Google Shape;731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732" name="Google Shape;732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733" name="Google Shape;733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  <p:sp>
            <p:nvSpPr>
              <p:cNvPr id="734" name="Google Shape;734;p11"/>
              <p:cNvSpPr txBox="1"/>
              <p:nvPr/>
            </p:nvSpPr>
            <p:spPr>
              <a:xfrm>
                <a:off x="151" y="3456"/>
                <a:ext cx="1558" cy="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53975" lIns="107950" spcFirstLastPara="1" rIns="107950" wrap="square" tIns="53975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Những trừu tượng hóa trong quá trình phân tích kiến trúc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735" name="Google Shape;735;p11"/>
            <p:cNvGrpSpPr/>
            <p:nvPr/>
          </p:nvGrpSpPr>
          <p:grpSpPr>
            <a:xfrm>
              <a:off x="7150099" y="3378200"/>
              <a:ext cx="965200" cy="990600"/>
              <a:chOff x="4192" y="2208"/>
              <a:chExt cx="464" cy="473"/>
            </a:xfrm>
          </p:grpSpPr>
          <p:sp>
            <p:nvSpPr>
              <p:cNvPr id="736" name="Google Shape;736;p11"/>
              <p:cNvSpPr/>
              <p:nvPr/>
            </p:nvSpPr>
            <p:spPr>
              <a:xfrm>
                <a:off x="4192" y="2208"/>
                <a:ext cx="458" cy="466"/>
              </a:xfrm>
              <a:prstGeom prst="ellipse">
                <a:avLst/>
              </a:prstGeom>
              <a:noFill/>
              <a:ln cap="flat" cmpd="sng" w="38100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737" name="Google Shape;737;p11"/>
              <p:cNvCxnSpPr/>
              <p:nvPr/>
            </p:nvCxnSpPr>
            <p:spPr>
              <a:xfrm>
                <a:off x="4198" y="2680"/>
                <a:ext cx="458" cy="1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738" name="Google Shape;738;p11"/>
            <p:cNvGrpSpPr/>
            <p:nvPr/>
          </p:nvGrpSpPr>
          <p:grpSpPr>
            <a:xfrm>
              <a:off x="3413129" y="4189415"/>
              <a:ext cx="2032003" cy="1525588"/>
              <a:chOff x="1344" y="1008"/>
              <a:chExt cx="1280" cy="961"/>
            </a:xfrm>
          </p:grpSpPr>
          <p:grpSp>
            <p:nvGrpSpPr>
              <p:cNvPr id="739" name="Google Shape;739;p11"/>
              <p:cNvGrpSpPr/>
              <p:nvPr/>
            </p:nvGrpSpPr>
            <p:grpSpPr>
              <a:xfrm>
                <a:off x="1470" y="1008"/>
                <a:ext cx="432" cy="720"/>
                <a:chOff x="1249" y="2496"/>
                <a:chExt cx="432" cy="720"/>
              </a:xfrm>
            </p:grpSpPr>
            <p:sp>
              <p:nvSpPr>
                <p:cNvPr id="740" name="Google Shape;740;p11"/>
                <p:cNvSpPr/>
                <p:nvPr/>
              </p:nvSpPr>
              <p:spPr>
                <a:xfrm>
                  <a:off x="1249" y="2496"/>
                  <a:ext cx="432" cy="72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741" name="Google Shape;741;p11"/>
                <p:cNvCxnSpPr/>
                <p:nvPr/>
              </p:nvCxnSpPr>
              <p:spPr>
                <a:xfrm>
                  <a:off x="1537" y="2496"/>
                  <a:ext cx="144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42" name="Google Shape;742;p11"/>
                <p:cNvCxnSpPr/>
                <p:nvPr/>
              </p:nvCxnSpPr>
              <p:spPr>
                <a:xfrm>
                  <a:off x="1537" y="2496"/>
                  <a:ext cx="0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43" name="Google Shape;743;p11"/>
                <p:cNvCxnSpPr/>
                <p:nvPr/>
              </p:nvCxnSpPr>
              <p:spPr>
                <a:xfrm rot="10800000">
                  <a:off x="1537" y="2640"/>
                  <a:ext cx="1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44" name="Google Shape;744;p11"/>
                <p:cNvCxnSpPr/>
                <p:nvPr/>
              </p:nvCxnSpPr>
              <p:spPr>
                <a:xfrm>
                  <a:off x="1297" y="273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45" name="Google Shape;745;p11"/>
                <p:cNvCxnSpPr/>
                <p:nvPr/>
              </p:nvCxnSpPr>
              <p:spPr>
                <a:xfrm>
                  <a:off x="1297" y="278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46" name="Google Shape;746;p11"/>
                <p:cNvCxnSpPr/>
                <p:nvPr/>
              </p:nvCxnSpPr>
              <p:spPr>
                <a:xfrm>
                  <a:off x="1297" y="283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47" name="Google Shape;747;p11"/>
                <p:cNvCxnSpPr/>
                <p:nvPr/>
              </p:nvCxnSpPr>
              <p:spPr>
                <a:xfrm>
                  <a:off x="1297" y="292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48" name="Google Shape;748;p11"/>
                <p:cNvCxnSpPr/>
                <p:nvPr/>
              </p:nvCxnSpPr>
              <p:spPr>
                <a:xfrm>
                  <a:off x="1297" y="288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49" name="Google Shape;749;p11"/>
                <p:cNvCxnSpPr/>
                <p:nvPr/>
              </p:nvCxnSpPr>
              <p:spPr>
                <a:xfrm>
                  <a:off x="1297" y="297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0" name="Google Shape;750;p11"/>
                <p:cNvCxnSpPr/>
                <p:nvPr/>
              </p:nvCxnSpPr>
              <p:spPr>
                <a:xfrm>
                  <a:off x="1297" y="302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1" name="Google Shape;751;p11"/>
                <p:cNvCxnSpPr/>
                <p:nvPr/>
              </p:nvCxnSpPr>
              <p:spPr>
                <a:xfrm>
                  <a:off x="1297" y="307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2" name="Google Shape;752;p11"/>
                <p:cNvCxnSpPr/>
                <p:nvPr/>
              </p:nvCxnSpPr>
              <p:spPr>
                <a:xfrm>
                  <a:off x="1297" y="312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3" name="Google Shape;753;p11"/>
                <p:cNvCxnSpPr/>
                <p:nvPr/>
              </p:nvCxnSpPr>
              <p:spPr>
                <a:xfrm>
                  <a:off x="1297" y="316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4" name="Google Shape;754;p11"/>
                <p:cNvCxnSpPr/>
                <p:nvPr/>
              </p:nvCxnSpPr>
              <p:spPr>
                <a:xfrm>
                  <a:off x="1297" y="268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5" name="Google Shape;755;p11"/>
                <p:cNvCxnSpPr/>
                <p:nvPr/>
              </p:nvCxnSpPr>
              <p:spPr>
                <a:xfrm>
                  <a:off x="1297" y="2592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6" name="Google Shape;756;p11"/>
                <p:cNvCxnSpPr/>
                <p:nvPr/>
              </p:nvCxnSpPr>
              <p:spPr>
                <a:xfrm>
                  <a:off x="1297" y="2544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57" name="Google Shape;757;p11"/>
                <p:cNvCxnSpPr/>
                <p:nvPr/>
              </p:nvCxnSpPr>
              <p:spPr>
                <a:xfrm>
                  <a:off x="1297" y="2640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8" name="Google Shape;758;p11"/>
              <p:cNvSpPr txBox="1"/>
              <p:nvPr/>
            </p:nvSpPr>
            <p:spPr>
              <a:xfrm>
                <a:off x="1344" y="1736"/>
                <a:ext cx="128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Từ điển thuật ngữ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</p:grpSp>
      <p:sp>
        <p:nvSpPr>
          <p:cNvPr id="759" name="Google Shape;759;p11"/>
          <p:cNvSpPr/>
          <p:nvPr/>
        </p:nvSpPr>
        <p:spPr>
          <a:xfrm>
            <a:off x="609600" y="1447800"/>
            <a:ext cx="7543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Những trừu tượng hóa chính của hệ thống</a:t>
            </a:r>
            <a:endParaRPr sz="2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2"/>
          <p:cNvSpPr txBox="1"/>
          <p:nvPr>
            <p:ph type="title"/>
          </p:nvPr>
        </p:nvSpPr>
        <p:spPr>
          <a:xfrm>
            <a:off x="457200" y="704088"/>
            <a:ext cx="82296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Vai trò của lớp thực thể</a:t>
            </a:r>
            <a:endParaRPr sz="4500"/>
          </a:p>
        </p:txBody>
      </p:sp>
      <p:sp>
        <p:nvSpPr>
          <p:cNvPr id="765" name="Google Shape;765;p12"/>
          <p:cNvSpPr txBox="1"/>
          <p:nvPr>
            <p:ph idx="1" type="body"/>
          </p:nvPr>
        </p:nvSpPr>
        <p:spPr>
          <a:xfrm>
            <a:off x="457200" y="1447800"/>
            <a:ext cx="82296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7475" lvl="0" marL="27432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766" name="Google Shape;766;p1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767" name="Google Shape;767;p12"/>
          <p:cNvGrpSpPr/>
          <p:nvPr/>
        </p:nvGrpSpPr>
        <p:grpSpPr>
          <a:xfrm>
            <a:off x="725488" y="1862138"/>
            <a:ext cx="528637" cy="719137"/>
            <a:chOff x="7654" y="3380"/>
            <a:chExt cx="554" cy="754"/>
          </a:xfrm>
        </p:grpSpPr>
        <p:sp>
          <p:nvSpPr>
            <p:cNvPr id="768" name="Google Shape;768;p12"/>
            <p:cNvSpPr/>
            <p:nvPr/>
          </p:nvSpPr>
          <p:spPr>
            <a:xfrm>
              <a:off x="7805" y="3380"/>
              <a:ext cx="253" cy="248"/>
            </a:xfrm>
            <a:prstGeom prst="ellipse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769" name="Google Shape;769;p12"/>
            <p:cNvCxnSpPr/>
            <p:nvPr/>
          </p:nvCxnSpPr>
          <p:spPr>
            <a:xfrm>
              <a:off x="7931" y="3630"/>
              <a:ext cx="1" cy="232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0" name="Google Shape;770;p12"/>
            <p:cNvCxnSpPr/>
            <p:nvPr/>
          </p:nvCxnSpPr>
          <p:spPr>
            <a:xfrm>
              <a:off x="7731" y="3695"/>
              <a:ext cx="401" cy="1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1" name="Google Shape;771;p12"/>
            <p:cNvSpPr/>
            <p:nvPr/>
          </p:nvSpPr>
          <p:spPr>
            <a:xfrm>
              <a:off x="7654" y="3862"/>
              <a:ext cx="554" cy="272"/>
            </a:xfrm>
            <a:custGeom>
              <a:rect b="b" l="l" r="r" t="t"/>
              <a:pathLst>
                <a:path extrusionOk="0" h="54" w="108">
                  <a:moveTo>
                    <a:pt x="0" y="54"/>
                  </a:moveTo>
                  <a:lnTo>
                    <a:pt x="54" y="0"/>
                  </a:lnTo>
                  <a:lnTo>
                    <a:pt x="108" y="54"/>
                  </a:lnTo>
                </a:path>
              </a:pathLst>
            </a:cu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sp>
        <p:nvSpPr>
          <p:cNvPr id="772" name="Google Shape;772;p12"/>
          <p:cNvSpPr txBox="1"/>
          <p:nvPr/>
        </p:nvSpPr>
        <p:spPr>
          <a:xfrm>
            <a:off x="628650" y="2598738"/>
            <a:ext cx="7239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rPr>
              <a:t>Actor 1</a:t>
            </a:r>
            <a:endParaRPr/>
          </a:p>
        </p:txBody>
      </p:sp>
      <p:grpSp>
        <p:nvGrpSpPr>
          <p:cNvPr id="773" name="Google Shape;773;p12"/>
          <p:cNvGrpSpPr/>
          <p:nvPr/>
        </p:nvGrpSpPr>
        <p:grpSpPr>
          <a:xfrm>
            <a:off x="7974013" y="1973263"/>
            <a:ext cx="528637" cy="719137"/>
            <a:chOff x="7654" y="3380"/>
            <a:chExt cx="554" cy="754"/>
          </a:xfrm>
        </p:grpSpPr>
        <p:sp>
          <p:nvSpPr>
            <p:cNvPr id="774" name="Google Shape;774;p12"/>
            <p:cNvSpPr/>
            <p:nvPr/>
          </p:nvSpPr>
          <p:spPr>
            <a:xfrm>
              <a:off x="7805" y="3380"/>
              <a:ext cx="253" cy="248"/>
            </a:xfrm>
            <a:prstGeom prst="ellipse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775" name="Google Shape;775;p12"/>
            <p:cNvCxnSpPr/>
            <p:nvPr/>
          </p:nvCxnSpPr>
          <p:spPr>
            <a:xfrm>
              <a:off x="7931" y="3630"/>
              <a:ext cx="1" cy="232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6" name="Google Shape;776;p12"/>
            <p:cNvCxnSpPr/>
            <p:nvPr/>
          </p:nvCxnSpPr>
          <p:spPr>
            <a:xfrm>
              <a:off x="7731" y="3695"/>
              <a:ext cx="401" cy="1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7" name="Google Shape;777;p12"/>
            <p:cNvSpPr/>
            <p:nvPr/>
          </p:nvSpPr>
          <p:spPr>
            <a:xfrm>
              <a:off x="7654" y="3862"/>
              <a:ext cx="554" cy="272"/>
            </a:xfrm>
            <a:custGeom>
              <a:rect b="b" l="l" r="r" t="t"/>
              <a:pathLst>
                <a:path extrusionOk="0" h="54" w="108">
                  <a:moveTo>
                    <a:pt x="0" y="54"/>
                  </a:moveTo>
                  <a:lnTo>
                    <a:pt x="54" y="0"/>
                  </a:lnTo>
                  <a:lnTo>
                    <a:pt x="108" y="54"/>
                  </a:lnTo>
                </a:path>
              </a:pathLst>
            </a:cu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cxnSp>
        <p:nvCxnSpPr>
          <p:cNvPr id="778" name="Google Shape;778;p12"/>
          <p:cNvCxnSpPr/>
          <p:nvPr/>
        </p:nvCxnSpPr>
        <p:spPr>
          <a:xfrm>
            <a:off x="7369175" y="2424113"/>
            <a:ext cx="604838" cy="9525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9" name="Google Shape;779;p12"/>
          <p:cNvCxnSpPr/>
          <p:nvPr/>
        </p:nvCxnSpPr>
        <p:spPr>
          <a:xfrm>
            <a:off x="3514725" y="2373313"/>
            <a:ext cx="441325" cy="3175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p12"/>
          <p:cNvCxnSpPr/>
          <p:nvPr/>
        </p:nvCxnSpPr>
        <p:spPr>
          <a:xfrm flipH="1" rot="10800000">
            <a:off x="3700463" y="2860675"/>
            <a:ext cx="609600" cy="1524000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1" name="Google Shape;781;p12"/>
          <p:cNvCxnSpPr/>
          <p:nvPr/>
        </p:nvCxnSpPr>
        <p:spPr>
          <a:xfrm>
            <a:off x="5232400" y="2862263"/>
            <a:ext cx="754063" cy="1522412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2" name="Google Shape;782;p12"/>
          <p:cNvCxnSpPr/>
          <p:nvPr/>
        </p:nvCxnSpPr>
        <p:spPr>
          <a:xfrm rot="10800000">
            <a:off x="4598988" y="4948238"/>
            <a:ext cx="704850" cy="0"/>
          </a:xfrm>
          <a:prstGeom prst="straightConnector1">
            <a:avLst/>
          </a:prstGeom>
          <a:noFill/>
          <a:ln cap="flat" cmpd="sng" w="28575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83" name="Google Shape;783;p12"/>
          <p:cNvGrpSpPr/>
          <p:nvPr/>
        </p:nvGrpSpPr>
        <p:grpSpPr>
          <a:xfrm>
            <a:off x="1981200" y="1981200"/>
            <a:ext cx="1466850" cy="785812"/>
            <a:chOff x="144" y="1440"/>
            <a:chExt cx="881" cy="510"/>
          </a:xfrm>
        </p:grpSpPr>
        <p:sp>
          <p:nvSpPr>
            <p:cNvPr id="784" name="Google Shape;784;p12"/>
            <p:cNvSpPr/>
            <p:nvPr/>
          </p:nvSpPr>
          <p:spPr>
            <a:xfrm>
              <a:off x="144" y="1440"/>
              <a:ext cx="881" cy="510"/>
            </a:xfrm>
            <a:prstGeom prst="rect">
              <a:avLst/>
            </a:prstGeom>
            <a:noFill/>
            <a:ln cap="flat" cmpd="sng" w="28575">
              <a:solidFill>
                <a:srgbClr val="9696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785" name="Google Shape;785;p12"/>
            <p:cNvCxnSpPr/>
            <p:nvPr/>
          </p:nvCxnSpPr>
          <p:spPr>
            <a:xfrm>
              <a:off x="144" y="181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6" name="Google Shape;786;p12"/>
            <p:cNvCxnSpPr/>
            <p:nvPr/>
          </p:nvCxnSpPr>
          <p:spPr>
            <a:xfrm>
              <a:off x="144" y="168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87" name="Google Shape;787;p12"/>
          <p:cNvSpPr txBox="1"/>
          <p:nvPr/>
        </p:nvSpPr>
        <p:spPr>
          <a:xfrm>
            <a:off x="1943100" y="2087563"/>
            <a:ext cx="14859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rPr>
              <a:t>&lt;&lt;boundary&gt;&gt;</a:t>
            </a:r>
            <a:endParaRPr/>
          </a:p>
        </p:txBody>
      </p:sp>
      <p:grpSp>
        <p:nvGrpSpPr>
          <p:cNvPr id="788" name="Google Shape;788;p12"/>
          <p:cNvGrpSpPr/>
          <p:nvPr/>
        </p:nvGrpSpPr>
        <p:grpSpPr>
          <a:xfrm>
            <a:off x="4000500" y="1905000"/>
            <a:ext cx="1466850" cy="785813"/>
            <a:chOff x="144" y="1440"/>
            <a:chExt cx="881" cy="510"/>
          </a:xfrm>
        </p:grpSpPr>
        <p:sp>
          <p:nvSpPr>
            <p:cNvPr id="789" name="Google Shape;789;p12"/>
            <p:cNvSpPr/>
            <p:nvPr/>
          </p:nvSpPr>
          <p:spPr>
            <a:xfrm>
              <a:off x="144" y="1440"/>
              <a:ext cx="881" cy="510"/>
            </a:xfrm>
            <a:prstGeom prst="rect">
              <a:avLst/>
            </a:prstGeom>
            <a:noFill/>
            <a:ln cap="flat" cmpd="sng" w="28575">
              <a:solidFill>
                <a:srgbClr val="9696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790" name="Google Shape;790;p12"/>
            <p:cNvCxnSpPr/>
            <p:nvPr/>
          </p:nvCxnSpPr>
          <p:spPr>
            <a:xfrm>
              <a:off x="144" y="181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1" name="Google Shape;791;p12"/>
            <p:cNvCxnSpPr/>
            <p:nvPr/>
          </p:nvCxnSpPr>
          <p:spPr>
            <a:xfrm>
              <a:off x="144" y="168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92" name="Google Shape;792;p12"/>
          <p:cNvSpPr txBox="1"/>
          <p:nvPr/>
        </p:nvSpPr>
        <p:spPr>
          <a:xfrm>
            <a:off x="4127500" y="1962150"/>
            <a:ext cx="12192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rPr>
              <a:t>&lt;&lt;control&gt;&gt;</a:t>
            </a:r>
            <a:endParaRPr/>
          </a:p>
        </p:txBody>
      </p:sp>
      <p:grpSp>
        <p:nvGrpSpPr>
          <p:cNvPr id="793" name="Google Shape;793;p12"/>
          <p:cNvGrpSpPr/>
          <p:nvPr/>
        </p:nvGrpSpPr>
        <p:grpSpPr>
          <a:xfrm>
            <a:off x="5876925" y="1981200"/>
            <a:ext cx="1466850" cy="785813"/>
            <a:chOff x="144" y="1440"/>
            <a:chExt cx="881" cy="510"/>
          </a:xfrm>
        </p:grpSpPr>
        <p:sp>
          <p:nvSpPr>
            <p:cNvPr id="794" name="Google Shape;794;p12"/>
            <p:cNvSpPr/>
            <p:nvPr/>
          </p:nvSpPr>
          <p:spPr>
            <a:xfrm>
              <a:off x="144" y="1440"/>
              <a:ext cx="881" cy="510"/>
            </a:xfrm>
            <a:prstGeom prst="rect">
              <a:avLst/>
            </a:prstGeom>
            <a:noFill/>
            <a:ln cap="flat" cmpd="sng" w="28575">
              <a:solidFill>
                <a:srgbClr val="9696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795" name="Google Shape;795;p12"/>
            <p:cNvCxnSpPr/>
            <p:nvPr/>
          </p:nvCxnSpPr>
          <p:spPr>
            <a:xfrm>
              <a:off x="144" y="181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6" name="Google Shape;796;p12"/>
            <p:cNvCxnSpPr/>
            <p:nvPr/>
          </p:nvCxnSpPr>
          <p:spPr>
            <a:xfrm>
              <a:off x="144" y="168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97" name="Google Shape;797;p12"/>
          <p:cNvSpPr txBox="1"/>
          <p:nvPr/>
        </p:nvSpPr>
        <p:spPr>
          <a:xfrm>
            <a:off x="5870575" y="2038350"/>
            <a:ext cx="14859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rPr>
              <a:t>&lt;&lt;boundary&gt;&gt;</a:t>
            </a:r>
            <a:endParaRPr/>
          </a:p>
        </p:txBody>
      </p:sp>
      <p:cxnSp>
        <p:nvCxnSpPr>
          <p:cNvPr id="798" name="Google Shape;798;p12"/>
          <p:cNvCxnSpPr/>
          <p:nvPr/>
        </p:nvCxnSpPr>
        <p:spPr>
          <a:xfrm flipH="1">
            <a:off x="5507038" y="2397125"/>
            <a:ext cx="344487" cy="3175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99" name="Google Shape;799;p12"/>
          <p:cNvGrpSpPr/>
          <p:nvPr/>
        </p:nvGrpSpPr>
        <p:grpSpPr>
          <a:xfrm>
            <a:off x="3063875" y="4470400"/>
            <a:ext cx="1466850" cy="785813"/>
            <a:chOff x="144" y="1440"/>
            <a:chExt cx="881" cy="510"/>
          </a:xfrm>
        </p:grpSpPr>
        <p:sp>
          <p:nvSpPr>
            <p:cNvPr id="800" name="Google Shape;800;p12"/>
            <p:cNvSpPr/>
            <p:nvPr/>
          </p:nvSpPr>
          <p:spPr>
            <a:xfrm>
              <a:off x="144" y="1440"/>
              <a:ext cx="881" cy="51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801" name="Google Shape;801;p12"/>
            <p:cNvCxnSpPr/>
            <p:nvPr/>
          </p:nvCxnSpPr>
          <p:spPr>
            <a:xfrm>
              <a:off x="144" y="181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2" name="Google Shape;802;p12"/>
            <p:cNvCxnSpPr/>
            <p:nvPr/>
          </p:nvCxnSpPr>
          <p:spPr>
            <a:xfrm>
              <a:off x="144" y="168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03" name="Google Shape;803;p12"/>
          <p:cNvSpPr txBox="1"/>
          <p:nvPr/>
        </p:nvSpPr>
        <p:spPr>
          <a:xfrm>
            <a:off x="3260725" y="4527550"/>
            <a:ext cx="10795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&lt;&lt;entity&gt;&gt;</a:t>
            </a:r>
            <a:endParaRPr/>
          </a:p>
        </p:txBody>
      </p:sp>
      <p:grpSp>
        <p:nvGrpSpPr>
          <p:cNvPr id="804" name="Google Shape;804;p12"/>
          <p:cNvGrpSpPr/>
          <p:nvPr/>
        </p:nvGrpSpPr>
        <p:grpSpPr>
          <a:xfrm>
            <a:off x="5357813" y="4470400"/>
            <a:ext cx="1466850" cy="785813"/>
            <a:chOff x="144" y="1440"/>
            <a:chExt cx="881" cy="510"/>
          </a:xfrm>
        </p:grpSpPr>
        <p:sp>
          <p:nvSpPr>
            <p:cNvPr id="805" name="Google Shape;805;p12"/>
            <p:cNvSpPr/>
            <p:nvPr/>
          </p:nvSpPr>
          <p:spPr>
            <a:xfrm>
              <a:off x="144" y="1440"/>
              <a:ext cx="881" cy="51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806" name="Google Shape;806;p12"/>
            <p:cNvCxnSpPr/>
            <p:nvPr/>
          </p:nvCxnSpPr>
          <p:spPr>
            <a:xfrm>
              <a:off x="144" y="181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7" name="Google Shape;807;p12"/>
            <p:cNvCxnSpPr/>
            <p:nvPr/>
          </p:nvCxnSpPr>
          <p:spPr>
            <a:xfrm>
              <a:off x="144" y="168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08" name="Google Shape;808;p12"/>
          <p:cNvSpPr txBox="1"/>
          <p:nvPr/>
        </p:nvSpPr>
        <p:spPr>
          <a:xfrm>
            <a:off x="5554663" y="4527550"/>
            <a:ext cx="10795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&lt;&lt;entity&gt;&gt;</a:t>
            </a:r>
            <a:endParaRPr/>
          </a:p>
        </p:txBody>
      </p:sp>
      <p:sp>
        <p:nvSpPr>
          <p:cNvPr id="809" name="Google Shape;809;p12"/>
          <p:cNvSpPr txBox="1"/>
          <p:nvPr/>
        </p:nvSpPr>
        <p:spPr>
          <a:xfrm>
            <a:off x="7778750" y="2644775"/>
            <a:ext cx="939800" cy="382588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rPr>
              <a:t>Actor 2</a:t>
            </a:r>
            <a:endParaRPr/>
          </a:p>
        </p:txBody>
      </p:sp>
      <p:cxnSp>
        <p:nvCxnSpPr>
          <p:cNvPr id="810" name="Google Shape;810;p12"/>
          <p:cNvCxnSpPr/>
          <p:nvPr/>
        </p:nvCxnSpPr>
        <p:spPr>
          <a:xfrm>
            <a:off x="1311275" y="2389188"/>
            <a:ext cx="655638" cy="11112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1" name="Google Shape;811;p12"/>
          <p:cNvSpPr/>
          <p:nvPr/>
        </p:nvSpPr>
        <p:spPr>
          <a:xfrm>
            <a:off x="2797175" y="4241800"/>
            <a:ext cx="4292600" cy="1222375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hlink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12" name="Google Shape;812;p12"/>
          <p:cNvSpPr txBox="1"/>
          <p:nvPr/>
        </p:nvSpPr>
        <p:spPr>
          <a:xfrm>
            <a:off x="990600" y="5562600"/>
            <a:ext cx="746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CCFF"/>
                </a:solidFill>
                <a:latin typeface="Constantia"/>
                <a:ea typeface="Constantia"/>
                <a:cs typeface="Constantia"/>
                <a:sym typeface="Constantia"/>
              </a:rPr>
              <a:t>Lưu trữ và quản lý thông tin trong hệ thống</a:t>
            </a:r>
            <a:endParaRPr i="1" sz="2400">
              <a:solidFill>
                <a:srgbClr val="33CC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3"/>
          <p:cNvSpPr txBox="1"/>
          <p:nvPr>
            <p:ph type="title"/>
          </p:nvPr>
        </p:nvSpPr>
        <p:spPr>
          <a:xfrm>
            <a:off x="457200" y="704088"/>
            <a:ext cx="8229600" cy="9723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Cách tìm các lớp thực thể</a:t>
            </a:r>
            <a:endParaRPr/>
          </a:p>
        </p:txBody>
      </p:sp>
      <p:sp>
        <p:nvSpPr>
          <p:cNvPr id="818" name="Google Shape;818;p1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9" name="Google Shape;819;p13"/>
          <p:cNvSpPr txBox="1"/>
          <p:nvPr>
            <p:ph idx="1" type="body"/>
          </p:nvPr>
        </p:nvSpPr>
        <p:spPr>
          <a:xfrm>
            <a:off x="457200" y="17526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Sử dụng luồng sự kiện của ca sử dụng như đầu vào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Xác định các trừu tượng hóa chính của ca sử dụng</a:t>
            </a:r>
            <a:endParaRPr/>
          </a:p>
          <a:p>
            <a:pPr indent="-246888" lvl="1" marL="640080" rtl="0" algn="l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Gạch chân các cụm danh từ</a:t>
            </a:r>
            <a:endParaRPr/>
          </a:p>
          <a:p>
            <a:pPr indent="-274320" lvl="0" marL="274320" rtl="0" algn="l">
              <a:lnSpc>
                <a:spcPct val="7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Thông thường, sử dụng phương pháp lọc danh từ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Gạch chân các mệnh đề danh từ trong luồng sự kiện của ca sử dụng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Xóa bỏ những cụm danh từ dư thừa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Xóa bỏ những cụm mơ hồ, không rõ ràng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Xóa bỏ tác nhân (nằm ngoài phạm vi hệ thống)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Xóa bỏ những cấu trúc cài đặt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Xóa bỏ thuộc tính (sử dụng trong giai đoạn sau)</a:t>
            </a:r>
            <a:endParaRPr/>
          </a:p>
          <a:p>
            <a:pPr indent="-246888" lvl="1" marL="640080" rtl="0" algn="l">
              <a:lnSpc>
                <a:spcPct val="77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Xóa bỏ hoạt động (operations)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5" name="Google Shape;825;p1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Ví dụ: Các lớp thực thể</a:t>
            </a:r>
            <a:endParaRPr/>
          </a:p>
        </p:txBody>
      </p:sp>
      <p:sp>
        <p:nvSpPr>
          <p:cNvPr id="826" name="Google Shape;826;p1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Ca sử dụng: Đăng ký môn học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Register for Courses (Create Schedule)</a:t>
            </a:r>
            <a:endParaRPr/>
          </a:p>
        </p:txBody>
      </p:sp>
      <p:sp>
        <p:nvSpPr>
          <p:cNvPr id="827" name="Google Shape;827;p14"/>
          <p:cNvSpPr/>
          <p:nvPr/>
        </p:nvSpPr>
        <p:spPr>
          <a:xfrm>
            <a:off x="4151313" y="6202362"/>
            <a:ext cx="7874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Student</a:t>
            </a:r>
            <a:endParaRPr/>
          </a:p>
        </p:txBody>
      </p:sp>
      <p:grpSp>
        <p:nvGrpSpPr>
          <p:cNvPr id="828" name="Google Shape;828;p14"/>
          <p:cNvGrpSpPr/>
          <p:nvPr/>
        </p:nvGrpSpPr>
        <p:grpSpPr>
          <a:xfrm>
            <a:off x="4076699" y="5119687"/>
            <a:ext cx="965200" cy="990600"/>
            <a:chOff x="4192" y="2208"/>
            <a:chExt cx="464" cy="473"/>
          </a:xfrm>
        </p:grpSpPr>
        <p:sp>
          <p:nvSpPr>
            <p:cNvPr id="829" name="Google Shape;829;p14"/>
            <p:cNvSpPr/>
            <p:nvPr/>
          </p:nvSpPr>
          <p:spPr>
            <a:xfrm>
              <a:off x="4192" y="2208"/>
              <a:ext cx="458" cy="466"/>
            </a:xfrm>
            <a:prstGeom prst="ellipse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830" name="Google Shape;830;p14"/>
            <p:cNvCxnSpPr/>
            <p:nvPr/>
          </p:nvCxnSpPr>
          <p:spPr>
            <a:xfrm>
              <a:off x="4198" y="2680"/>
              <a:ext cx="458" cy="1"/>
            </a:xfrm>
            <a:prstGeom prst="straightConnector1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31" name="Google Shape;831;p14"/>
          <p:cNvSpPr/>
          <p:nvPr/>
        </p:nvSpPr>
        <p:spPr>
          <a:xfrm>
            <a:off x="5618163" y="4233862"/>
            <a:ext cx="9525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Schedule</a:t>
            </a:r>
            <a:endParaRPr/>
          </a:p>
        </p:txBody>
      </p:sp>
      <p:grpSp>
        <p:nvGrpSpPr>
          <p:cNvPr id="832" name="Google Shape;832;p14"/>
          <p:cNvGrpSpPr/>
          <p:nvPr/>
        </p:nvGrpSpPr>
        <p:grpSpPr>
          <a:xfrm>
            <a:off x="5587999" y="3094037"/>
            <a:ext cx="965200" cy="990600"/>
            <a:chOff x="4192" y="2208"/>
            <a:chExt cx="464" cy="473"/>
          </a:xfrm>
        </p:grpSpPr>
        <p:sp>
          <p:nvSpPr>
            <p:cNvPr id="833" name="Google Shape;833;p14"/>
            <p:cNvSpPr/>
            <p:nvPr/>
          </p:nvSpPr>
          <p:spPr>
            <a:xfrm>
              <a:off x="4192" y="2208"/>
              <a:ext cx="458" cy="466"/>
            </a:xfrm>
            <a:prstGeom prst="ellipse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834" name="Google Shape;834;p14"/>
            <p:cNvCxnSpPr/>
            <p:nvPr/>
          </p:nvCxnSpPr>
          <p:spPr>
            <a:xfrm>
              <a:off x="4198" y="2680"/>
              <a:ext cx="458" cy="1"/>
            </a:xfrm>
            <a:prstGeom prst="straightConnector1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35" name="Google Shape;835;p14"/>
          <p:cNvSpPr/>
          <p:nvPr/>
        </p:nvSpPr>
        <p:spPr>
          <a:xfrm>
            <a:off x="2371725" y="4217987"/>
            <a:ext cx="15494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CourseOffering</a:t>
            </a:r>
            <a:endParaRPr/>
          </a:p>
        </p:txBody>
      </p:sp>
      <p:grpSp>
        <p:nvGrpSpPr>
          <p:cNvPr id="836" name="Google Shape;836;p14"/>
          <p:cNvGrpSpPr/>
          <p:nvPr/>
        </p:nvGrpSpPr>
        <p:grpSpPr>
          <a:xfrm>
            <a:off x="2654299" y="3094037"/>
            <a:ext cx="965200" cy="990600"/>
            <a:chOff x="4192" y="2208"/>
            <a:chExt cx="464" cy="473"/>
          </a:xfrm>
        </p:grpSpPr>
        <p:sp>
          <p:nvSpPr>
            <p:cNvPr id="837" name="Google Shape;837;p14"/>
            <p:cNvSpPr/>
            <p:nvPr/>
          </p:nvSpPr>
          <p:spPr>
            <a:xfrm>
              <a:off x="4192" y="2208"/>
              <a:ext cx="458" cy="466"/>
            </a:xfrm>
            <a:prstGeom prst="ellipse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838" name="Google Shape;838;p14"/>
            <p:cNvCxnSpPr/>
            <p:nvPr/>
          </p:nvCxnSpPr>
          <p:spPr>
            <a:xfrm>
              <a:off x="4198" y="2680"/>
              <a:ext cx="458" cy="1"/>
            </a:xfrm>
            <a:prstGeom prst="straightConnector1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Lớp điều khiển là gì?</a:t>
            </a:r>
            <a:endParaRPr/>
          </a:p>
        </p:txBody>
      </p:sp>
      <p:sp>
        <p:nvSpPr>
          <p:cNvPr id="844" name="Google Shape;844;p1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5" name="Google Shape;845;p1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Phối hợp hành vi của ca sử dụng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Các ca sử dụng phức tạp thường đòi hỏi một hoặc nhiều lớp điều khiển</a:t>
            </a:r>
            <a:endParaRPr/>
          </a:p>
        </p:txBody>
      </p:sp>
      <p:grpSp>
        <p:nvGrpSpPr>
          <p:cNvPr id="846" name="Google Shape;846;p15"/>
          <p:cNvGrpSpPr/>
          <p:nvPr/>
        </p:nvGrpSpPr>
        <p:grpSpPr>
          <a:xfrm>
            <a:off x="1981200" y="3429000"/>
            <a:ext cx="6184900" cy="2568575"/>
            <a:chOff x="1968500" y="2679700"/>
            <a:chExt cx="6184900" cy="2568575"/>
          </a:xfrm>
        </p:grpSpPr>
        <p:sp>
          <p:nvSpPr>
            <p:cNvPr id="847" name="Google Shape;847;p15"/>
            <p:cNvSpPr txBox="1"/>
            <p:nvPr/>
          </p:nvSpPr>
          <p:spPr>
            <a:xfrm>
              <a:off x="1968500" y="4597400"/>
              <a:ext cx="179568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Ca sử dụng</a:t>
              </a:r>
              <a:endParaRPr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848" name="Google Shape;848;p15"/>
            <p:cNvGrpSpPr/>
            <p:nvPr/>
          </p:nvGrpSpPr>
          <p:grpSpPr>
            <a:xfrm>
              <a:off x="1993900" y="2679700"/>
              <a:ext cx="1196975" cy="1600200"/>
              <a:chOff x="446" y="2208"/>
              <a:chExt cx="754" cy="1008"/>
            </a:xfrm>
          </p:grpSpPr>
          <p:sp>
            <p:nvSpPr>
              <p:cNvPr id="849" name="Google Shape;849;p15"/>
              <p:cNvSpPr/>
              <p:nvPr/>
            </p:nvSpPr>
            <p:spPr>
              <a:xfrm>
                <a:off x="446" y="2208"/>
                <a:ext cx="624" cy="288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850" name="Google Shape;850;p15"/>
              <p:cNvSpPr/>
              <p:nvPr/>
            </p:nvSpPr>
            <p:spPr>
              <a:xfrm>
                <a:off x="768" y="2496"/>
                <a:ext cx="432" cy="72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851" name="Google Shape;851;p15"/>
              <p:cNvCxnSpPr/>
              <p:nvPr/>
            </p:nvCxnSpPr>
            <p:spPr>
              <a:xfrm>
                <a:off x="1056" y="2496"/>
                <a:ext cx="144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2" name="Google Shape;852;p15"/>
              <p:cNvCxnSpPr/>
              <p:nvPr/>
            </p:nvCxnSpPr>
            <p:spPr>
              <a:xfrm>
                <a:off x="1056" y="2496"/>
                <a:ext cx="0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3" name="Google Shape;853;p15"/>
              <p:cNvCxnSpPr/>
              <p:nvPr/>
            </p:nvCxnSpPr>
            <p:spPr>
              <a:xfrm rot="10800000">
                <a:off x="1056" y="2640"/>
                <a:ext cx="1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4" name="Google Shape;854;p15"/>
              <p:cNvCxnSpPr/>
              <p:nvPr/>
            </p:nvCxnSpPr>
            <p:spPr>
              <a:xfrm>
                <a:off x="816" y="2736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5" name="Google Shape;855;p15"/>
              <p:cNvCxnSpPr/>
              <p:nvPr/>
            </p:nvCxnSpPr>
            <p:spPr>
              <a:xfrm>
                <a:off x="816" y="2784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6" name="Google Shape;856;p15"/>
              <p:cNvCxnSpPr/>
              <p:nvPr/>
            </p:nvCxnSpPr>
            <p:spPr>
              <a:xfrm>
                <a:off x="816" y="2832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7" name="Google Shape;857;p15"/>
              <p:cNvCxnSpPr/>
              <p:nvPr/>
            </p:nvCxnSpPr>
            <p:spPr>
              <a:xfrm>
                <a:off x="816" y="292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8" name="Google Shape;858;p15"/>
              <p:cNvCxnSpPr/>
              <p:nvPr/>
            </p:nvCxnSpPr>
            <p:spPr>
              <a:xfrm>
                <a:off x="816" y="2880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59" name="Google Shape;859;p15"/>
              <p:cNvCxnSpPr/>
              <p:nvPr/>
            </p:nvCxnSpPr>
            <p:spPr>
              <a:xfrm>
                <a:off x="816" y="2976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0" name="Google Shape;860;p15"/>
              <p:cNvCxnSpPr/>
              <p:nvPr/>
            </p:nvCxnSpPr>
            <p:spPr>
              <a:xfrm>
                <a:off x="816" y="3024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1" name="Google Shape;861;p15"/>
              <p:cNvCxnSpPr/>
              <p:nvPr/>
            </p:nvCxnSpPr>
            <p:spPr>
              <a:xfrm>
                <a:off x="816" y="3072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2" name="Google Shape;862;p15"/>
              <p:cNvCxnSpPr/>
              <p:nvPr/>
            </p:nvCxnSpPr>
            <p:spPr>
              <a:xfrm>
                <a:off x="816" y="3120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3" name="Google Shape;863;p15"/>
              <p:cNvCxnSpPr/>
              <p:nvPr/>
            </p:nvCxnSpPr>
            <p:spPr>
              <a:xfrm>
                <a:off x="816" y="316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4" name="Google Shape;864;p15"/>
              <p:cNvCxnSpPr/>
              <p:nvPr/>
            </p:nvCxnSpPr>
            <p:spPr>
              <a:xfrm>
                <a:off x="816" y="268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5" name="Google Shape;865;p15"/>
              <p:cNvCxnSpPr/>
              <p:nvPr/>
            </p:nvCxnSpPr>
            <p:spPr>
              <a:xfrm>
                <a:off x="816" y="2592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6" name="Google Shape;866;p15"/>
              <p:cNvCxnSpPr/>
              <p:nvPr/>
            </p:nvCxnSpPr>
            <p:spPr>
              <a:xfrm>
                <a:off x="816" y="2544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67" name="Google Shape;867;p15"/>
              <p:cNvCxnSpPr/>
              <p:nvPr/>
            </p:nvCxnSpPr>
            <p:spPr>
              <a:xfrm>
                <a:off x="816" y="2640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868" name="Google Shape;868;p15"/>
            <p:cNvSpPr txBox="1"/>
            <p:nvPr/>
          </p:nvSpPr>
          <p:spPr>
            <a:xfrm>
              <a:off x="6311900" y="4591050"/>
              <a:ext cx="1841500" cy="657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800">
                  <a:solidFill>
                    <a:srgbClr val="000099"/>
                  </a:solidFill>
                  <a:latin typeface="Constantia"/>
                  <a:ea typeface="Constantia"/>
                  <a:cs typeface="Constantia"/>
                  <a:sym typeface="Constantia"/>
                </a:rPr>
                <a:t>Analysis class stereotype</a:t>
              </a:r>
              <a:endParaRPr/>
            </a:p>
          </p:txBody>
        </p:sp>
        <p:cxnSp>
          <p:nvCxnSpPr>
            <p:cNvPr id="869" name="Google Shape;869;p15"/>
            <p:cNvCxnSpPr/>
            <p:nvPr/>
          </p:nvCxnSpPr>
          <p:spPr>
            <a:xfrm rot="10800000">
              <a:off x="6616700" y="4013200"/>
              <a:ext cx="558800" cy="571500"/>
            </a:xfrm>
            <a:prstGeom prst="straightConnector1">
              <a:avLst/>
            </a:prstGeom>
            <a:noFill/>
            <a:ln cap="flat" cmpd="sng" w="38100">
              <a:solidFill>
                <a:schemeClr val="hlink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70" name="Google Shape;870;p15"/>
            <p:cNvGrpSpPr/>
            <p:nvPr/>
          </p:nvGrpSpPr>
          <p:grpSpPr>
            <a:xfrm>
              <a:off x="5643563" y="3035300"/>
              <a:ext cx="985837" cy="1014413"/>
              <a:chOff x="1019" y="2289"/>
              <a:chExt cx="418" cy="444"/>
            </a:xfrm>
          </p:grpSpPr>
          <p:sp>
            <p:nvSpPr>
              <p:cNvPr id="871" name="Google Shape;871;p15"/>
              <p:cNvSpPr/>
              <p:nvPr/>
            </p:nvSpPr>
            <p:spPr>
              <a:xfrm>
                <a:off x="1019" y="2323"/>
                <a:ext cx="418" cy="410"/>
              </a:xfrm>
              <a:prstGeom prst="ellipse">
                <a:avLst/>
              </a:prstGeom>
              <a:noFill/>
              <a:ln cap="flat" cmpd="sng" w="38100">
                <a:solidFill>
                  <a:srgbClr val="00CC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872" name="Google Shape;872;p15"/>
              <p:cNvCxnSpPr/>
              <p:nvPr/>
            </p:nvCxnSpPr>
            <p:spPr>
              <a:xfrm flipH="1">
                <a:off x="1178" y="2289"/>
                <a:ext cx="92" cy="42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3" name="Google Shape;873;p15"/>
              <p:cNvCxnSpPr/>
              <p:nvPr/>
            </p:nvCxnSpPr>
            <p:spPr>
              <a:xfrm rot="10800000">
                <a:off x="1178" y="2331"/>
                <a:ext cx="92" cy="33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CC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874" name="Google Shape;874;p15"/>
            <p:cNvSpPr/>
            <p:nvPr/>
          </p:nvSpPr>
          <p:spPr>
            <a:xfrm>
              <a:off x="4300538" y="3292475"/>
              <a:ext cx="539750" cy="533400"/>
            </a:xfrm>
            <a:prstGeom prst="rightArrow">
              <a:avLst>
                <a:gd fmla="val 55954" name="adj1"/>
                <a:gd fmla="val 50295" name="adj2"/>
              </a:avLst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Vai trò của một lớp điều khiển</a:t>
            </a:r>
            <a:endParaRPr/>
          </a:p>
        </p:txBody>
      </p:sp>
      <p:sp>
        <p:nvSpPr>
          <p:cNvPr id="880" name="Google Shape;880;p1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1" name="Google Shape;881;p16"/>
          <p:cNvSpPr txBox="1"/>
          <p:nvPr/>
        </p:nvSpPr>
        <p:spPr>
          <a:xfrm>
            <a:off x="2286000" y="6019800"/>
            <a:ext cx="49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CCFF"/>
                </a:solidFill>
                <a:latin typeface="Constantia"/>
                <a:ea typeface="Constantia"/>
                <a:cs typeface="Constantia"/>
                <a:sym typeface="Constantia"/>
              </a:rPr>
              <a:t>Phối hợp hành vi của ca sử dụng</a:t>
            </a:r>
            <a:endParaRPr i="1" sz="2400">
              <a:solidFill>
                <a:srgbClr val="33CC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grpSp>
        <p:nvGrpSpPr>
          <p:cNvPr id="882" name="Google Shape;882;p16"/>
          <p:cNvGrpSpPr/>
          <p:nvPr/>
        </p:nvGrpSpPr>
        <p:grpSpPr>
          <a:xfrm>
            <a:off x="725488" y="1862138"/>
            <a:ext cx="528637" cy="719137"/>
            <a:chOff x="7654" y="3380"/>
            <a:chExt cx="554" cy="754"/>
          </a:xfrm>
        </p:grpSpPr>
        <p:sp>
          <p:nvSpPr>
            <p:cNvPr id="883" name="Google Shape;883;p16"/>
            <p:cNvSpPr/>
            <p:nvPr/>
          </p:nvSpPr>
          <p:spPr>
            <a:xfrm>
              <a:off x="7805" y="3380"/>
              <a:ext cx="253" cy="248"/>
            </a:xfrm>
            <a:prstGeom prst="ellipse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884" name="Google Shape;884;p16"/>
            <p:cNvCxnSpPr/>
            <p:nvPr/>
          </p:nvCxnSpPr>
          <p:spPr>
            <a:xfrm>
              <a:off x="7931" y="3630"/>
              <a:ext cx="1" cy="232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85" name="Google Shape;885;p16"/>
            <p:cNvCxnSpPr/>
            <p:nvPr/>
          </p:nvCxnSpPr>
          <p:spPr>
            <a:xfrm>
              <a:off x="7731" y="3695"/>
              <a:ext cx="401" cy="1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6" name="Google Shape;886;p16"/>
            <p:cNvSpPr/>
            <p:nvPr/>
          </p:nvSpPr>
          <p:spPr>
            <a:xfrm>
              <a:off x="7654" y="3862"/>
              <a:ext cx="554" cy="272"/>
            </a:xfrm>
            <a:custGeom>
              <a:rect b="b" l="l" r="r" t="t"/>
              <a:pathLst>
                <a:path extrusionOk="0" h="54" w="108">
                  <a:moveTo>
                    <a:pt x="0" y="54"/>
                  </a:moveTo>
                  <a:lnTo>
                    <a:pt x="54" y="0"/>
                  </a:lnTo>
                  <a:lnTo>
                    <a:pt x="108" y="54"/>
                  </a:lnTo>
                </a:path>
              </a:pathLst>
            </a:cu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sp>
        <p:nvSpPr>
          <p:cNvPr id="887" name="Google Shape;887;p16"/>
          <p:cNvSpPr txBox="1"/>
          <p:nvPr/>
        </p:nvSpPr>
        <p:spPr>
          <a:xfrm>
            <a:off x="628650" y="2903538"/>
            <a:ext cx="7239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rPr>
              <a:t>Actor 1</a:t>
            </a:r>
            <a:endParaRPr/>
          </a:p>
        </p:txBody>
      </p:sp>
      <p:grpSp>
        <p:nvGrpSpPr>
          <p:cNvPr id="888" name="Google Shape;888;p16"/>
          <p:cNvGrpSpPr/>
          <p:nvPr/>
        </p:nvGrpSpPr>
        <p:grpSpPr>
          <a:xfrm>
            <a:off x="7974013" y="2278063"/>
            <a:ext cx="528637" cy="719137"/>
            <a:chOff x="7654" y="3380"/>
            <a:chExt cx="554" cy="754"/>
          </a:xfrm>
        </p:grpSpPr>
        <p:sp>
          <p:nvSpPr>
            <p:cNvPr id="889" name="Google Shape;889;p16"/>
            <p:cNvSpPr/>
            <p:nvPr/>
          </p:nvSpPr>
          <p:spPr>
            <a:xfrm>
              <a:off x="7805" y="3380"/>
              <a:ext cx="253" cy="248"/>
            </a:xfrm>
            <a:prstGeom prst="ellipse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890" name="Google Shape;890;p16"/>
            <p:cNvCxnSpPr/>
            <p:nvPr/>
          </p:nvCxnSpPr>
          <p:spPr>
            <a:xfrm>
              <a:off x="7931" y="3630"/>
              <a:ext cx="1" cy="232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1" name="Google Shape;891;p16"/>
            <p:cNvCxnSpPr/>
            <p:nvPr/>
          </p:nvCxnSpPr>
          <p:spPr>
            <a:xfrm>
              <a:off x="7731" y="3695"/>
              <a:ext cx="401" cy="1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92" name="Google Shape;892;p16"/>
            <p:cNvSpPr/>
            <p:nvPr/>
          </p:nvSpPr>
          <p:spPr>
            <a:xfrm>
              <a:off x="7654" y="3862"/>
              <a:ext cx="554" cy="272"/>
            </a:xfrm>
            <a:custGeom>
              <a:rect b="b" l="l" r="r" t="t"/>
              <a:pathLst>
                <a:path extrusionOk="0" h="54" w="108">
                  <a:moveTo>
                    <a:pt x="0" y="54"/>
                  </a:moveTo>
                  <a:lnTo>
                    <a:pt x="54" y="0"/>
                  </a:lnTo>
                  <a:lnTo>
                    <a:pt x="108" y="54"/>
                  </a:lnTo>
                </a:path>
              </a:pathLst>
            </a:cu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cxnSp>
        <p:nvCxnSpPr>
          <p:cNvPr id="893" name="Google Shape;893;p16"/>
          <p:cNvCxnSpPr/>
          <p:nvPr/>
        </p:nvCxnSpPr>
        <p:spPr>
          <a:xfrm>
            <a:off x="7369175" y="2728913"/>
            <a:ext cx="604838" cy="9525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4" name="Google Shape;894;p16"/>
          <p:cNvCxnSpPr/>
          <p:nvPr/>
        </p:nvCxnSpPr>
        <p:spPr>
          <a:xfrm>
            <a:off x="3514725" y="2678113"/>
            <a:ext cx="441325" cy="3175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p16"/>
          <p:cNvCxnSpPr/>
          <p:nvPr/>
        </p:nvCxnSpPr>
        <p:spPr>
          <a:xfrm flipH="1" rot="10800000">
            <a:off x="3700463" y="3165475"/>
            <a:ext cx="609600" cy="1524000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6" name="Google Shape;896;p16"/>
          <p:cNvCxnSpPr/>
          <p:nvPr/>
        </p:nvCxnSpPr>
        <p:spPr>
          <a:xfrm>
            <a:off x="5232400" y="3167063"/>
            <a:ext cx="754063" cy="1522412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7" name="Google Shape;897;p16"/>
          <p:cNvCxnSpPr/>
          <p:nvPr/>
        </p:nvCxnSpPr>
        <p:spPr>
          <a:xfrm rot="10800000">
            <a:off x="4598988" y="5253038"/>
            <a:ext cx="704850" cy="0"/>
          </a:xfrm>
          <a:prstGeom prst="straightConnector1">
            <a:avLst/>
          </a:prstGeom>
          <a:noFill/>
          <a:ln cap="flat" cmpd="sng" w="28575">
            <a:solidFill>
              <a:srgbClr val="96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98" name="Google Shape;898;p16"/>
          <p:cNvGrpSpPr/>
          <p:nvPr/>
        </p:nvGrpSpPr>
        <p:grpSpPr>
          <a:xfrm>
            <a:off x="2019300" y="2627313"/>
            <a:ext cx="1466850" cy="785812"/>
            <a:chOff x="144" y="1440"/>
            <a:chExt cx="881" cy="510"/>
          </a:xfrm>
        </p:grpSpPr>
        <p:sp>
          <p:nvSpPr>
            <p:cNvPr id="899" name="Google Shape;899;p16"/>
            <p:cNvSpPr/>
            <p:nvPr/>
          </p:nvSpPr>
          <p:spPr>
            <a:xfrm>
              <a:off x="144" y="1440"/>
              <a:ext cx="881" cy="510"/>
            </a:xfrm>
            <a:prstGeom prst="rect">
              <a:avLst/>
            </a:prstGeom>
            <a:noFill/>
            <a:ln cap="flat" cmpd="sng" w="28575">
              <a:solidFill>
                <a:srgbClr val="9696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900" name="Google Shape;900;p16"/>
            <p:cNvCxnSpPr/>
            <p:nvPr/>
          </p:nvCxnSpPr>
          <p:spPr>
            <a:xfrm>
              <a:off x="144" y="181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1" name="Google Shape;901;p16"/>
            <p:cNvCxnSpPr/>
            <p:nvPr/>
          </p:nvCxnSpPr>
          <p:spPr>
            <a:xfrm>
              <a:off x="144" y="168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02" name="Google Shape;902;p16"/>
          <p:cNvSpPr txBox="1"/>
          <p:nvPr/>
        </p:nvSpPr>
        <p:spPr>
          <a:xfrm>
            <a:off x="2012950" y="2684463"/>
            <a:ext cx="14859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rPr>
              <a:t>&lt;&lt;boundary&gt;&gt;</a:t>
            </a:r>
            <a:endParaRPr/>
          </a:p>
        </p:txBody>
      </p:sp>
      <p:grpSp>
        <p:nvGrpSpPr>
          <p:cNvPr id="903" name="Google Shape;903;p16"/>
          <p:cNvGrpSpPr/>
          <p:nvPr/>
        </p:nvGrpSpPr>
        <p:grpSpPr>
          <a:xfrm>
            <a:off x="4000500" y="2279650"/>
            <a:ext cx="1466850" cy="785813"/>
            <a:chOff x="144" y="1440"/>
            <a:chExt cx="881" cy="510"/>
          </a:xfrm>
        </p:grpSpPr>
        <p:sp>
          <p:nvSpPr>
            <p:cNvPr id="904" name="Google Shape;904;p16"/>
            <p:cNvSpPr/>
            <p:nvPr/>
          </p:nvSpPr>
          <p:spPr>
            <a:xfrm>
              <a:off x="144" y="1440"/>
              <a:ext cx="881" cy="51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905" name="Google Shape;905;p16"/>
            <p:cNvCxnSpPr/>
            <p:nvPr/>
          </p:nvCxnSpPr>
          <p:spPr>
            <a:xfrm>
              <a:off x="144" y="181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6" name="Google Shape;906;p16"/>
            <p:cNvCxnSpPr/>
            <p:nvPr/>
          </p:nvCxnSpPr>
          <p:spPr>
            <a:xfrm>
              <a:off x="144" y="168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07" name="Google Shape;907;p16"/>
          <p:cNvSpPr txBox="1"/>
          <p:nvPr/>
        </p:nvSpPr>
        <p:spPr>
          <a:xfrm>
            <a:off x="4127500" y="2336800"/>
            <a:ext cx="12192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&lt;&lt;control&gt;&gt;</a:t>
            </a:r>
            <a:endParaRPr/>
          </a:p>
        </p:txBody>
      </p:sp>
      <p:grpSp>
        <p:nvGrpSpPr>
          <p:cNvPr id="908" name="Google Shape;908;p16"/>
          <p:cNvGrpSpPr/>
          <p:nvPr/>
        </p:nvGrpSpPr>
        <p:grpSpPr>
          <a:xfrm>
            <a:off x="5876925" y="2654300"/>
            <a:ext cx="1466850" cy="785813"/>
            <a:chOff x="144" y="1440"/>
            <a:chExt cx="881" cy="510"/>
          </a:xfrm>
        </p:grpSpPr>
        <p:sp>
          <p:nvSpPr>
            <p:cNvPr id="909" name="Google Shape;909;p16"/>
            <p:cNvSpPr/>
            <p:nvPr/>
          </p:nvSpPr>
          <p:spPr>
            <a:xfrm>
              <a:off x="144" y="1440"/>
              <a:ext cx="881" cy="510"/>
            </a:xfrm>
            <a:prstGeom prst="rect">
              <a:avLst/>
            </a:prstGeom>
            <a:noFill/>
            <a:ln cap="flat" cmpd="sng" w="28575">
              <a:solidFill>
                <a:srgbClr val="96969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910" name="Google Shape;910;p16"/>
            <p:cNvCxnSpPr/>
            <p:nvPr/>
          </p:nvCxnSpPr>
          <p:spPr>
            <a:xfrm>
              <a:off x="144" y="181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1" name="Google Shape;911;p16"/>
            <p:cNvCxnSpPr/>
            <p:nvPr/>
          </p:nvCxnSpPr>
          <p:spPr>
            <a:xfrm>
              <a:off x="144" y="168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rgbClr val="96969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12" name="Google Shape;912;p16"/>
          <p:cNvSpPr txBox="1"/>
          <p:nvPr/>
        </p:nvSpPr>
        <p:spPr>
          <a:xfrm>
            <a:off x="5870575" y="2711450"/>
            <a:ext cx="14859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rPr>
              <a:t>&lt;&lt;boundary&gt;&gt;</a:t>
            </a:r>
            <a:endParaRPr/>
          </a:p>
        </p:txBody>
      </p:sp>
      <p:cxnSp>
        <p:nvCxnSpPr>
          <p:cNvPr id="913" name="Google Shape;913;p16"/>
          <p:cNvCxnSpPr/>
          <p:nvPr/>
        </p:nvCxnSpPr>
        <p:spPr>
          <a:xfrm flipH="1">
            <a:off x="5507038" y="2701925"/>
            <a:ext cx="344487" cy="3175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914" name="Google Shape;914;p16"/>
          <p:cNvGrpSpPr/>
          <p:nvPr/>
        </p:nvGrpSpPr>
        <p:grpSpPr>
          <a:xfrm>
            <a:off x="3063875" y="4775200"/>
            <a:ext cx="1466850" cy="785813"/>
            <a:chOff x="144" y="1440"/>
            <a:chExt cx="881" cy="510"/>
          </a:xfrm>
        </p:grpSpPr>
        <p:sp>
          <p:nvSpPr>
            <p:cNvPr id="915" name="Google Shape;915;p16"/>
            <p:cNvSpPr/>
            <p:nvPr/>
          </p:nvSpPr>
          <p:spPr>
            <a:xfrm>
              <a:off x="144" y="1440"/>
              <a:ext cx="881" cy="510"/>
            </a:xfrm>
            <a:prstGeom prst="rect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916" name="Google Shape;916;p16"/>
            <p:cNvCxnSpPr/>
            <p:nvPr/>
          </p:nvCxnSpPr>
          <p:spPr>
            <a:xfrm>
              <a:off x="144" y="181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17" name="Google Shape;917;p16"/>
            <p:cNvCxnSpPr/>
            <p:nvPr/>
          </p:nvCxnSpPr>
          <p:spPr>
            <a:xfrm>
              <a:off x="144" y="168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18" name="Google Shape;918;p16"/>
          <p:cNvSpPr txBox="1"/>
          <p:nvPr/>
        </p:nvSpPr>
        <p:spPr>
          <a:xfrm>
            <a:off x="3260725" y="4832350"/>
            <a:ext cx="10795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rPr>
              <a:t>&lt;&lt;entity&gt;&gt;</a:t>
            </a:r>
            <a:endParaRPr/>
          </a:p>
        </p:txBody>
      </p:sp>
      <p:grpSp>
        <p:nvGrpSpPr>
          <p:cNvPr id="919" name="Google Shape;919;p16"/>
          <p:cNvGrpSpPr/>
          <p:nvPr/>
        </p:nvGrpSpPr>
        <p:grpSpPr>
          <a:xfrm>
            <a:off x="5357813" y="4775200"/>
            <a:ext cx="1466850" cy="785813"/>
            <a:chOff x="144" y="1440"/>
            <a:chExt cx="881" cy="510"/>
          </a:xfrm>
        </p:grpSpPr>
        <p:sp>
          <p:nvSpPr>
            <p:cNvPr id="920" name="Google Shape;920;p16"/>
            <p:cNvSpPr/>
            <p:nvPr/>
          </p:nvSpPr>
          <p:spPr>
            <a:xfrm>
              <a:off x="144" y="1440"/>
              <a:ext cx="881" cy="510"/>
            </a:xfrm>
            <a:prstGeom prst="rect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921" name="Google Shape;921;p16"/>
            <p:cNvCxnSpPr/>
            <p:nvPr/>
          </p:nvCxnSpPr>
          <p:spPr>
            <a:xfrm>
              <a:off x="144" y="181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22" name="Google Shape;922;p16"/>
            <p:cNvCxnSpPr/>
            <p:nvPr/>
          </p:nvCxnSpPr>
          <p:spPr>
            <a:xfrm>
              <a:off x="144" y="1680"/>
              <a:ext cx="881" cy="0"/>
            </a:xfrm>
            <a:prstGeom prst="straightConnector1">
              <a:avLst/>
            </a:prstGeom>
            <a:noFill/>
            <a:ln cap="flat" cmpd="sng" w="28575">
              <a:solidFill>
                <a:schemeClr val="folHlink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23" name="Google Shape;923;p16"/>
          <p:cNvSpPr txBox="1"/>
          <p:nvPr/>
        </p:nvSpPr>
        <p:spPr>
          <a:xfrm>
            <a:off x="5554663" y="4832350"/>
            <a:ext cx="10795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rPr>
              <a:t>&lt;&lt;entity&gt;&gt;</a:t>
            </a:r>
            <a:endParaRPr/>
          </a:p>
        </p:txBody>
      </p:sp>
      <p:sp>
        <p:nvSpPr>
          <p:cNvPr id="924" name="Google Shape;924;p16"/>
          <p:cNvSpPr txBox="1"/>
          <p:nvPr/>
        </p:nvSpPr>
        <p:spPr>
          <a:xfrm>
            <a:off x="7778750" y="2949575"/>
            <a:ext cx="9399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folHlink"/>
                </a:solidFill>
                <a:latin typeface="Constantia"/>
                <a:ea typeface="Constantia"/>
                <a:cs typeface="Constantia"/>
                <a:sym typeface="Constantia"/>
              </a:rPr>
              <a:t>Actor 2</a:t>
            </a:r>
            <a:endParaRPr/>
          </a:p>
        </p:txBody>
      </p:sp>
      <p:cxnSp>
        <p:nvCxnSpPr>
          <p:cNvPr id="925" name="Google Shape;925;p16"/>
          <p:cNvCxnSpPr/>
          <p:nvPr/>
        </p:nvCxnSpPr>
        <p:spPr>
          <a:xfrm>
            <a:off x="1311275" y="2693988"/>
            <a:ext cx="655638" cy="11112"/>
          </a:xfrm>
          <a:prstGeom prst="straightConnector1">
            <a:avLst/>
          </a:prstGeom>
          <a:noFill/>
          <a:ln cap="flat" cmpd="sng" w="28575">
            <a:solidFill>
              <a:schemeClr val="folHlink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6" name="Google Shape;926;p16"/>
          <p:cNvSpPr/>
          <p:nvPr/>
        </p:nvSpPr>
        <p:spPr>
          <a:xfrm>
            <a:off x="3813175" y="2057400"/>
            <a:ext cx="1828800" cy="1222375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hlink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Ví dụ: Tìm các lớp điều khiển</a:t>
            </a:r>
            <a:endParaRPr/>
          </a:p>
        </p:txBody>
      </p:sp>
      <p:sp>
        <p:nvSpPr>
          <p:cNvPr id="932" name="Google Shape;932;p1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3" name="Google Shape;933;p1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Thông thường, xác định một lớp điều khiển trên mỗi ca sử dụng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Khi việc phân tích vẫn tiếp tục, một lớp điều khiển của một ca sử dụng phức tạp có thể được phát triển thành nhiều hơn một lớp</a:t>
            </a:r>
            <a:endParaRPr/>
          </a:p>
        </p:txBody>
      </p:sp>
      <p:grpSp>
        <p:nvGrpSpPr>
          <p:cNvPr id="934" name="Google Shape;934;p17"/>
          <p:cNvGrpSpPr/>
          <p:nvPr/>
        </p:nvGrpSpPr>
        <p:grpSpPr>
          <a:xfrm>
            <a:off x="7186613" y="3810000"/>
            <a:ext cx="585787" cy="673100"/>
            <a:chOff x="7654" y="3380"/>
            <a:chExt cx="554" cy="754"/>
          </a:xfrm>
        </p:grpSpPr>
        <p:sp>
          <p:nvSpPr>
            <p:cNvPr id="935" name="Google Shape;935;p17"/>
            <p:cNvSpPr/>
            <p:nvPr/>
          </p:nvSpPr>
          <p:spPr>
            <a:xfrm>
              <a:off x="7805" y="3380"/>
              <a:ext cx="253" cy="248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936" name="Google Shape;936;p17"/>
            <p:cNvCxnSpPr/>
            <p:nvPr/>
          </p:nvCxnSpPr>
          <p:spPr>
            <a:xfrm>
              <a:off x="7931" y="3630"/>
              <a:ext cx="1" cy="2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7" name="Google Shape;937;p17"/>
            <p:cNvCxnSpPr/>
            <p:nvPr/>
          </p:nvCxnSpPr>
          <p:spPr>
            <a:xfrm>
              <a:off x="7731" y="3695"/>
              <a:ext cx="401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38" name="Google Shape;938;p17"/>
            <p:cNvSpPr/>
            <p:nvPr/>
          </p:nvSpPr>
          <p:spPr>
            <a:xfrm>
              <a:off x="7654" y="3862"/>
              <a:ext cx="554" cy="272"/>
            </a:xfrm>
            <a:custGeom>
              <a:rect b="b" l="l" r="r" t="t"/>
              <a:pathLst>
                <a:path extrusionOk="0" h="54" w="108">
                  <a:moveTo>
                    <a:pt x="0" y="54"/>
                  </a:moveTo>
                  <a:lnTo>
                    <a:pt x="54" y="0"/>
                  </a:lnTo>
                  <a:lnTo>
                    <a:pt x="108" y="54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sp>
        <p:nvSpPr>
          <p:cNvPr id="939" name="Google Shape;939;p17"/>
          <p:cNvSpPr/>
          <p:nvPr/>
        </p:nvSpPr>
        <p:spPr>
          <a:xfrm>
            <a:off x="4057650" y="3894138"/>
            <a:ext cx="1168400" cy="574675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40" name="Google Shape;940;p17"/>
          <p:cNvSpPr txBox="1"/>
          <p:nvPr/>
        </p:nvSpPr>
        <p:spPr>
          <a:xfrm>
            <a:off x="3149600" y="4451350"/>
            <a:ext cx="29876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Register for Courses</a:t>
            </a:r>
            <a:endParaRPr/>
          </a:p>
        </p:txBody>
      </p:sp>
      <p:cxnSp>
        <p:nvCxnSpPr>
          <p:cNvPr id="941" name="Google Shape;941;p17"/>
          <p:cNvCxnSpPr/>
          <p:nvPr/>
        </p:nvCxnSpPr>
        <p:spPr>
          <a:xfrm>
            <a:off x="2184400" y="4171950"/>
            <a:ext cx="18446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lg" w="lg" type="stealth"/>
          </a:ln>
        </p:spPr>
      </p:cxnSp>
      <p:sp>
        <p:nvSpPr>
          <p:cNvPr id="942" name="Google Shape;942;p17"/>
          <p:cNvSpPr/>
          <p:nvPr/>
        </p:nvSpPr>
        <p:spPr>
          <a:xfrm rot="5400000">
            <a:off x="4419600" y="5000625"/>
            <a:ext cx="482600" cy="533400"/>
          </a:xfrm>
          <a:prstGeom prst="rightArrow">
            <a:avLst>
              <a:gd fmla="val 53574" name="adj1"/>
              <a:gd fmla="val 45926" name="adj2"/>
            </a:avLst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43" name="Google Shape;943;p17"/>
          <p:cNvSpPr/>
          <p:nvPr/>
        </p:nvSpPr>
        <p:spPr>
          <a:xfrm>
            <a:off x="3562350" y="6583353"/>
            <a:ext cx="24288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RegistrationController</a:t>
            </a:r>
            <a:endParaRPr/>
          </a:p>
        </p:txBody>
      </p:sp>
      <p:grpSp>
        <p:nvGrpSpPr>
          <p:cNvPr id="944" name="Google Shape;944;p17"/>
          <p:cNvGrpSpPr/>
          <p:nvPr/>
        </p:nvGrpSpPr>
        <p:grpSpPr>
          <a:xfrm>
            <a:off x="4146550" y="5508625"/>
            <a:ext cx="985838" cy="1039812"/>
            <a:chOff x="2520" y="2705"/>
            <a:chExt cx="621" cy="655"/>
          </a:xfrm>
        </p:grpSpPr>
        <p:sp>
          <p:nvSpPr>
            <p:cNvPr id="945" name="Google Shape;945;p17"/>
            <p:cNvSpPr/>
            <p:nvPr/>
          </p:nvSpPr>
          <p:spPr>
            <a:xfrm>
              <a:off x="2520" y="2770"/>
              <a:ext cx="621" cy="590"/>
            </a:xfrm>
            <a:prstGeom prst="ellipse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946" name="Google Shape;946;p17"/>
            <p:cNvCxnSpPr/>
            <p:nvPr/>
          </p:nvCxnSpPr>
          <p:spPr>
            <a:xfrm flipH="1">
              <a:off x="2756" y="2705"/>
              <a:ext cx="137" cy="60"/>
            </a:xfrm>
            <a:prstGeom prst="straightConnector1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7" name="Google Shape;947;p17"/>
            <p:cNvCxnSpPr/>
            <p:nvPr/>
          </p:nvCxnSpPr>
          <p:spPr>
            <a:xfrm rot="10800000">
              <a:off x="2756" y="2773"/>
              <a:ext cx="137" cy="48"/>
            </a:xfrm>
            <a:prstGeom prst="straightConnector1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948" name="Google Shape;948;p17"/>
          <p:cNvCxnSpPr/>
          <p:nvPr/>
        </p:nvCxnSpPr>
        <p:spPr>
          <a:xfrm>
            <a:off x="5232400" y="4171950"/>
            <a:ext cx="1844675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lg" w="lg" type="stealth"/>
          </a:ln>
        </p:spPr>
      </p:cxnSp>
      <p:grpSp>
        <p:nvGrpSpPr>
          <p:cNvPr id="949" name="Google Shape;949;p17"/>
          <p:cNvGrpSpPr/>
          <p:nvPr/>
        </p:nvGrpSpPr>
        <p:grpSpPr>
          <a:xfrm>
            <a:off x="1470025" y="3898900"/>
            <a:ext cx="587375" cy="673100"/>
            <a:chOff x="7654" y="3380"/>
            <a:chExt cx="554" cy="754"/>
          </a:xfrm>
        </p:grpSpPr>
        <p:sp>
          <p:nvSpPr>
            <p:cNvPr id="950" name="Google Shape;950;p17"/>
            <p:cNvSpPr/>
            <p:nvPr/>
          </p:nvSpPr>
          <p:spPr>
            <a:xfrm>
              <a:off x="7805" y="3380"/>
              <a:ext cx="253" cy="248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951" name="Google Shape;951;p17"/>
            <p:cNvCxnSpPr/>
            <p:nvPr/>
          </p:nvCxnSpPr>
          <p:spPr>
            <a:xfrm>
              <a:off x="7931" y="3630"/>
              <a:ext cx="1" cy="2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2" name="Google Shape;952;p17"/>
            <p:cNvCxnSpPr/>
            <p:nvPr/>
          </p:nvCxnSpPr>
          <p:spPr>
            <a:xfrm>
              <a:off x="7731" y="3695"/>
              <a:ext cx="401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53" name="Google Shape;953;p17"/>
            <p:cNvSpPr/>
            <p:nvPr/>
          </p:nvSpPr>
          <p:spPr>
            <a:xfrm>
              <a:off x="7654" y="3862"/>
              <a:ext cx="554" cy="272"/>
            </a:xfrm>
            <a:custGeom>
              <a:rect b="b" l="l" r="r" t="t"/>
              <a:pathLst>
                <a:path extrusionOk="0" h="54" w="108">
                  <a:moveTo>
                    <a:pt x="0" y="54"/>
                  </a:moveTo>
                  <a:lnTo>
                    <a:pt x="54" y="0"/>
                  </a:lnTo>
                  <a:lnTo>
                    <a:pt x="108" y="54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sp>
        <p:nvSpPr>
          <p:cNvPr id="954" name="Google Shape;954;p17"/>
          <p:cNvSpPr txBox="1"/>
          <p:nvPr/>
        </p:nvSpPr>
        <p:spPr>
          <a:xfrm>
            <a:off x="6248400" y="4495800"/>
            <a:ext cx="2616200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Course Catalog </a:t>
            </a:r>
            <a:endParaRPr/>
          </a:p>
          <a:p>
            <a:pPr indent="0" lvl="0" marL="0" marR="0" rtl="0" algn="ctr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System</a:t>
            </a:r>
            <a:endParaRPr/>
          </a:p>
        </p:txBody>
      </p:sp>
      <p:sp>
        <p:nvSpPr>
          <p:cNvPr id="955" name="Google Shape;955;p17"/>
          <p:cNvSpPr txBox="1"/>
          <p:nvPr/>
        </p:nvSpPr>
        <p:spPr>
          <a:xfrm>
            <a:off x="685800" y="4572000"/>
            <a:ext cx="2209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Student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18"/>
          <p:cNvSpPr txBox="1"/>
          <p:nvPr>
            <p:ph type="title"/>
          </p:nvPr>
        </p:nvSpPr>
        <p:spPr>
          <a:xfrm>
            <a:off x="457200" y="704088"/>
            <a:ext cx="82296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Đặc điểm các hành vi của lớp điều khiển</a:t>
            </a:r>
            <a:endParaRPr sz="3600"/>
          </a:p>
        </p:txBody>
      </p:sp>
      <p:sp>
        <p:nvSpPr>
          <p:cNvPr id="961" name="Google Shape;961;p18"/>
          <p:cNvSpPr txBox="1"/>
          <p:nvPr>
            <p:ph idx="1" type="body"/>
          </p:nvPr>
        </p:nvSpPr>
        <p:spPr>
          <a:xfrm>
            <a:off x="457200" y="14478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Hành vi thường độc lập với bên ngoài (môi trường hệ thống)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Hành vi xác định logic điều khiển và tổ chức các giao dịch trong ca sử dụng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Hành vi ít bị thay đổi khi cấu trúc và hành vi bên trong lớp thực thể thay đổi.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Hành vi sử dụng hay thiết lập nội dung của các lớp thực thể.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Hành vi thường không là duy nhất, tùy theo từng tình huống, kịch bản ca sử dụng.</a:t>
            </a:r>
            <a:endParaRPr/>
          </a:p>
        </p:txBody>
      </p:sp>
      <p:sp>
        <p:nvSpPr>
          <p:cNvPr id="962" name="Google Shape;962;p1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8" name="Google Shape;968;p19"/>
          <p:cNvSpPr txBox="1"/>
          <p:nvPr>
            <p:ph type="title"/>
          </p:nvPr>
        </p:nvSpPr>
        <p:spPr>
          <a:xfrm>
            <a:off x="457200" y="704088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Ví dụ: Tóm tắt: Các lớp phân tích</a:t>
            </a:r>
            <a:endParaRPr sz="4500"/>
          </a:p>
        </p:txBody>
      </p:sp>
      <p:cxnSp>
        <p:nvCxnSpPr>
          <p:cNvPr id="969" name="Google Shape;969;p19"/>
          <p:cNvCxnSpPr/>
          <p:nvPr/>
        </p:nvCxnSpPr>
        <p:spPr>
          <a:xfrm>
            <a:off x="2281238" y="2024062"/>
            <a:ext cx="166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grpSp>
        <p:nvGrpSpPr>
          <p:cNvPr id="970" name="Google Shape;970;p19"/>
          <p:cNvGrpSpPr/>
          <p:nvPr/>
        </p:nvGrpSpPr>
        <p:grpSpPr>
          <a:xfrm>
            <a:off x="1435100" y="1676400"/>
            <a:ext cx="1011238" cy="1076325"/>
            <a:chOff x="864" y="672"/>
            <a:chExt cx="672" cy="801"/>
          </a:xfrm>
        </p:grpSpPr>
        <p:grpSp>
          <p:nvGrpSpPr>
            <p:cNvPr id="971" name="Google Shape;971;p19"/>
            <p:cNvGrpSpPr/>
            <p:nvPr/>
          </p:nvGrpSpPr>
          <p:grpSpPr>
            <a:xfrm>
              <a:off x="1032" y="672"/>
              <a:ext cx="336" cy="480"/>
              <a:chOff x="7654" y="3380"/>
              <a:chExt cx="554" cy="754"/>
            </a:xfrm>
          </p:grpSpPr>
          <p:sp>
            <p:nvSpPr>
              <p:cNvPr id="972" name="Google Shape;972;p19"/>
              <p:cNvSpPr/>
              <p:nvPr/>
            </p:nvSpPr>
            <p:spPr>
              <a:xfrm>
                <a:off x="7805" y="3380"/>
                <a:ext cx="253" cy="248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973" name="Google Shape;973;p19"/>
              <p:cNvCxnSpPr/>
              <p:nvPr/>
            </p:nvCxnSpPr>
            <p:spPr>
              <a:xfrm>
                <a:off x="7931" y="3630"/>
                <a:ext cx="1" cy="23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74" name="Google Shape;974;p19"/>
              <p:cNvCxnSpPr/>
              <p:nvPr/>
            </p:nvCxnSpPr>
            <p:spPr>
              <a:xfrm>
                <a:off x="7731" y="3695"/>
                <a:ext cx="401" cy="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75" name="Google Shape;975;p19"/>
              <p:cNvSpPr/>
              <p:nvPr/>
            </p:nvSpPr>
            <p:spPr>
              <a:xfrm>
                <a:off x="7654" y="3862"/>
                <a:ext cx="554" cy="272"/>
              </a:xfrm>
              <a:custGeom>
                <a:rect b="b" l="l" r="r" t="t"/>
                <a:pathLst>
                  <a:path extrusionOk="0" h="54" w="108">
                    <a:moveTo>
                      <a:pt x="0" y="54"/>
                    </a:moveTo>
                    <a:lnTo>
                      <a:pt x="54" y="0"/>
                    </a:lnTo>
                    <a:lnTo>
                      <a:pt x="108" y="54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sp>
          <p:nvSpPr>
            <p:cNvPr id="976" name="Google Shape;976;p19"/>
            <p:cNvSpPr txBox="1"/>
            <p:nvPr/>
          </p:nvSpPr>
          <p:spPr>
            <a:xfrm>
              <a:off x="864" y="1200"/>
              <a:ext cx="672" cy="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Student</a:t>
              </a: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>
            <a:off x="6710363" y="1689100"/>
            <a:ext cx="506412" cy="646112"/>
            <a:chOff x="7654" y="3380"/>
            <a:chExt cx="554" cy="754"/>
          </a:xfrm>
        </p:grpSpPr>
        <p:sp>
          <p:nvSpPr>
            <p:cNvPr id="978" name="Google Shape;978;p19"/>
            <p:cNvSpPr/>
            <p:nvPr/>
          </p:nvSpPr>
          <p:spPr>
            <a:xfrm>
              <a:off x="7805" y="3380"/>
              <a:ext cx="253" cy="248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979" name="Google Shape;979;p19"/>
            <p:cNvCxnSpPr/>
            <p:nvPr/>
          </p:nvCxnSpPr>
          <p:spPr>
            <a:xfrm>
              <a:off x="7931" y="3630"/>
              <a:ext cx="1" cy="23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0" name="Google Shape;980;p19"/>
            <p:cNvCxnSpPr/>
            <p:nvPr/>
          </p:nvCxnSpPr>
          <p:spPr>
            <a:xfrm>
              <a:off x="7731" y="3695"/>
              <a:ext cx="401" cy="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81" name="Google Shape;981;p19"/>
            <p:cNvSpPr/>
            <p:nvPr/>
          </p:nvSpPr>
          <p:spPr>
            <a:xfrm>
              <a:off x="7654" y="3862"/>
              <a:ext cx="554" cy="272"/>
            </a:xfrm>
            <a:custGeom>
              <a:rect b="b" l="l" r="r" t="t"/>
              <a:pathLst>
                <a:path extrusionOk="0" h="54" w="108">
                  <a:moveTo>
                    <a:pt x="0" y="54"/>
                  </a:moveTo>
                  <a:lnTo>
                    <a:pt x="54" y="0"/>
                  </a:lnTo>
                  <a:lnTo>
                    <a:pt x="108" y="54"/>
                  </a:ln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sp>
        <p:nvSpPr>
          <p:cNvPr id="982" name="Google Shape;982;p19"/>
          <p:cNvSpPr txBox="1"/>
          <p:nvPr/>
        </p:nvSpPr>
        <p:spPr>
          <a:xfrm>
            <a:off x="6045200" y="2332037"/>
            <a:ext cx="1862138" cy="64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Course Catalog </a:t>
            </a:r>
            <a:endParaRPr/>
          </a:p>
          <a:p>
            <a:pPr indent="0" lvl="0" marL="0" marR="0" rtl="0" algn="ctr">
              <a:lnSpc>
                <a:spcPct val="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System</a:t>
            </a:r>
            <a:endParaRPr/>
          </a:p>
        </p:txBody>
      </p:sp>
      <p:grpSp>
        <p:nvGrpSpPr>
          <p:cNvPr id="983" name="Google Shape;983;p19"/>
          <p:cNvGrpSpPr/>
          <p:nvPr/>
        </p:nvGrpSpPr>
        <p:grpSpPr>
          <a:xfrm>
            <a:off x="3175000" y="1804987"/>
            <a:ext cx="2601913" cy="895350"/>
            <a:chOff x="1776" y="806"/>
            <a:chExt cx="1728" cy="666"/>
          </a:xfrm>
        </p:grpSpPr>
        <p:sp>
          <p:nvSpPr>
            <p:cNvPr id="984" name="Google Shape;984;p19"/>
            <p:cNvSpPr/>
            <p:nvPr/>
          </p:nvSpPr>
          <p:spPr>
            <a:xfrm>
              <a:off x="2311" y="806"/>
              <a:ext cx="658" cy="346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985" name="Google Shape;985;p19"/>
            <p:cNvSpPr txBox="1"/>
            <p:nvPr/>
          </p:nvSpPr>
          <p:spPr>
            <a:xfrm>
              <a:off x="1776" y="1199"/>
              <a:ext cx="1728" cy="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Register for Courses</a:t>
              </a:r>
              <a:endParaRPr/>
            </a:p>
          </p:txBody>
        </p:sp>
      </p:grpSp>
      <p:cxnSp>
        <p:nvCxnSpPr>
          <p:cNvPr id="986" name="Google Shape;986;p19"/>
          <p:cNvCxnSpPr/>
          <p:nvPr/>
        </p:nvCxnSpPr>
        <p:spPr>
          <a:xfrm>
            <a:off x="4973638" y="2024062"/>
            <a:ext cx="16637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7" name="Google Shape;987;p19"/>
          <p:cNvCxnSpPr/>
          <p:nvPr/>
        </p:nvCxnSpPr>
        <p:spPr>
          <a:xfrm>
            <a:off x="0" y="3352800"/>
            <a:ext cx="9144000" cy="0"/>
          </a:xfrm>
          <a:prstGeom prst="straightConnector1">
            <a:avLst/>
          </a:prstGeom>
          <a:noFill/>
          <a:ln cap="flat" cmpd="sng" w="28575">
            <a:solidFill>
              <a:schemeClr val="hlink"/>
            </a:solidFill>
            <a:prstDash val="dashDot"/>
            <a:round/>
            <a:headEnd len="sm" w="sm" type="none"/>
            <a:tailEnd len="sm" w="sm" type="none"/>
          </a:ln>
        </p:spPr>
      </p:cxnSp>
      <p:sp>
        <p:nvSpPr>
          <p:cNvPr id="988" name="Google Shape;988;p19"/>
          <p:cNvSpPr txBox="1"/>
          <p:nvPr/>
        </p:nvSpPr>
        <p:spPr>
          <a:xfrm>
            <a:off x="381000" y="2819400"/>
            <a:ext cx="296071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Mô hình ca sử dụng</a:t>
            </a:r>
            <a:endParaRPr b="1" sz="2000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89" name="Google Shape;989;p19"/>
          <p:cNvSpPr txBox="1"/>
          <p:nvPr/>
        </p:nvSpPr>
        <p:spPr>
          <a:xfrm>
            <a:off x="381000" y="3505200"/>
            <a:ext cx="25146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Mô hình thiết kế</a:t>
            </a:r>
            <a:endParaRPr b="1" sz="2000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90" name="Google Shape;990;p19"/>
          <p:cNvSpPr/>
          <p:nvPr/>
        </p:nvSpPr>
        <p:spPr>
          <a:xfrm>
            <a:off x="4225925" y="3937000"/>
            <a:ext cx="771525" cy="773113"/>
          </a:xfrm>
          <a:prstGeom prst="ellipse">
            <a:avLst/>
          </a:prstGeom>
          <a:noFill/>
          <a:ln cap="flat" cmpd="sng" w="381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991" name="Google Shape;991;p19"/>
          <p:cNvCxnSpPr/>
          <p:nvPr/>
        </p:nvCxnSpPr>
        <p:spPr>
          <a:xfrm>
            <a:off x="3854450" y="4125913"/>
            <a:ext cx="3175" cy="393700"/>
          </a:xfrm>
          <a:prstGeom prst="straightConnector1">
            <a:avLst/>
          </a:prstGeom>
          <a:noFill/>
          <a:ln cap="flat" cmpd="sng" w="38100">
            <a:solidFill>
              <a:srgbClr val="00CC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2" name="Google Shape;992;p19"/>
          <p:cNvCxnSpPr/>
          <p:nvPr/>
        </p:nvCxnSpPr>
        <p:spPr>
          <a:xfrm>
            <a:off x="3870325" y="4314825"/>
            <a:ext cx="355600" cy="3175"/>
          </a:xfrm>
          <a:prstGeom prst="straightConnector1">
            <a:avLst/>
          </a:prstGeom>
          <a:noFill/>
          <a:ln cap="flat" cmpd="sng" w="38100">
            <a:solidFill>
              <a:srgbClr val="00CC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3" name="Google Shape;993;p19"/>
          <p:cNvSpPr/>
          <p:nvPr/>
        </p:nvSpPr>
        <p:spPr>
          <a:xfrm>
            <a:off x="609600" y="4787900"/>
            <a:ext cx="2459038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RegisterForCoursesForm</a:t>
            </a:r>
            <a:endParaRPr/>
          </a:p>
        </p:txBody>
      </p:sp>
      <p:sp>
        <p:nvSpPr>
          <p:cNvPr id="994" name="Google Shape;994;p19"/>
          <p:cNvSpPr/>
          <p:nvPr/>
        </p:nvSpPr>
        <p:spPr>
          <a:xfrm>
            <a:off x="1660525" y="4011613"/>
            <a:ext cx="779463" cy="755650"/>
          </a:xfrm>
          <a:prstGeom prst="ellipse">
            <a:avLst/>
          </a:prstGeom>
          <a:noFill/>
          <a:ln cap="flat" cmpd="sng" w="38100">
            <a:solidFill>
              <a:srgbClr val="00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995" name="Google Shape;995;p19"/>
          <p:cNvCxnSpPr/>
          <p:nvPr/>
        </p:nvCxnSpPr>
        <p:spPr>
          <a:xfrm>
            <a:off x="1277938" y="4197350"/>
            <a:ext cx="3175" cy="384175"/>
          </a:xfrm>
          <a:prstGeom prst="straightConnector1">
            <a:avLst/>
          </a:prstGeom>
          <a:noFill/>
          <a:ln cap="flat" cmpd="sng" w="38100">
            <a:solidFill>
              <a:srgbClr val="00CC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96" name="Google Shape;996;p19"/>
          <p:cNvCxnSpPr/>
          <p:nvPr/>
        </p:nvCxnSpPr>
        <p:spPr>
          <a:xfrm>
            <a:off x="1277938" y="4381500"/>
            <a:ext cx="382587" cy="3175"/>
          </a:xfrm>
          <a:prstGeom prst="straightConnector1">
            <a:avLst/>
          </a:prstGeom>
          <a:noFill/>
          <a:ln cap="flat" cmpd="sng" w="38100">
            <a:solidFill>
              <a:srgbClr val="00CC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7" name="Google Shape;997;p19"/>
          <p:cNvSpPr/>
          <p:nvPr/>
        </p:nvSpPr>
        <p:spPr>
          <a:xfrm>
            <a:off x="3367088" y="4770438"/>
            <a:ext cx="21653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CourseCatalogSystem</a:t>
            </a:r>
            <a:endParaRPr/>
          </a:p>
        </p:txBody>
      </p:sp>
      <p:sp>
        <p:nvSpPr>
          <p:cNvPr id="998" name="Google Shape;998;p19"/>
          <p:cNvSpPr/>
          <p:nvPr/>
        </p:nvSpPr>
        <p:spPr>
          <a:xfrm>
            <a:off x="5865829" y="4784725"/>
            <a:ext cx="10113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Student</a:t>
            </a:r>
            <a:endParaRPr/>
          </a:p>
        </p:txBody>
      </p:sp>
      <p:sp>
        <p:nvSpPr>
          <p:cNvPr id="999" name="Google Shape;999;p19"/>
          <p:cNvSpPr/>
          <p:nvPr/>
        </p:nvSpPr>
        <p:spPr>
          <a:xfrm>
            <a:off x="7099300" y="4784725"/>
            <a:ext cx="90170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Schedule</a:t>
            </a:r>
            <a:endParaRPr/>
          </a:p>
        </p:txBody>
      </p:sp>
      <p:sp>
        <p:nvSpPr>
          <p:cNvPr id="1000" name="Google Shape;1000;p19"/>
          <p:cNvSpPr/>
          <p:nvPr/>
        </p:nvSpPr>
        <p:spPr>
          <a:xfrm>
            <a:off x="2546350" y="6308725"/>
            <a:ext cx="1490663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CourseOffering</a:t>
            </a:r>
            <a:endParaRPr/>
          </a:p>
        </p:txBody>
      </p:sp>
      <p:sp>
        <p:nvSpPr>
          <p:cNvPr id="1001" name="Google Shape;1001;p19"/>
          <p:cNvSpPr/>
          <p:nvPr/>
        </p:nvSpPr>
        <p:spPr>
          <a:xfrm>
            <a:off x="4470400" y="6324600"/>
            <a:ext cx="2514600" cy="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RegistrationController</a:t>
            </a:r>
            <a:endParaRPr/>
          </a:p>
        </p:txBody>
      </p:sp>
      <p:grpSp>
        <p:nvGrpSpPr>
          <p:cNvPr id="1002" name="Google Shape;1002;p19"/>
          <p:cNvGrpSpPr/>
          <p:nvPr/>
        </p:nvGrpSpPr>
        <p:grpSpPr>
          <a:xfrm>
            <a:off x="5864225" y="3960813"/>
            <a:ext cx="779463" cy="758825"/>
            <a:chOff x="3678" y="2303"/>
            <a:chExt cx="491" cy="478"/>
          </a:xfrm>
        </p:grpSpPr>
        <p:cxnSp>
          <p:nvCxnSpPr>
            <p:cNvPr id="1003" name="Google Shape;1003;p19"/>
            <p:cNvCxnSpPr/>
            <p:nvPr/>
          </p:nvCxnSpPr>
          <p:spPr>
            <a:xfrm>
              <a:off x="3703" y="2780"/>
              <a:ext cx="457" cy="1"/>
            </a:xfrm>
            <a:prstGeom prst="straightConnector1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4" name="Google Shape;1004;p19"/>
            <p:cNvSpPr/>
            <p:nvPr/>
          </p:nvSpPr>
          <p:spPr>
            <a:xfrm>
              <a:off x="3678" y="2303"/>
              <a:ext cx="491" cy="476"/>
            </a:xfrm>
            <a:prstGeom prst="ellipse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grpSp>
        <p:nvGrpSpPr>
          <p:cNvPr id="1005" name="Google Shape;1005;p19"/>
          <p:cNvGrpSpPr/>
          <p:nvPr/>
        </p:nvGrpSpPr>
        <p:grpSpPr>
          <a:xfrm>
            <a:off x="5140325" y="5369736"/>
            <a:ext cx="779463" cy="845327"/>
            <a:chOff x="3086" y="3191"/>
            <a:chExt cx="491" cy="532"/>
          </a:xfrm>
        </p:grpSpPr>
        <p:cxnSp>
          <p:nvCxnSpPr>
            <p:cNvPr id="1006" name="Google Shape;1006;p19"/>
            <p:cNvCxnSpPr/>
            <p:nvPr/>
          </p:nvCxnSpPr>
          <p:spPr>
            <a:xfrm flipH="1" rot="-611136">
              <a:off x="3258" y="3201"/>
              <a:ext cx="123" cy="49"/>
            </a:xfrm>
            <a:prstGeom prst="straightConnector1">
              <a:avLst/>
            </a:prstGeom>
            <a:noFill/>
            <a:ln cap="flat" cmpd="sng" w="38100">
              <a:solidFill>
                <a:srgbClr val="33CC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07" name="Google Shape;1007;p19"/>
            <p:cNvCxnSpPr/>
            <p:nvPr/>
          </p:nvCxnSpPr>
          <p:spPr>
            <a:xfrm rot="10183897">
              <a:off x="3264" y="3244"/>
              <a:ext cx="113" cy="65"/>
            </a:xfrm>
            <a:prstGeom prst="straightConnector1">
              <a:avLst/>
            </a:prstGeom>
            <a:noFill/>
            <a:ln cap="flat" cmpd="sng" w="38100">
              <a:solidFill>
                <a:srgbClr val="33CC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08" name="Google Shape;1008;p19"/>
            <p:cNvSpPr/>
            <p:nvPr/>
          </p:nvSpPr>
          <p:spPr>
            <a:xfrm>
              <a:off x="3086" y="3247"/>
              <a:ext cx="491" cy="476"/>
            </a:xfrm>
            <a:prstGeom prst="ellipse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grpSp>
        <p:nvGrpSpPr>
          <p:cNvPr id="1009" name="Google Shape;1009;p19"/>
          <p:cNvGrpSpPr/>
          <p:nvPr/>
        </p:nvGrpSpPr>
        <p:grpSpPr>
          <a:xfrm>
            <a:off x="7172325" y="3960813"/>
            <a:ext cx="779463" cy="758825"/>
            <a:chOff x="3678" y="2303"/>
            <a:chExt cx="491" cy="478"/>
          </a:xfrm>
        </p:grpSpPr>
        <p:cxnSp>
          <p:nvCxnSpPr>
            <p:cNvPr id="1010" name="Google Shape;1010;p19"/>
            <p:cNvCxnSpPr/>
            <p:nvPr/>
          </p:nvCxnSpPr>
          <p:spPr>
            <a:xfrm>
              <a:off x="3703" y="2780"/>
              <a:ext cx="457" cy="1"/>
            </a:xfrm>
            <a:prstGeom prst="straightConnector1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1" name="Google Shape;1011;p19"/>
            <p:cNvSpPr/>
            <p:nvPr/>
          </p:nvSpPr>
          <p:spPr>
            <a:xfrm>
              <a:off x="3678" y="2303"/>
              <a:ext cx="491" cy="476"/>
            </a:xfrm>
            <a:prstGeom prst="ellipse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grpSp>
        <p:nvGrpSpPr>
          <p:cNvPr id="1012" name="Google Shape;1012;p19"/>
          <p:cNvGrpSpPr/>
          <p:nvPr/>
        </p:nvGrpSpPr>
        <p:grpSpPr>
          <a:xfrm>
            <a:off x="2943225" y="5459413"/>
            <a:ext cx="779463" cy="758825"/>
            <a:chOff x="3678" y="2303"/>
            <a:chExt cx="491" cy="478"/>
          </a:xfrm>
        </p:grpSpPr>
        <p:cxnSp>
          <p:nvCxnSpPr>
            <p:cNvPr id="1013" name="Google Shape;1013;p19"/>
            <p:cNvCxnSpPr/>
            <p:nvPr/>
          </p:nvCxnSpPr>
          <p:spPr>
            <a:xfrm>
              <a:off x="3703" y="2780"/>
              <a:ext cx="457" cy="1"/>
            </a:xfrm>
            <a:prstGeom prst="straightConnector1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14" name="Google Shape;1014;p19"/>
            <p:cNvSpPr/>
            <p:nvPr/>
          </p:nvSpPr>
          <p:spPr>
            <a:xfrm>
              <a:off x="3678" y="2303"/>
              <a:ext cx="491" cy="476"/>
            </a:xfrm>
            <a:prstGeom prst="ellipse">
              <a:avLst/>
            </a:prstGeom>
            <a:noFill/>
            <a:ln cap="flat" cmpd="sng" w="38100">
              <a:solidFill>
                <a:srgbClr val="00CC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2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Phân phối hành vi của ca sử dụng vào các lớp phân tích</a:t>
            </a:r>
            <a:endParaRPr sz="3600"/>
          </a:p>
        </p:txBody>
      </p:sp>
      <p:sp>
        <p:nvSpPr>
          <p:cNvPr id="1020" name="Google Shape;1020;p2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1" name="Google Shape;1021;p20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Với mỗi luồng sự kiện của ca sử dụng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Xác định các lớp phân tích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Phân phối trách nhiệm ca sử dụng cho các lớp phân tích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Mô hình tương tác của các lớp phân tích trong các lược đồ tương tác</a:t>
            </a:r>
            <a:endParaRPr/>
          </a:p>
        </p:txBody>
      </p:sp>
      <p:grpSp>
        <p:nvGrpSpPr>
          <p:cNvPr id="1022" name="Google Shape;1022;p20"/>
          <p:cNvGrpSpPr/>
          <p:nvPr/>
        </p:nvGrpSpPr>
        <p:grpSpPr>
          <a:xfrm>
            <a:off x="3430587" y="4599293"/>
            <a:ext cx="2506663" cy="1552825"/>
            <a:chOff x="2376" y="1979"/>
            <a:chExt cx="1429" cy="885"/>
          </a:xfrm>
        </p:grpSpPr>
        <p:sp>
          <p:nvSpPr>
            <p:cNvPr id="1023" name="Google Shape;1023;p20"/>
            <p:cNvSpPr txBox="1"/>
            <p:nvPr/>
          </p:nvSpPr>
          <p:spPr>
            <a:xfrm>
              <a:off x="2376" y="2655"/>
              <a:ext cx="1429" cy="2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Lược đồ tuần tự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1024" name="Google Shape;1024;p20"/>
            <p:cNvGrpSpPr/>
            <p:nvPr/>
          </p:nvGrpSpPr>
          <p:grpSpPr>
            <a:xfrm>
              <a:off x="2423" y="1979"/>
              <a:ext cx="1287" cy="736"/>
              <a:chOff x="2809" y="2606"/>
              <a:chExt cx="2538" cy="1437"/>
            </a:xfrm>
          </p:grpSpPr>
          <p:grpSp>
            <p:nvGrpSpPr>
              <p:cNvPr id="1025" name="Google Shape;1025;p20"/>
              <p:cNvGrpSpPr/>
              <p:nvPr/>
            </p:nvGrpSpPr>
            <p:grpSpPr>
              <a:xfrm>
                <a:off x="2809" y="2606"/>
                <a:ext cx="239" cy="319"/>
                <a:chOff x="7654" y="3380"/>
                <a:chExt cx="554" cy="754"/>
              </a:xfrm>
            </p:grpSpPr>
            <p:sp>
              <p:nvSpPr>
                <p:cNvPr id="1026" name="Google Shape;1026;p20"/>
                <p:cNvSpPr/>
                <p:nvPr/>
              </p:nvSpPr>
              <p:spPr>
                <a:xfrm>
                  <a:off x="7805" y="3380"/>
                  <a:ext cx="253" cy="248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027" name="Google Shape;1027;p20"/>
                <p:cNvCxnSpPr/>
                <p:nvPr/>
              </p:nvCxnSpPr>
              <p:spPr>
                <a:xfrm>
                  <a:off x="7931" y="3630"/>
                  <a:ext cx="1" cy="23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28" name="Google Shape;1028;p20"/>
                <p:cNvCxnSpPr/>
                <p:nvPr/>
              </p:nvCxnSpPr>
              <p:spPr>
                <a:xfrm>
                  <a:off x="7731" y="3695"/>
                  <a:ext cx="401" cy="1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029" name="Google Shape;1029;p20"/>
                <p:cNvSpPr/>
                <p:nvPr/>
              </p:nvSpPr>
              <p:spPr>
                <a:xfrm>
                  <a:off x="7654" y="3862"/>
                  <a:ext cx="554" cy="272"/>
                </a:xfrm>
                <a:custGeom>
                  <a:rect b="b" l="l" r="r" t="t"/>
                  <a:pathLst>
                    <a:path extrusionOk="0" h="54" w="108">
                      <a:moveTo>
                        <a:pt x="0" y="54"/>
                      </a:moveTo>
                      <a:lnTo>
                        <a:pt x="54" y="0"/>
                      </a:lnTo>
                      <a:lnTo>
                        <a:pt x="108" y="54"/>
                      </a:lnTo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cxnSp>
            <p:nvCxnSpPr>
              <p:cNvPr id="1030" name="Google Shape;1030;p20"/>
              <p:cNvCxnSpPr/>
              <p:nvPr/>
            </p:nvCxnSpPr>
            <p:spPr>
              <a:xfrm>
                <a:off x="2903" y="3109"/>
                <a:ext cx="60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31" name="Google Shape;1031;p20"/>
              <p:cNvCxnSpPr/>
              <p:nvPr/>
            </p:nvCxnSpPr>
            <p:spPr>
              <a:xfrm>
                <a:off x="4119" y="3513"/>
                <a:ext cx="471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32" name="Google Shape;1032;p20"/>
              <p:cNvCxnSpPr/>
              <p:nvPr/>
            </p:nvCxnSpPr>
            <p:spPr>
              <a:xfrm>
                <a:off x="3544" y="3301"/>
                <a:ext cx="50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stealth"/>
              </a:ln>
            </p:spPr>
          </p:cxnSp>
          <p:cxnSp>
            <p:nvCxnSpPr>
              <p:cNvPr id="1033" name="Google Shape;1033;p20"/>
              <p:cNvCxnSpPr/>
              <p:nvPr/>
            </p:nvCxnSpPr>
            <p:spPr>
              <a:xfrm>
                <a:off x="2908" y="3869"/>
                <a:ext cx="0" cy="17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4" name="Google Shape;1034;p20"/>
              <p:cNvCxnSpPr/>
              <p:nvPr/>
            </p:nvCxnSpPr>
            <p:spPr>
              <a:xfrm>
                <a:off x="3511" y="3008"/>
                <a:ext cx="0" cy="11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5" name="Google Shape;1035;p20"/>
              <p:cNvCxnSpPr/>
              <p:nvPr/>
            </p:nvCxnSpPr>
            <p:spPr>
              <a:xfrm>
                <a:off x="4066" y="3008"/>
                <a:ext cx="0" cy="299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6" name="Google Shape;1036;p20"/>
              <p:cNvCxnSpPr/>
              <p:nvPr/>
            </p:nvCxnSpPr>
            <p:spPr>
              <a:xfrm>
                <a:off x="4611" y="3664"/>
                <a:ext cx="0" cy="37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7" name="Google Shape;1037;p20"/>
              <p:cNvCxnSpPr/>
              <p:nvPr/>
            </p:nvCxnSpPr>
            <p:spPr>
              <a:xfrm>
                <a:off x="5116" y="3008"/>
                <a:ext cx="0" cy="103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sp>
            <p:nvSpPr>
              <p:cNvPr id="1038" name="Google Shape;1038;p20"/>
              <p:cNvSpPr/>
              <p:nvPr/>
            </p:nvSpPr>
            <p:spPr>
              <a:xfrm rot="-5400000">
                <a:off x="2534" y="3446"/>
                <a:ext cx="747" cy="7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039" name="Google Shape;1039;p20"/>
              <p:cNvCxnSpPr/>
              <p:nvPr/>
            </p:nvCxnSpPr>
            <p:spPr>
              <a:xfrm>
                <a:off x="2908" y="3005"/>
                <a:ext cx="0" cy="11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sp>
            <p:nvSpPr>
              <p:cNvPr id="1040" name="Google Shape;1040;p20"/>
              <p:cNvSpPr/>
              <p:nvPr/>
            </p:nvSpPr>
            <p:spPr>
              <a:xfrm rot="-5400000">
                <a:off x="3209" y="3381"/>
                <a:ext cx="600" cy="78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041" name="Google Shape;1041;p20"/>
              <p:cNvCxnSpPr/>
              <p:nvPr/>
            </p:nvCxnSpPr>
            <p:spPr>
              <a:xfrm>
                <a:off x="3511" y="3731"/>
                <a:ext cx="0" cy="309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sp>
            <p:nvSpPr>
              <p:cNvPr id="1042" name="Google Shape;1042;p20"/>
              <p:cNvSpPr/>
              <p:nvPr/>
            </p:nvSpPr>
            <p:spPr>
              <a:xfrm rot="-5400000">
                <a:off x="3898" y="3438"/>
                <a:ext cx="334" cy="78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043" name="Google Shape;1043;p20"/>
              <p:cNvCxnSpPr/>
              <p:nvPr/>
            </p:nvCxnSpPr>
            <p:spPr>
              <a:xfrm>
                <a:off x="4064" y="3644"/>
                <a:ext cx="2" cy="39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sp>
            <p:nvSpPr>
              <p:cNvPr id="1044" name="Google Shape;1044;p20"/>
              <p:cNvSpPr/>
              <p:nvPr/>
            </p:nvSpPr>
            <p:spPr>
              <a:xfrm rot="-5400000">
                <a:off x="4544" y="3551"/>
                <a:ext cx="126" cy="71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045" name="Google Shape;1045;p20"/>
              <p:cNvCxnSpPr/>
              <p:nvPr/>
            </p:nvCxnSpPr>
            <p:spPr>
              <a:xfrm>
                <a:off x="4611" y="3007"/>
                <a:ext cx="0" cy="51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sp>
            <p:nvSpPr>
              <p:cNvPr id="1046" name="Google Shape;1046;p20"/>
              <p:cNvSpPr/>
              <p:nvPr/>
            </p:nvSpPr>
            <p:spPr>
              <a:xfrm>
                <a:off x="3815" y="2722"/>
                <a:ext cx="431" cy="244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1047" name="Google Shape;1047;p20"/>
              <p:cNvSpPr/>
              <p:nvPr/>
            </p:nvSpPr>
            <p:spPr>
              <a:xfrm>
                <a:off x="4916" y="2722"/>
                <a:ext cx="431" cy="244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1048" name="Google Shape;1048;p20"/>
              <p:cNvSpPr/>
              <p:nvPr/>
            </p:nvSpPr>
            <p:spPr>
              <a:xfrm>
                <a:off x="4307" y="2722"/>
                <a:ext cx="548" cy="244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1049" name="Google Shape;1049;p20"/>
              <p:cNvSpPr/>
              <p:nvPr/>
            </p:nvSpPr>
            <p:spPr>
              <a:xfrm>
                <a:off x="3317" y="2722"/>
                <a:ext cx="431" cy="244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</p:grpSp>
      <p:grpSp>
        <p:nvGrpSpPr>
          <p:cNvPr id="1050" name="Google Shape;1050;p20"/>
          <p:cNvGrpSpPr/>
          <p:nvPr/>
        </p:nvGrpSpPr>
        <p:grpSpPr>
          <a:xfrm>
            <a:off x="681037" y="4266168"/>
            <a:ext cx="1196975" cy="1600200"/>
            <a:chOff x="365" y="2533"/>
            <a:chExt cx="754" cy="1008"/>
          </a:xfrm>
        </p:grpSpPr>
        <p:sp>
          <p:nvSpPr>
            <p:cNvPr id="1051" name="Google Shape;1051;p20"/>
            <p:cNvSpPr/>
            <p:nvPr/>
          </p:nvSpPr>
          <p:spPr>
            <a:xfrm>
              <a:off x="365" y="2533"/>
              <a:ext cx="624" cy="288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687" y="2821"/>
              <a:ext cx="432" cy="72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1053" name="Google Shape;1053;p20"/>
            <p:cNvCxnSpPr/>
            <p:nvPr/>
          </p:nvCxnSpPr>
          <p:spPr>
            <a:xfrm>
              <a:off x="975" y="2821"/>
              <a:ext cx="144" cy="14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4" name="Google Shape;1054;p20"/>
            <p:cNvCxnSpPr/>
            <p:nvPr/>
          </p:nvCxnSpPr>
          <p:spPr>
            <a:xfrm>
              <a:off x="975" y="2821"/>
              <a:ext cx="0" cy="14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5" name="Google Shape;1055;p20"/>
            <p:cNvCxnSpPr/>
            <p:nvPr/>
          </p:nvCxnSpPr>
          <p:spPr>
            <a:xfrm rot="10800000">
              <a:off x="975" y="2965"/>
              <a:ext cx="144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6" name="Google Shape;1056;p20"/>
            <p:cNvCxnSpPr/>
            <p:nvPr/>
          </p:nvCxnSpPr>
          <p:spPr>
            <a:xfrm>
              <a:off x="735" y="3061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7" name="Google Shape;1057;p20"/>
            <p:cNvCxnSpPr/>
            <p:nvPr/>
          </p:nvCxnSpPr>
          <p:spPr>
            <a:xfrm>
              <a:off x="735" y="3109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8" name="Google Shape;1058;p20"/>
            <p:cNvCxnSpPr/>
            <p:nvPr/>
          </p:nvCxnSpPr>
          <p:spPr>
            <a:xfrm>
              <a:off x="735" y="3157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59" name="Google Shape;1059;p20"/>
            <p:cNvCxnSpPr/>
            <p:nvPr/>
          </p:nvCxnSpPr>
          <p:spPr>
            <a:xfrm>
              <a:off x="735" y="3253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0" name="Google Shape;1060;p20"/>
            <p:cNvCxnSpPr/>
            <p:nvPr/>
          </p:nvCxnSpPr>
          <p:spPr>
            <a:xfrm>
              <a:off x="735" y="3205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1" name="Google Shape;1061;p20"/>
            <p:cNvCxnSpPr/>
            <p:nvPr/>
          </p:nvCxnSpPr>
          <p:spPr>
            <a:xfrm>
              <a:off x="735" y="3301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2" name="Google Shape;1062;p20"/>
            <p:cNvCxnSpPr/>
            <p:nvPr/>
          </p:nvCxnSpPr>
          <p:spPr>
            <a:xfrm>
              <a:off x="735" y="3349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3" name="Google Shape;1063;p20"/>
            <p:cNvCxnSpPr/>
            <p:nvPr/>
          </p:nvCxnSpPr>
          <p:spPr>
            <a:xfrm>
              <a:off x="735" y="3397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4" name="Google Shape;1064;p20"/>
            <p:cNvCxnSpPr/>
            <p:nvPr/>
          </p:nvCxnSpPr>
          <p:spPr>
            <a:xfrm>
              <a:off x="735" y="3445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5" name="Google Shape;1065;p20"/>
            <p:cNvCxnSpPr/>
            <p:nvPr/>
          </p:nvCxnSpPr>
          <p:spPr>
            <a:xfrm>
              <a:off x="735" y="3493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6" name="Google Shape;1066;p20"/>
            <p:cNvCxnSpPr/>
            <p:nvPr/>
          </p:nvCxnSpPr>
          <p:spPr>
            <a:xfrm>
              <a:off x="735" y="3013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7" name="Google Shape;1067;p20"/>
            <p:cNvCxnSpPr/>
            <p:nvPr/>
          </p:nvCxnSpPr>
          <p:spPr>
            <a:xfrm>
              <a:off x="735" y="2917"/>
              <a:ext cx="209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8" name="Google Shape;1068;p20"/>
            <p:cNvCxnSpPr/>
            <p:nvPr/>
          </p:nvCxnSpPr>
          <p:spPr>
            <a:xfrm>
              <a:off x="735" y="2869"/>
              <a:ext cx="209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9" name="Google Shape;1069;p20"/>
            <p:cNvCxnSpPr/>
            <p:nvPr/>
          </p:nvCxnSpPr>
          <p:spPr>
            <a:xfrm>
              <a:off x="735" y="2965"/>
              <a:ext cx="209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70" name="Google Shape;1070;p20"/>
          <p:cNvSpPr txBox="1"/>
          <p:nvPr/>
        </p:nvSpPr>
        <p:spPr>
          <a:xfrm>
            <a:off x="681037" y="6260068"/>
            <a:ext cx="182880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Ca sử dụng</a:t>
            </a:r>
            <a:endParaRPr b="1" sz="1800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71" name="Google Shape;1071;p20"/>
          <p:cNvSpPr txBox="1"/>
          <p:nvPr/>
        </p:nvSpPr>
        <p:spPr>
          <a:xfrm>
            <a:off x="4772025" y="6260068"/>
            <a:ext cx="33694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FF"/>
                </a:solidFill>
                <a:latin typeface="Constantia"/>
                <a:ea typeface="Constantia"/>
                <a:cs typeface="Constantia"/>
                <a:sym typeface="Constantia"/>
              </a:rPr>
              <a:t>Hiện thực hóa ca sử dụng</a:t>
            </a:r>
            <a:endParaRPr b="1" sz="1800">
              <a:solidFill>
                <a:srgbClr val="0000FF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072" name="Google Shape;1072;p20"/>
          <p:cNvSpPr/>
          <p:nvPr/>
        </p:nvSpPr>
        <p:spPr>
          <a:xfrm>
            <a:off x="2376487" y="5028168"/>
            <a:ext cx="666750" cy="533400"/>
          </a:xfrm>
          <a:prstGeom prst="rightArrow">
            <a:avLst>
              <a:gd fmla="val 58333" name="adj1"/>
              <a:gd fmla="val 50891" name="adj2"/>
            </a:avLst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grpSp>
        <p:nvGrpSpPr>
          <p:cNvPr id="1073" name="Google Shape;1073;p20"/>
          <p:cNvGrpSpPr/>
          <p:nvPr/>
        </p:nvGrpSpPr>
        <p:grpSpPr>
          <a:xfrm>
            <a:off x="6256337" y="4405868"/>
            <a:ext cx="2582863" cy="1743075"/>
            <a:chOff x="3704" y="2632"/>
            <a:chExt cx="1627" cy="1098"/>
          </a:xfrm>
        </p:grpSpPr>
        <p:grpSp>
          <p:nvGrpSpPr>
            <p:cNvPr id="1074" name="Google Shape;1074;p20"/>
            <p:cNvGrpSpPr/>
            <p:nvPr/>
          </p:nvGrpSpPr>
          <p:grpSpPr>
            <a:xfrm>
              <a:off x="3727" y="2664"/>
              <a:ext cx="145" cy="186"/>
              <a:chOff x="7654" y="3380"/>
              <a:chExt cx="554" cy="754"/>
            </a:xfrm>
          </p:grpSpPr>
          <p:sp>
            <p:nvSpPr>
              <p:cNvPr id="1075" name="Google Shape;1075;p20"/>
              <p:cNvSpPr/>
              <p:nvPr/>
            </p:nvSpPr>
            <p:spPr>
              <a:xfrm>
                <a:off x="7805" y="3380"/>
                <a:ext cx="253" cy="248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076" name="Google Shape;1076;p20"/>
              <p:cNvCxnSpPr/>
              <p:nvPr/>
            </p:nvCxnSpPr>
            <p:spPr>
              <a:xfrm>
                <a:off x="7931" y="3630"/>
                <a:ext cx="1" cy="23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7" name="Google Shape;1077;p20"/>
              <p:cNvCxnSpPr/>
              <p:nvPr/>
            </p:nvCxnSpPr>
            <p:spPr>
              <a:xfrm>
                <a:off x="7731" y="3695"/>
                <a:ext cx="401" cy="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078" name="Google Shape;1078;p20"/>
              <p:cNvSpPr/>
              <p:nvPr/>
            </p:nvSpPr>
            <p:spPr>
              <a:xfrm>
                <a:off x="7654" y="3862"/>
                <a:ext cx="554" cy="272"/>
              </a:xfrm>
              <a:custGeom>
                <a:rect b="b" l="l" r="r" t="t"/>
                <a:pathLst>
                  <a:path extrusionOk="0" h="54" w="108">
                    <a:moveTo>
                      <a:pt x="0" y="54"/>
                    </a:moveTo>
                    <a:lnTo>
                      <a:pt x="54" y="0"/>
                    </a:lnTo>
                    <a:lnTo>
                      <a:pt x="108" y="54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cxnSp>
          <p:nvCxnSpPr>
            <p:cNvPr id="1079" name="Google Shape;1079;p20"/>
            <p:cNvCxnSpPr/>
            <p:nvPr/>
          </p:nvCxnSpPr>
          <p:spPr>
            <a:xfrm>
              <a:off x="3875" y="2953"/>
              <a:ext cx="272" cy="24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0" name="Google Shape;1080;p20"/>
            <p:cNvCxnSpPr/>
            <p:nvPr/>
          </p:nvCxnSpPr>
          <p:spPr>
            <a:xfrm flipH="1" rot="10800000">
              <a:off x="3875" y="2729"/>
              <a:ext cx="409" cy="45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1" name="Google Shape;1081;p20"/>
            <p:cNvCxnSpPr/>
            <p:nvPr/>
          </p:nvCxnSpPr>
          <p:spPr>
            <a:xfrm>
              <a:off x="4240" y="3281"/>
              <a:ext cx="688" cy="13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2" name="Google Shape;1082;p20"/>
            <p:cNvCxnSpPr/>
            <p:nvPr/>
          </p:nvCxnSpPr>
          <p:spPr>
            <a:xfrm flipH="1" rot="10800000">
              <a:off x="4240" y="3072"/>
              <a:ext cx="645" cy="179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3" name="Google Shape;1083;p20"/>
            <p:cNvCxnSpPr/>
            <p:nvPr/>
          </p:nvCxnSpPr>
          <p:spPr>
            <a:xfrm flipH="1" rot="10800000">
              <a:off x="5002" y="2745"/>
              <a:ext cx="117" cy="25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4" name="Google Shape;1084;p20"/>
            <p:cNvCxnSpPr/>
            <p:nvPr/>
          </p:nvCxnSpPr>
          <p:spPr>
            <a:xfrm flipH="1">
              <a:off x="4197" y="2795"/>
              <a:ext cx="215" cy="397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5" name="Google Shape;1085;p20"/>
            <p:cNvCxnSpPr/>
            <p:nvPr/>
          </p:nvCxnSpPr>
          <p:spPr>
            <a:xfrm>
              <a:off x="3856" y="3021"/>
              <a:ext cx="104" cy="89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086" name="Google Shape;1086;p20"/>
            <p:cNvCxnSpPr/>
            <p:nvPr/>
          </p:nvCxnSpPr>
          <p:spPr>
            <a:xfrm flipH="1">
              <a:off x="4227" y="2893"/>
              <a:ext cx="74" cy="14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087" name="Google Shape;1087;p20"/>
            <p:cNvCxnSpPr/>
            <p:nvPr/>
          </p:nvCxnSpPr>
          <p:spPr>
            <a:xfrm flipH="1" rot="10800000">
              <a:off x="4387" y="3100"/>
              <a:ext cx="146" cy="4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088" name="Google Shape;1088;p20"/>
            <p:cNvCxnSpPr/>
            <p:nvPr/>
          </p:nvCxnSpPr>
          <p:spPr>
            <a:xfrm>
              <a:off x="4474" y="3378"/>
              <a:ext cx="147" cy="3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1089" name="Google Shape;1089;p20"/>
            <p:cNvCxnSpPr/>
            <p:nvPr/>
          </p:nvCxnSpPr>
          <p:spPr>
            <a:xfrm flipH="1" rot="10800000">
              <a:off x="5002" y="2804"/>
              <a:ext cx="58" cy="119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090" name="Google Shape;1090;p20"/>
            <p:cNvCxnSpPr/>
            <p:nvPr/>
          </p:nvCxnSpPr>
          <p:spPr>
            <a:xfrm flipH="1" rot="10800000">
              <a:off x="3977" y="2691"/>
              <a:ext cx="132" cy="1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091" name="Google Shape;1091;p20"/>
            <p:cNvSpPr txBox="1"/>
            <p:nvPr/>
          </p:nvSpPr>
          <p:spPr>
            <a:xfrm>
              <a:off x="3704" y="3499"/>
              <a:ext cx="162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Lược đồ cộng tác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092" name="Google Shape;1092;p20"/>
            <p:cNvSpPr/>
            <p:nvPr/>
          </p:nvSpPr>
          <p:spPr>
            <a:xfrm>
              <a:off x="4280" y="2673"/>
              <a:ext cx="177" cy="122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093" name="Google Shape;1093;p20"/>
            <p:cNvSpPr/>
            <p:nvPr/>
          </p:nvSpPr>
          <p:spPr>
            <a:xfrm>
              <a:off x="4058" y="3201"/>
              <a:ext cx="177" cy="122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094" name="Google Shape;1094;p20"/>
            <p:cNvSpPr/>
            <p:nvPr/>
          </p:nvSpPr>
          <p:spPr>
            <a:xfrm>
              <a:off x="4944" y="3364"/>
              <a:ext cx="177" cy="122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095" name="Google Shape;1095;p20"/>
            <p:cNvSpPr/>
            <p:nvPr/>
          </p:nvSpPr>
          <p:spPr>
            <a:xfrm>
              <a:off x="4900" y="2998"/>
              <a:ext cx="177" cy="122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096" name="Google Shape;1096;p20"/>
            <p:cNvSpPr/>
            <p:nvPr/>
          </p:nvSpPr>
          <p:spPr>
            <a:xfrm>
              <a:off x="5032" y="2632"/>
              <a:ext cx="177" cy="122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2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Hướng dẫn: Phân phối các trách nhiệm cho các lớp phân tích</a:t>
            </a:r>
            <a:endParaRPr sz="4000"/>
          </a:p>
        </p:txBody>
      </p:sp>
      <p:sp>
        <p:nvSpPr>
          <p:cNvPr id="1102" name="Google Shape;1102;p2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3" name="Google Shape;1103;p21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Sử dụng các kiểu mở rộng (stereotypes) để định hướng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Lớp biên (Boundary Classes)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Hành vi liên quan tới giao tiếp với tác nhân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Lớp thực thể (Entity Classes)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Hành vi liên quan đến đóng gói dữ liệu bên trong các trừu tượng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Lớp điều khiển (Control Classes)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Hành vi đặc trưng cho một ca sử dụng hoặc một phần của một luồng sự kiện rất quan trọng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22"/>
          <p:cNvSpPr txBox="1"/>
          <p:nvPr>
            <p:ph idx="1" type="body"/>
          </p:nvPr>
        </p:nvSpPr>
        <p:spPr>
          <a:xfrm>
            <a:off x="457200" y="12192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Ai là người có dữ liệu cần thiết để thực hiện các trách nhiệm (responsibility)?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Nếu một lớp có dữ liệu, đặt trách nhiệm đi kèm với dữ liệu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Gán trách nhiệm với một lớp và thêm vào một quan hệ với lớp khác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Tạo một lớp mới, đặt trách nhiệm vào trong lớp mới, thêm vào các quan hệ với các lớp cần thiết để thực hiện trách nhiệm đó</a:t>
            </a:r>
            <a:endParaRPr/>
          </a:p>
          <a:p>
            <a:pPr indent="-246887" lvl="2" marL="914400" rtl="0" algn="l">
              <a:spcBef>
                <a:spcPts val="420"/>
              </a:spcBef>
              <a:spcAft>
                <a:spcPts val="0"/>
              </a:spcAft>
              <a:buSzPts val="1470"/>
              <a:buChar char="⚫"/>
            </a:pPr>
            <a:r>
              <a:rPr lang="en-US"/>
              <a:t>Đặt trách nhiệm vào trong lớp điều khiển, và thêm vào các quan hệ với các lớp mà cần thiết để thực hiện trách nhiệm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1109" name="Google Shape;1109;p2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2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Phân tích thành phần cấu thành lược đồ tuần tự</a:t>
            </a:r>
            <a:endParaRPr sz="4500"/>
          </a:p>
        </p:txBody>
      </p:sp>
      <p:sp>
        <p:nvSpPr>
          <p:cNvPr id="1115" name="Google Shape;1115;p2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16" name="Google Shape;11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905000"/>
            <a:ext cx="7924800" cy="4664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24"/>
          <p:cNvSpPr txBox="1"/>
          <p:nvPr>
            <p:ph type="title"/>
          </p:nvPr>
        </p:nvSpPr>
        <p:spPr>
          <a:xfrm>
            <a:off x="457200" y="704088"/>
            <a:ext cx="8229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Ví dụ: lược đồ tuần tự của HT đăng ký học</a:t>
            </a:r>
            <a:endParaRPr sz="3600"/>
          </a:p>
        </p:txBody>
      </p:sp>
      <p:sp>
        <p:nvSpPr>
          <p:cNvPr id="1122" name="Google Shape;1122;p2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7475" lvl="0" marL="27432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1123" name="Google Shape;1123;p2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4" name="Google Shape;112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183341"/>
            <a:ext cx="8077200" cy="56746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2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Phân tích thành phần cấu thành lược đồ cộng tác</a:t>
            </a:r>
            <a:endParaRPr sz="4500"/>
          </a:p>
        </p:txBody>
      </p:sp>
      <p:sp>
        <p:nvSpPr>
          <p:cNvPr id="1130" name="Google Shape;1130;p2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31" name="Google Shape;1131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667" y="1935163"/>
            <a:ext cx="7542665" cy="4389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26"/>
          <p:cNvSpPr txBox="1"/>
          <p:nvPr>
            <p:ph type="title"/>
          </p:nvPr>
        </p:nvSpPr>
        <p:spPr>
          <a:xfrm>
            <a:off x="457200" y="704088"/>
            <a:ext cx="8229600" cy="5913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Ví dụ: Biểu đồ hợp tác</a:t>
            </a:r>
            <a:endParaRPr sz="4500"/>
          </a:p>
        </p:txBody>
      </p:sp>
      <p:sp>
        <p:nvSpPr>
          <p:cNvPr id="1137" name="Google Shape;1137;p2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38" name="Google Shape;1138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1235696"/>
            <a:ext cx="6629400" cy="5546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2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Lược đồ tương tác cần nhiều khía cạnh khác nhau</a:t>
            </a:r>
            <a:endParaRPr sz="4500"/>
          </a:p>
        </p:txBody>
      </p:sp>
      <p:sp>
        <p:nvSpPr>
          <p:cNvPr id="1144" name="Google Shape;1144;p2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45" name="Google Shape;1145;p2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020831"/>
            <a:ext cx="8229600" cy="42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28"/>
          <p:cNvSpPr txBox="1"/>
          <p:nvPr>
            <p:ph type="title"/>
          </p:nvPr>
        </p:nvSpPr>
        <p:spPr>
          <a:xfrm>
            <a:off x="457200" y="704088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Lược đồ cộng tác và Lược đồ tuần tự</a:t>
            </a:r>
            <a:endParaRPr sz="4000"/>
          </a:p>
        </p:txBody>
      </p:sp>
      <p:sp>
        <p:nvSpPr>
          <p:cNvPr id="1151" name="Google Shape;1151;p28"/>
          <p:cNvSpPr txBox="1"/>
          <p:nvPr>
            <p:ph idx="1" type="body"/>
          </p:nvPr>
        </p:nvSpPr>
        <p:spPr>
          <a:xfrm>
            <a:off x="457200" y="1828800"/>
            <a:ext cx="4038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Lược đồ cộng tác</a:t>
            </a:r>
            <a:endParaRPr/>
          </a:p>
          <a:p>
            <a:pPr indent="-246888" lvl="1" marL="64008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Thể hiện mối quan hệ bổ xung cho các tương tác</a:t>
            </a:r>
            <a:endParaRPr/>
          </a:p>
          <a:p>
            <a:pPr indent="-246888" lvl="1" marL="64008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 Tốt cho việc mô tả trực quan các mẫu cộng tác</a:t>
            </a:r>
            <a:endParaRPr/>
          </a:p>
          <a:p>
            <a:pPr indent="-246888" lvl="1" marL="64008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Tốt cho việc mô tả trực quan tất cả những ảnh hưởng trên một đối tượng nào đó</a:t>
            </a:r>
            <a:endParaRPr/>
          </a:p>
          <a:p>
            <a:pPr indent="-246888" lvl="1" marL="64008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Dễ sử dụng trong các giai đoạn động não</a:t>
            </a:r>
            <a:endParaRPr/>
          </a:p>
          <a:p>
            <a:pPr indent="-117475" lvl="0" marL="27432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1152" name="Google Shape;1152;p2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3" name="Google Shape;1153;p28"/>
          <p:cNvSpPr txBox="1"/>
          <p:nvPr/>
        </p:nvSpPr>
        <p:spPr>
          <a:xfrm>
            <a:off x="4724400" y="1828800"/>
            <a:ext cx="4038600" cy="4693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24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Lược đồ tuần tự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1524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Thể hiện chuỗi thông điệp tường minh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1524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Tốt cho việc mô tả trực quan toàn bộ luồng sự kiện</a:t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152400" lvl="1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Tốt cho đặc tả thời gian thực và các kịch bản phức tạp</a:t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29"/>
          <p:cNvSpPr txBox="1"/>
          <p:nvPr>
            <p:ph type="title"/>
          </p:nvPr>
        </p:nvSpPr>
        <p:spPr>
          <a:xfrm>
            <a:off x="457200" y="704088"/>
            <a:ext cx="82296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Mô tả trách nhiệm – Hành vi</a:t>
            </a:r>
            <a:endParaRPr sz="4500"/>
          </a:p>
        </p:txBody>
      </p:sp>
      <p:sp>
        <p:nvSpPr>
          <p:cNvPr id="1159" name="Google Shape;1159;p29"/>
          <p:cNvSpPr txBox="1"/>
          <p:nvPr>
            <p:ph idx="1" type="body"/>
          </p:nvPr>
        </p:nvSpPr>
        <p:spPr>
          <a:xfrm>
            <a:off x="457200" y="144780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Trách nhiệm là gì (responsibilities)?</a:t>
            </a:r>
            <a:endParaRPr/>
          </a:p>
          <a:p>
            <a:pPr indent="-274320" lvl="0" marL="27432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Làm sao để tìm ra trách nhiệm?</a:t>
            </a:r>
            <a:endParaRPr/>
          </a:p>
          <a:p>
            <a:pPr indent="-117475" lvl="0" marL="27432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1160" name="Google Shape;1160;p2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61" name="Google Shape;1161;p29"/>
          <p:cNvGrpSpPr/>
          <p:nvPr/>
        </p:nvGrpSpPr>
        <p:grpSpPr>
          <a:xfrm>
            <a:off x="867334" y="2819400"/>
            <a:ext cx="6896100" cy="3810000"/>
            <a:chOff x="488950" y="2201863"/>
            <a:chExt cx="6896100" cy="3771900"/>
          </a:xfrm>
        </p:grpSpPr>
        <p:sp>
          <p:nvSpPr>
            <p:cNvPr id="1162" name="Google Shape;1162;p29"/>
            <p:cNvSpPr/>
            <p:nvPr/>
          </p:nvSpPr>
          <p:spPr>
            <a:xfrm>
              <a:off x="4318000" y="4038600"/>
              <a:ext cx="647700" cy="609600"/>
            </a:xfrm>
            <a:prstGeom prst="downArrow">
              <a:avLst>
                <a:gd fmla="val 46074" name="adj1"/>
                <a:gd fmla="val 53384" name="adj2"/>
              </a:avLst>
            </a:prstGeom>
            <a:solidFill>
              <a:schemeClr val="hlink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63" name="Google Shape;1163;p29"/>
            <p:cNvSpPr txBox="1"/>
            <p:nvPr/>
          </p:nvSpPr>
          <p:spPr>
            <a:xfrm>
              <a:off x="488950" y="2201863"/>
              <a:ext cx="3600450" cy="412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CCFF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Lược đồ tương tác</a:t>
              </a:r>
              <a:endParaRPr sz="2000">
                <a:solidFill>
                  <a:srgbClr val="00CCFF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64" name="Google Shape;1164;p29"/>
            <p:cNvSpPr txBox="1"/>
            <p:nvPr/>
          </p:nvSpPr>
          <p:spPr>
            <a:xfrm>
              <a:off x="488950" y="4646613"/>
              <a:ext cx="3600450" cy="412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3975" lIns="107950" spcFirstLastPara="1" rIns="107950" wrap="square" tIns="539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CCFF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Lược đồ lớp</a:t>
              </a:r>
              <a:endParaRPr sz="2000">
                <a:solidFill>
                  <a:srgbClr val="00CCFF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1165" name="Google Shape;1165;p29"/>
            <p:cNvCxnSpPr/>
            <p:nvPr/>
          </p:nvCxnSpPr>
          <p:spPr>
            <a:xfrm>
              <a:off x="3175000" y="2971800"/>
              <a:ext cx="28194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6" name="Google Shape;1166;p29"/>
            <p:cNvSpPr txBox="1"/>
            <p:nvPr/>
          </p:nvSpPr>
          <p:spPr>
            <a:xfrm>
              <a:off x="3648075" y="3459163"/>
              <a:ext cx="2590800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87338" lvl="0" marL="287338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PerformResponsibility</a:t>
              </a:r>
              <a:endParaRPr/>
            </a:p>
          </p:txBody>
        </p:sp>
        <p:cxnSp>
          <p:nvCxnSpPr>
            <p:cNvPr id="1167" name="Google Shape;1167;p29"/>
            <p:cNvCxnSpPr/>
            <p:nvPr/>
          </p:nvCxnSpPr>
          <p:spPr>
            <a:xfrm>
              <a:off x="4165600" y="3200400"/>
              <a:ext cx="7620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168" name="Google Shape;1168;p29"/>
            <p:cNvSpPr/>
            <p:nvPr/>
          </p:nvSpPr>
          <p:spPr>
            <a:xfrm>
              <a:off x="1784350" y="2743200"/>
              <a:ext cx="1390650" cy="4572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69" name="Google Shape;1169;p29"/>
            <p:cNvSpPr txBox="1"/>
            <p:nvPr/>
          </p:nvSpPr>
          <p:spPr>
            <a:xfrm>
              <a:off x="2155825" y="2813050"/>
              <a:ext cx="6477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u="sng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:Client</a:t>
              </a:r>
              <a:endParaRPr/>
            </a:p>
          </p:txBody>
        </p:sp>
        <p:sp>
          <p:nvSpPr>
            <p:cNvPr id="1170" name="Google Shape;1170;p29"/>
            <p:cNvSpPr/>
            <p:nvPr/>
          </p:nvSpPr>
          <p:spPr>
            <a:xfrm>
              <a:off x="5994400" y="2743200"/>
              <a:ext cx="1390650" cy="4572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71" name="Google Shape;1171;p29"/>
            <p:cNvSpPr txBox="1"/>
            <p:nvPr/>
          </p:nvSpPr>
          <p:spPr>
            <a:xfrm>
              <a:off x="6238875" y="2813050"/>
              <a:ext cx="9017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u="sng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:Supplier</a:t>
              </a:r>
              <a:endParaRPr/>
            </a:p>
          </p:txBody>
        </p:sp>
        <p:grpSp>
          <p:nvGrpSpPr>
            <p:cNvPr id="1172" name="Google Shape;1172;p29"/>
            <p:cNvGrpSpPr/>
            <p:nvPr/>
          </p:nvGrpSpPr>
          <p:grpSpPr>
            <a:xfrm>
              <a:off x="3340100" y="5059363"/>
              <a:ext cx="2590800" cy="914400"/>
              <a:chOff x="2064" y="2784"/>
              <a:chExt cx="1632" cy="576"/>
            </a:xfrm>
          </p:grpSpPr>
          <p:grpSp>
            <p:nvGrpSpPr>
              <p:cNvPr id="1173" name="Google Shape;1173;p29"/>
              <p:cNvGrpSpPr/>
              <p:nvPr/>
            </p:nvGrpSpPr>
            <p:grpSpPr>
              <a:xfrm>
                <a:off x="2064" y="2784"/>
                <a:ext cx="1632" cy="576"/>
                <a:chOff x="2064" y="2784"/>
                <a:chExt cx="1536" cy="576"/>
              </a:xfrm>
            </p:grpSpPr>
            <p:sp>
              <p:nvSpPr>
                <p:cNvPr id="1174" name="Google Shape;1174;p29"/>
                <p:cNvSpPr/>
                <p:nvPr/>
              </p:nvSpPr>
              <p:spPr>
                <a:xfrm>
                  <a:off x="2064" y="2784"/>
                  <a:ext cx="1536" cy="57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175" name="Google Shape;1175;p29"/>
                <p:cNvCxnSpPr/>
                <p:nvPr/>
              </p:nvCxnSpPr>
              <p:spPr>
                <a:xfrm>
                  <a:off x="2064" y="3120"/>
                  <a:ext cx="15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176" name="Google Shape;1176;p29"/>
                <p:cNvCxnSpPr/>
                <p:nvPr/>
              </p:nvCxnSpPr>
              <p:spPr>
                <a:xfrm>
                  <a:off x="2064" y="2979"/>
                  <a:ext cx="15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177" name="Google Shape;1177;p29"/>
              <p:cNvSpPr txBox="1"/>
              <p:nvPr/>
            </p:nvSpPr>
            <p:spPr>
              <a:xfrm>
                <a:off x="2568" y="2784"/>
                <a:ext cx="528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Supplier</a:t>
                </a:r>
                <a:endParaRPr/>
              </a:p>
            </p:txBody>
          </p:sp>
          <p:sp>
            <p:nvSpPr>
              <p:cNvPr id="1178" name="Google Shape;1178;p29"/>
              <p:cNvSpPr txBox="1"/>
              <p:nvPr/>
            </p:nvSpPr>
            <p:spPr>
              <a:xfrm>
                <a:off x="2080" y="3187"/>
                <a:ext cx="1520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// PerformResponsibility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30"/>
          <p:cNvSpPr txBox="1"/>
          <p:nvPr>
            <p:ph type="title"/>
          </p:nvPr>
        </p:nvSpPr>
        <p:spPr>
          <a:xfrm>
            <a:off x="457200" y="704088"/>
            <a:ext cx="82296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Ví dụ: Lược đồ các lớp tham gia</a:t>
            </a:r>
            <a:endParaRPr sz="4500"/>
          </a:p>
        </p:txBody>
      </p:sp>
      <p:sp>
        <p:nvSpPr>
          <p:cNvPr id="1184" name="Google Shape;1184;p3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85" name="Google Shape;1185;p30"/>
          <p:cNvGrpSpPr/>
          <p:nvPr/>
        </p:nvGrpSpPr>
        <p:grpSpPr>
          <a:xfrm>
            <a:off x="457200" y="1935163"/>
            <a:ext cx="8229600" cy="4389437"/>
            <a:chOff x="1760538" y="1240226"/>
            <a:chExt cx="5661025" cy="4931974"/>
          </a:xfrm>
        </p:grpSpPr>
        <p:sp>
          <p:nvSpPr>
            <p:cNvPr id="1186" name="Google Shape;1186;p30"/>
            <p:cNvSpPr/>
            <p:nvPr/>
          </p:nvSpPr>
          <p:spPr>
            <a:xfrm>
              <a:off x="1917700" y="1244989"/>
              <a:ext cx="1490663" cy="1554162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87" name="Google Shape;1187;p30"/>
            <p:cNvSpPr/>
            <p:nvPr/>
          </p:nvSpPr>
          <p:spPr>
            <a:xfrm>
              <a:off x="2411413" y="1468826"/>
              <a:ext cx="481012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Student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88" name="Google Shape;1188;p30"/>
            <p:cNvSpPr/>
            <p:nvPr/>
          </p:nvSpPr>
          <p:spPr>
            <a:xfrm>
              <a:off x="1917700" y="1657739"/>
              <a:ext cx="1490663" cy="1141412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89" name="Google Shape;1189;p30"/>
            <p:cNvSpPr/>
            <p:nvPr/>
          </p:nvSpPr>
          <p:spPr>
            <a:xfrm>
              <a:off x="1917700" y="1751401"/>
              <a:ext cx="1490663" cy="1047750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90" name="Google Shape;1190;p30"/>
            <p:cNvSpPr/>
            <p:nvPr/>
          </p:nvSpPr>
          <p:spPr>
            <a:xfrm>
              <a:off x="1941513" y="1857764"/>
              <a:ext cx="811212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get tuition()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91" name="Google Shape;1191;p30"/>
            <p:cNvSpPr/>
            <p:nvPr/>
          </p:nvSpPr>
          <p:spPr>
            <a:xfrm>
              <a:off x="1941513" y="2033976"/>
              <a:ext cx="1038225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add schedule()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92" name="Google Shape;1192;p30"/>
            <p:cNvSpPr/>
            <p:nvPr/>
          </p:nvSpPr>
          <p:spPr>
            <a:xfrm>
              <a:off x="1941513" y="2210189"/>
              <a:ext cx="998537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get schedule()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93" name="Google Shape;1193;p30"/>
            <p:cNvSpPr/>
            <p:nvPr/>
          </p:nvSpPr>
          <p:spPr>
            <a:xfrm>
              <a:off x="1941513" y="2387989"/>
              <a:ext cx="1185862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delete schedule()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94" name="Google Shape;1194;p30"/>
            <p:cNvSpPr/>
            <p:nvPr/>
          </p:nvSpPr>
          <p:spPr>
            <a:xfrm>
              <a:off x="1941513" y="2564201"/>
              <a:ext cx="1316037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has pre-requisites()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95" name="Google Shape;1195;p30"/>
            <p:cNvSpPr/>
            <p:nvPr/>
          </p:nvSpPr>
          <p:spPr>
            <a:xfrm>
              <a:off x="2327275" y="1292614"/>
              <a:ext cx="657225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&lt;&lt;entity&gt;&gt;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96" name="Google Shape;1196;p30"/>
            <p:cNvSpPr/>
            <p:nvPr/>
          </p:nvSpPr>
          <p:spPr>
            <a:xfrm>
              <a:off x="4300538" y="1240226"/>
              <a:ext cx="2730500" cy="2073275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97" name="Google Shape;1197;p30"/>
            <p:cNvSpPr/>
            <p:nvPr/>
          </p:nvSpPr>
          <p:spPr>
            <a:xfrm>
              <a:off x="4938713" y="1464064"/>
              <a:ext cx="1352550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RegistrationController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98" name="Google Shape;1198;p30"/>
            <p:cNvSpPr/>
            <p:nvPr/>
          </p:nvSpPr>
          <p:spPr>
            <a:xfrm>
              <a:off x="4300538" y="1651389"/>
              <a:ext cx="2730500" cy="1662112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199" name="Google Shape;1199;p30"/>
            <p:cNvSpPr/>
            <p:nvPr/>
          </p:nvSpPr>
          <p:spPr>
            <a:xfrm>
              <a:off x="4300538" y="1733939"/>
              <a:ext cx="2730500" cy="1579562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00" name="Google Shape;1200;p30"/>
            <p:cNvSpPr/>
            <p:nvPr/>
          </p:nvSpPr>
          <p:spPr>
            <a:xfrm>
              <a:off x="4337050" y="1851414"/>
              <a:ext cx="1430338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get course offerings()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01" name="Google Shape;1201;p30"/>
            <p:cNvSpPr/>
            <p:nvPr/>
          </p:nvSpPr>
          <p:spPr>
            <a:xfrm>
              <a:off x="4337050" y="2029214"/>
              <a:ext cx="1470025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get current schedule()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02" name="Google Shape;1202;p30"/>
            <p:cNvSpPr/>
            <p:nvPr/>
          </p:nvSpPr>
          <p:spPr>
            <a:xfrm>
              <a:off x="4337050" y="2205426"/>
              <a:ext cx="1657350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delete current schedule()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03" name="Google Shape;1203;p30"/>
            <p:cNvSpPr/>
            <p:nvPr/>
          </p:nvSpPr>
          <p:spPr>
            <a:xfrm>
              <a:off x="4337050" y="2381639"/>
              <a:ext cx="1216025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submit schedule()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04" name="Google Shape;1204;p30"/>
            <p:cNvSpPr/>
            <p:nvPr/>
          </p:nvSpPr>
          <p:spPr>
            <a:xfrm>
              <a:off x="4337050" y="2546739"/>
              <a:ext cx="1463675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is registration open?()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05" name="Google Shape;1205;p30"/>
            <p:cNvSpPr/>
            <p:nvPr/>
          </p:nvSpPr>
          <p:spPr>
            <a:xfrm>
              <a:off x="4337050" y="2724539"/>
              <a:ext cx="1100138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save schedule()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06" name="Google Shape;1206;p30"/>
            <p:cNvSpPr/>
            <p:nvPr/>
          </p:nvSpPr>
          <p:spPr>
            <a:xfrm>
              <a:off x="4337050" y="2900751"/>
              <a:ext cx="2052638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create schedule with offerings()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07" name="Google Shape;1207;p30"/>
            <p:cNvSpPr/>
            <p:nvPr/>
          </p:nvSpPr>
          <p:spPr>
            <a:xfrm>
              <a:off x="4337050" y="3076964"/>
              <a:ext cx="2474913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update schedule with new selections()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08" name="Google Shape;1208;p30"/>
            <p:cNvSpPr/>
            <p:nvPr/>
          </p:nvSpPr>
          <p:spPr>
            <a:xfrm>
              <a:off x="5275263" y="1286264"/>
              <a:ext cx="742950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&lt;&lt;control&gt;&gt;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09" name="Google Shape;1209;p30"/>
            <p:cNvSpPr/>
            <p:nvPr/>
          </p:nvSpPr>
          <p:spPr>
            <a:xfrm>
              <a:off x="5762625" y="3587750"/>
              <a:ext cx="1658938" cy="849313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10" name="Google Shape;1210;p30"/>
            <p:cNvSpPr/>
            <p:nvPr/>
          </p:nvSpPr>
          <p:spPr>
            <a:xfrm>
              <a:off x="5835650" y="3800475"/>
              <a:ext cx="1398588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CourseCatalogSystem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11" name="Google Shape;1211;p30"/>
            <p:cNvSpPr/>
            <p:nvPr/>
          </p:nvSpPr>
          <p:spPr>
            <a:xfrm>
              <a:off x="5762625" y="3989388"/>
              <a:ext cx="1658938" cy="447675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12" name="Google Shape;1212;p30"/>
            <p:cNvSpPr/>
            <p:nvPr/>
          </p:nvSpPr>
          <p:spPr>
            <a:xfrm>
              <a:off x="5762625" y="4083050"/>
              <a:ext cx="1658938" cy="354013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13" name="Google Shape;1213;p30"/>
            <p:cNvSpPr/>
            <p:nvPr/>
          </p:nvSpPr>
          <p:spPr>
            <a:xfrm>
              <a:off x="5786438" y="4189413"/>
              <a:ext cx="1430337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get course offerings()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14" name="Google Shape;1214;p30"/>
            <p:cNvSpPr/>
            <p:nvPr/>
          </p:nvSpPr>
          <p:spPr>
            <a:xfrm>
              <a:off x="6111875" y="3624263"/>
              <a:ext cx="906463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&lt;&lt;boundary&gt;&gt;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15" name="Google Shape;1215;p30"/>
            <p:cNvSpPr/>
            <p:nvPr/>
          </p:nvSpPr>
          <p:spPr>
            <a:xfrm>
              <a:off x="4670425" y="4970463"/>
              <a:ext cx="1984375" cy="1201737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16" name="Google Shape;1216;p30"/>
            <p:cNvSpPr/>
            <p:nvPr/>
          </p:nvSpPr>
          <p:spPr>
            <a:xfrm>
              <a:off x="4814888" y="5194300"/>
              <a:ext cx="1576387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RegisterForCoursesForm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17" name="Google Shape;1217;p30"/>
            <p:cNvSpPr/>
            <p:nvPr/>
          </p:nvSpPr>
          <p:spPr>
            <a:xfrm>
              <a:off x="4670425" y="5383213"/>
              <a:ext cx="1984375" cy="788987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18" name="Google Shape;1218;p30"/>
            <p:cNvSpPr/>
            <p:nvPr/>
          </p:nvSpPr>
          <p:spPr>
            <a:xfrm>
              <a:off x="4670425" y="5491163"/>
              <a:ext cx="1984375" cy="681037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19" name="Google Shape;1219;p30"/>
            <p:cNvSpPr/>
            <p:nvPr/>
          </p:nvSpPr>
          <p:spPr>
            <a:xfrm>
              <a:off x="4706938" y="5583238"/>
              <a:ext cx="1673225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display course offerings()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20" name="Google Shape;1220;p30"/>
            <p:cNvSpPr/>
            <p:nvPr/>
          </p:nvSpPr>
          <p:spPr>
            <a:xfrm>
              <a:off x="4706938" y="5761038"/>
              <a:ext cx="1614487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display blank schedule()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21" name="Google Shape;1221;p30"/>
            <p:cNvSpPr/>
            <p:nvPr/>
          </p:nvSpPr>
          <p:spPr>
            <a:xfrm>
              <a:off x="4706938" y="5937250"/>
              <a:ext cx="1797050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update offering selections()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22" name="Google Shape;1222;p30"/>
            <p:cNvSpPr/>
            <p:nvPr/>
          </p:nvSpPr>
          <p:spPr>
            <a:xfrm>
              <a:off x="5187950" y="5018088"/>
              <a:ext cx="906463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&lt;&lt;boundary&gt;&gt;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23" name="Google Shape;1223;p30"/>
            <p:cNvSpPr/>
            <p:nvPr/>
          </p:nvSpPr>
          <p:spPr>
            <a:xfrm>
              <a:off x="1760538" y="3392488"/>
              <a:ext cx="2079625" cy="2779712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24" name="Google Shape;1224;p30"/>
            <p:cNvSpPr/>
            <p:nvPr/>
          </p:nvSpPr>
          <p:spPr>
            <a:xfrm>
              <a:off x="2493963" y="3603625"/>
              <a:ext cx="584200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Schedule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25" name="Google Shape;1225;p30"/>
            <p:cNvSpPr/>
            <p:nvPr/>
          </p:nvSpPr>
          <p:spPr>
            <a:xfrm>
              <a:off x="1760538" y="3805238"/>
              <a:ext cx="2079625" cy="2366962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26" name="Google Shape;1226;p30"/>
            <p:cNvSpPr/>
            <p:nvPr/>
          </p:nvSpPr>
          <p:spPr>
            <a:xfrm>
              <a:off x="1760538" y="3911600"/>
              <a:ext cx="2079625" cy="2260600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27" name="Google Shape;1227;p30"/>
            <p:cNvSpPr/>
            <p:nvPr/>
          </p:nvSpPr>
          <p:spPr>
            <a:xfrm>
              <a:off x="1797050" y="4005263"/>
              <a:ext cx="655638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commit()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28" name="Google Shape;1228;p30"/>
            <p:cNvSpPr/>
            <p:nvPr/>
          </p:nvSpPr>
          <p:spPr>
            <a:xfrm>
              <a:off x="1797050" y="4170363"/>
              <a:ext cx="1152525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select alternate()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29" name="Google Shape;1229;p30"/>
            <p:cNvSpPr/>
            <p:nvPr/>
          </p:nvSpPr>
          <p:spPr>
            <a:xfrm>
              <a:off x="1797050" y="4346575"/>
              <a:ext cx="1174750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remove offering()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30" name="Google Shape;1230;p30"/>
            <p:cNvSpPr/>
            <p:nvPr/>
          </p:nvSpPr>
          <p:spPr>
            <a:xfrm>
              <a:off x="1797050" y="4522788"/>
              <a:ext cx="495300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level()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31" name="Google Shape;1231;p30"/>
            <p:cNvSpPr/>
            <p:nvPr/>
          </p:nvSpPr>
          <p:spPr>
            <a:xfrm>
              <a:off x="1797050" y="4700588"/>
              <a:ext cx="611188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cancel()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32" name="Google Shape;1232;p30"/>
            <p:cNvSpPr/>
            <p:nvPr/>
          </p:nvSpPr>
          <p:spPr>
            <a:xfrm>
              <a:off x="1797050" y="4876800"/>
              <a:ext cx="693738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get cost()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33" name="Google Shape;1233;p30"/>
            <p:cNvSpPr/>
            <p:nvPr/>
          </p:nvSpPr>
          <p:spPr>
            <a:xfrm>
              <a:off x="1797050" y="5053013"/>
              <a:ext cx="587375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delete()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34" name="Google Shape;1234;p30"/>
            <p:cNvSpPr/>
            <p:nvPr/>
          </p:nvSpPr>
          <p:spPr>
            <a:xfrm>
              <a:off x="1797050" y="5230813"/>
              <a:ext cx="617538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submit()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35" name="Google Shape;1235;p30"/>
            <p:cNvSpPr/>
            <p:nvPr/>
          </p:nvSpPr>
          <p:spPr>
            <a:xfrm>
              <a:off x="1797050" y="5407025"/>
              <a:ext cx="501650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save()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36" name="Google Shape;1236;p30"/>
            <p:cNvSpPr/>
            <p:nvPr/>
          </p:nvSpPr>
          <p:spPr>
            <a:xfrm>
              <a:off x="1797050" y="5572125"/>
              <a:ext cx="1052513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any conflicts?()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37" name="Google Shape;1237;p30"/>
            <p:cNvSpPr/>
            <p:nvPr/>
          </p:nvSpPr>
          <p:spPr>
            <a:xfrm>
              <a:off x="1797050" y="5748338"/>
              <a:ext cx="1454150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create with offerings()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38" name="Google Shape;1238;p30"/>
            <p:cNvSpPr/>
            <p:nvPr/>
          </p:nvSpPr>
          <p:spPr>
            <a:xfrm>
              <a:off x="1797050" y="5924550"/>
              <a:ext cx="1876425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// update with new selections()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39" name="Google Shape;1239;p30"/>
            <p:cNvSpPr/>
            <p:nvPr/>
          </p:nvSpPr>
          <p:spPr>
            <a:xfrm>
              <a:off x="2470150" y="3438525"/>
              <a:ext cx="657225" cy="168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&lt;&lt;entity&gt;&gt;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31"/>
          <p:cNvSpPr txBox="1"/>
          <p:nvPr>
            <p:ph idx="1" type="body"/>
          </p:nvPr>
        </p:nvSpPr>
        <p:spPr>
          <a:xfrm>
            <a:off x="457200" y="1600200"/>
            <a:ext cx="82296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Thuộc tính/đặc điểm của các lớp được xác định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Thông tin được lưu giữ bởi các lớp được xác định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“Danh từ” mà không trở thành lớp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Thông tin mà giá trị của nó là những thứ quan trọng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Thông tin mà được “sở hữu” duy nhất bởi một đối tượng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Thông tin mà không có hành vi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1245" name="Google Shape;1245;p3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6" name="Google Shape;1246;p31"/>
          <p:cNvSpPr txBox="1"/>
          <p:nvPr>
            <p:ph type="title"/>
          </p:nvPr>
        </p:nvSpPr>
        <p:spPr>
          <a:xfrm>
            <a:off x="457200" y="704088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Tìm kiếm thuộc tính</a:t>
            </a:r>
            <a:endParaRPr sz="45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3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Thuộc tính và mối liên kết</a:t>
            </a:r>
            <a:endParaRPr/>
          </a:p>
        </p:txBody>
      </p:sp>
      <p:sp>
        <p:nvSpPr>
          <p:cNvPr id="1252" name="Google Shape;1252;p3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Quan hệ kết hợp (Association): Một quan hệ cấu trúc xác định việc các đối tượng của một lớp được kết nối với các đối tượng của lớp khác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1253" name="Google Shape;1253;p3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4" name="Google Shape;1254;p32"/>
          <p:cNvSpPr/>
          <p:nvPr/>
        </p:nvSpPr>
        <p:spPr>
          <a:xfrm>
            <a:off x="6069013" y="3360738"/>
            <a:ext cx="1250950" cy="1169987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55" name="Google Shape;1255;p32"/>
          <p:cNvSpPr/>
          <p:nvPr/>
        </p:nvSpPr>
        <p:spPr>
          <a:xfrm>
            <a:off x="6665913" y="3959225"/>
            <a:ext cx="1209675" cy="1068388"/>
          </a:xfrm>
          <a:custGeom>
            <a:rect b="b" l="l" r="r" t="t"/>
            <a:pathLst>
              <a:path extrusionOk="0" h="673" w="794">
                <a:moveTo>
                  <a:pt x="399" y="0"/>
                </a:moveTo>
                <a:lnTo>
                  <a:pt x="794" y="0"/>
                </a:lnTo>
                <a:lnTo>
                  <a:pt x="794" y="673"/>
                </a:lnTo>
                <a:lnTo>
                  <a:pt x="0" y="673"/>
                </a:lnTo>
                <a:lnTo>
                  <a:pt x="0" y="372"/>
                </a:ln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t" bIns="53975" lIns="107950" spcFirstLastPara="1" rIns="107950" wrap="square" tIns="53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56" name="Google Shape;1256;p32"/>
          <p:cNvSpPr/>
          <p:nvPr/>
        </p:nvSpPr>
        <p:spPr>
          <a:xfrm>
            <a:off x="6294438" y="3636963"/>
            <a:ext cx="78105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Course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57" name="Google Shape;1257;p32"/>
          <p:cNvSpPr/>
          <p:nvPr/>
        </p:nvSpPr>
        <p:spPr>
          <a:xfrm>
            <a:off x="6069013" y="4013200"/>
            <a:ext cx="1250950" cy="517525"/>
          </a:xfrm>
          <a:prstGeom prst="rect">
            <a:avLst/>
          </a:prstGeom>
          <a:noFill/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58" name="Google Shape;1258;p32"/>
          <p:cNvSpPr/>
          <p:nvPr/>
        </p:nvSpPr>
        <p:spPr>
          <a:xfrm>
            <a:off x="6069013" y="4175125"/>
            <a:ext cx="1250950" cy="355600"/>
          </a:xfrm>
          <a:prstGeom prst="rect">
            <a:avLst/>
          </a:prstGeom>
          <a:noFill/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59" name="Google Shape;1259;p32"/>
          <p:cNvSpPr/>
          <p:nvPr/>
        </p:nvSpPr>
        <p:spPr>
          <a:xfrm>
            <a:off x="6069025" y="3352800"/>
            <a:ext cx="1332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&lt;&lt;entity&gt;&gt;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60" name="Google Shape;1260;p32"/>
          <p:cNvSpPr/>
          <p:nvPr/>
        </p:nvSpPr>
        <p:spPr>
          <a:xfrm>
            <a:off x="1600200" y="3360738"/>
            <a:ext cx="1249363" cy="1169987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61" name="Google Shape;1261;p32"/>
          <p:cNvSpPr/>
          <p:nvPr/>
        </p:nvSpPr>
        <p:spPr>
          <a:xfrm>
            <a:off x="1600200" y="4013200"/>
            <a:ext cx="1249363" cy="517525"/>
          </a:xfrm>
          <a:prstGeom prst="rect">
            <a:avLst/>
          </a:prstGeom>
          <a:noFill/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62" name="Google Shape;1262;p32"/>
          <p:cNvSpPr/>
          <p:nvPr/>
        </p:nvSpPr>
        <p:spPr>
          <a:xfrm>
            <a:off x="1600200" y="4175125"/>
            <a:ext cx="1249363" cy="355600"/>
          </a:xfrm>
          <a:prstGeom prst="rect">
            <a:avLst/>
          </a:prstGeom>
          <a:noFill/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63" name="Google Shape;1263;p32"/>
          <p:cNvSpPr/>
          <p:nvPr/>
        </p:nvSpPr>
        <p:spPr>
          <a:xfrm>
            <a:off x="3749675" y="3360738"/>
            <a:ext cx="1249363" cy="1169987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64" name="Google Shape;1264;p32"/>
          <p:cNvSpPr/>
          <p:nvPr/>
        </p:nvSpPr>
        <p:spPr>
          <a:xfrm>
            <a:off x="3833813" y="3636963"/>
            <a:ext cx="1085850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Schedule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65" name="Google Shape;1265;p32"/>
          <p:cNvSpPr/>
          <p:nvPr/>
        </p:nvSpPr>
        <p:spPr>
          <a:xfrm>
            <a:off x="3810000" y="3352800"/>
            <a:ext cx="1209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&lt;&lt;entity&gt;&gt;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66" name="Google Shape;1266;p32"/>
          <p:cNvSpPr/>
          <p:nvPr/>
        </p:nvSpPr>
        <p:spPr>
          <a:xfrm>
            <a:off x="1684338" y="3636963"/>
            <a:ext cx="1055687" cy="288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Student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67" name="Google Shape;1267;p32"/>
          <p:cNvSpPr/>
          <p:nvPr/>
        </p:nvSpPr>
        <p:spPr>
          <a:xfrm>
            <a:off x="1668476" y="3352800"/>
            <a:ext cx="12510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&lt;&lt;entity&gt;&gt;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268" name="Google Shape;1268;p32"/>
          <p:cNvCxnSpPr>
            <a:stCxn id="1260" idx="3"/>
          </p:cNvCxnSpPr>
          <p:nvPr/>
        </p:nvCxnSpPr>
        <p:spPr>
          <a:xfrm>
            <a:off x="2849563" y="3945731"/>
            <a:ext cx="973200" cy="7800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33"/>
          <p:cNvSpPr txBox="1"/>
          <p:nvPr>
            <p:ph idx="1" type="body"/>
          </p:nvPr>
        </p:nvSpPr>
        <p:spPr>
          <a:xfrm>
            <a:off x="457200" y="99060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Quan hệ kết tập (aggregation): Là một dạng kết hợp (association) mô hình hóa quan hệ toàn bộ - bộ phận giữa một toàn bộ và các bộ phận của nó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1274" name="Google Shape;1274;p3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75" name="Google Shape;1275;p33"/>
          <p:cNvGrpSpPr/>
          <p:nvPr/>
        </p:nvGrpSpPr>
        <p:grpSpPr>
          <a:xfrm>
            <a:off x="762000" y="2590800"/>
            <a:ext cx="7745575" cy="1648384"/>
            <a:chOff x="723900" y="2514600"/>
            <a:chExt cx="7745575" cy="2565400"/>
          </a:xfrm>
        </p:grpSpPr>
        <p:cxnSp>
          <p:nvCxnSpPr>
            <p:cNvPr id="1276" name="Google Shape;1276;p33"/>
            <p:cNvCxnSpPr/>
            <p:nvPr/>
          </p:nvCxnSpPr>
          <p:spPr>
            <a:xfrm flipH="1">
              <a:off x="2362200" y="4570413"/>
              <a:ext cx="1341438" cy="1587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77" name="Google Shape;1277;p33"/>
            <p:cNvCxnSpPr/>
            <p:nvPr/>
          </p:nvCxnSpPr>
          <p:spPr>
            <a:xfrm rot="10800000">
              <a:off x="4446588" y="4597400"/>
              <a:ext cx="2643187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8" name="Google Shape;1278;p33"/>
            <p:cNvSpPr txBox="1"/>
            <p:nvPr/>
          </p:nvSpPr>
          <p:spPr>
            <a:xfrm>
              <a:off x="723900" y="2514600"/>
              <a:ext cx="1981200" cy="3667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FF"/>
                  </a:solidFill>
                  <a:latin typeface="Constantia"/>
                  <a:ea typeface="Constantia"/>
                  <a:cs typeface="Constantia"/>
                  <a:sym typeface="Constantia"/>
                </a:rPr>
                <a:t>Whole/aggregate</a:t>
              </a:r>
              <a:endParaRPr/>
            </a:p>
          </p:txBody>
        </p:sp>
        <p:sp>
          <p:nvSpPr>
            <p:cNvPr id="1279" name="Google Shape;1279;p33"/>
            <p:cNvSpPr txBox="1"/>
            <p:nvPr/>
          </p:nvSpPr>
          <p:spPr>
            <a:xfrm>
              <a:off x="3732213" y="2528888"/>
              <a:ext cx="814387" cy="3667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800">
                  <a:solidFill>
                    <a:srgbClr val="0000FF"/>
                  </a:solidFill>
                  <a:latin typeface="Constantia"/>
                  <a:ea typeface="Constantia"/>
                  <a:cs typeface="Constantia"/>
                  <a:sym typeface="Constantia"/>
                </a:rPr>
                <a:t>Part</a:t>
              </a:r>
              <a:endParaRPr/>
            </a:p>
          </p:txBody>
        </p:sp>
        <p:cxnSp>
          <p:nvCxnSpPr>
            <p:cNvPr id="1280" name="Google Shape;1280;p33"/>
            <p:cNvCxnSpPr/>
            <p:nvPr/>
          </p:nvCxnSpPr>
          <p:spPr>
            <a:xfrm>
              <a:off x="1676400" y="2971800"/>
              <a:ext cx="0" cy="914400"/>
            </a:xfrm>
            <a:prstGeom prst="straightConnector1">
              <a:avLst/>
            </a:prstGeom>
            <a:noFill/>
            <a:ln cap="flat" cmpd="sng" w="28575">
              <a:solidFill>
                <a:schemeClr val="hlink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281" name="Google Shape;1281;p33"/>
            <p:cNvCxnSpPr/>
            <p:nvPr/>
          </p:nvCxnSpPr>
          <p:spPr>
            <a:xfrm>
              <a:off x="4038600" y="2971800"/>
              <a:ext cx="0" cy="914400"/>
            </a:xfrm>
            <a:prstGeom prst="straightConnector1">
              <a:avLst/>
            </a:prstGeom>
            <a:noFill/>
            <a:ln cap="flat" cmpd="sng" w="28575">
              <a:solidFill>
                <a:schemeClr val="hlink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282" name="Google Shape;1282;p33"/>
            <p:cNvSpPr/>
            <p:nvPr/>
          </p:nvSpPr>
          <p:spPr>
            <a:xfrm>
              <a:off x="6423025" y="4267200"/>
              <a:ext cx="3810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0..2</a:t>
              </a:r>
              <a:endParaRPr/>
            </a:p>
          </p:txBody>
        </p:sp>
        <p:sp>
          <p:nvSpPr>
            <p:cNvPr id="1283" name="Google Shape;1283;p33"/>
            <p:cNvSpPr/>
            <p:nvPr/>
          </p:nvSpPr>
          <p:spPr>
            <a:xfrm>
              <a:off x="4724400" y="4267200"/>
              <a:ext cx="3429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0..*</a:t>
              </a:r>
              <a:endParaRPr/>
            </a:p>
          </p:txBody>
        </p:sp>
        <p:sp>
          <p:nvSpPr>
            <p:cNvPr id="1284" name="Google Shape;1284;p33"/>
            <p:cNvSpPr/>
            <p:nvPr/>
          </p:nvSpPr>
          <p:spPr>
            <a:xfrm>
              <a:off x="6883400" y="4113213"/>
              <a:ext cx="1566863" cy="966787"/>
            </a:xfrm>
            <a:prstGeom prst="rect">
              <a:avLst/>
            </a:prstGeom>
            <a:solidFill>
              <a:srgbClr val="FFFFCC"/>
            </a:solidFill>
            <a:ln cap="flat" cmpd="sng" w="9525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85" name="Google Shape;1285;p33"/>
            <p:cNvSpPr/>
            <p:nvPr/>
          </p:nvSpPr>
          <p:spPr>
            <a:xfrm>
              <a:off x="6943725" y="4370388"/>
              <a:ext cx="1466850" cy="258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CourseOffering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86" name="Google Shape;1286;p33"/>
            <p:cNvSpPr/>
            <p:nvPr/>
          </p:nvSpPr>
          <p:spPr>
            <a:xfrm>
              <a:off x="6883400" y="4746625"/>
              <a:ext cx="1566863" cy="333375"/>
            </a:xfrm>
            <a:prstGeom prst="rect">
              <a:avLst/>
            </a:prstGeom>
            <a:noFill/>
            <a:ln cap="flat" cmpd="sng" w="9525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87" name="Google Shape;1287;p33"/>
            <p:cNvSpPr/>
            <p:nvPr/>
          </p:nvSpPr>
          <p:spPr>
            <a:xfrm>
              <a:off x="6883400" y="4879975"/>
              <a:ext cx="1566863" cy="200025"/>
            </a:xfrm>
            <a:prstGeom prst="rect">
              <a:avLst/>
            </a:prstGeom>
            <a:noFill/>
            <a:ln cap="flat" cmpd="sng" w="9525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88" name="Google Shape;1288;p33"/>
            <p:cNvSpPr/>
            <p:nvPr/>
          </p:nvSpPr>
          <p:spPr>
            <a:xfrm>
              <a:off x="7127875" y="4116370"/>
              <a:ext cx="13416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&lt;&lt;entity&gt;&gt;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89" name="Google Shape;1289;p33"/>
            <p:cNvSpPr/>
            <p:nvPr/>
          </p:nvSpPr>
          <p:spPr>
            <a:xfrm>
              <a:off x="3541713" y="4113213"/>
              <a:ext cx="1108075" cy="966787"/>
            </a:xfrm>
            <a:prstGeom prst="rect">
              <a:avLst/>
            </a:prstGeom>
            <a:solidFill>
              <a:srgbClr val="FFFFCC"/>
            </a:solidFill>
            <a:ln cap="flat" cmpd="sng" w="9525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90" name="Google Shape;1290;p33"/>
            <p:cNvSpPr/>
            <p:nvPr/>
          </p:nvSpPr>
          <p:spPr>
            <a:xfrm>
              <a:off x="3643313" y="4370388"/>
              <a:ext cx="903287" cy="258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Schedule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91" name="Google Shape;1291;p33"/>
            <p:cNvSpPr/>
            <p:nvPr/>
          </p:nvSpPr>
          <p:spPr>
            <a:xfrm>
              <a:off x="3541713" y="4746625"/>
              <a:ext cx="1108075" cy="333375"/>
            </a:xfrm>
            <a:prstGeom prst="rect">
              <a:avLst/>
            </a:prstGeom>
            <a:noFill/>
            <a:ln cap="flat" cmpd="sng" w="9525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92" name="Google Shape;1292;p33"/>
            <p:cNvSpPr/>
            <p:nvPr/>
          </p:nvSpPr>
          <p:spPr>
            <a:xfrm>
              <a:off x="3541713" y="4879975"/>
              <a:ext cx="1108075" cy="200025"/>
            </a:xfrm>
            <a:prstGeom prst="rect">
              <a:avLst/>
            </a:prstGeom>
            <a:noFill/>
            <a:ln cap="flat" cmpd="sng" w="9525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93" name="Google Shape;1293;p33"/>
            <p:cNvSpPr/>
            <p:nvPr/>
          </p:nvSpPr>
          <p:spPr>
            <a:xfrm>
              <a:off x="3589351" y="4116370"/>
              <a:ext cx="11082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&lt;&lt;entity&gt;&gt;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94" name="Google Shape;1294;p33"/>
            <p:cNvSpPr/>
            <p:nvPr/>
          </p:nvSpPr>
          <p:spPr>
            <a:xfrm>
              <a:off x="868363" y="4113213"/>
              <a:ext cx="1123950" cy="966787"/>
            </a:xfrm>
            <a:prstGeom prst="rect">
              <a:avLst/>
            </a:prstGeom>
            <a:solidFill>
              <a:srgbClr val="FFFFCC"/>
            </a:solidFill>
            <a:ln cap="flat" cmpd="sng" w="9525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95" name="Google Shape;1295;p33"/>
            <p:cNvSpPr/>
            <p:nvPr/>
          </p:nvSpPr>
          <p:spPr>
            <a:xfrm>
              <a:off x="935038" y="4370388"/>
              <a:ext cx="963612" cy="258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Student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96" name="Google Shape;1296;p33"/>
            <p:cNvSpPr/>
            <p:nvPr/>
          </p:nvSpPr>
          <p:spPr>
            <a:xfrm>
              <a:off x="868363" y="4746625"/>
              <a:ext cx="1123950" cy="333375"/>
            </a:xfrm>
            <a:prstGeom prst="rect">
              <a:avLst/>
            </a:prstGeom>
            <a:noFill/>
            <a:ln cap="flat" cmpd="sng" w="9525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97" name="Google Shape;1297;p33"/>
            <p:cNvSpPr/>
            <p:nvPr/>
          </p:nvSpPr>
          <p:spPr>
            <a:xfrm>
              <a:off x="868363" y="4879975"/>
              <a:ext cx="1123950" cy="200025"/>
            </a:xfrm>
            <a:prstGeom prst="rect">
              <a:avLst/>
            </a:prstGeom>
            <a:noFill/>
            <a:ln cap="flat" cmpd="sng" w="9525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98" name="Google Shape;1298;p33"/>
            <p:cNvSpPr/>
            <p:nvPr/>
          </p:nvSpPr>
          <p:spPr>
            <a:xfrm>
              <a:off x="916001" y="4116370"/>
              <a:ext cx="1108200" cy="25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&lt;&lt;entity&gt;&gt;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299" name="Google Shape;1299;p33"/>
            <p:cNvSpPr/>
            <p:nvPr/>
          </p:nvSpPr>
          <p:spPr>
            <a:xfrm>
              <a:off x="2070100" y="4679950"/>
              <a:ext cx="120650" cy="258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1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00" name="Google Shape;1300;p33"/>
            <p:cNvSpPr/>
            <p:nvPr/>
          </p:nvSpPr>
          <p:spPr>
            <a:xfrm>
              <a:off x="3121025" y="4627563"/>
              <a:ext cx="342900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0..*</a:t>
              </a:r>
              <a:endParaRPr/>
            </a:p>
          </p:txBody>
        </p:sp>
        <p:sp>
          <p:nvSpPr>
            <p:cNvPr id="1301" name="Google Shape;1301;p33"/>
            <p:cNvSpPr/>
            <p:nvPr/>
          </p:nvSpPr>
          <p:spPr>
            <a:xfrm>
              <a:off x="2070100" y="4679950"/>
              <a:ext cx="12700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1</a:t>
              </a:r>
              <a:endParaRPr/>
            </a:p>
          </p:txBody>
        </p:sp>
        <p:sp>
          <p:nvSpPr>
            <p:cNvPr id="1302" name="Google Shape;1302;p33"/>
            <p:cNvSpPr/>
            <p:nvPr/>
          </p:nvSpPr>
          <p:spPr>
            <a:xfrm>
              <a:off x="2019300" y="4470400"/>
              <a:ext cx="381000" cy="187325"/>
            </a:xfrm>
            <a:custGeom>
              <a:rect b="b" l="l" r="r" t="t"/>
              <a:pathLst>
                <a:path extrusionOk="0" h="70" w="128">
                  <a:moveTo>
                    <a:pt x="0" y="35"/>
                  </a:moveTo>
                  <a:lnTo>
                    <a:pt x="64" y="70"/>
                  </a:lnTo>
                  <a:lnTo>
                    <a:pt x="128" y="35"/>
                  </a:lnTo>
                  <a:lnTo>
                    <a:pt x="64" y="0"/>
                  </a:lnTo>
                  <a:lnTo>
                    <a:pt x="0" y="35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34"/>
          <p:cNvSpPr txBox="1"/>
          <p:nvPr>
            <p:ph type="title"/>
          </p:nvPr>
        </p:nvSpPr>
        <p:spPr>
          <a:xfrm>
            <a:off x="228600" y="704088"/>
            <a:ext cx="8915400" cy="6675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Kết hợp (association) - kết tập(aggregation)</a:t>
            </a:r>
            <a:endParaRPr sz="4000"/>
          </a:p>
        </p:txBody>
      </p:sp>
      <p:sp>
        <p:nvSpPr>
          <p:cNvPr id="1308" name="Google Shape;1308;p3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9" name="Google Shape;1309;p34"/>
          <p:cNvSpPr txBox="1"/>
          <p:nvPr>
            <p:ph idx="1" type="body"/>
          </p:nvPr>
        </p:nvSpPr>
        <p:spPr>
          <a:xfrm>
            <a:off x="457200" y="175260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Nếu hai đối tượng ràng buộc chẽ bởi một quan hệ toàn bộ - bộ phận</a:t>
            </a:r>
            <a:endParaRPr sz="2800"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Quan</a:t>
            </a:r>
            <a:r>
              <a:rPr lang="en-US" sz="2400"/>
              <a:t> hệ sẽ là một kết tập</a:t>
            </a:r>
            <a:endParaRPr sz="2400"/>
          </a:p>
          <a:p>
            <a:pPr indent="-11734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400"/>
          </a:p>
          <a:p>
            <a:pPr indent="-11734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 sz="2400"/>
          </a:p>
          <a:p>
            <a:pPr indent="-274320" lvl="0" marL="274320" rtl="0" algn="l">
              <a:spcBef>
                <a:spcPts val="560"/>
              </a:spcBef>
              <a:spcAft>
                <a:spcPts val="0"/>
              </a:spcAft>
              <a:buSzPts val="2660"/>
              <a:buChar char="⚫"/>
            </a:pPr>
            <a:r>
              <a:rPr lang="en-US" sz="2800"/>
              <a:t>Nếu hai đối tượng thường được xem là độc lập mặc dù đôi khi chúng được liên kết với nhau</a:t>
            </a:r>
            <a:endParaRPr sz="2800"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 sz="2400"/>
              <a:t>Quan hệ khi đó là một kết hợp</a:t>
            </a:r>
            <a:endParaRPr sz="2400"/>
          </a:p>
        </p:txBody>
      </p:sp>
      <p:grpSp>
        <p:nvGrpSpPr>
          <p:cNvPr id="1310" name="Google Shape;1310;p34"/>
          <p:cNvGrpSpPr/>
          <p:nvPr/>
        </p:nvGrpSpPr>
        <p:grpSpPr>
          <a:xfrm>
            <a:off x="1905000" y="3276600"/>
            <a:ext cx="5060950" cy="893762"/>
            <a:chOff x="1200" y="1525"/>
            <a:chExt cx="3188" cy="563"/>
          </a:xfrm>
        </p:grpSpPr>
        <p:cxnSp>
          <p:nvCxnSpPr>
            <p:cNvPr id="1311" name="Google Shape;1311;p34"/>
            <p:cNvCxnSpPr/>
            <p:nvPr/>
          </p:nvCxnSpPr>
          <p:spPr>
            <a:xfrm rot="10800000">
              <a:off x="2104" y="1776"/>
              <a:ext cx="1684" cy="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12" name="Google Shape;1312;p34"/>
            <p:cNvSpPr/>
            <p:nvPr/>
          </p:nvSpPr>
          <p:spPr>
            <a:xfrm>
              <a:off x="1200" y="1537"/>
              <a:ext cx="677" cy="479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13" name="Google Shape;1313;p34"/>
            <p:cNvSpPr/>
            <p:nvPr/>
          </p:nvSpPr>
          <p:spPr>
            <a:xfrm>
              <a:off x="1422" y="1573"/>
              <a:ext cx="20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Car</a:t>
              </a:r>
              <a:endParaRPr sz="1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14" name="Google Shape;1314;p34"/>
            <p:cNvSpPr/>
            <p:nvPr/>
          </p:nvSpPr>
          <p:spPr>
            <a:xfrm>
              <a:off x="1200" y="1789"/>
              <a:ext cx="677" cy="227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15" name="Google Shape;1315;p34"/>
            <p:cNvSpPr/>
            <p:nvPr/>
          </p:nvSpPr>
          <p:spPr>
            <a:xfrm>
              <a:off x="1200" y="1884"/>
              <a:ext cx="677" cy="132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16" name="Google Shape;1316;p34"/>
            <p:cNvSpPr/>
            <p:nvPr/>
          </p:nvSpPr>
          <p:spPr>
            <a:xfrm>
              <a:off x="3711" y="1525"/>
              <a:ext cx="677" cy="491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17" name="Google Shape;1317;p34"/>
            <p:cNvSpPr/>
            <p:nvPr/>
          </p:nvSpPr>
          <p:spPr>
            <a:xfrm>
              <a:off x="3886" y="157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Door</a:t>
              </a:r>
              <a:endParaRPr sz="1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18" name="Google Shape;1318;p34"/>
            <p:cNvSpPr/>
            <p:nvPr/>
          </p:nvSpPr>
          <p:spPr>
            <a:xfrm>
              <a:off x="3711" y="1789"/>
              <a:ext cx="677" cy="227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19" name="Google Shape;1319;p34"/>
            <p:cNvSpPr/>
            <p:nvPr/>
          </p:nvSpPr>
          <p:spPr>
            <a:xfrm>
              <a:off x="3711" y="1884"/>
              <a:ext cx="677" cy="132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20" name="Google Shape;1320;p34"/>
            <p:cNvSpPr/>
            <p:nvPr/>
          </p:nvSpPr>
          <p:spPr>
            <a:xfrm>
              <a:off x="3271" y="1896"/>
              <a:ext cx="399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0..2,4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21" name="Google Shape;1321;p34"/>
            <p:cNvSpPr/>
            <p:nvPr/>
          </p:nvSpPr>
          <p:spPr>
            <a:xfrm>
              <a:off x="1912" y="1884"/>
              <a:ext cx="89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1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22" name="Google Shape;1322;p34"/>
            <p:cNvSpPr/>
            <p:nvPr/>
          </p:nvSpPr>
          <p:spPr>
            <a:xfrm>
              <a:off x="1891" y="1704"/>
              <a:ext cx="229" cy="133"/>
            </a:xfrm>
            <a:custGeom>
              <a:rect b="b" l="l" r="r" t="t"/>
              <a:pathLst>
                <a:path extrusionOk="0" h="107" w="199">
                  <a:moveTo>
                    <a:pt x="0" y="60"/>
                  </a:moveTo>
                  <a:lnTo>
                    <a:pt x="105" y="107"/>
                  </a:lnTo>
                  <a:lnTo>
                    <a:pt x="199" y="60"/>
                  </a:lnTo>
                  <a:lnTo>
                    <a:pt x="105" y="0"/>
                  </a:lnTo>
                  <a:lnTo>
                    <a:pt x="0" y="60"/>
                  </a:lnTo>
                  <a:close/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grpSp>
        <p:nvGrpSpPr>
          <p:cNvPr id="1323" name="Google Shape;1323;p34"/>
          <p:cNvGrpSpPr/>
          <p:nvPr/>
        </p:nvGrpSpPr>
        <p:grpSpPr>
          <a:xfrm>
            <a:off x="1828800" y="5638800"/>
            <a:ext cx="5054600" cy="858837"/>
            <a:chOff x="1202" y="3191"/>
            <a:chExt cx="3184" cy="541"/>
          </a:xfrm>
        </p:grpSpPr>
        <p:cxnSp>
          <p:nvCxnSpPr>
            <p:cNvPr id="1324" name="Google Shape;1324;p34"/>
            <p:cNvCxnSpPr/>
            <p:nvPr/>
          </p:nvCxnSpPr>
          <p:spPr>
            <a:xfrm flipH="1">
              <a:off x="1841" y="3442"/>
              <a:ext cx="1907" cy="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5" name="Google Shape;1325;p34"/>
            <p:cNvSpPr/>
            <p:nvPr/>
          </p:nvSpPr>
          <p:spPr>
            <a:xfrm>
              <a:off x="1202" y="3203"/>
              <a:ext cx="687" cy="463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26" name="Google Shape;1326;p34"/>
            <p:cNvSpPr/>
            <p:nvPr/>
          </p:nvSpPr>
          <p:spPr>
            <a:xfrm>
              <a:off x="1427" y="3238"/>
              <a:ext cx="206" cy="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Car</a:t>
              </a:r>
              <a:endParaRPr sz="1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27" name="Google Shape;1327;p34"/>
            <p:cNvSpPr/>
            <p:nvPr/>
          </p:nvSpPr>
          <p:spPr>
            <a:xfrm>
              <a:off x="1202" y="3446"/>
              <a:ext cx="687" cy="220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28" name="Google Shape;1328;p34"/>
            <p:cNvSpPr/>
            <p:nvPr/>
          </p:nvSpPr>
          <p:spPr>
            <a:xfrm>
              <a:off x="1202" y="3539"/>
              <a:ext cx="687" cy="127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29" name="Google Shape;1329;p34"/>
            <p:cNvSpPr/>
            <p:nvPr/>
          </p:nvSpPr>
          <p:spPr>
            <a:xfrm>
              <a:off x="3700" y="3191"/>
              <a:ext cx="686" cy="475"/>
            </a:xfrm>
            <a:prstGeom prst="rect">
              <a:avLst/>
            </a:prstGeom>
            <a:solidFill>
              <a:srgbClr val="FFFFCC"/>
            </a:solidFill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30" name="Google Shape;1330;p34"/>
            <p:cNvSpPr/>
            <p:nvPr/>
          </p:nvSpPr>
          <p:spPr>
            <a:xfrm>
              <a:off x="3877" y="323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onstantia"/>
                  <a:ea typeface="Constantia"/>
                  <a:cs typeface="Constantia"/>
                  <a:sym typeface="Constantia"/>
                </a:rPr>
                <a:t>Door</a:t>
              </a:r>
              <a:endParaRPr sz="16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31" name="Google Shape;1331;p34"/>
            <p:cNvSpPr/>
            <p:nvPr/>
          </p:nvSpPr>
          <p:spPr>
            <a:xfrm>
              <a:off x="3700" y="3446"/>
              <a:ext cx="686" cy="220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32" name="Google Shape;1332;p34"/>
            <p:cNvSpPr/>
            <p:nvPr/>
          </p:nvSpPr>
          <p:spPr>
            <a:xfrm>
              <a:off x="3700" y="3539"/>
              <a:ext cx="686" cy="127"/>
            </a:xfrm>
            <a:prstGeom prst="rect">
              <a:avLst/>
            </a:prstGeom>
            <a:noFill/>
            <a:ln cap="flat" cmpd="sng" w="12700">
              <a:solidFill>
                <a:srgbClr val="99003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33" name="Google Shape;1333;p34"/>
            <p:cNvSpPr/>
            <p:nvPr/>
          </p:nvSpPr>
          <p:spPr>
            <a:xfrm>
              <a:off x="3271" y="3550"/>
              <a:ext cx="381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0..2,4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34" name="Google Shape;1334;p34"/>
            <p:cNvSpPr/>
            <p:nvPr/>
          </p:nvSpPr>
          <p:spPr>
            <a:xfrm>
              <a:off x="1924" y="3539"/>
              <a:ext cx="85" cy="1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1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3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Multiplicity – Tính phức tạp</a:t>
            </a:r>
            <a:endParaRPr/>
          </a:p>
        </p:txBody>
      </p:sp>
      <p:sp>
        <p:nvSpPr>
          <p:cNvPr id="1340" name="Google Shape;1340;p3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41" name="Google Shape;134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8600" y="1847100"/>
            <a:ext cx="6101610" cy="481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3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347" name="Google Shape;1347;p3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8" name="Google Shape;1348;p3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Multiplicity trả lời hai câu hỏi: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Kết hợp là thiết yếu hay tùy chọn: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Số thể hiện tối đa và tối thiểu có thể được liên kết với một thể hiện?</a:t>
            </a:r>
            <a:endParaRPr/>
          </a:p>
          <a:p>
            <a:pPr indent="-11734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</p:txBody>
      </p:sp>
      <p:sp>
        <p:nvSpPr>
          <p:cNvPr id="1349" name="Google Shape;1349;p36"/>
          <p:cNvSpPr/>
          <p:nvPr/>
        </p:nvSpPr>
        <p:spPr>
          <a:xfrm>
            <a:off x="6383338" y="4826000"/>
            <a:ext cx="1454150" cy="866775"/>
          </a:xfrm>
          <a:custGeom>
            <a:rect b="b" l="l" r="r" t="t"/>
            <a:pathLst>
              <a:path extrusionOk="0" h="43" w="72">
                <a:moveTo>
                  <a:pt x="72" y="24"/>
                </a:moveTo>
                <a:lnTo>
                  <a:pt x="72" y="43"/>
                </a:lnTo>
                <a:lnTo>
                  <a:pt x="0" y="43"/>
                </a:ln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350" name="Google Shape;1350;p36"/>
          <p:cNvSpPr/>
          <p:nvPr/>
        </p:nvSpPr>
        <p:spPr>
          <a:xfrm>
            <a:off x="7089775" y="4241800"/>
            <a:ext cx="747713" cy="1068388"/>
          </a:xfrm>
          <a:custGeom>
            <a:rect b="b" l="l" r="r" t="t"/>
            <a:pathLst>
              <a:path extrusionOk="0" h="53" w="37">
                <a:moveTo>
                  <a:pt x="37" y="53"/>
                </a:moveTo>
                <a:lnTo>
                  <a:pt x="37" y="0"/>
                </a:lnTo>
                <a:lnTo>
                  <a:pt x="0" y="0"/>
                </a:ln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351" name="Google Shape;1351;p36"/>
          <p:cNvCxnSpPr/>
          <p:nvPr/>
        </p:nvCxnSpPr>
        <p:spPr>
          <a:xfrm flipH="1">
            <a:off x="2874963" y="4240213"/>
            <a:ext cx="2986087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2" name="Google Shape;1352;p36"/>
          <p:cNvSpPr/>
          <p:nvPr/>
        </p:nvSpPr>
        <p:spPr>
          <a:xfrm>
            <a:off x="5676900" y="3657600"/>
            <a:ext cx="1412875" cy="1168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353" name="Google Shape;1353;p36"/>
          <p:cNvSpPr/>
          <p:nvPr/>
        </p:nvSpPr>
        <p:spPr>
          <a:xfrm>
            <a:off x="5676900" y="4422775"/>
            <a:ext cx="1412875" cy="403225"/>
          </a:xfrm>
          <a:prstGeom prst="rect">
            <a:avLst/>
          </a:prstGeom>
          <a:noFill/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354" name="Google Shape;1354;p36"/>
          <p:cNvSpPr/>
          <p:nvPr/>
        </p:nvSpPr>
        <p:spPr>
          <a:xfrm>
            <a:off x="5676900" y="4564063"/>
            <a:ext cx="1412875" cy="261937"/>
          </a:xfrm>
          <a:prstGeom prst="rect">
            <a:avLst/>
          </a:prstGeom>
          <a:noFill/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355" name="Google Shape;1355;p36"/>
          <p:cNvSpPr/>
          <p:nvPr/>
        </p:nvSpPr>
        <p:spPr>
          <a:xfrm>
            <a:off x="5919788" y="3662363"/>
            <a:ext cx="96202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&lt;&lt;entity&gt;&gt;</a:t>
            </a:r>
            <a:endParaRPr sz="16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356" name="Google Shape;1356;p36"/>
          <p:cNvSpPr/>
          <p:nvPr/>
        </p:nvSpPr>
        <p:spPr>
          <a:xfrm>
            <a:off x="952500" y="3657600"/>
            <a:ext cx="1998663" cy="11684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357" name="Google Shape;1357;p36"/>
          <p:cNvSpPr/>
          <p:nvPr/>
        </p:nvSpPr>
        <p:spPr>
          <a:xfrm>
            <a:off x="1241425" y="3946525"/>
            <a:ext cx="13779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CourseOffering</a:t>
            </a:r>
            <a:endParaRPr sz="16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358" name="Google Shape;1358;p36"/>
          <p:cNvSpPr/>
          <p:nvPr/>
        </p:nvSpPr>
        <p:spPr>
          <a:xfrm>
            <a:off x="952500" y="4422775"/>
            <a:ext cx="1998663" cy="403225"/>
          </a:xfrm>
          <a:prstGeom prst="rect">
            <a:avLst/>
          </a:prstGeom>
          <a:noFill/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359" name="Google Shape;1359;p36"/>
          <p:cNvSpPr/>
          <p:nvPr/>
        </p:nvSpPr>
        <p:spPr>
          <a:xfrm>
            <a:off x="952500" y="4564063"/>
            <a:ext cx="1998663" cy="261937"/>
          </a:xfrm>
          <a:prstGeom prst="rect">
            <a:avLst/>
          </a:prstGeom>
          <a:noFill/>
          <a:ln cap="flat" cmpd="sng" w="9525">
            <a:solidFill>
              <a:srgbClr val="9900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360" name="Google Shape;1360;p36"/>
          <p:cNvSpPr/>
          <p:nvPr/>
        </p:nvSpPr>
        <p:spPr>
          <a:xfrm>
            <a:off x="1498600" y="3662363"/>
            <a:ext cx="962025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&lt;&lt;entity&gt;&gt;</a:t>
            </a:r>
            <a:endParaRPr sz="16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361" name="Google Shape;1361;p36"/>
          <p:cNvSpPr/>
          <p:nvPr/>
        </p:nvSpPr>
        <p:spPr>
          <a:xfrm>
            <a:off x="3011488" y="3759200"/>
            <a:ext cx="3429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0..*</a:t>
            </a:r>
            <a:endParaRPr/>
          </a:p>
        </p:txBody>
      </p:sp>
      <p:sp>
        <p:nvSpPr>
          <p:cNvPr id="1362" name="Google Shape;1362;p36"/>
          <p:cNvSpPr/>
          <p:nvPr/>
        </p:nvSpPr>
        <p:spPr>
          <a:xfrm>
            <a:off x="5454650" y="3759200"/>
            <a:ext cx="12700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</a:t>
            </a:r>
            <a:endParaRPr/>
          </a:p>
        </p:txBody>
      </p:sp>
      <p:sp>
        <p:nvSpPr>
          <p:cNvPr id="1363" name="Google Shape;1363;p36"/>
          <p:cNvSpPr/>
          <p:nvPr/>
        </p:nvSpPr>
        <p:spPr>
          <a:xfrm>
            <a:off x="6056313" y="3886200"/>
            <a:ext cx="654050" cy="244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Course</a:t>
            </a:r>
            <a:endParaRPr sz="16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364" name="Google Shape;1364;p36"/>
          <p:cNvSpPr/>
          <p:nvPr/>
        </p:nvSpPr>
        <p:spPr>
          <a:xfrm>
            <a:off x="4827588" y="4983163"/>
            <a:ext cx="13970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preRequisites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365" name="Google Shape;1365;p36"/>
          <p:cNvSpPr/>
          <p:nvPr/>
        </p:nvSpPr>
        <p:spPr>
          <a:xfrm>
            <a:off x="6477000" y="4830763"/>
            <a:ext cx="3810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0..3</a:t>
            </a:r>
            <a:endParaRPr/>
          </a:p>
        </p:txBody>
      </p:sp>
      <p:sp>
        <p:nvSpPr>
          <p:cNvPr id="1366" name="Google Shape;1366;p36"/>
          <p:cNvSpPr/>
          <p:nvPr/>
        </p:nvSpPr>
        <p:spPr>
          <a:xfrm>
            <a:off x="7142162" y="4306888"/>
            <a:ext cx="3429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0..*</a:t>
            </a:r>
            <a:endParaRPr/>
          </a:p>
        </p:txBody>
      </p:sp>
      <p:pic>
        <p:nvPicPr>
          <p:cNvPr id="1367" name="Google Shape;136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657600"/>
            <a:ext cx="76200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3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514600"/>
            <a:ext cx="8229600" cy="3624840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37"/>
          <p:cNvSpPr txBox="1"/>
          <p:nvPr>
            <p:ph type="title"/>
          </p:nvPr>
        </p:nvSpPr>
        <p:spPr>
          <a:xfrm>
            <a:off x="457200" y="704088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VOPC – Tìm kiếm các liên kết giữa các lớp</a:t>
            </a:r>
            <a:endParaRPr sz="3600"/>
          </a:p>
        </p:txBody>
      </p:sp>
      <p:sp>
        <p:nvSpPr>
          <p:cNvPr id="1374" name="Google Shape;1374;p3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5" name="Google Shape;1375;p37"/>
          <p:cNvSpPr txBox="1"/>
          <p:nvPr/>
        </p:nvSpPr>
        <p:spPr>
          <a:xfrm>
            <a:off x="457200" y="1676400"/>
            <a:ext cx="82296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marR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660"/>
              <a:buFont typeface="Noto Sans Symbols"/>
              <a:buChar char="⚫"/>
            </a:pPr>
            <a:r>
              <a:rPr lang="en-US" sz="2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VOPC – View of Participating Classes</a:t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3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Cơ chế phân tích</a:t>
            </a:r>
            <a:endParaRPr/>
          </a:p>
        </p:txBody>
      </p:sp>
      <p:sp>
        <p:nvSpPr>
          <p:cNvPr id="1381" name="Google Shape;1381;p3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Xác định giữa lớp phân tích vào các cơ chế phân tích</a:t>
            </a:r>
            <a:endParaRPr/>
          </a:p>
        </p:txBody>
      </p:sp>
      <p:sp>
        <p:nvSpPr>
          <p:cNvPr id="1382" name="Google Shape;1382;p3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3" name="Google Shape;1383;p38"/>
          <p:cNvGrpSpPr/>
          <p:nvPr/>
        </p:nvGrpSpPr>
        <p:grpSpPr>
          <a:xfrm>
            <a:off x="511444" y="3276600"/>
            <a:ext cx="8632555" cy="2457450"/>
            <a:chOff x="624" y="1368"/>
            <a:chExt cx="4201" cy="1548"/>
          </a:xfrm>
        </p:grpSpPr>
        <p:cxnSp>
          <p:nvCxnSpPr>
            <p:cNvPr id="1384" name="Google Shape;1384;p38"/>
            <p:cNvCxnSpPr/>
            <p:nvPr/>
          </p:nvCxnSpPr>
          <p:spPr>
            <a:xfrm>
              <a:off x="2544" y="1368"/>
              <a:ext cx="0" cy="154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85" name="Google Shape;1385;p38"/>
            <p:cNvSpPr/>
            <p:nvPr/>
          </p:nvSpPr>
          <p:spPr>
            <a:xfrm>
              <a:off x="624" y="1368"/>
              <a:ext cx="4032" cy="1548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1386" name="Google Shape;1386;p38"/>
            <p:cNvCxnSpPr/>
            <p:nvPr/>
          </p:nvCxnSpPr>
          <p:spPr>
            <a:xfrm>
              <a:off x="624" y="1752"/>
              <a:ext cx="40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87" name="Google Shape;1387;p38"/>
            <p:cNvSpPr txBox="1"/>
            <p:nvPr/>
          </p:nvSpPr>
          <p:spPr>
            <a:xfrm>
              <a:off x="864" y="1464"/>
              <a:ext cx="15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Lớp phân tích</a:t>
              </a:r>
              <a:endParaRPr b="1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88" name="Google Shape;1388;p38"/>
            <p:cNvSpPr txBox="1"/>
            <p:nvPr/>
          </p:nvSpPr>
          <p:spPr>
            <a:xfrm>
              <a:off x="2759" y="1464"/>
              <a:ext cx="182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Các cơ chế phân tích</a:t>
              </a:r>
              <a:endParaRPr b="1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89" name="Google Shape;1389;p38"/>
            <p:cNvSpPr txBox="1"/>
            <p:nvPr/>
          </p:nvSpPr>
          <p:spPr>
            <a:xfrm>
              <a:off x="624" y="1761"/>
              <a:ext cx="120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Student</a:t>
              </a:r>
              <a:endParaRPr/>
            </a:p>
          </p:txBody>
        </p:sp>
        <p:cxnSp>
          <p:nvCxnSpPr>
            <p:cNvPr id="1390" name="Google Shape;1390;p38"/>
            <p:cNvCxnSpPr/>
            <p:nvPr/>
          </p:nvCxnSpPr>
          <p:spPr>
            <a:xfrm>
              <a:off x="624" y="1992"/>
              <a:ext cx="40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91" name="Google Shape;1391;p38"/>
            <p:cNvSpPr txBox="1"/>
            <p:nvPr/>
          </p:nvSpPr>
          <p:spPr>
            <a:xfrm>
              <a:off x="624" y="1992"/>
              <a:ext cx="120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Schedule</a:t>
              </a:r>
              <a:endParaRPr/>
            </a:p>
          </p:txBody>
        </p:sp>
        <p:cxnSp>
          <p:nvCxnSpPr>
            <p:cNvPr id="1392" name="Google Shape;1392;p38"/>
            <p:cNvCxnSpPr/>
            <p:nvPr/>
          </p:nvCxnSpPr>
          <p:spPr>
            <a:xfrm>
              <a:off x="624" y="2223"/>
              <a:ext cx="40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93" name="Google Shape;1393;p38"/>
            <p:cNvSpPr txBox="1"/>
            <p:nvPr/>
          </p:nvSpPr>
          <p:spPr>
            <a:xfrm>
              <a:off x="624" y="2223"/>
              <a:ext cx="120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CourseOffering</a:t>
              </a:r>
              <a:endParaRPr/>
            </a:p>
          </p:txBody>
        </p:sp>
        <p:cxnSp>
          <p:nvCxnSpPr>
            <p:cNvPr id="1394" name="Google Shape;1394;p38"/>
            <p:cNvCxnSpPr/>
            <p:nvPr/>
          </p:nvCxnSpPr>
          <p:spPr>
            <a:xfrm>
              <a:off x="624" y="2454"/>
              <a:ext cx="40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95" name="Google Shape;1395;p38"/>
            <p:cNvSpPr txBox="1"/>
            <p:nvPr/>
          </p:nvSpPr>
          <p:spPr>
            <a:xfrm>
              <a:off x="624" y="2454"/>
              <a:ext cx="120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Course</a:t>
              </a:r>
              <a:endParaRPr/>
            </a:p>
          </p:txBody>
        </p:sp>
        <p:cxnSp>
          <p:nvCxnSpPr>
            <p:cNvPr id="1396" name="Google Shape;1396;p38"/>
            <p:cNvCxnSpPr/>
            <p:nvPr/>
          </p:nvCxnSpPr>
          <p:spPr>
            <a:xfrm>
              <a:off x="624" y="2685"/>
              <a:ext cx="4032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97" name="Google Shape;1397;p38"/>
            <p:cNvSpPr txBox="1"/>
            <p:nvPr/>
          </p:nvSpPr>
          <p:spPr>
            <a:xfrm>
              <a:off x="624" y="2685"/>
              <a:ext cx="163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RegistrationController</a:t>
              </a:r>
              <a:endParaRPr/>
            </a:p>
          </p:txBody>
        </p:sp>
        <p:sp>
          <p:nvSpPr>
            <p:cNvPr id="1398" name="Google Shape;1398;p38"/>
            <p:cNvSpPr txBox="1"/>
            <p:nvPr/>
          </p:nvSpPr>
          <p:spPr>
            <a:xfrm>
              <a:off x="2640" y="1761"/>
              <a:ext cx="1680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Lưu </a:t>
              </a: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trữ</a:t>
              </a: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 bền vững, An ninh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99" name="Google Shape;1399;p38"/>
            <p:cNvSpPr txBox="1"/>
            <p:nvPr/>
          </p:nvSpPr>
          <p:spPr>
            <a:xfrm>
              <a:off x="2640" y="2223"/>
              <a:ext cx="218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Lưu </a:t>
              </a: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trữ</a:t>
              </a: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 bền vững, Kế thừa giao diện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400" name="Google Shape;1400;p38"/>
            <p:cNvSpPr txBox="1"/>
            <p:nvPr/>
          </p:nvSpPr>
          <p:spPr>
            <a:xfrm>
              <a:off x="2640" y="2454"/>
              <a:ext cx="218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Lưu </a:t>
              </a: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trữ</a:t>
              </a: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 bền vững, Kế thừa giao diện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401" name="Google Shape;1401;p38"/>
            <p:cNvSpPr txBox="1"/>
            <p:nvPr/>
          </p:nvSpPr>
          <p:spPr>
            <a:xfrm>
              <a:off x="2640" y="2685"/>
              <a:ext cx="117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Phân tán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402" name="Google Shape;1402;p38"/>
            <p:cNvSpPr txBox="1"/>
            <p:nvPr/>
          </p:nvSpPr>
          <p:spPr>
            <a:xfrm>
              <a:off x="2640" y="1992"/>
              <a:ext cx="16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Lưu </a:t>
              </a: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trữ</a:t>
              </a: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 bền vững, An ninh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3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Hợp nhất các lớp phân tích</a:t>
            </a:r>
            <a:endParaRPr/>
          </a:p>
        </p:txBody>
      </p:sp>
      <p:sp>
        <p:nvSpPr>
          <p:cNvPr id="1408" name="Google Shape;1408;p3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409" name="Google Shape;1409;p39"/>
          <p:cNvGrpSpPr/>
          <p:nvPr/>
        </p:nvGrpSpPr>
        <p:grpSpPr>
          <a:xfrm>
            <a:off x="457200" y="1935163"/>
            <a:ext cx="8229600" cy="4389437"/>
            <a:chOff x="244475" y="787400"/>
            <a:chExt cx="8848725" cy="5656263"/>
          </a:xfrm>
        </p:grpSpPr>
        <p:sp>
          <p:nvSpPr>
            <p:cNvPr id="1410" name="Google Shape;1410;p39"/>
            <p:cNvSpPr/>
            <p:nvPr/>
          </p:nvSpPr>
          <p:spPr>
            <a:xfrm>
              <a:off x="5824538" y="787400"/>
              <a:ext cx="3052762" cy="559593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411" name="Google Shape;1411;p39"/>
            <p:cNvSpPr/>
            <p:nvPr/>
          </p:nvSpPr>
          <p:spPr>
            <a:xfrm>
              <a:off x="314325" y="787400"/>
              <a:ext cx="1433513" cy="55626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412" name="Google Shape;1412;p39"/>
            <p:cNvSpPr/>
            <p:nvPr/>
          </p:nvSpPr>
          <p:spPr>
            <a:xfrm>
              <a:off x="609600" y="2119313"/>
              <a:ext cx="884238" cy="506412"/>
            </a:xfrm>
            <a:prstGeom prst="ellipse">
              <a:avLst/>
            </a:prstGeom>
            <a:solidFill>
              <a:srgbClr val="FFFFCC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413" name="Google Shape;1413;p39"/>
            <p:cNvSpPr/>
            <p:nvPr/>
          </p:nvSpPr>
          <p:spPr>
            <a:xfrm>
              <a:off x="254000" y="2711450"/>
              <a:ext cx="1619250" cy="530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Register for Courses</a:t>
              </a:r>
              <a:endParaRPr/>
            </a:p>
          </p:txBody>
        </p:sp>
        <p:sp>
          <p:nvSpPr>
            <p:cNvPr id="1414" name="Google Shape;1414;p39"/>
            <p:cNvSpPr/>
            <p:nvPr/>
          </p:nvSpPr>
          <p:spPr>
            <a:xfrm>
              <a:off x="593725" y="4175125"/>
              <a:ext cx="871538" cy="506413"/>
            </a:xfrm>
            <a:prstGeom prst="ellipse">
              <a:avLst/>
            </a:prstGeom>
            <a:solidFill>
              <a:schemeClr val="hlink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415" name="Google Shape;1415;p39"/>
            <p:cNvSpPr/>
            <p:nvPr/>
          </p:nvSpPr>
          <p:spPr>
            <a:xfrm>
              <a:off x="244475" y="4743450"/>
              <a:ext cx="1581150" cy="530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6025" lIns="92075" spcFirstLastPara="1" rIns="92075" wrap="square" tIns="46025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Close Registration</a:t>
              </a:r>
              <a:endParaRPr/>
            </a:p>
          </p:txBody>
        </p:sp>
        <p:sp>
          <p:nvSpPr>
            <p:cNvPr id="1416" name="Google Shape;1416;p39"/>
            <p:cNvSpPr/>
            <p:nvPr/>
          </p:nvSpPr>
          <p:spPr>
            <a:xfrm>
              <a:off x="2170113" y="800100"/>
              <a:ext cx="3255962" cy="271462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417" name="Google Shape;1417;p39"/>
            <p:cNvSpPr/>
            <p:nvPr/>
          </p:nvSpPr>
          <p:spPr>
            <a:xfrm>
              <a:off x="5487988" y="4365625"/>
              <a:ext cx="325437" cy="576263"/>
            </a:xfrm>
            <a:prstGeom prst="rightArrow">
              <a:avLst>
                <a:gd fmla="val 50000" name="adj1"/>
                <a:gd fmla="val 50005" name="adj2"/>
              </a:avLst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418" name="Google Shape;1418;p39"/>
            <p:cNvSpPr/>
            <p:nvPr/>
          </p:nvSpPr>
          <p:spPr>
            <a:xfrm>
              <a:off x="5472113" y="2127250"/>
              <a:ext cx="327025" cy="577850"/>
            </a:xfrm>
            <a:prstGeom prst="rightArrow">
              <a:avLst>
                <a:gd fmla="val 50000" name="adj1"/>
                <a:gd fmla="val 50005" name="adj2"/>
              </a:avLst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419" name="Google Shape;1419;p39"/>
            <p:cNvSpPr/>
            <p:nvPr/>
          </p:nvSpPr>
          <p:spPr>
            <a:xfrm>
              <a:off x="1798638" y="4365625"/>
              <a:ext cx="327025" cy="576263"/>
            </a:xfrm>
            <a:prstGeom prst="rightArrow">
              <a:avLst>
                <a:gd fmla="val 50000" name="adj1"/>
                <a:gd fmla="val 50005" name="adj2"/>
              </a:avLst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420" name="Google Shape;1420;p39"/>
            <p:cNvSpPr/>
            <p:nvPr/>
          </p:nvSpPr>
          <p:spPr>
            <a:xfrm>
              <a:off x="1804988" y="2266950"/>
              <a:ext cx="328612" cy="577850"/>
            </a:xfrm>
            <a:prstGeom prst="rightArrow">
              <a:avLst>
                <a:gd fmla="val 50000" name="adj1"/>
                <a:gd fmla="val 50005" name="adj2"/>
              </a:avLst>
            </a:prstGeom>
            <a:solidFill>
              <a:schemeClr val="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1421" name="Google Shape;1421;p39"/>
            <p:cNvCxnSpPr/>
            <p:nvPr/>
          </p:nvCxnSpPr>
          <p:spPr>
            <a:xfrm flipH="1">
              <a:off x="7223125" y="2525713"/>
              <a:ext cx="428625" cy="22383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2" name="Google Shape;1422;p39"/>
            <p:cNvCxnSpPr/>
            <p:nvPr/>
          </p:nvCxnSpPr>
          <p:spPr>
            <a:xfrm rot="10800000">
              <a:off x="6978650" y="1100138"/>
              <a:ext cx="658813" cy="127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3" name="Google Shape;1423;p39"/>
            <p:cNvCxnSpPr/>
            <p:nvPr/>
          </p:nvCxnSpPr>
          <p:spPr>
            <a:xfrm>
              <a:off x="3197225" y="4560888"/>
              <a:ext cx="320675" cy="23971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4" name="Google Shape;1424;p39"/>
            <p:cNvCxnSpPr/>
            <p:nvPr/>
          </p:nvCxnSpPr>
          <p:spPr>
            <a:xfrm>
              <a:off x="2892425" y="5788025"/>
              <a:ext cx="1797050" cy="10795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5" name="Google Shape;1425;p39"/>
            <p:cNvCxnSpPr/>
            <p:nvPr/>
          </p:nvCxnSpPr>
          <p:spPr>
            <a:xfrm flipH="1" rot="10800000">
              <a:off x="2870200" y="5437188"/>
              <a:ext cx="427038" cy="20002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26" name="Google Shape;1426;p39"/>
            <p:cNvSpPr/>
            <p:nvPr/>
          </p:nvSpPr>
          <p:spPr>
            <a:xfrm>
              <a:off x="4514850" y="2627313"/>
              <a:ext cx="839788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Student</a:t>
              </a:r>
              <a:endParaRPr/>
            </a:p>
          </p:txBody>
        </p:sp>
        <p:grpSp>
          <p:nvGrpSpPr>
            <p:cNvPr id="1427" name="Google Shape;1427;p39"/>
            <p:cNvGrpSpPr/>
            <p:nvPr/>
          </p:nvGrpSpPr>
          <p:grpSpPr>
            <a:xfrm>
              <a:off x="4824427" y="2209800"/>
              <a:ext cx="298451" cy="307975"/>
              <a:chOff x="2655" y="968"/>
              <a:chExt cx="188" cy="194"/>
            </a:xfrm>
          </p:grpSpPr>
          <p:sp>
            <p:nvSpPr>
              <p:cNvPr id="1428" name="Google Shape;1428;p39"/>
              <p:cNvSpPr/>
              <p:nvPr/>
            </p:nvSpPr>
            <p:spPr>
              <a:xfrm>
                <a:off x="2655" y="968"/>
                <a:ext cx="185" cy="194"/>
              </a:xfrm>
              <a:prstGeom prst="ellipse">
                <a:avLst/>
              </a:prstGeom>
              <a:solidFill>
                <a:srgbClr val="FFFFCC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429" name="Google Shape;1429;p39"/>
              <p:cNvCxnSpPr/>
              <p:nvPr/>
            </p:nvCxnSpPr>
            <p:spPr>
              <a:xfrm flipH="1" rot="10800000">
                <a:off x="2655" y="1160"/>
                <a:ext cx="188" cy="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430" name="Google Shape;1430;p39"/>
            <p:cNvSpPr/>
            <p:nvPr/>
          </p:nvSpPr>
          <p:spPr>
            <a:xfrm>
              <a:off x="2192338" y="5861050"/>
              <a:ext cx="839787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Course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Offering</a:t>
              </a:r>
              <a:endParaRPr/>
            </a:p>
          </p:txBody>
        </p:sp>
        <p:grpSp>
          <p:nvGrpSpPr>
            <p:cNvPr id="1431" name="Google Shape;1431;p39"/>
            <p:cNvGrpSpPr/>
            <p:nvPr/>
          </p:nvGrpSpPr>
          <p:grpSpPr>
            <a:xfrm>
              <a:off x="2438400" y="5519738"/>
              <a:ext cx="317500" cy="322262"/>
              <a:chOff x="2155" y="2905"/>
              <a:chExt cx="374" cy="359"/>
            </a:xfrm>
          </p:grpSpPr>
          <p:sp>
            <p:nvSpPr>
              <p:cNvPr id="1432" name="Google Shape;1432;p39"/>
              <p:cNvSpPr/>
              <p:nvPr/>
            </p:nvSpPr>
            <p:spPr>
              <a:xfrm>
                <a:off x="2155" y="2905"/>
                <a:ext cx="374" cy="358"/>
              </a:xfrm>
              <a:prstGeom prst="ellipse">
                <a:avLst/>
              </a:prstGeom>
              <a:solidFill>
                <a:schemeClr val="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433" name="Google Shape;1433;p39"/>
              <p:cNvCxnSpPr/>
              <p:nvPr/>
            </p:nvCxnSpPr>
            <p:spPr>
              <a:xfrm>
                <a:off x="2155" y="3263"/>
                <a:ext cx="374" cy="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434" name="Google Shape;1434;p39"/>
            <p:cNvSpPr/>
            <p:nvPr/>
          </p:nvSpPr>
          <p:spPr>
            <a:xfrm>
              <a:off x="2230438" y="2927350"/>
              <a:ext cx="839787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Course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Offering</a:t>
              </a:r>
              <a:endParaRPr/>
            </a:p>
          </p:txBody>
        </p:sp>
        <p:sp>
          <p:nvSpPr>
            <p:cNvPr id="1435" name="Google Shape;1435;p39"/>
            <p:cNvSpPr/>
            <p:nvPr/>
          </p:nvSpPr>
          <p:spPr>
            <a:xfrm>
              <a:off x="4570413" y="5154613"/>
              <a:ext cx="839787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Student</a:t>
              </a:r>
              <a:endParaRPr/>
            </a:p>
          </p:txBody>
        </p:sp>
        <p:grpSp>
          <p:nvGrpSpPr>
            <p:cNvPr id="1436" name="Google Shape;1436;p39"/>
            <p:cNvGrpSpPr/>
            <p:nvPr/>
          </p:nvGrpSpPr>
          <p:grpSpPr>
            <a:xfrm>
              <a:off x="3568700" y="4683125"/>
              <a:ext cx="320675" cy="395288"/>
              <a:chOff x="1912" y="3126"/>
              <a:chExt cx="202" cy="249"/>
            </a:xfrm>
          </p:grpSpPr>
          <p:sp>
            <p:nvSpPr>
              <p:cNvPr id="1437" name="Google Shape;1437;p39"/>
              <p:cNvSpPr/>
              <p:nvPr/>
            </p:nvSpPr>
            <p:spPr>
              <a:xfrm>
                <a:off x="1912" y="3175"/>
                <a:ext cx="202" cy="200"/>
              </a:xfrm>
              <a:prstGeom prst="ellipse">
                <a:avLst/>
              </a:prstGeom>
              <a:solidFill>
                <a:schemeClr val="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grpSp>
            <p:nvGrpSpPr>
              <p:cNvPr id="1438" name="Google Shape;1438;p39"/>
              <p:cNvGrpSpPr/>
              <p:nvPr/>
            </p:nvGrpSpPr>
            <p:grpSpPr>
              <a:xfrm>
                <a:off x="1984" y="3126"/>
                <a:ext cx="59" cy="100"/>
                <a:chOff x="2000" y="2990"/>
                <a:chExt cx="59" cy="100"/>
              </a:xfrm>
            </p:grpSpPr>
            <p:cxnSp>
              <p:nvCxnSpPr>
                <p:cNvPr id="1439" name="Google Shape;1439;p39"/>
                <p:cNvCxnSpPr/>
                <p:nvPr/>
              </p:nvCxnSpPr>
              <p:spPr>
                <a:xfrm flipH="1" rot="10800000">
                  <a:off x="2000" y="2990"/>
                  <a:ext cx="59" cy="53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40" name="Google Shape;1440;p39"/>
                <p:cNvCxnSpPr/>
                <p:nvPr/>
              </p:nvCxnSpPr>
              <p:spPr>
                <a:xfrm rot="10800000">
                  <a:off x="2003" y="3041"/>
                  <a:ext cx="55" cy="49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1441" name="Google Shape;1441;p39"/>
            <p:cNvSpPr/>
            <p:nvPr/>
          </p:nvSpPr>
          <p:spPr>
            <a:xfrm>
              <a:off x="3111500" y="5146675"/>
              <a:ext cx="1422400" cy="6286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CloseRegistration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Controller</a:t>
              </a:r>
              <a:endParaRPr/>
            </a:p>
          </p:txBody>
        </p:sp>
        <p:sp>
          <p:nvSpPr>
            <p:cNvPr id="1442" name="Google Shape;1442;p39"/>
            <p:cNvSpPr/>
            <p:nvPr/>
          </p:nvSpPr>
          <p:spPr>
            <a:xfrm>
              <a:off x="3200400" y="1965325"/>
              <a:ext cx="1333500" cy="5127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Registration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Controller</a:t>
              </a:r>
              <a:endParaRPr/>
            </a:p>
          </p:txBody>
        </p:sp>
        <p:grpSp>
          <p:nvGrpSpPr>
            <p:cNvPr id="1443" name="Google Shape;1443;p39"/>
            <p:cNvGrpSpPr/>
            <p:nvPr/>
          </p:nvGrpSpPr>
          <p:grpSpPr>
            <a:xfrm>
              <a:off x="2608266" y="3746500"/>
              <a:ext cx="422276" cy="298450"/>
              <a:chOff x="1824" y="672"/>
              <a:chExt cx="510" cy="366"/>
            </a:xfrm>
          </p:grpSpPr>
          <p:sp>
            <p:nvSpPr>
              <p:cNvPr id="1444" name="Google Shape;1444;p39"/>
              <p:cNvSpPr/>
              <p:nvPr/>
            </p:nvSpPr>
            <p:spPr>
              <a:xfrm>
                <a:off x="1968" y="672"/>
                <a:ext cx="366" cy="366"/>
              </a:xfrm>
              <a:prstGeom prst="ellipse">
                <a:avLst/>
              </a:prstGeom>
              <a:solidFill>
                <a:schemeClr val="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445" name="Google Shape;1445;p39"/>
              <p:cNvCxnSpPr/>
              <p:nvPr/>
            </p:nvCxnSpPr>
            <p:spPr>
              <a:xfrm>
                <a:off x="1824" y="736"/>
                <a:ext cx="0" cy="23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6" name="Google Shape;1446;p39"/>
              <p:cNvCxnSpPr/>
              <p:nvPr/>
            </p:nvCxnSpPr>
            <p:spPr>
              <a:xfrm rot="10800000">
                <a:off x="1824" y="855"/>
                <a:ext cx="144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447" name="Google Shape;1447;p39"/>
            <p:cNvSpPr/>
            <p:nvPr/>
          </p:nvSpPr>
          <p:spPr>
            <a:xfrm>
              <a:off x="2286000" y="4052888"/>
              <a:ext cx="1295400" cy="4365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CloseRegistration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Form</a:t>
              </a:r>
              <a:endParaRPr/>
            </a:p>
          </p:txBody>
        </p:sp>
        <p:grpSp>
          <p:nvGrpSpPr>
            <p:cNvPr id="1448" name="Google Shape;1448;p39"/>
            <p:cNvGrpSpPr/>
            <p:nvPr/>
          </p:nvGrpSpPr>
          <p:grpSpPr>
            <a:xfrm>
              <a:off x="4683128" y="901700"/>
              <a:ext cx="422276" cy="298450"/>
              <a:chOff x="1824" y="672"/>
              <a:chExt cx="510" cy="366"/>
            </a:xfrm>
          </p:grpSpPr>
          <p:sp>
            <p:nvSpPr>
              <p:cNvPr id="1449" name="Google Shape;1449;p39"/>
              <p:cNvSpPr/>
              <p:nvPr/>
            </p:nvSpPr>
            <p:spPr>
              <a:xfrm>
                <a:off x="1968" y="672"/>
                <a:ext cx="366" cy="366"/>
              </a:xfrm>
              <a:prstGeom prst="ellipse">
                <a:avLst/>
              </a:prstGeom>
              <a:solidFill>
                <a:srgbClr val="FFFFCC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450" name="Google Shape;1450;p39"/>
              <p:cNvCxnSpPr/>
              <p:nvPr/>
            </p:nvCxnSpPr>
            <p:spPr>
              <a:xfrm>
                <a:off x="1824" y="736"/>
                <a:ext cx="0" cy="23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1" name="Google Shape;1451;p39"/>
              <p:cNvCxnSpPr/>
              <p:nvPr/>
            </p:nvCxnSpPr>
            <p:spPr>
              <a:xfrm rot="10800000">
                <a:off x="1824" y="855"/>
                <a:ext cx="144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452" name="Google Shape;1452;p39"/>
            <p:cNvSpPr/>
            <p:nvPr/>
          </p:nvSpPr>
          <p:spPr>
            <a:xfrm>
              <a:off x="4297363" y="1258888"/>
              <a:ext cx="1257300" cy="677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Course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Catalog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System</a:t>
              </a:r>
              <a:endParaRPr/>
            </a:p>
          </p:txBody>
        </p:sp>
        <p:sp>
          <p:nvSpPr>
            <p:cNvPr id="1453" name="Google Shape;1453;p39"/>
            <p:cNvSpPr/>
            <p:nvPr/>
          </p:nvSpPr>
          <p:spPr>
            <a:xfrm>
              <a:off x="3482975" y="3240088"/>
              <a:ext cx="83820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Schedule</a:t>
              </a:r>
              <a:endParaRPr/>
            </a:p>
          </p:txBody>
        </p:sp>
        <p:cxnSp>
          <p:nvCxnSpPr>
            <p:cNvPr id="1454" name="Google Shape;1454;p39"/>
            <p:cNvCxnSpPr/>
            <p:nvPr/>
          </p:nvCxnSpPr>
          <p:spPr>
            <a:xfrm flipH="1" rot="10800000">
              <a:off x="4981575" y="5424488"/>
              <a:ext cx="4763" cy="20796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5" name="Google Shape;1455;p39"/>
            <p:cNvCxnSpPr/>
            <p:nvPr/>
          </p:nvCxnSpPr>
          <p:spPr>
            <a:xfrm flipH="1">
              <a:off x="6275388" y="2587625"/>
              <a:ext cx="74612" cy="860425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6" name="Google Shape;1456;p39"/>
            <p:cNvCxnSpPr/>
            <p:nvPr/>
          </p:nvCxnSpPr>
          <p:spPr>
            <a:xfrm rot="10800000">
              <a:off x="6824663" y="4256088"/>
              <a:ext cx="314325" cy="152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7" name="Google Shape;1457;p39"/>
            <p:cNvCxnSpPr/>
            <p:nvPr/>
          </p:nvCxnSpPr>
          <p:spPr>
            <a:xfrm>
              <a:off x="8397875" y="1903413"/>
              <a:ext cx="17463" cy="17383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58" name="Google Shape;1458;p39"/>
            <p:cNvSpPr/>
            <p:nvPr/>
          </p:nvSpPr>
          <p:spPr>
            <a:xfrm>
              <a:off x="5619750" y="3863975"/>
              <a:ext cx="1373188" cy="5381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Course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Catalog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System</a:t>
              </a:r>
              <a:endParaRPr/>
            </a:p>
          </p:txBody>
        </p:sp>
        <p:cxnSp>
          <p:nvCxnSpPr>
            <p:cNvPr id="1459" name="Google Shape;1459;p39"/>
            <p:cNvCxnSpPr/>
            <p:nvPr/>
          </p:nvCxnSpPr>
          <p:spPr>
            <a:xfrm flipH="1" rot="10800000">
              <a:off x="7531100" y="2936875"/>
              <a:ext cx="360363" cy="12842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0" name="Google Shape;1460;p39"/>
            <p:cNvSpPr/>
            <p:nvPr/>
          </p:nvSpPr>
          <p:spPr>
            <a:xfrm>
              <a:off x="6511925" y="3036888"/>
              <a:ext cx="83820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Course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Offering</a:t>
              </a:r>
              <a:endParaRPr/>
            </a:p>
          </p:txBody>
        </p:sp>
        <p:sp>
          <p:nvSpPr>
            <p:cNvPr id="1461" name="Google Shape;1461;p39"/>
            <p:cNvSpPr/>
            <p:nvPr/>
          </p:nvSpPr>
          <p:spPr>
            <a:xfrm>
              <a:off x="7937500" y="4094163"/>
              <a:ext cx="83820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Schedule</a:t>
              </a:r>
              <a:endParaRPr/>
            </a:p>
          </p:txBody>
        </p:sp>
        <p:grpSp>
          <p:nvGrpSpPr>
            <p:cNvPr id="1462" name="Google Shape;1462;p39"/>
            <p:cNvGrpSpPr/>
            <p:nvPr/>
          </p:nvGrpSpPr>
          <p:grpSpPr>
            <a:xfrm>
              <a:off x="7764506" y="871558"/>
              <a:ext cx="330202" cy="395290"/>
              <a:chOff x="4523" y="1693"/>
              <a:chExt cx="208" cy="249"/>
            </a:xfrm>
          </p:grpSpPr>
          <p:cxnSp>
            <p:nvCxnSpPr>
              <p:cNvPr id="1463" name="Google Shape;1463;p39"/>
              <p:cNvCxnSpPr/>
              <p:nvPr/>
            </p:nvCxnSpPr>
            <p:spPr>
              <a:xfrm flipH="1" rot="10800000">
                <a:off x="4587" y="1693"/>
                <a:ext cx="59" cy="53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64" name="Google Shape;1464;p39"/>
              <p:cNvSpPr/>
              <p:nvPr/>
            </p:nvSpPr>
            <p:spPr>
              <a:xfrm>
                <a:off x="4523" y="1736"/>
                <a:ext cx="208" cy="206"/>
              </a:xfrm>
              <a:prstGeom prst="ellipse">
                <a:avLst/>
              </a:prstGeom>
              <a:solidFill>
                <a:srgbClr val="FFFFCC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465" name="Google Shape;1465;p39"/>
              <p:cNvCxnSpPr/>
              <p:nvPr/>
            </p:nvCxnSpPr>
            <p:spPr>
              <a:xfrm rot="10800000">
                <a:off x="4589" y="1744"/>
                <a:ext cx="56" cy="4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466" name="Google Shape;1466;p39"/>
            <p:cNvSpPr/>
            <p:nvPr/>
          </p:nvSpPr>
          <p:spPr>
            <a:xfrm>
              <a:off x="7332663" y="1322388"/>
              <a:ext cx="1270000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Registration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Controller</a:t>
              </a:r>
              <a:endParaRPr/>
            </a:p>
          </p:txBody>
        </p:sp>
        <p:sp>
          <p:nvSpPr>
            <p:cNvPr id="1467" name="Google Shape;1467;p39"/>
            <p:cNvSpPr/>
            <p:nvPr/>
          </p:nvSpPr>
          <p:spPr>
            <a:xfrm>
              <a:off x="7485063" y="2613025"/>
              <a:ext cx="83820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Student</a:t>
              </a:r>
              <a:endParaRPr/>
            </a:p>
          </p:txBody>
        </p:sp>
        <p:cxnSp>
          <p:nvCxnSpPr>
            <p:cNvPr id="1468" name="Google Shape;1468;p39"/>
            <p:cNvCxnSpPr/>
            <p:nvPr/>
          </p:nvCxnSpPr>
          <p:spPr>
            <a:xfrm flipH="1">
              <a:off x="6659563" y="5087938"/>
              <a:ext cx="320675" cy="32861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9" name="Google Shape;1469;p39"/>
            <p:cNvCxnSpPr/>
            <p:nvPr/>
          </p:nvCxnSpPr>
          <p:spPr>
            <a:xfrm rot="10800000">
              <a:off x="8064500" y="5091113"/>
              <a:ext cx="265113" cy="2095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70" name="Google Shape;1470;p39"/>
            <p:cNvGrpSpPr/>
            <p:nvPr/>
          </p:nvGrpSpPr>
          <p:grpSpPr>
            <a:xfrm>
              <a:off x="7243783" y="4292600"/>
              <a:ext cx="328613" cy="393700"/>
              <a:chOff x="4059" y="2984"/>
              <a:chExt cx="207" cy="248"/>
            </a:xfrm>
          </p:grpSpPr>
          <p:cxnSp>
            <p:nvCxnSpPr>
              <p:cNvPr id="1471" name="Google Shape;1471;p39"/>
              <p:cNvCxnSpPr/>
              <p:nvPr/>
            </p:nvCxnSpPr>
            <p:spPr>
              <a:xfrm flipH="1" rot="10800000">
                <a:off x="4123" y="2984"/>
                <a:ext cx="58" cy="5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72" name="Google Shape;1472;p39"/>
              <p:cNvSpPr/>
              <p:nvPr/>
            </p:nvSpPr>
            <p:spPr>
              <a:xfrm>
                <a:off x="4059" y="3027"/>
                <a:ext cx="207" cy="205"/>
              </a:xfrm>
              <a:prstGeom prst="ellipse">
                <a:avLst/>
              </a:prstGeom>
              <a:solidFill>
                <a:schemeClr val="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473" name="Google Shape;1473;p39"/>
              <p:cNvCxnSpPr/>
              <p:nvPr/>
            </p:nvCxnSpPr>
            <p:spPr>
              <a:xfrm rot="10800000">
                <a:off x="4125" y="3034"/>
                <a:ext cx="55" cy="5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474" name="Google Shape;1474;p39"/>
            <p:cNvSpPr/>
            <p:nvPr/>
          </p:nvSpPr>
          <p:spPr>
            <a:xfrm>
              <a:off x="6607175" y="4743450"/>
              <a:ext cx="1754188" cy="565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 CloseRegistration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Controller</a:t>
              </a:r>
              <a:endParaRPr/>
            </a:p>
          </p:txBody>
        </p:sp>
        <p:cxnSp>
          <p:nvCxnSpPr>
            <p:cNvPr id="1475" name="Google Shape;1475;p39"/>
            <p:cNvCxnSpPr/>
            <p:nvPr/>
          </p:nvCxnSpPr>
          <p:spPr>
            <a:xfrm>
              <a:off x="7935913" y="1890713"/>
              <a:ext cx="3175" cy="2936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76" name="Google Shape;1476;p39"/>
            <p:cNvGrpSpPr/>
            <p:nvPr/>
          </p:nvGrpSpPr>
          <p:grpSpPr>
            <a:xfrm>
              <a:off x="8181975" y="3724286"/>
              <a:ext cx="346075" cy="352426"/>
              <a:chOff x="5154" y="2106"/>
              <a:chExt cx="218" cy="222"/>
            </a:xfrm>
          </p:grpSpPr>
          <p:cxnSp>
            <p:nvCxnSpPr>
              <p:cNvPr id="1477" name="Google Shape;1477;p39"/>
              <p:cNvCxnSpPr/>
              <p:nvPr/>
            </p:nvCxnSpPr>
            <p:spPr>
              <a:xfrm flipH="1" rot="10800000">
                <a:off x="5154" y="2312"/>
                <a:ext cx="218" cy="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478" name="Google Shape;1478;p39"/>
              <p:cNvGrpSpPr/>
              <p:nvPr/>
            </p:nvGrpSpPr>
            <p:grpSpPr>
              <a:xfrm>
                <a:off x="5154" y="2106"/>
                <a:ext cx="212" cy="222"/>
                <a:chOff x="5154" y="2106"/>
                <a:chExt cx="212" cy="222"/>
              </a:xfrm>
            </p:grpSpPr>
            <p:sp>
              <p:nvSpPr>
                <p:cNvPr id="1479" name="Google Shape;1479;p39"/>
                <p:cNvSpPr/>
                <p:nvPr/>
              </p:nvSpPr>
              <p:spPr>
                <a:xfrm>
                  <a:off x="5154" y="2106"/>
                  <a:ext cx="203" cy="202"/>
                </a:xfrm>
                <a:prstGeom prst="ellipse">
                  <a:avLst/>
                </a:prstGeom>
                <a:solidFill>
                  <a:srgbClr val="FFFFCC"/>
                </a:solidFill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grpSp>
              <p:nvGrpSpPr>
                <p:cNvPr id="1480" name="Google Shape;1480;p39"/>
                <p:cNvGrpSpPr/>
                <p:nvPr/>
              </p:nvGrpSpPr>
              <p:grpSpPr>
                <a:xfrm>
                  <a:off x="5259" y="2118"/>
                  <a:ext cx="107" cy="210"/>
                  <a:chOff x="4776" y="2312"/>
                  <a:chExt cx="67" cy="128"/>
                </a:xfrm>
              </p:grpSpPr>
              <p:sp>
                <p:nvSpPr>
                  <p:cNvPr id="1481" name="Google Shape;1481;p39"/>
                  <p:cNvSpPr/>
                  <p:nvPr/>
                </p:nvSpPr>
                <p:spPr>
                  <a:xfrm>
                    <a:off x="4777" y="2313"/>
                    <a:ext cx="66" cy="64"/>
                  </a:xfrm>
                  <a:custGeom>
                    <a:rect b="b" l="l" r="r" t="t"/>
                    <a:pathLst>
                      <a:path extrusionOk="0" fill="none" h="21600" w="21924">
                        <a:moveTo>
                          <a:pt x="0" y="2"/>
                        </a:moveTo>
                        <a:cubicBezTo>
                          <a:pt x="108" y="0"/>
                          <a:pt x="217" y="-1"/>
                          <a:pt x="327" y="0"/>
                        </a:cubicBezTo>
                        <a:cubicBezTo>
                          <a:pt x="12122" y="0"/>
                          <a:pt x="21736" y="9462"/>
                          <a:pt x="21924" y="21256"/>
                        </a:cubicBezTo>
                      </a:path>
                      <a:path extrusionOk="0" h="21600" w="21924">
                        <a:moveTo>
                          <a:pt x="0" y="2"/>
                        </a:moveTo>
                        <a:cubicBezTo>
                          <a:pt x="108" y="0"/>
                          <a:pt x="217" y="-1"/>
                          <a:pt x="327" y="0"/>
                        </a:cubicBezTo>
                        <a:cubicBezTo>
                          <a:pt x="12122" y="0"/>
                          <a:pt x="21736" y="9462"/>
                          <a:pt x="21924" y="21256"/>
                        </a:cubicBezTo>
                        <a:lnTo>
                          <a:pt x="327" y="21600"/>
                        </a:lnTo>
                        <a:close/>
                      </a:path>
                    </a:pathLst>
                  </a:custGeom>
                  <a:solidFill>
                    <a:schemeClr val="hlink"/>
                  </a:solidFill>
                  <a:ln cap="rnd" cmpd="sng" w="12700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sp>
                <p:nvSpPr>
                  <p:cNvPr id="1482" name="Google Shape;1482;p39"/>
                  <p:cNvSpPr/>
                  <p:nvPr/>
                </p:nvSpPr>
                <p:spPr>
                  <a:xfrm>
                    <a:off x="4776" y="2375"/>
                    <a:ext cx="67" cy="65"/>
                  </a:xfrm>
                  <a:custGeom>
                    <a:rect b="b" l="l" r="r" t="t"/>
                    <a:pathLst>
                      <a:path extrusionOk="0" fill="none" h="21943" w="21932">
                        <a:moveTo>
                          <a:pt x="21929" y="-1"/>
                        </a:moveTo>
                        <a:cubicBezTo>
                          <a:pt x="21931" y="114"/>
                          <a:pt x="21932" y="228"/>
                          <a:pt x="21932" y="343"/>
                        </a:cubicBezTo>
                        <a:cubicBezTo>
                          <a:pt x="21932" y="12272"/>
                          <a:pt x="12261" y="21943"/>
                          <a:pt x="332" y="21943"/>
                        </a:cubicBezTo>
                        <a:cubicBezTo>
                          <a:pt x="221" y="21943"/>
                          <a:pt x="110" y="21942"/>
                          <a:pt x="-1" y="21940"/>
                        </a:cubicBezTo>
                      </a:path>
                      <a:path extrusionOk="0" h="21943" w="21932">
                        <a:moveTo>
                          <a:pt x="21929" y="-1"/>
                        </a:moveTo>
                        <a:cubicBezTo>
                          <a:pt x="21931" y="114"/>
                          <a:pt x="21932" y="228"/>
                          <a:pt x="21932" y="343"/>
                        </a:cubicBezTo>
                        <a:cubicBezTo>
                          <a:pt x="21932" y="12272"/>
                          <a:pt x="12261" y="21943"/>
                          <a:pt x="332" y="21943"/>
                        </a:cubicBezTo>
                        <a:cubicBezTo>
                          <a:pt x="221" y="21943"/>
                          <a:pt x="110" y="21942"/>
                          <a:pt x="-1" y="21940"/>
                        </a:cubicBezTo>
                        <a:lnTo>
                          <a:pt x="332" y="343"/>
                        </a:lnTo>
                        <a:close/>
                      </a:path>
                    </a:pathLst>
                  </a:custGeom>
                  <a:solidFill>
                    <a:schemeClr val="hlink"/>
                  </a:solidFill>
                  <a:ln cap="rnd" cmpd="sng" w="12700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1483" name="Google Shape;1483;p39"/>
                  <p:cNvCxnSpPr/>
                  <p:nvPr/>
                </p:nvCxnSpPr>
                <p:spPr>
                  <a:xfrm>
                    <a:off x="4776" y="2312"/>
                    <a:ext cx="0" cy="127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  <p:cxnSp>
          <p:nvCxnSpPr>
            <p:cNvPr id="1484" name="Google Shape;1484;p39"/>
            <p:cNvCxnSpPr/>
            <p:nvPr/>
          </p:nvCxnSpPr>
          <p:spPr>
            <a:xfrm>
              <a:off x="7002463" y="3581400"/>
              <a:ext cx="331787" cy="642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5" name="Google Shape;1485;p39"/>
            <p:cNvCxnSpPr/>
            <p:nvPr/>
          </p:nvCxnSpPr>
          <p:spPr>
            <a:xfrm flipH="1">
              <a:off x="7639050" y="4275138"/>
              <a:ext cx="234950" cy="1254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486" name="Google Shape;1486;p39"/>
            <p:cNvGrpSpPr/>
            <p:nvPr/>
          </p:nvGrpSpPr>
          <p:grpSpPr>
            <a:xfrm>
              <a:off x="6756400" y="2703536"/>
              <a:ext cx="355600" cy="328614"/>
              <a:chOff x="4464" y="2311"/>
              <a:chExt cx="224" cy="207"/>
            </a:xfrm>
          </p:grpSpPr>
          <p:cxnSp>
            <p:nvCxnSpPr>
              <p:cNvPr id="1487" name="Google Shape;1487;p39"/>
              <p:cNvCxnSpPr/>
              <p:nvPr/>
            </p:nvCxnSpPr>
            <p:spPr>
              <a:xfrm flipH="1" rot="10800000">
                <a:off x="4464" y="2516"/>
                <a:ext cx="218" cy="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488" name="Google Shape;1488;p39"/>
              <p:cNvGrpSpPr/>
              <p:nvPr/>
            </p:nvGrpSpPr>
            <p:grpSpPr>
              <a:xfrm>
                <a:off x="4464" y="2311"/>
                <a:ext cx="224" cy="204"/>
                <a:chOff x="4464" y="2311"/>
                <a:chExt cx="224" cy="204"/>
              </a:xfrm>
            </p:grpSpPr>
            <p:sp>
              <p:nvSpPr>
                <p:cNvPr id="1489" name="Google Shape;1489;p39"/>
                <p:cNvSpPr/>
                <p:nvPr/>
              </p:nvSpPr>
              <p:spPr>
                <a:xfrm>
                  <a:off x="4464" y="2313"/>
                  <a:ext cx="218" cy="202"/>
                </a:xfrm>
                <a:prstGeom prst="ellipse">
                  <a:avLst/>
                </a:prstGeom>
                <a:solidFill>
                  <a:srgbClr val="FFFFCC"/>
                </a:solidFill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grpSp>
              <p:nvGrpSpPr>
                <p:cNvPr id="1490" name="Google Shape;1490;p39"/>
                <p:cNvGrpSpPr/>
                <p:nvPr/>
              </p:nvGrpSpPr>
              <p:grpSpPr>
                <a:xfrm>
                  <a:off x="4578" y="2311"/>
                  <a:ext cx="110" cy="204"/>
                  <a:chOff x="4776" y="2312"/>
                  <a:chExt cx="67" cy="128"/>
                </a:xfrm>
              </p:grpSpPr>
              <p:sp>
                <p:nvSpPr>
                  <p:cNvPr id="1491" name="Google Shape;1491;p39"/>
                  <p:cNvSpPr/>
                  <p:nvPr/>
                </p:nvSpPr>
                <p:spPr>
                  <a:xfrm>
                    <a:off x="4777" y="2313"/>
                    <a:ext cx="66" cy="64"/>
                  </a:xfrm>
                  <a:custGeom>
                    <a:rect b="b" l="l" r="r" t="t"/>
                    <a:pathLst>
                      <a:path extrusionOk="0" fill="none" h="21600" w="21924">
                        <a:moveTo>
                          <a:pt x="0" y="2"/>
                        </a:moveTo>
                        <a:cubicBezTo>
                          <a:pt x="108" y="0"/>
                          <a:pt x="217" y="-1"/>
                          <a:pt x="327" y="0"/>
                        </a:cubicBezTo>
                        <a:cubicBezTo>
                          <a:pt x="12122" y="0"/>
                          <a:pt x="21736" y="9462"/>
                          <a:pt x="21924" y="21256"/>
                        </a:cubicBezTo>
                      </a:path>
                      <a:path extrusionOk="0" h="21600" w="21924">
                        <a:moveTo>
                          <a:pt x="0" y="2"/>
                        </a:moveTo>
                        <a:cubicBezTo>
                          <a:pt x="108" y="0"/>
                          <a:pt x="217" y="-1"/>
                          <a:pt x="327" y="0"/>
                        </a:cubicBezTo>
                        <a:cubicBezTo>
                          <a:pt x="12122" y="0"/>
                          <a:pt x="21736" y="9462"/>
                          <a:pt x="21924" y="21256"/>
                        </a:cubicBezTo>
                        <a:lnTo>
                          <a:pt x="327" y="21600"/>
                        </a:lnTo>
                        <a:close/>
                      </a:path>
                    </a:pathLst>
                  </a:custGeom>
                  <a:solidFill>
                    <a:schemeClr val="hlink"/>
                  </a:solidFill>
                  <a:ln cap="rnd" cmpd="sng" w="12700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sp>
                <p:nvSpPr>
                  <p:cNvPr id="1492" name="Google Shape;1492;p39"/>
                  <p:cNvSpPr/>
                  <p:nvPr/>
                </p:nvSpPr>
                <p:spPr>
                  <a:xfrm>
                    <a:off x="4776" y="2375"/>
                    <a:ext cx="67" cy="65"/>
                  </a:xfrm>
                  <a:custGeom>
                    <a:rect b="b" l="l" r="r" t="t"/>
                    <a:pathLst>
                      <a:path extrusionOk="0" fill="none" h="21943" w="21932">
                        <a:moveTo>
                          <a:pt x="21929" y="-1"/>
                        </a:moveTo>
                        <a:cubicBezTo>
                          <a:pt x="21931" y="114"/>
                          <a:pt x="21932" y="228"/>
                          <a:pt x="21932" y="343"/>
                        </a:cubicBezTo>
                        <a:cubicBezTo>
                          <a:pt x="21932" y="12272"/>
                          <a:pt x="12261" y="21943"/>
                          <a:pt x="332" y="21943"/>
                        </a:cubicBezTo>
                        <a:cubicBezTo>
                          <a:pt x="221" y="21943"/>
                          <a:pt x="110" y="21942"/>
                          <a:pt x="-1" y="21940"/>
                        </a:cubicBezTo>
                      </a:path>
                      <a:path extrusionOk="0" h="21943" w="21932">
                        <a:moveTo>
                          <a:pt x="21929" y="-1"/>
                        </a:moveTo>
                        <a:cubicBezTo>
                          <a:pt x="21931" y="114"/>
                          <a:pt x="21932" y="228"/>
                          <a:pt x="21932" y="343"/>
                        </a:cubicBezTo>
                        <a:cubicBezTo>
                          <a:pt x="21932" y="12272"/>
                          <a:pt x="12261" y="21943"/>
                          <a:pt x="332" y="21943"/>
                        </a:cubicBezTo>
                        <a:cubicBezTo>
                          <a:pt x="221" y="21943"/>
                          <a:pt x="110" y="21942"/>
                          <a:pt x="-1" y="21940"/>
                        </a:cubicBezTo>
                        <a:lnTo>
                          <a:pt x="332" y="343"/>
                        </a:lnTo>
                        <a:close/>
                      </a:path>
                    </a:pathLst>
                  </a:custGeom>
                  <a:solidFill>
                    <a:schemeClr val="hlink"/>
                  </a:solidFill>
                  <a:ln cap="rnd" cmpd="sng" w="12700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1493" name="Google Shape;1493;p39"/>
                  <p:cNvCxnSpPr/>
                  <p:nvPr/>
                </p:nvCxnSpPr>
                <p:spPr>
                  <a:xfrm>
                    <a:off x="4776" y="2312"/>
                    <a:ext cx="0" cy="127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  <p:grpSp>
          <p:nvGrpSpPr>
            <p:cNvPr id="1494" name="Google Shape;1494;p39"/>
            <p:cNvGrpSpPr/>
            <p:nvPr/>
          </p:nvGrpSpPr>
          <p:grpSpPr>
            <a:xfrm>
              <a:off x="4838700" y="4792663"/>
              <a:ext cx="317500" cy="322262"/>
              <a:chOff x="2155" y="2905"/>
              <a:chExt cx="374" cy="359"/>
            </a:xfrm>
          </p:grpSpPr>
          <p:sp>
            <p:nvSpPr>
              <p:cNvPr id="1495" name="Google Shape;1495;p39"/>
              <p:cNvSpPr/>
              <p:nvPr/>
            </p:nvSpPr>
            <p:spPr>
              <a:xfrm>
                <a:off x="2155" y="2905"/>
                <a:ext cx="374" cy="358"/>
              </a:xfrm>
              <a:prstGeom prst="ellipse">
                <a:avLst/>
              </a:prstGeom>
              <a:solidFill>
                <a:schemeClr val="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496" name="Google Shape;1496;p39"/>
              <p:cNvCxnSpPr/>
              <p:nvPr/>
            </p:nvCxnSpPr>
            <p:spPr>
              <a:xfrm>
                <a:off x="2155" y="3263"/>
                <a:ext cx="374" cy="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497" name="Google Shape;1497;p39"/>
            <p:cNvGrpSpPr/>
            <p:nvPr/>
          </p:nvGrpSpPr>
          <p:grpSpPr>
            <a:xfrm>
              <a:off x="2509852" y="2595563"/>
              <a:ext cx="298451" cy="307975"/>
              <a:chOff x="2655" y="968"/>
              <a:chExt cx="188" cy="194"/>
            </a:xfrm>
          </p:grpSpPr>
          <p:sp>
            <p:nvSpPr>
              <p:cNvPr id="1498" name="Google Shape;1498;p39"/>
              <p:cNvSpPr/>
              <p:nvPr/>
            </p:nvSpPr>
            <p:spPr>
              <a:xfrm>
                <a:off x="2655" y="968"/>
                <a:ext cx="185" cy="194"/>
              </a:xfrm>
              <a:prstGeom prst="ellipse">
                <a:avLst/>
              </a:prstGeom>
              <a:solidFill>
                <a:srgbClr val="FFFFCC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499" name="Google Shape;1499;p39"/>
              <p:cNvCxnSpPr/>
              <p:nvPr/>
            </p:nvCxnSpPr>
            <p:spPr>
              <a:xfrm flipH="1" rot="10800000">
                <a:off x="2655" y="1160"/>
                <a:ext cx="188" cy="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500" name="Google Shape;1500;p39"/>
            <p:cNvGrpSpPr/>
            <p:nvPr/>
          </p:nvGrpSpPr>
          <p:grpSpPr>
            <a:xfrm>
              <a:off x="3741752" y="2865438"/>
              <a:ext cx="298451" cy="307975"/>
              <a:chOff x="2655" y="968"/>
              <a:chExt cx="188" cy="194"/>
            </a:xfrm>
          </p:grpSpPr>
          <p:sp>
            <p:nvSpPr>
              <p:cNvPr id="1501" name="Google Shape;1501;p39"/>
              <p:cNvSpPr/>
              <p:nvPr/>
            </p:nvSpPr>
            <p:spPr>
              <a:xfrm>
                <a:off x="2655" y="968"/>
                <a:ext cx="185" cy="194"/>
              </a:xfrm>
              <a:prstGeom prst="ellipse">
                <a:avLst/>
              </a:prstGeom>
              <a:solidFill>
                <a:srgbClr val="FFFFCC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502" name="Google Shape;1502;p39"/>
              <p:cNvCxnSpPr/>
              <p:nvPr/>
            </p:nvCxnSpPr>
            <p:spPr>
              <a:xfrm flipH="1" rot="10800000">
                <a:off x="2655" y="1160"/>
                <a:ext cx="188" cy="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503" name="Google Shape;1503;p39"/>
            <p:cNvGrpSpPr/>
            <p:nvPr/>
          </p:nvGrpSpPr>
          <p:grpSpPr>
            <a:xfrm>
              <a:off x="6010275" y="3502025"/>
              <a:ext cx="430213" cy="303213"/>
              <a:chOff x="4114" y="1174"/>
              <a:chExt cx="271" cy="191"/>
            </a:xfrm>
          </p:grpSpPr>
          <p:grpSp>
            <p:nvGrpSpPr>
              <p:cNvPr id="1504" name="Google Shape;1504;p39"/>
              <p:cNvGrpSpPr/>
              <p:nvPr/>
            </p:nvGrpSpPr>
            <p:grpSpPr>
              <a:xfrm>
                <a:off x="4114" y="1177"/>
                <a:ext cx="263" cy="188"/>
                <a:chOff x="1824" y="672"/>
                <a:chExt cx="505" cy="367"/>
              </a:xfrm>
            </p:grpSpPr>
            <p:sp>
              <p:nvSpPr>
                <p:cNvPr id="1505" name="Google Shape;1505;p39"/>
                <p:cNvSpPr/>
                <p:nvPr/>
              </p:nvSpPr>
              <p:spPr>
                <a:xfrm>
                  <a:off x="1964" y="672"/>
                  <a:ext cx="365" cy="367"/>
                </a:xfrm>
                <a:prstGeom prst="ellipse">
                  <a:avLst/>
                </a:prstGeom>
                <a:solidFill>
                  <a:srgbClr val="FFFFCC"/>
                </a:solidFill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506" name="Google Shape;1506;p39"/>
                <p:cNvCxnSpPr/>
                <p:nvPr/>
              </p:nvCxnSpPr>
              <p:spPr>
                <a:xfrm>
                  <a:off x="1824" y="736"/>
                  <a:ext cx="0" cy="238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507" name="Google Shape;1507;p39"/>
                <p:cNvCxnSpPr/>
                <p:nvPr/>
              </p:nvCxnSpPr>
              <p:spPr>
                <a:xfrm rot="10800000">
                  <a:off x="1824" y="855"/>
                  <a:ext cx="144" cy="0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508" name="Google Shape;1508;p39"/>
              <p:cNvGrpSpPr/>
              <p:nvPr/>
            </p:nvGrpSpPr>
            <p:grpSpPr>
              <a:xfrm>
                <a:off x="4286" y="1174"/>
                <a:ext cx="99" cy="190"/>
                <a:chOff x="4776" y="2312"/>
                <a:chExt cx="67" cy="128"/>
              </a:xfrm>
            </p:grpSpPr>
            <p:sp>
              <p:nvSpPr>
                <p:cNvPr id="1509" name="Google Shape;1509;p39"/>
                <p:cNvSpPr/>
                <p:nvPr/>
              </p:nvSpPr>
              <p:spPr>
                <a:xfrm>
                  <a:off x="4777" y="2313"/>
                  <a:ext cx="66" cy="64"/>
                </a:xfrm>
                <a:custGeom>
                  <a:rect b="b" l="l" r="r" t="t"/>
                  <a:pathLst>
                    <a:path extrusionOk="0" fill="none" h="21600" w="21924">
                      <a:moveTo>
                        <a:pt x="0" y="2"/>
                      </a:moveTo>
                      <a:cubicBezTo>
                        <a:pt x="108" y="0"/>
                        <a:pt x="217" y="-1"/>
                        <a:pt x="327" y="0"/>
                      </a:cubicBezTo>
                      <a:cubicBezTo>
                        <a:pt x="12122" y="0"/>
                        <a:pt x="21736" y="9462"/>
                        <a:pt x="21924" y="21256"/>
                      </a:cubicBezTo>
                    </a:path>
                    <a:path extrusionOk="0" h="21600" w="21924">
                      <a:moveTo>
                        <a:pt x="0" y="2"/>
                      </a:moveTo>
                      <a:cubicBezTo>
                        <a:pt x="108" y="0"/>
                        <a:pt x="217" y="-1"/>
                        <a:pt x="327" y="0"/>
                      </a:cubicBezTo>
                      <a:cubicBezTo>
                        <a:pt x="12122" y="0"/>
                        <a:pt x="21736" y="9462"/>
                        <a:pt x="21924" y="21256"/>
                      </a:cubicBezTo>
                      <a:lnTo>
                        <a:pt x="327" y="21600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cap="rnd" cmpd="sng" w="1270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1510" name="Google Shape;1510;p39"/>
                <p:cNvSpPr/>
                <p:nvPr/>
              </p:nvSpPr>
              <p:spPr>
                <a:xfrm>
                  <a:off x="4776" y="2375"/>
                  <a:ext cx="67" cy="65"/>
                </a:xfrm>
                <a:custGeom>
                  <a:rect b="b" l="l" r="r" t="t"/>
                  <a:pathLst>
                    <a:path extrusionOk="0" fill="none" h="21943" w="21932">
                      <a:moveTo>
                        <a:pt x="21929" y="-1"/>
                      </a:moveTo>
                      <a:cubicBezTo>
                        <a:pt x="21931" y="114"/>
                        <a:pt x="21932" y="228"/>
                        <a:pt x="21932" y="343"/>
                      </a:cubicBezTo>
                      <a:cubicBezTo>
                        <a:pt x="21932" y="12272"/>
                        <a:pt x="12261" y="21943"/>
                        <a:pt x="332" y="21943"/>
                      </a:cubicBezTo>
                      <a:cubicBezTo>
                        <a:pt x="221" y="21943"/>
                        <a:pt x="110" y="21942"/>
                        <a:pt x="-1" y="21940"/>
                      </a:cubicBezTo>
                    </a:path>
                    <a:path extrusionOk="0" h="21943" w="21932">
                      <a:moveTo>
                        <a:pt x="21929" y="-1"/>
                      </a:moveTo>
                      <a:cubicBezTo>
                        <a:pt x="21931" y="114"/>
                        <a:pt x="21932" y="228"/>
                        <a:pt x="21932" y="343"/>
                      </a:cubicBezTo>
                      <a:cubicBezTo>
                        <a:pt x="21932" y="12272"/>
                        <a:pt x="12261" y="21943"/>
                        <a:pt x="332" y="21943"/>
                      </a:cubicBezTo>
                      <a:cubicBezTo>
                        <a:pt x="221" y="21943"/>
                        <a:pt x="110" y="21942"/>
                        <a:pt x="-1" y="21940"/>
                      </a:cubicBezTo>
                      <a:lnTo>
                        <a:pt x="332" y="343"/>
                      </a:lnTo>
                      <a:close/>
                    </a:path>
                  </a:pathLst>
                </a:custGeom>
                <a:solidFill>
                  <a:schemeClr val="hlink"/>
                </a:solidFill>
                <a:ln cap="rnd" cmpd="sng" w="1270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511" name="Google Shape;1511;p39"/>
                <p:cNvCxnSpPr/>
                <p:nvPr/>
              </p:nvCxnSpPr>
              <p:spPr>
                <a:xfrm>
                  <a:off x="4776" y="2312"/>
                  <a:ext cx="0" cy="127"/>
                </a:xfrm>
                <a:prstGeom prst="straightConnector1">
                  <a:avLst/>
                </a:prstGeom>
                <a:noFill/>
                <a:ln cap="flat" cmpd="sng" w="1270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</p:grpSp>
        <p:sp>
          <p:nvSpPr>
            <p:cNvPr id="1512" name="Google Shape;1512;p39"/>
            <p:cNvSpPr/>
            <p:nvPr/>
          </p:nvSpPr>
          <p:spPr>
            <a:xfrm>
              <a:off x="2165350" y="3619500"/>
              <a:ext cx="3255963" cy="2765425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1513" name="Google Shape;1513;p39"/>
            <p:cNvGrpSpPr/>
            <p:nvPr/>
          </p:nvGrpSpPr>
          <p:grpSpPr>
            <a:xfrm>
              <a:off x="4800600" y="5732463"/>
              <a:ext cx="317500" cy="322262"/>
              <a:chOff x="2155" y="2905"/>
              <a:chExt cx="374" cy="359"/>
            </a:xfrm>
          </p:grpSpPr>
          <p:sp>
            <p:nvSpPr>
              <p:cNvPr id="1514" name="Google Shape;1514;p39"/>
              <p:cNvSpPr/>
              <p:nvPr/>
            </p:nvSpPr>
            <p:spPr>
              <a:xfrm>
                <a:off x="2155" y="2905"/>
                <a:ext cx="374" cy="358"/>
              </a:xfrm>
              <a:prstGeom prst="ellipse">
                <a:avLst/>
              </a:prstGeom>
              <a:solidFill>
                <a:schemeClr val="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endParaRPr>
              </a:p>
            </p:txBody>
          </p:sp>
          <p:cxnSp>
            <p:nvCxnSpPr>
              <p:cNvPr id="1515" name="Google Shape;1515;p39"/>
              <p:cNvCxnSpPr/>
              <p:nvPr/>
            </p:nvCxnSpPr>
            <p:spPr>
              <a:xfrm>
                <a:off x="2155" y="3263"/>
                <a:ext cx="374" cy="1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516" name="Google Shape;1516;p39"/>
            <p:cNvSpPr/>
            <p:nvPr/>
          </p:nvSpPr>
          <p:spPr>
            <a:xfrm>
              <a:off x="4545013" y="6107113"/>
              <a:ext cx="839787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Schedule</a:t>
              </a:r>
              <a:endParaRPr/>
            </a:p>
          </p:txBody>
        </p:sp>
        <p:grpSp>
          <p:nvGrpSpPr>
            <p:cNvPr id="1517" name="Google Shape;1517;p39"/>
            <p:cNvGrpSpPr/>
            <p:nvPr/>
          </p:nvGrpSpPr>
          <p:grpSpPr>
            <a:xfrm>
              <a:off x="3700506" y="1570058"/>
              <a:ext cx="330202" cy="395290"/>
              <a:chOff x="4523" y="1693"/>
              <a:chExt cx="208" cy="249"/>
            </a:xfrm>
          </p:grpSpPr>
          <p:cxnSp>
            <p:nvCxnSpPr>
              <p:cNvPr id="1518" name="Google Shape;1518;p39"/>
              <p:cNvCxnSpPr/>
              <p:nvPr/>
            </p:nvCxnSpPr>
            <p:spPr>
              <a:xfrm flipH="1" rot="10800000">
                <a:off x="4587" y="1693"/>
                <a:ext cx="59" cy="53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519" name="Google Shape;1519;p39"/>
              <p:cNvSpPr/>
              <p:nvPr/>
            </p:nvSpPr>
            <p:spPr>
              <a:xfrm>
                <a:off x="4523" y="1736"/>
                <a:ext cx="208" cy="206"/>
              </a:xfrm>
              <a:prstGeom prst="ellipse">
                <a:avLst/>
              </a:prstGeom>
              <a:solidFill>
                <a:srgbClr val="FFFFCC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520" name="Google Shape;1520;p39"/>
              <p:cNvCxnSpPr/>
              <p:nvPr/>
            </p:nvCxnSpPr>
            <p:spPr>
              <a:xfrm rot="10800000">
                <a:off x="4589" y="1744"/>
                <a:ext cx="56" cy="49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521" name="Google Shape;1521;p39"/>
            <p:cNvSpPr/>
            <p:nvPr/>
          </p:nvSpPr>
          <p:spPr>
            <a:xfrm>
              <a:off x="4322763" y="4027488"/>
              <a:ext cx="1257300" cy="500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Course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Catalog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System</a:t>
              </a:r>
              <a:endParaRPr/>
            </a:p>
          </p:txBody>
        </p:sp>
        <p:grpSp>
          <p:nvGrpSpPr>
            <p:cNvPr id="1522" name="Google Shape;1522;p39"/>
            <p:cNvGrpSpPr/>
            <p:nvPr/>
          </p:nvGrpSpPr>
          <p:grpSpPr>
            <a:xfrm>
              <a:off x="2341566" y="4584700"/>
              <a:ext cx="422276" cy="298450"/>
              <a:chOff x="1824" y="672"/>
              <a:chExt cx="510" cy="366"/>
            </a:xfrm>
          </p:grpSpPr>
          <p:sp>
            <p:nvSpPr>
              <p:cNvPr id="1523" name="Google Shape;1523;p39"/>
              <p:cNvSpPr/>
              <p:nvPr/>
            </p:nvSpPr>
            <p:spPr>
              <a:xfrm>
                <a:off x="1968" y="672"/>
                <a:ext cx="366" cy="366"/>
              </a:xfrm>
              <a:prstGeom prst="ellipse">
                <a:avLst/>
              </a:prstGeom>
              <a:solidFill>
                <a:schemeClr val="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524" name="Google Shape;1524;p39"/>
              <p:cNvCxnSpPr/>
              <p:nvPr/>
            </p:nvCxnSpPr>
            <p:spPr>
              <a:xfrm>
                <a:off x="1824" y="736"/>
                <a:ext cx="0" cy="23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25" name="Google Shape;1525;p39"/>
              <p:cNvCxnSpPr/>
              <p:nvPr/>
            </p:nvCxnSpPr>
            <p:spPr>
              <a:xfrm rot="10800000">
                <a:off x="1824" y="855"/>
                <a:ext cx="144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526" name="Google Shape;1526;p39"/>
            <p:cNvSpPr/>
            <p:nvPr/>
          </p:nvSpPr>
          <p:spPr>
            <a:xfrm>
              <a:off x="1943100" y="4916488"/>
              <a:ext cx="1295400" cy="4365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Billing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System</a:t>
              </a:r>
              <a:endParaRPr/>
            </a:p>
          </p:txBody>
        </p:sp>
        <p:grpSp>
          <p:nvGrpSpPr>
            <p:cNvPr id="1527" name="Google Shape;1527;p39"/>
            <p:cNvGrpSpPr/>
            <p:nvPr/>
          </p:nvGrpSpPr>
          <p:grpSpPr>
            <a:xfrm>
              <a:off x="4678366" y="3695700"/>
              <a:ext cx="422276" cy="298450"/>
              <a:chOff x="1824" y="672"/>
              <a:chExt cx="510" cy="366"/>
            </a:xfrm>
          </p:grpSpPr>
          <p:sp>
            <p:nvSpPr>
              <p:cNvPr id="1528" name="Google Shape;1528;p39"/>
              <p:cNvSpPr/>
              <p:nvPr/>
            </p:nvSpPr>
            <p:spPr>
              <a:xfrm>
                <a:off x="1968" y="672"/>
                <a:ext cx="366" cy="366"/>
              </a:xfrm>
              <a:prstGeom prst="ellipse">
                <a:avLst/>
              </a:prstGeom>
              <a:solidFill>
                <a:schemeClr val="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529" name="Google Shape;1529;p39"/>
              <p:cNvCxnSpPr/>
              <p:nvPr/>
            </p:nvCxnSpPr>
            <p:spPr>
              <a:xfrm>
                <a:off x="1824" y="736"/>
                <a:ext cx="0" cy="23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30" name="Google Shape;1530;p39"/>
              <p:cNvCxnSpPr/>
              <p:nvPr/>
            </p:nvCxnSpPr>
            <p:spPr>
              <a:xfrm rot="10800000">
                <a:off x="1824" y="855"/>
                <a:ext cx="144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531" name="Google Shape;1531;p39"/>
            <p:cNvCxnSpPr/>
            <p:nvPr/>
          </p:nvCxnSpPr>
          <p:spPr>
            <a:xfrm flipH="1" rot="10800000">
              <a:off x="3921125" y="4165600"/>
              <a:ext cx="663575" cy="6111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2" name="Google Shape;1532;p39"/>
            <p:cNvCxnSpPr/>
            <p:nvPr/>
          </p:nvCxnSpPr>
          <p:spPr>
            <a:xfrm flipH="1" rot="10800000">
              <a:off x="3984625" y="4927600"/>
              <a:ext cx="739775" cy="15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3" name="Google Shape;1533;p39"/>
            <p:cNvCxnSpPr/>
            <p:nvPr/>
          </p:nvCxnSpPr>
          <p:spPr>
            <a:xfrm>
              <a:off x="2867025" y="4865688"/>
              <a:ext cx="612775" cy="8731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4" name="Google Shape;1534;p39"/>
            <p:cNvCxnSpPr/>
            <p:nvPr/>
          </p:nvCxnSpPr>
          <p:spPr>
            <a:xfrm rot="10800000">
              <a:off x="4414838" y="5437188"/>
              <a:ext cx="376237" cy="20796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35" name="Google Shape;1535;p39"/>
            <p:cNvGrpSpPr/>
            <p:nvPr/>
          </p:nvGrpSpPr>
          <p:grpSpPr>
            <a:xfrm>
              <a:off x="2473328" y="965200"/>
              <a:ext cx="422276" cy="298450"/>
              <a:chOff x="1824" y="672"/>
              <a:chExt cx="510" cy="366"/>
            </a:xfrm>
          </p:grpSpPr>
          <p:sp>
            <p:nvSpPr>
              <p:cNvPr id="1536" name="Google Shape;1536;p39"/>
              <p:cNvSpPr/>
              <p:nvPr/>
            </p:nvSpPr>
            <p:spPr>
              <a:xfrm>
                <a:off x="1968" y="672"/>
                <a:ext cx="366" cy="366"/>
              </a:xfrm>
              <a:prstGeom prst="ellipse">
                <a:avLst/>
              </a:prstGeom>
              <a:solidFill>
                <a:srgbClr val="FFFFCC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537" name="Google Shape;1537;p39"/>
              <p:cNvCxnSpPr/>
              <p:nvPr/>
            </p:nvCxnSpPr>
            <p:spPr>
              <a:xfrm>
                <a:off x="1824" y="736"/>
                <a:ext cx="0" cy="23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38" name="Google Shape;1538;p39"/>
              <p:cNvCxnSpPr/>
              <p:nvPr/>
            </p:nvCxnSpPr>
            <p:spPr>
              <a:xfrm rot="10800000">
                <a:off x="1824" y="855"/>
                <a:ext cx="144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539" name="Google Shape;1539;p39"/>
            <p:cNvSpPr/>
            <p:nvPr/>
          </p:nvSpPr>
          <p:spPr>
            <a:xfrm>
              <a:off x="2138363" y="1296988"/>
              <a:ext cx="1257300" cy="500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RegisterFor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CoursesForm</a:t>
              </a:r>
              <a:endParaRPr/>
            </a:p>
          </p:txBody>
        </p:sp>
        <p:grpSp>
          <p:nvGrpSpPr>
            <p:cNvPr id="1540" name="Google Shape;1540;p39"/>
            <p:cNvGrpSpPr/>
            <p:nvPr/>
          </p:nvGrpSpPr>
          <p:grpSpPr>
            <a:xfrm>
              <a:off x="6169028" y="990600"/>
              <a:ext cx="422276" cy="298450"/>
              <a:chOff x="1824" y="672"/>
              <a:chExt cx="510" cy="366"/>
            </a:xfrm>
          </p:grpSpPr>
          <p:sp>
            <p:nvSpPr>
              <p:cNvPr id="1541" name="Google Shape;1541;p39"/>
              <p:cNvSpPr/>
              <p:nvPr/>
            </p:nvSpPr>
            <p:spPr>
              <a:xfrm>
                <a:off x="1968" y="672"/>
                <a:ext cx="366" cy="366"/>
              </a:xfrm>
              <a:prstGeom prst="ellipse">
                <a:avLst/>
              </a:prstGeom>
              <a:solidFill>
                <a:srgbClr val="FFFFCC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542" name="Google Shape;1542;p39"/>
              <p:cNvCxnSpPr/>
              <p:nvPr/>
            </p:nvCxnSpPr>
            <p:spPr>
              <a:xfrm>
                <a:off x="1824" y="736"/>
                <a:ext cx="0" cy="23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43" name="Google Shape;1543;p39"/>
              <p:cNvCxnSpPr/>
              <p:nvPr/>
            </p:nvCxnSpPr>
            <p:spPr>
              <a:xfrm rot="10800000">
                <a:off x="1824" y="855"/>
                <a:ext cx="144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544" name="Google Shape;1544;p39"/>
            <p:cNvSpPr/>
            <p:nvPr/>
          </p:nvSpPr>
          <p:spPr>
            <a:xfrm>
              <a:off x="5846763" y="1373188"/>
              <a:ext cx="1257300" cy="500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RegisterFor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CoursesForm</a:t>
              </a:r>
              <a:endParaRPr/>
            </a:p>
          </p:txBody>
        </p:sp>
        <p:grpSp>
          <p:nvGrpSpPr>
            <p:cNvPr id="1545" name="Google Shape;1545;p39"/>
            <p:cNvGrpSpPr/>
            <p:nvPr/>
          </p:nvGrpSpPr>
          <p:grpSpPr>
            <a:xfrm>
              <a:off x="7762875" y="2238386"/>
              <a:ext cx="346075" cy="352426"/>
              <a:chOff x="5154" y="2106"/>
              <a:chExt cx="218" cy="222"/>
            </a:xfrm>
          </p:grpSpPr>
          <p:cxnSp>
            <p:nvCxnSpPr>
              <p:cNvPr id="1546" name="Google Shape;1546;p39"/>
              <p:cNvCxnSpPr/>
              <p:nvPr/>
            </p:nvCxnSpPr>
            <p:spPr>
              <a:xfrm flipH="1" rot="10800000">
                <a:off x="5154" y="2312"/>
                <a:ext cx="218" cy="2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547" name="Google Shape;1547;p39"/>
              <p:cNvGrpSpPr/>
              <p:nvPr/>
            </p:nvGrpSpPr>
            <p:grpSpPr>
              <a:xfrm>
                <a:off x="5154" y="2106"/>
                <a:ext cx="212" cy="222"/>
                <a:chOff x="5154" y="2106"/>
                <a:chExt cx="212" cy="222"/>
              </a:xfrm>
            </p:grpSpPr>
            <p:sp>
              <p:nvSpPr>
                <p:cNvPr id="1548" name="Google Shape;1548;p39"/>
                <p:cNvSpPr/>
                <p:nvPr/>
              </p:nvSpPr>
              <p:spPr>
                <a:xfrm>
                  <a:off x="5154" y="2106"/>
                  <a:ext cx="203" cy="202"/>
                </a:xfrm>
                <a:prstGeom prst="ellipse">
                  <a:avLst/>
                </a:prstGeom>
                <a:solidFill>
                  <a:srgbClr val="FFFFCC"/>
                </a:solidFill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000">
                    <a:solidFill>
                      <a:schemeClr val="dk1"/>
                    </a:solidFill>
                    <a:latin typeface="Helvetica Neue"/>
                    <a:ea typeface="Helvetica Neue"/>
                    <a:cs typeface="Helvetica Neue"/>
                    <a:sym typeface="Helvetica Neue"/>
                  </a:endParaRPr>
                </a:p>
              </p:txBody>
            </p:sp>
            <p:grpSp>
              <p:nvGrpSpPr>
                <p:cNvPr id="1549" name="Google Shape;1549;p39"/>
                <p:cNvGrpSpPr/>
                <p:nvPr/>
              </p:nvGrpSpPr>
              <p:grpSpPr>
                <a:xfrm>
                  <a:off x="5259" y="2118"/>
                  <a:ext cx="107" cy="210"/>
                  <a:chOff x="4776" y="2312"/>
                  <a:chExt cx="67" cy="128"/>
                </a:xfrm>
              </p:grpSpPr>
              <p:sp>
                <p:nvSpPr>
                  <p:cNvPr id="1550" name="Google Shape;1550;p39"/>
                  <p:cNvSpPr/>
                  <p:nvPr/>
                </p:nvSpPr>
                <p:spPr>
                  <a:xfrm>
                    <a:off x="4777" y="2313"/>
                    <a:ext cx="66" cy="64"/>
                  </a:xfrm>
                  <a:custGeom>
                    <a:rect b="b" l="l" r="r" t="t"/>
                    <a:pathLst>
                      <a:path extrusionOk="0" fill="none" h="21600" w="21924">
                        <a:moveTo>
                          <a:pt x="0" y="2"/>
                        </a:moveTo>
                        <a:cubicBezTo>
                          <a:pt x="108" y="0"/>
                          <a:pt x="217" y="-1"/>
                          <a:pt x="327" y="0"/>
                        </a:cubicBezTo>
                        <a:cubicBezTo>
                          <a:pt x="12122" y="0"/>
                          <a:pt x="21736" y="9462"/>
                          <a:pt x="21924" y="21256"/>
                        </a:cubicBezTo>
                      </a:path>
                      <a:path extrusionOk="0" h="21600" w="21924">
                        <a:moveTo>
                          <a:pt x="0" y="2"/>
                        </a:moveTo>
                        <a:cubicBezTo>
                          <a:pt x="108" y="0"/>
                          <a:pt x="217" y="-1"/>
                          <a:pt x="327" y="0"/>
                        </a:cubicBezTo>
                        <a:cubicBezTo>
                          <a:pt x="12122" y="0"/>
                          <a:pt x="21736" y="9462"/>
                          <a:pt x="21924" y="21256"/>
                        </a:cubicBezTo>
                        <a:lnTo>
                          <a:pt x="327" y="21600"/>
                        </a:lnTo>
                        <a:close/>
                      </a:path>
                    </a:pathLst>
                  </a:custGeom>
                  <a:solidFill>
                    <a:schemeClr val="hlink"/>
                  </a:solidFill>
                  <a:ln cap="rnd" cmpd="sng" w="12700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sp>
                <p:nvSpPr>
                  <p:cNvPr id="1551" name="Google Shape;1551;p39"/>
                  <p:cNvSpPr/>
                  <p:nvPr/>
                </p:nvSpPr>
                <p:spPr>
                  <a:xfrm>
                    <a:off x="4776" y="2375"/>
                    <a:ext cx="67" cy="65"/>
                  </a:xfrm>
                  <a:custGeom>
                    <a:rect b="b" l="l" r="r" t="t"/>
                    <a:pathLst>
                      <a:path extrusionOk="0" fill="none" h="21943" w="21932">
                        <a:moveTo>
                          <a:pt x="21929" y="-1"/>
                        </a:moveTo>
                        <a:cubicBezTo>
                          <a:pt x="21931" y="114"/>
                          <a:pt x="21932" y="228"/>
                          <a:pt x="21932" y="343"/>
                        </a:cubicBezTo>
                        <a:cubicBezTo>
                          <a:pt x="21932" y="12272"/>
                          <a:pt x="12261" y="21943"/>
                          <a:pt x="332" y="21943"/>
                        </a:cubicBezTo>
                        <a:cubicBezTo>
                          <a:pt x="221" y="21943"/>
                          <a:pt x="110" y="21942"/>
                          <a:pt x="-1" y="21940"/>
                        </a:cubicBezTo>
                      </a:path>
                      <a:path extrusionOk="0" h="21943" w="21932">
                        <a:moveTo>
                          <a:pt x="21929" y="-1"/>
                        </a:moveTo>
                        <a:cubicBezTo>
                          <a:pt x="21931" y="114"/>
                          <a:pt x="21932" y="228"/>
                          <a:pt x="21932" y="343"/>
                        </a:cubicBezTo>
                        <a:cubicBezTo>
                          <a:pt x="21932" y="12272"/>
                          <a:pt x="12261" y="21943"/>
                          <a:pt x="332" y="21943"/>
                        </a:cubicBezTo>
                        <a:cubicBezTo>
                          <a:pt x="221" y="21943"/>
                          <a:pt x="110" y="21942"/>
                          <a:pt x="-1" y="21940"/>
                        </a:cubicBezTo>
                        <a:lnTo>
                          <a:pt x="332" y="343"/>
                        </a:lnTo>
                        <a:close/>
                      </a:path>
                    </a:pathLst>
                  </a:custGeom>
                  <a:solidFill>
                    <a:schemeClr val="hlink"/>
                  </a:solidFill>
                  <a:ln cap="rnd" cmpd="sng" w="12700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1552" name="Google Shape;1552;p39"/>
                  <p:cNvCxnSpPr/>
                  <p:nvPr/>
                </p:nvCxnSpPr>
                <p:spPr>
                  <a:xfrm>
                    <a:off x="4776" y="2312"/>
                    <a:ext cx="0" cy="127"/>
                  </a:xfrm>
                  <a:prstGeom prst="straightConnector1">
                    <a:avLst/>
                  </a:prstGeom>
                  <a:noFill/>
                  <a:ln cap="flat" cmpd="sng" w="12700">
                    <a:solidFill>
                      <a:schemeClr val="lt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</p:grpSp>
        </p:grpSp>
        <p:grpSp>
          <p:nvGrpSpPr>
            <p:cNvPr id="1553" name="Google Shape;1553;p39"/>
            <p:cNvGrpSpPr/>
            <p:nvPr/>
          </p:nvGrpSpPr>
          <p:grpSpPr>
            <a:xfrm>
              <a:off x="8196266" y="5346700"/>
              <a:ext cx="422276" cy="298450"/>
              <a:chOff x="1824" y="672"/>
              <a:chExt cx="510" cy="366"/>
            </a:xfrm>
          </p:grpSpPr>
          <p:sp>
            <p:nvSpPr>
              <p:cNvPr id="1554" name="Google Shape;1554;p39"/>
              <p:cNvSpPr/>
              <p:nvPr/>
            </p:nvSpPr>
            <p:spPr>
              <a:xfrm>
                <a:off x="1968" y="672"/>
                <a:ext cx="366" cy="366"/>
              </a:xfrm>
              <a:prstGeom prst="ellipse">
                <a:avLst/>
              </a:prstGeom>
              <a:solidFill>
                <a:schemeClr val="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555" name="Google Shape;1555;p39"/>
              <p:cNvCxnSpPr/>
              <p:nvPr/>
            </p:nvCxnSpPr>
            <p:spPr>
              <a:xfrm>
                <a:off x="1824" y="736"/>
                <a:ext cx="0" cy="23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56" name="Google Shape;1556;p39"/>
              <p:cNvCxnSpPr/>
              <p:nvPr/>
            </p:nvCxnSpPr>
            <p:spPr>
              <a:xfrm rot="10800000">
                <a:off x="1824" y="855"/>
                <a:ext cx="144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557" name="Google Shape;1557;p39"/>
            <p:cNvSpPr/>
            <p:nvPr/>
          </p:nvSpPr>
          <p:spPr>
            <a:xfrm>
              <a:off x="7797800" y="5665788"/>
              <a:ext cx="1295400" cy="4365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Billing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System</a:t>
              </a:r>
              <a:endParaRPr/>
            </a:p>
          </p:txBody>
        </p:sp>
        <p:grpSp>
          <p:nvGrpSpPr>
            <p:cNvPr id="1558" name="Google Shape;1558;p39"/>
            <p:cNvGrpSpPr/>
            <p:nvPr/>
          </p:nvGrpSpPr>
          <p:grpSpPr>
            <a:xfrm>
              <a:off x="6265866" y="5473700"/>
              <a:ext cx="422276" cy="298450"/>
              <a:chOff x="1824" y="672"/>
              <a:chExt cx="510" cy="366"/>
            </a:xfrm>
          </p:grpSpPr>
          <p:sp>
            <p:nvSpPr>
              <p:cNvPr id="1559" name="Google Shape;1559;p39"/>
              <p:cNvSpPr/>
              <p:nvPr/>
            </p:nvSpPr>
            <p:spPr>
              <a:xfrm>
                <a:off x="1968" y="672"/>
                <a:ext cx="366" cy="366"/>
              </a:xfrm>
              <a:prstGeom prst="ellipse">
                <a:avLst/>
              </a:prstGeom>
              <a:solidFill>
                <a:schemeClr val="hlink"/>
              </a:solidFill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560" name="Google Shape;1560;p39"/>
              <p:cNvCxnSpPr/>
              <p:nvPr/>
            </p:nvCxnSpPr>
            <p:spPr>
              <a:xfrm>
                <a:off x="1824" y="736"/>
                <a:ext cx="0" cy="238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61" name="Google Shape;1561;p39"/>
              <p:cNvCxnSpPr/>
              <p:nvPr/>
            </p:nvCxnSpPr>
            <p:spPr>
              <a:xfrm rot="10800000">
                <a:off x="1824" y="855"/>
                <a:ext cx="144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562" name="Google Shape;1562;p39"/>
            <p:cNvSpPr/>
            <p:nvPr/>
          </p:nvSpPr>
          <p:spPr>
            <a:xfrm>
              <a:off x="5943600" y="5780088"/>
              <a:ext cx="1295400" cy="4365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CloseRegistration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Franklin Gothic"/>
                  <a:ea typeface="Franklin Gothic"/>
                  <a:cs typeface="Franklin Gothic"/>
                  <a:sym typeface="Franklin Gothic"/>
                </a:rPr>
                <a:t>Form</a:t>
              </a:r>
              <a:endParaRPr/>
            </a:p>
          </p:txBody>
        </p:sp>
        <p:cxnSp>
          <p:nvCxnSpPr>
            <p:cNvPr id="1563" name="Google Shape;1563;p39"/>
            <p:cNvCxnSpPr/>
            <p:nvPr/>
          </p:nvCxnSpPr>
          <p:spPr>
            <a:xfrm flipH="1">
              <a:off x="6348413" y="1622425"/>
              <a:ext cx="1027112" cy="9667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4" name="Google Shape;1564;p39"/>
            <p:cNvCxnSpPr/>
            <p:nvPr/>
          </p:nvCxnSpPr>
          <p:spPr>
            <a:xfrm flipH="1" rot="10800000">
              <a:off x="4098925" y="2451100"/>
              <a:ext cx="587375" cy="4206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5" name="Google Shape;1565;p39"/>
            <p:cNvCxnSpPr/>
            <p:nvPr/>
          </p:nvCxnSpPr>
          <p:spPr>
            <a:xfrm>
              <a:off x="2930525" y="2770188"/>
              <a:ext cx="701675" cy="18891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6" name="Google Shape;1566;p39"/>
            <p:cNvCxnSpPr/>
            <p:nvPr/>
          </p:nvCxnSpPr>
          <p:spPr>
            <a:xfrm rot="10800000">
              <a:off x="3886200" y="2438400"/>
              <a:ext cx="9525" cy="3571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7" name="Google Shape;1567;p39"/>
            <p:cNvCxnSpPr/>
            <p:nvPr/>
          </p:nvCxnSpPr>
          <p:spPr>
            <a:xfrm>
              <a:off x="4403725" y="2109788"/>
              <a:ext cx="371475" cy="13811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8" name="Google Shape;1568;p39"/>
            <p:cNvCxnSpPr/>
            <p:nvPr/>
          </p:nvCxnSpPr>
          <p:spPr>
            <a:xfrm flipH="1" rot="10800000">
              <a:off x="4073525" y="1384300"/>
              <a:ext cx="460375" cy="2682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9" name="Google Shape;1569;p39"/>
            <p:cNvCxnSpPr/>
            <p:nvPr/>
          </p:nvCxnSpPr>
          <p:spPr>
            <a:xfrm rot="10800000">
              <a:off x="3314700" y="1409700"/>
              <a:ext cx="390525" cy="217488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Google Shape;1574;p40"/>
          <p:cNvSpPr txBox="1"/>
          <p:nvPr>
            <p:ph type="title"/>
          </p:nvPr>
        </p:nvSpPr>
        <p:spPr>
          <a:xfrm>
            <a:off x="2895600" y="2438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The End.</a:t>
            </a:r>
            <a:endParaRPr/>
          </a:p>
        </p:txBody>
      </p:sp>
      <p:sp>
        <p:nvSpPr>
          <p:cNvPr id="1575" name="Google Shape;1575;p4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2017-11-13T20:26:15Z</dcterms:created>
  <dc:creator>ThuGiang</dc:creator>
</cp:coreProperties>
</file>