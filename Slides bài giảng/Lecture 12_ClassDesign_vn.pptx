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9144000"/>
  <p:notesSz cx="6858000" cy="9144000"/>
  <p:embeddedFontLst>
    <p:embeddedFont>
      <p:font typeface="Constantia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9" roundtripDataSignature="AMtx7mjD8a45Y+ZKuMx5inMFHhEzXRB2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Constantia-bold.fntdata"/><Relationship Id="rId25" Type="http://schemas.openxmlformats.org/officeDocument/2006/relationships/font" Target="fonts/Constantia-regular.fntdata"/><Relationship Id="rId28" Type="http://schemas.openxmlformats.org/officeDocument/2006/relationships/font" Target="fonts/Constantia-boldItalic.fntdata"/><Relationship Id="rId27" Type="http://schemas.openxmlformats.org/officeDocument/2006/relationships/font" Target="fonts/Constantia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1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b="1" sz="5600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" type="body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" type="body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2" type="body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2" type="body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3" type="body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4" type="body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6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7"/>
          <p:cNvSpPr txBox="1"/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9"/>
          <p:cNvSpPr txBox="1"/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2" type="body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9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0"/>
          <p:cNvSpPr/>
          <p:nvPr/>
        </p:nvSpPr>
        <p:spPr>
          <a:xfrm flipH="1" rot="-10380000">
            <a:off x="3165753" y="1108077"/>
            <a:ext cx="5257800" cy="4114800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0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9" name="Google Shape;89;p30"/>
          <p:cNvSpPr/>
          <p:nvPr/>
        </p:nvSpPr>
        <p:spPr>
          <a:xfrm flipH="1" rot="-10380000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0" name="Google Shape;90;p30"/>
          <p:cNvSpPr txBox="1"/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0"/>
          <p:cNvSpPr txBox="1"/>
          <p:nvPr>
            <p:ph idx="1" type="body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indent="-293369" lvl="1" marL="914400" algn="l"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73050" lvl="2" marL="1371600" algn="l"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indent="-265747" lvl="3" marL="18288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indent="-265747" lvl="4" marL="22860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0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0"/>
          <p:cNvSpPr txBox="1"/>
          <p:nvPr>
            <p:ph idx="12" type="sldNum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30"/>
          <p:cNvSpPr/>
          <p:nvPr>
            <p:ph idx="2" type="pic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accent3"/>
              </a:buClr>
              <a:buSzPts val="304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96" name="Google Shape;96;p30"/>
          <p:cNvSpPr/>
          <p:nvPr/>
        </p:nvSpPr>
        <p:spPr>
          <a:xfrm flipH="1" rot="10800000">
            <a:off x="-9525" y="5816600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7" name="Google Shape;97;p30"/>
          <p:cNvSpPr/>
          <p:nvPr/>
        </p:nvSpPr>
        <p:spPr>
          <a:xfrm flipH="1" rot="10800000">
            <a:off x="4381500" y="6219825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1"/>
          <p:cNvSpPr txBox="1"/>
          <p:nvPr>
            <p:ph idx="1" type="body"/>
          </p:nvPr>
        </p:nvSpPr>
        <p:spPr>
          <a:xfrm rot="5400000">
            <a:off x="2377440" y="15240"/>
            <a:ext cx="438912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2"/>
          <p:cNvSpPr txBox="1"/>
          <p:nvPr>
            <p:ph type="title"/>
          </p:nvPr>
        </p:nvSpPr>
        <p:spPr>
          <a:xfrm rot="5400000">
            <a:off x="5052218" y="2491583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2"/>
          <p:cNvSpPr txBox="1"/>
          <p:nvPr>
            <p:ph idx="1" type="body"/>
          </p:nvPr>
        </p:nvSpPr>
        <p:spPr>
          <a:xfrm rot="5400000">
            <a:off x="861219" y="510383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1" name="Google Shape;11;p20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2" name="Google Shape;12;p2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Calibri"/>
              <a:buNone/>
              <a:defRPr b="0" i="0" sz="5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0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" name="Google Shape;17;p20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18" name="Google Shape;18;p20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9" name="Google Shape;19;p20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9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8" name="Google Shape;28;p19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9" name="Google Shape;29;p1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19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1" name="Google Shape;3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2" name="Google Shape;32;p19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4" name="Google Shape;34;p19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35" name="Google Shape;35;p19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6" name="Google Shape;36;p19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namnv@tlu.edu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Phân tích Thiết kế HTTT</a:t>
            </a:r>
            <a:endParaRPr/>
          </a:p>
        </p:txBody>
      </p:sp>
      <p:sp>
        <p:nvSpPr>
          <p:cNvPr id="115" name="Google Shape;115;p1"/>
          <p:cNvSpPr txBox="1"/>
          <p:nvPr>
            <p:ph idx="1" type="subTitle"/>
          </p:nvPr>
        </p:nvSpPr>
        <p:spPr>
          <a:xfrm>
            <a:off x="533400" y="4191000"/>
            <a:ext cx="7854696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Ths. Nguyễn Văn Nam</a:t>
            </a:r>
            <a:endParaRPr/>
          </a:p>
          <a:p>
            <a:pPr indent="0" lvl="0" marL="0" marR="45720" rtl="0" algn="r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Email: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namnv@tlu.edu.vn</a:t>
            </a:r>
            <a:endParaRPr/>
          </a:p>
          <a:p>
            <a:pPr indent="0" lvl="0" marL="0" marR="45720" rtl="0" algn="r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Website: namvannguyen.blogspot.com</a:t>
            </a:r>
            <a:endParaRPr/>
          </a:p>
          <a:p>
            <a:pPr indent="0" lvl="0" marL="0" marR="45720" rtl="0" algn="r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116" name="Google Shape;116;p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1"/>
          <p:cNvSpPr txBox="1"/>
          <p:nvPr/>
        </p:nvSpPr>
        <p:spPr>
          <a:xfrm>
            <a:off x="609600" y="3200400"/>
            <a:ext cx="78546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40"/>
              <a:buFont typeface="Noto Sans Symbols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Thiết kế </a:t>
            </a:r>
            <a:r>
              <a:rPr lang="en-US" sz="32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lớp</a:t>
            </a:r>
            <a:endParaRPr b="0" i="0" sz="32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Mục tiêu</a:t>
            </a:r>
            <a:endParaRPr/>
          </a:p>
        </p:txBody>
      </p:sp>
      <p:sp>
        <p:nvSpPr>
          <p:cNvPr id="123" name="Google Shape;123;p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2"/>
          <p:cNvSpPr txBox="1"/>
          <p:nvPr>
            <p:ph idx="1" type="body"/>
          </p:nvPr>
        </p:nvSpPr>
        <p:spPr>
          <a:xfrm>
            <a:off x="457200" y="1981200"/>
            <a:ext cx="8229600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Trình bày mục đích của hoạt động Thiết kế lớp và vị trí của hoạt động trong vòng đời phát triển phần mềm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Xác định các lớp bổ xung và các quan hệ cần thiết để hỗ trợ cài đặt các cơ chế kiến trúc đã được chọn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Xác định và phân tích sự chuyển trạng thái trong các đối tượng của các lớp điều khiển trạng thái (state-controlled classes)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Làm mịn các quan hệ, hoạt động, và thuộc tính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592677" y="14310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25"/>
              <a:buFont typeface="Calibri"/>
              <a:buNone/>
            </a:pPr>
            <a:r>
              <a:rPr b="0" lang="en-US" sz="4625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Ngữ cảnh hoạt động Thiết kế lớp</a:t>
            </a:r>
            <a:endParaRPr b="0" sz="4625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" name="Google Shape;131;p3"/>
          <p:cNvGrpSpPr/>
          <p:nvPr/>
        </p:nvGrpSpPr>
        <p:grpSpPr>
          <a:xfrm>
            <a:off x="2590800" y="1372511"/>
            <a:ext cx="3810000" cy="4897437"/>
            <a:chOff x="1616" y="504"/>
            <a:chExt cx="2528" cy="3512"/>
          </a:xfrm>
        </p:grpSpPr>
        <p:sp>
          <p:nvSpPr>
            <p:cNvPr id="132" name="Google Shape;132;p3"/>
            <p:cNvSpPr/>
            <p:nvPr/>
          </p:nvSpPr>
          <p:spPr>
            <a:xfrm>
              <a:off x="1616" y="504"/>
              <a:ext cx="2528" cy="351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2728" y="569"/>
              <a:ext cx="111" cy="111"/>
            </a:xfrm>
            <a:prstGeom prst="ellipse">
              <a:avLst/>
            </a:prstGeom>
            <a:solidFill>
              <a:schemeClr val="lt2"/>
            </a:solidFill>
            <a:ln cap="flat" cmpd="sng" w="12700">
              <a:solidFill>
                <a:srgbClr val="FF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grpSp>
          <p:nvGrpSpPr>
            <p:cNvPr id="134" name="Google Shape;134;p3"/>
            <p:cNvGrpSpPr/>
            <p:nvPr/>
          </p:nvGrpSpPr>
          <p:grpSpPr>
            <a:xfrm>
              <a:off x="3321" y="1631"/>
              <a:ext cx="153" cy="153"/>
              <a:chOff x="3317" y="1579"/>
              <a:chExt cx="153" cy="153"/>
            </a:xfrm>
          </p:grpSpPr>
          <p:sp>
            <p:nvSpPr>
              <p:cNvPr id="135" name="Google Shape;135;p3"/>
              <p:cNvSpPr/>
              <p:nvPr/>
            </p:nvSpPr>
            <p:spPr>
              <a:xfrm>
                <a:off x="3338" y="1600"/>
                <a:ext cx="111" cy="111"/>
              </a:xfrm>
              <a:prstGeom prst="ellipse">
                <a:avLst/>
              </a:prstGeom>
              <a:solidFill>
                <a:schemeClr val="lt2"/>
              </a:solidFill>
              <a:ln cap="flat" cmpd="sng" w="12700">
                <a:solidFill>
                  <a:srgbClr val="FF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3975" lIns="107950" spcFirstLastPara="1" rIns="107950" wrap="square" tIns="539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136" name="Google Shape;136;p3"/>
              <p:cNvSpPr/>
              <p:nvPr/>
            </p:nvSpPr>
            <p:spPr>
              <a:xfrm>
                <a:off x="3317" y="1579"/>
                <a:ext cx="153" cy="153"/>
              </a:xfrm>
              <a:prstGeom prst="ellipse">
                <a:avLst/>
              </a:prstGeom>
              <a:noFill/>
              <a:ln cap="flat" cmpd="sng" w="12700">
                <a:solidFill>
                  <a:srgbClr val="FF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3975" lIns="107950" spcFirstLastPara="1" rIns="107950" wrap="square" tIns="539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grpSp>
          <p:nvGrpSpPr>
            <p:cNvPr id="137" name="Google Shape;137;p3"/>
            <p:cNvGrpSpPr/>
            <p:nvPr/>
          </p:nvGrpSpPr>
          <p:grpSpPr>
            <a:xfrm>
              <a:off x="2789" y="3781"/>
              <a:ext cx="153" cy="153"/>
              <a:chOff x="3317" y="1579"/>
              <a:chExt cx="153" cy="153"/>
            </a:xfrm>
          </p:grpSpPr>
          <p:sp>
            <p:nvSpPr>
              <p:cNvPr id="138" name="Google Shape;138;p3"/>
              <p:cNvSpPr/>
              <p:nvPr/>
            </p:nvSpPr>
            <p:spPr>
              <a:xfrm>
                <a:off x="3338" y="1600"/>
                <a:ext cx="111" cy="111"/>
              </a:xfrm>
              <a:prstGeom prst="ellipse">
                <a:avLst/>
              </a:prstGeom>
              <a:solidFill>
                <a:schemeClr val="lt2"/>
              </a:solidFill>
              <a:ln cap="flat" cmpd="sng" w="12700">
                <a:solidFill>
                  <a:srgbClr val="FF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3975" lIns="107950" spcFirstLastPara="1" rIns="107950" wrap="square" tIns="539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3317" y="1579"/>
                <a:ext cx="153" cy="153"/>
              </a:xfrm>
              <a:prstGeom prst="ellipse">
                <a:avLst/>
              </a:prstGeom>
              <a:noFill/>
              <a:ln cap="flat" cmpd="sng" w="12700">
                <a:solidFill>
                  <a:srgbClr val="FF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3975" lIns="107950" spcFirstLastPara="1" rIns="107950" wrap="square" tIns="539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grpSp>
          <p:nvGrpSpPr>
            <p:cNvPr id="140" name="Google Shape;140;p3"/>
            <p:cNvGrpSpPr/>
            <p:nvPr/>
          </p:nvGrpSpPr>
          <p:grpSpPr>
            <a:xfrm>
              <a:off x="2221" y="1000"/>
              <a:ext cx="302" cy="198"/>
              <a:chOff x="2263" y="970"/>
              <a:chExt cx="288" cy="189"/>
            </a:xfrm>
          </p:grpSpPr>
          <p:sp>
            <p:nvSpPr>
              <p:cNvPr id="141" name="Google Shape;141;p3"/>
              <p:cNvSpPr/>
              <p:nvPr/>
            </p:nvSpPr>
            <p:spPr>
              <a:xfrm>
                <a:off x="2263" y="970"/>
                <a:ext cx="288" cy="189"/>
              </a:xfrm>
              <a:prstGeom prst="roundRect">
                <a:avLst>
                  <a:gd fmla="val 16667" name="adj"/>
                </a:avLst>
              </a:prstGeom>
              <a:solidFill>
                <a:srgbClr val="8ECC8E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rotWithShape="0" algn="ctr" dir="3378596" dist="45791">
                  <a:srgbClr val="C0C0C0"/>
                </a:outerShdw>
              </a:effectLst>
            </p:spPr>
            <p:txBody>
              <a:bodyPr anchorCtr="0" anchor="ctr" bIns="53975" lIns="107950" spcFirstLastPara="1" rIns="107950" wrap="square" tIns="539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grpSp>
            <p:nvGrpSpPr>
              <p:cNvPr id="142" name="Google Shape;142;p3"/>
              <p:cNvGrpSpPr/>
              <p:nvPr/>
            </p:nvGrpSpPr>
            <p:grpSpPr>
              <a:xfrm>
                <a:off x="2300" y="996"/>
                <a:ext cx="86" cy="128"/>
                <a:chOff x="2853" y="1773"/>
                <a:chExt cx="161" cy="237"/>
              </a:xfrm>
            </p:grpSpPr>
            <p:sp>
              <p:nvSpPr>
                <p:cNvPr id="143" name="Google Shape;143;p3"/>
                <p:cNvSpPr/>
                <p:nvPr/>
              </p:nvSpPr>
              <p:spPr>
                <a:xfrm>
                  <a:off x="2853" y="1880"/>
                  <a:ext cx="161" cy="130"/>
                </a:xfrm>
                <a:prstGeom prst="parallelogram">
                  <a:avLst>
                    <a:gd fmla="val 30962" name="adj"/>
                  </a:avLst>
                </a:prstGeom>
                <a:solidFill>
                  <a:srgbClr val="FFCC99"/>
                </a:solidFill>
                <a:ln cap="flat" cmpd="sng" w="9525">
                  <a:solidFill>
                    <a:schemeClr val="lt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3975" lIns="107950" spcFirstLastPara="1" rIns="107950" wrap="square" tIns="539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144" name="Google Shape;144;p3"/>
                <p:cNvSpPr/>
                <p:nvPr/>
              </p:nvSpPr>
              <p:spPr>
                <a:xfrm>
                  <a:off x="2915" y="1773"/>
                  <a:ext cx="87" cy="87"/>
                </a:xfrm>
                <a:prstGeom prst="ellipse">
                  <a:avLst/>
                </a:prstGeom>
                <a:solidFill>
                  <a:srgbClr val="FFCC99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53975" lIns="107950" spcFirstLastPara="1" rIns="107950" wrap="square" tIns="539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</p:grpSp>
          <p:grpSp>
            <p:nvGrpSpPr>
              <p:cNvPr id="145" name="Google Shape;145;p3"/>
              <p:cNvGrpSpPr/>
              <p:nvPr/>
            </p:nvGrpSpPr>
            <p:grpSpPr>
              <a:xfrm>
                <a:off x="2373" y="985"/>
                <a:ext cx="65" cy="93"/>
                <a:chOff x="3387" y="1863"/>
                <a:chExt cx="122" cy="174"/>
              </a:xfrm>
            </p:grpSpPr>
            <p:sp>
              <p:nvSpPr>
                <p:cNvPr id="146" name="Google Shape;146;p3"/>
                <p:cNvSpPr/>
                <p:nvPr/>
              </p:nvSpPr>
              <p:spPr>
                <a:xfrm>
                  <a:off x="3387" y="1863"/>
                  <a:ext cx="122" cy="174"/>
                </a:xfrm>
                <a:custGeom>
                  <a:rect b="b" l="l" r="r" t="t"/>
                  <a:pathLst>
                    <a:path extrusionOk="0" h="174" w="122">
                      <a:moveTo>
                        <a:pt x="0" y="0"/>
                      </a:moveTo>
                      <a:lnTo>
                        <a:pt x="0" y="174"/>
                      </a:lnTo>
                      <a:lnTo>
                        <a:pt x="122" y="174"/>
                      </a:lnTo>
                      <a:lnTo>
                        <a:pt x="122" y="38"/>
                      </a:lnTo>
                      <a:lnTo>
                        <a:pt x="8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966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53975" lIns="107950" spcFirstLastPara="1" rIns="107950" wrap="square" tIns="539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147" name="Google Shape;147;p3"/>
                <p:cNvCxnSpPr/>
                <p:nvPr/>
              </p:nvCxnSpPr>
              <p:spPr>
                <a:xfrm>
                  <a:off x="3468" y="1863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3"/>
                <p:cNvCxnSpPr/>
                <p:nvPr/>
              </p:nvCxnSpPr>
              <p:spPr>
                <a:xfrm rot="10800000">
                  <a:off x="3466" y="1904"/>
                  <a:ext cx="41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49" name="Google Shape;149;p3"/>
              <p:cNvSpPr/>
              <p:nvPr/>
            </p:nvSpPr>
            <p:spPr>
              <a:xfrm>
                <a:off x="2400" y="1055"/>
                <a:ext cx="129" cy="74"/>
              </a:xfrm>
              <a:prstGeom prst="homePlate">
                <a:avLst>
                  <a:gd fmla="val 51571" name="adj"/>
                </a:avLst>
              </a:prstGeom>
              <a:solidFill>
                <a:srgbClr val="FFFFCC"/>
              </a:solidFill>
              <a:ln cap="flat" cmpd="sng" w="9525">
                <a:solidFill>
                  <a:schemeClr val="l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53975" lIns="107950" spcFirstLastPara="1" rIns="107950" wrap="square" tIns="539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grpSp>
          <p:nvGrpSpPr>
            <p:cNvPr id="150" name="Google Shape;150;p3"/>
            <p:cNvGrpSpPr/>
            <p:nvPr/>
          </p:nvGrpSpPr>
          <p:grpSpPr>
            <a:xfrm>
              <a:off x="3238" y="1000"/>
              <a:ext cx="302" cy="198"/>
              <a:chOff x="2263" y="970"/>
              <a:chExt cx="288" cy="189"/>
            </a:xfrm>
          </p:grpSpPr>
          <p:sp>
            <p:nvSpPr>
              <p:cNvPr id="151" name="Google Shape;151;p3"/>
              <p:cNvSpPr/>
              <p:nvPr/>
            </p:nvSpPr>
            <p:spPr>
              <a:xfrm>
                <a:off x="2263" y="970"/>
                <a:ext cx="288" cy="189"/>
              </a:xfrm>
              <a:prstGeom prst="roundRect">
                <a:avLst>
                  <a:gd fmla="val 16667" name="adj"/>
                </a:avLst>
              </a:prstGeom>
              <a:solidFill>
                <a:srgbClr val="8ECC8E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rotWithShape="0" algn="ctr" dir="3378596" dist="45791">
                  <a:srgbClr val="C0C0C0"/>
                </a:outerShdw>
              </a:effectLst>
            </p:spPr>
            <p:txBody>
              <a:bodyPr anchorCtr="0" anchor="ctr" bIns="53975" lIns="107950" spcFirstLastPara="1" rIns="107950" wrap="square" tIns="539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grpSp>
            <p:nvGrpSpPr>
              <p:cNvPr id="152" name="Google Shape;152;p3"/>
              <p:cNvGrpSpPr/>
              <p:nvPr/>
            </p:nvGrpSpPr>
            <p:grpSpPr>
              <a:xfrm>
                <a:off x="2300" y="996"/>
                <a:ext cx="86" cy="128"/>
                <a:chOff x="2853" y="1773"/>
                <a:chExt cx="161" cy="237"/>
              </a:xfrm>
            </p:grpSpPr>
            <p:sp>
              <p:nvSpPr>
                <p:cNvPr id="153" name="Google Shape;153;p3"/>
                <p:cNvSpPr/>
                <p:nvPr/>
              </p:nvSpPr>
              <p:spPr>
                <a:xfrm>
                  <a:off x="2853" y="1880"/>
                  <a:ext cx="161" cy="130"/>
                </a:xfrm>
                <a:prstGeom prst="parallelogram">
                  <a:avLst>
                    <a:gd fmla="val 30962" name="adj"/>
                  </a:avLst>
                </a:prstGeom>
                <a:solidFill>
                  <a:srgbClr val="FFCC99"/>
                </a:solidFill>
                <a:ln cap="flat" cmpd="sng" w="9525">
                  <a:solidFill>
                    <a:schemeClr val="lt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3975" lIns="107950" spcFirstLastPara="1" rIns="107950" wrap="square" tIns="539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154" name="Google Shape;154;p3"/>
                <p:cNvSpPr/>
                <p:nvPr/>
              </p:nvSpPr>
              <p:spPr>
                <a:xfrm>
                  <a:off x="2915" y="1773"/>
                  <a:ext cx="87" cy="87"/>
                </a:xfrm>
                <a:prstGeom prst="ellipse">
                  <a:avLst/>
                </a:prstGeom>
                <a:solidFill>
                  <a:srgbClr val="FFCC99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53975" lIns="107950" spcFirstLastPara="1" rIns="107950" wrap="square" tIns="539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</p:grpSp>
          <p:grpSp>
            <p:nvGrpSpPr>
              <p:cNvPr id="155" name="Google Shape;155;p3"/>
              <p:cNvGrpSpPr/>
              <p:nvPr/>
            </p:nvGrpSpPr>
            <p:grpSpPr>
              <a:xfrm>
                <a:off x="2373" y="985"/>
                <a:ext cx="65" cy="93"/>
                <a:chOff x="3387" y="1863"/>
                <a:chExt cx="122" cy="174"/>
              </a:xfrm>
            </p:grpSpPr>
            <p:sp>
              <p:nvSpPr>
                <p:cNvPr id="156" name="Google Shape;156;p3"/>
                <p:cNvSpPr/>
                <p:nvPr/>
              </p:nvSpPr>
              <p:spPr>
                <a:xfrm>
                  <a:off x="3387" y="1863"/>
                  <a:ext cx="122" cy="174"/>
                </a:xfrm>
                <a:custGeom>
                  <a:rect b="b" l="l" r="r" t="t"/>
                  <a:pathLst>
                    <a:path extrusionOk="0" h="174" w="122">
                      <a:moveTo>
                        <a:pt x="0" y="0"/>
                      </a:moveTo>
                      <a:lnTo>
                        <a:pt x="0" y="174"/>
                      </a:lnTo>
                      <a:lnTo>
                        <a:pt x="122" y="174"/>
                      </a:lnTo>
                      <a:lnTo>
                        <a:pt x="122" y="38"/>
                      </a:lnTo>
                      <a:lnTo>
                        <a:pt x="8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966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53975" lIns="107950" spcFirstLastPara="1" rIns="107950" wrap="square" tIns="539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157" name="Google Shape;157;p3"/>
                <p:cNvCxnSpPr/>
                <p:nvPr/>
              </p:nvCxnSpPr>
              <p:spPr>
                <a:xfrm>
                  <a:off x="3468" y="1863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8" name="Google Shape;158;p3"/>
                <p:cNvCxnSpPr/>
                <p:nvPr/>
              </p:nvCxnSpPr>
              <p:spPr>
                <a:xfrm rot="10800000">
                  <a:off x="3466" y="1904"/>
                  <a:ext cx="41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59" name="Google Shape;159;p3"/>
              <p:cNvSpPr/>
              <p:nvPr/>
            </p:nvSpPr>
            <p:spPr>
              <a:xfrm>
                <a:off x="2400" y="1055"/>
                <a:ext cx="129" cy="74"/>
              </a:xfrm>
              <a:prstGeom prst="homePlate">
                <a:avLst>
                  <a:gd fmla="val 51571" name="adj"/>
                </a:avLst>
              </a:prstGeom>
              <a:solidFill>
                <a:srgbClr val="FFFFCC"/>
              </a:solidFill>
              <a:ln cap="flat" cmpd="sng" w="9525">
                <a:solidFill>
                  <a:schemeClr val="l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53975" lIns="107950" spcFirstLastPara="1" rIns="107950" wrap="square" tIns="539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grpSp>
          <p:nvGrpSpPr>
            <p:cNvPr id="160" name="Google Shape;160;p3"/>
            <p:cNvGrpSpPr/>
            <p:nvPr/>
          </p:nvGrpSpPr>
          <p:grpSpPr>
            <a:xfrm>
              <a:off x="2971" y="1882"/>
              <a:ext cx="302" cy="198"/>
              <a:chOff x="2263" y="970"/>
              <a:chExt cx="288" cy="189"/>
            </a:xfrm>
          </p:grpSpPr>
          <p:sp>
            <p:nvSpPr>
              <p:cNvPr id="161" name="Google Shape;161;p3"/>
              <p:cNvSpPr/>
              <p:nvPr/>
            </p:nvSpPr>
            <p:spPr>
              <a:xfrm>
                <a:off x="2263" y="970"/>
                <a:ext cx="288" cy="189"/>
              </a:xfrm>
              <a:prstGeom prst="roundRect">
                <a:avLst>
                  <a:gd fmla="val 16667" name="adj"/>
                </a:avLst>
              </a:prstGeom>
              <a:solidFill>
                <a:srgbClr val="8ECC8E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rotWithShape="0" algn="ctr" dir="3378596" dist="45791">
                  <a:srgbClr val="C0C0C0"/>
                </a:outerShdw>
              </a:effectLst>
            </p:spPr>
            <p:txBody>
              <a:bodyPr anchorCtr="0" anchor="ctr" bIns="53975" lIns="107950" spcFirstLastPara="1" rIns="107950" wrap="square" tIns="539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grpSp>
            <p:nvGrpSpPr>
              <p:cNvPr id="162" name="Google Shape;162;p3"/>
              <p:cNvGrpSpPr/>
              <p:nvPr/>
            </p:nvGrpSpPr>
            <p:grpSpPr>
              <a:xfrm>
                <a:off x="2300" y="996"/>
                <a:ext cx="86" cy="128"/>
                <a:chOff x="2853" y="1773"/>
                <a:chExt cx="161" cy="237"/>
              </a:xfrm>
            </p:grpSpPr>
            <p:sp>
              <p:nvSpPr>
                <p:cNvPr id="163" name="Google Shape;163;p3"/>
                <p:cNvSpPr/>
                <p:nvPr/>
              </p:nvSpPr>
              <p:spPr>
                <a:xfrm>
                  <a:off x="2853" y="1880"/>
                  <a:ext cx="161" cy="130"/>
                </a:xfrm>
                <a:prstGeom prst="parallelogram">
                  <a:avLst>
                    <a:gd fmla="val 30962" name="adj"/>
                  </a:avLst>
                </a:prstGeom>
                <a:solidFill>
                  <a:srgbClr val="FFCC99"/>
                </a:solidFill>
                <a:ln cap="flat" cmpd="sng" w="9525">
                  <a:solidFill>
                    <a:schemeClr val="lt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3975" lIns="107950" spcFirstLastPara="1" rIns="107950" wrap="square" tIns="539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164" name="Google Shape;164;p3"/>
                <p:cNvSpPr/>
                <p:nvPr/>
              </p:nvSpPr>
              <p:spPr>
                <a:xfrm>
                  <a:off x="2915" y="1773"/>
                  <a:ext cx="87" cy="87"/>
                </a:xfrm>
                <a:prstGeom prst="ellipse">
                  <a:avLst/>
                </a:prstGeom>
                <a:solidFill>
                  <a:srgbClr val="FFCC99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53975" lIns="107950" spcFirstLastPara="1" rIns="107950" wrap="square" tIns="539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</p:grpSp>
          <p:grpSp>
            <p:nvGrpSpPr>
              <p:cNvPr id="165" name="Google Shape;165;p3"/>
              <p:cNvGrpSpPr/>
              <p:nvPr/>
            </p:nvGrpSpPr>
            <p:grpSpPr>
              <a:xfrm>
                <a:off x="2373" y="985"/>
                <a:ext cx="65" cy="93"/>
                <a:chOff x="3387" y="1863"/>
                <a:chExt cx="122" cy="174"/>
              </a:xfrm>
            </p:grpSpPr>
            <p:sp>
              <p:nvSpPr>
                <p:cNvPr id="166" name="Google Shape;166;p3"/>
                <p:cNvSpPr/>
                <p:nvPr/>
              </p:nvSpPr>
              <p:spPr>
                <a:xfrm>
                  <a:off x="3387" y="1863"/>
                  <a:ext cx="122" cy="174"/>
                </a:xfrm>
                <a:custGeom>
                  <a:rect b="b" l="l" r="r" t="t"/>
                  <a:pathLst>
                    <a:path extrusionOk="0" h="174" w="122">
                      <a:moveTo>
                        <a:pt x="0" y="0"/>
                      </a:moveTo>
                      <a:lnTo>
                        <a:pt x="0" y="174"/>
                      </a:lnTo>
                      <a:lnTo>
                        <a:pt x="122" y="174"/>
                      </a:lnTo>
                      <a:lnTo>
                        <a:pt x="122" y="38"/>
                      </a:lnTo>
                      <a:lnTo>
                        <a:pt x="8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966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53975" lIns="107950" spcFirstLastPara="1" rIns="107950" wrap="square" tIns="539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167" name="Google Shape;167;p3"/>
                <p:cNvCxnSpPr/>
                <p:nvPr/>
              </p:nvCxnSpPr>
              <p:spPr>
                <a:xfrm>
                  <a:off x="3468" y="1863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3"/>
                <p:cNvCxnSpPr/>
                <p:nvPr/>
              </p:nvCxnSpPr>
              <p:spPr>
                <a:xfrm rot="10800000">
                  <a:off x="3466" y="1904"/>
                  <a:ext cx="41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69" name="Google Shape;169;p3"/>
              <p:cNvSpPr/>
              <p:nvPr/>
            </p:nvSpPr>
            <p:spPr>
              <a:xfrm>
                <a:off x="2400" y="1055"/>
                <a:ext cx="129" cy="74"/>
              </a:xfrm>
              <a:prstGeom prst="homePlate">
                <a:avLst>
                  <a:gd fmla="val 51571" name="adj"/>
                </a:avLst>
              </a:prstGeom>
              <a:solidFill>
                <a:srgbClr val="FFFFCC"/>
              </a:solidFill>
              <a:ln cap="flat" cmpd="sng" w="9525">
                <a:solidFill>
                  <a:schemeClr val="l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53975" lIns="107950" spcFirstLastPara="1" rIns="107950" wrap="square" tIns="539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grpSp>
          <p:nvGrpSpPr>
            <p:cNvPr id="170" name="Google Shape;170;p3"/>
            <p:cNvGrpSpPr/>
            <p:nvPr/>
          </p:nvGrpSpPr>
          <p:grpSpPr>
            <a:xfrm>
              <a:off x="2011" y="2209"/>
              <a:ext cx="302" cy="198"/>
              <a:chOff x="2263" y="970"/>
              <a:chExt cx="288" cy="189"/>
            </a:xfrm>
          </p:grpSpPr>
          <p:sp>
            <p:nvSpPr>
              <p:cNvPr id="171" name="Google Shape;171;p3"/>
              <p:cNvSpPr/>
              <p:nvPr/>
            </p:nvSpPr>
            <p:spPr>
              <a:xfrm>
                <a:off x="2263" y="970"/>
                <a:ext cx="288" cy="189"/>
              </a:xfrm>
              <a:prstGeom prst="roundRect">
                <a:avLst>
                  <a:gd fmla="val 16667" name="adj"/>
                </a:avLst>
              </a:prstGeom>
              <a:solidFill>
                <a:srgbClr val="8ECC8E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rotWithShape="0" algn="ctr" dir="3378596" dist="45791">
                  <a:srgbClr val="C0C0C0"/>
                </a:outerShdw>
              </a:effectLst>
            </p:spPr>
            <p:txBody>
              <a:bodyPr anchorCtr="0" anchor="ctr" bIns="53975" lIns="107950" spcFirstLastPara="1" rIns="107950" wrap="square" tIns="539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grpSp>
            <p:nvGrpSpPr>
              <p:cNvPr id="172" name="Google Shape;172;p3"/>
              <p:cNvGrpSpPr/>
              <p:nvPr/>
            </p:nvGrpSpPr>
            <p:grpSpPr>
              <a:xfrm>
                <a:off x="2300" y="996"/>
                <a:ext cx="86" cy="128"/>
                <a:chOff x="2853" y="1773"/>
                <a:chExt cx="161" cy="237"/>
              </a:xfrm>
            </p:grpSpPr>
            <p:sp>
              <p:nvSpPr>
                <p:cNvPr id="173" name="Google Shape;173;p3"/>
                <p:cNvSpPr/>
                <p:nvPr/>
              </p:nvSpPr>
              <p:spPr>
                <a:xfrm>
                  <a:off x="2853" y="1880"/>
                  <a:ext cx="161" cy="130"/>
                </a:xfrm>
                <a:prstGeom prst="parallelogram">
                  <a:avLst>
                    <a:gd fmla="val 30962" name="adj"/>
                  </a:avLst>
                </a:prstGeom>
                <a:solidFill>
                  <a:srgbClr val="FFCC99"/>
                </a:solidFill>
                <a:ln cap="flat" cmpd="sng" w="9525">
                  <a:solidFill>
                    <a:schemeClr val="lt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3975" lIns="107950" spcFirstLastPara="1" rIns="107950" wrap="square" tIns="539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174" name="Google Shape;174;p3"/>
                <p:cNvSpPr/>
                <p:nvPr/>
              </p:nvSpPr>
              <p:spPr>
                <a:xfrm>
                  <a:off x="2915" y="1773"/>
                  <a:ext cx="87" cy="87"/>
                </a:xfrm>
                <a:prstGeom prst="ellipse">
                  <a:avLst/>
                </a:prstGeom>
                <a:solidFill>
                  <a:srgbClr val="FFCC99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53975" lIns="107950" spcFirstLastPara="1" rIns="107950" wrap="square" tIns="539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</p:grpSp>
          <p:grpSp>
            <p:nvGrpSpPr>
              <p:cNvPr id="175" name="Google Shape;175;p3"/>
              <p:cNvGrpSpPr/>
              <p:nvPr/>
            </p:nvGrpSpPr>
            <p:grpSpPr>
              <a:xfrm>
                <a:off x="2373" y="985"/>
                <a:ext cx="65" cy="93"/>
                <a:chOff x="3387" y="1863"/>
                <a:chExt cx="122" cy="174"/>
              </a:xfrm>
            </p:grpSpPr>
            <p:sp>
              <p:nvSpPr>
                <p:cNvPr id="176" name="Google Shape;176;p3"/>
                <p:cNvSpPr/>
                <p:nvPr/>
              </p:nvSpPr>
              <p:spPr>
                <a:xfrm>
                  <a:off x="3387" y="1863"/>
                  <a:ext cx="122" cy="174"/>
                </a:xfrm>
                <a:custGeom>
                  <a:rect b="b" l="l" r="r" t="t"/>
                  <a:pathLst>
                    <a:path extrusionOk="0" h="174" w="122">
                      <a:moveTo>
                        <a:pt x="0" y="0"/>
                      </a:moveTo>
                      <a:lnTo>
                        <a:pt x="0" y="174"/>
                      </a:lnTo>
                      <a:lnTo>
                        <a:pt x="122" y="174"/>
                      </a:lnTo>
                      <a:lnTo>
                        <a:pt x="122" y="38"/>
                      </a:lnTo>
                      <a:lnTo>
                        <a:pt x="8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966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53975" lIns="107950" spcFirstLastPara="1" rIns="107950" wrap="square" tIns="539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177" name="Google Shape;177;p3"/>
                <p:cNvCxnSpPr/>
                <p:nvPr/>
              </p:nvCxnSpPr>
              <p:spPr>
                <a:xfrm>
                  <a:off x="3468" y="1863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3"/>
                <p:cNvCxnSpPr/>
                <p:nvPr/>
              </p:nvCxnSpPr>
              <p:spPr>
                <a:xfrm rot="10800000">
                  <a:off x="3466" y="1904"/>
                  <a:ext cx="41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79" name="Google Shape;179;p3"/>
              <p:cNvSpPr/>
              <p:nvPr/>
            </p:nvSpPr>
            <p:spPr>
              <a:xfrm>
                <a:off x="2400" y="1055"/>
                <a:ext cx="129" cy="74"/>
              </a:xfrm>
              <a:prstGeom prst="homePlate">
                <a:avLst>
                  <a:gd fmla="val 51571" name="adj"/>
                </a:avLst>
              </a:prstGeom>
              <a:solidFill>
                <a:srgbClr val="FFFFCC"/>
              </a:solidFill>
              <a:ln cap="flat" cmpd="sng" w="9525">
                <a:solidFill>
                  <a:schemeClr val="l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53975" lIns="107950" spcFirstLastPara="1" rIns="107950" wrap="square" tIns="539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grpSp>
          <p:nvGrpSpPr>
            <p:cNvPr id="180" name="Google Shape;180;p3"/>
            <p:cNvGrpSpPr/>
            <p:nvPr/>
          </p:nvGrpSpPr>
          <p:grpSpPr>
            <a:xfrm>
              <a:off x="2572" y="2725"/>
              <a:ext cx="302" cy="198"/>
              <a:chOff x="2263" y="970"/>
              <a:chExt cx="288" cy="189"/>
            </a:xfrm>
          </p:grpSpPr>
          <p:sp>
            <p:nvSpPr>
              <p:cNvPr id="181" name="Google Shape;181;p3"/>
              <p:cNvSpPr/>
              <p:nvPr/>
            </p:nvSpPr>
            <p:spPr>
              <a:xfrm>
                <a:off x="2263" y="970"/>
                <a:ext cx="288" cy="189"/>
              </a:xfrm>
              <a:prstGeom prst="roundRect">
                <a:avLst>
                  <a:gd fmla="val 16667" name="adj"/>
                </a:avLst>
              </a:prstGeom>
              <a:solidFill>
                <a:srgbClr val="8ECC8E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rotWithShape="0" algn="ctr" dir="3378596" dist="45791">
                  <a:srgbClr val="C0C0C0"/>
                </a:outerShdw>
              </a:effectLst>
            </p:spPr>
            <p:txBody>
              <a:bodyPr anchorCtr="0" anchor="ctr" bIns="53975" lIns="107950" spcFirstLastPara="1" rIns="107950" wrap="square" tIns="539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grpSp>
            <p:nvGrpSpPr>
              <p:cNvPr id="182" name="Google Shape;182;p3"/>
              <p:cNvGrpSpPr/>
              <p:nvPr/>
            </p:nvGrpSpPr>
            <p:grpSpPr>
              <a:xfrm>
                <a:off x="2300" y="996"/>
                <a:ext cx="86" cy="128"/>
                <a:chOff x="2853" y="1773"/>
                <a:chExt cx="161" cy="237"/>
              </a:xfrm>
            </p:grpSpPr>
            <p:sp>
              <p:nvSpPr>
                <p:cNvPr id="183" name="Google Shape;183;p3"/>
                <p:cNvSpPr/>
                <p:nvPr/>
              </p:nvSpPr>
              <p:spPr>
                <a:xfrm>
                  <a:off x="2853" y="1880"/>
                  <a:ext cx="161" cy="130"/>
                </a:xfrm>
                <a:prstGeom prst="parallelogram">
                  <a:avLst>
                    <a:gd fmla="val 30962" name="adj"/>
                  </a:avLst>
                </a:prstGeom>
                <a:solidFill>
                  <a:srgbClr val="FFCC99"/>
                </a:solidFill>
                <a:ln cap="flat" cmpd="sng" w="9525">
                  <a:solidFill>
                    <a:schemeClr val="lt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3975" lIns="107950" spcFirstLastPara="1" rIns="107950" wrap="square" tIns="539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184" name="Google Shape;184;p3"/>
                <p:cNvSpPr/>
                <p:nvPr/>
              </p:nvSpPr>
              <p:spPr>
                <a:xfrm>
                  <a:off x="2915" y="1773"/>
                  <a:ext cx="87" cy="87"/>
                </a:xfrm>
                <a:prstGeom prst="ellipse">
                  <a:avLst/>
                </a:prstGeom>
                <a:solidFill>
                  <a:srgbClr val="FFCC99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53975" lIns="107950" spcFirstLastPara="1" rIns="107950" wrap="square" tIns="539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</p:grpSp>
          <p:grpSp>
            <p:nvGrpSpPr>
              <p:cNvPr id="185" name="Google Shape;185;p3"/>
              <p:cNvGrpSpPr/>
              <p:nvPr/>
            </p:nvGrpSpPr>
            <p:grpSpPr>
              <a:xfrm>
                <a:off x="2373" y="985"/>
                <a:ext cx="65" cy="93"/>
                <a:chOff x="3387" y="1863"/>
                <a:chExt cx="122" cy="174"/>
              </a:xfrm>
            </p:grpSpPr>
            <p:sp>
              <p:nvSpPr>
                <p:cNvPr id="186" name="Google Shape;186;p3"/>
                <p:cNvSpPr/>
                <p:nvPr/>
              </p:nvSpPr>
              <p:spPr>
                <a:xfrm>
                  <a:off x="3387" y="1863"/>
                  <a:ext cx="122" cy="174"/>
                </a:xfrm>
                <a:custGeom>
                  <a:rect b="b" l="l" r="r" t="t"/>
                  <a:pathLst>
                    <a:path extrusionOk="0" h="174" w="122">
                      <a:moveTo>
                        <a:pt x="0" y="0"/>
                      </a:moveTo>
                      <a:lnTo>
                        <a:pt x="0" y="174"/>
                      </a:lnTo>
                      <a:lnTo>
                        <a:pt x="122" y="174"/>
                      </a:lnTo>
                      <a:lnTo>
                        <a:pt x="122" y="38"/>
                      </a:lnTo>
                      <a:lnTo>
                        <a:pt x="8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966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53975" lIns="107950" spcFirstLastPara="1" rIns="107950" wrap="square" tIns="539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187" name="Google Shape;187;p3"/>
                <p:cNvCxnSpPr/>
                <p:nvPr/>
              </p:nvCxnSpPr>
              <p:spPr>
                <a:xfrm>
                  <a:off x="3468" y="1863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8" name="Google Shape;188;p3"/>
                <p:cNvCxnSpPr/>
                <p:nvPr/>
              </p:nvCxnSpPr>
              <p:spPr>
                <a:xfrm rot="10800000">
                  <a:off x="3466" y="1904"/>
                  <a:ext cx="41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89" name="Google Shape;189;p3"/>
              <p:cNvSpPr/>
              <p:nvPr/>
            </p:nvSpPr>
            <p:spPr>
              <a:xfrm>
                <a:off x="2400" y="1055"/>
                <a:ext cx="129" cy="74"/>
              </a:xfrm>
              <a:prstGeom prst="homePlate">
                <a:avLst>
                  <a:gd fmla="val 51571" name="adj"/>
                </a:avLst>
              </a:prstGeom>
              <a:solidFill>
                <a:srgbClr val="FFFFCC"/>
              </a:solidFill>
              <a:ln cap="flat" cmpd="sng" w="9525">
                <a:solidFill>
                  <a:schemeClr val="l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53975" lIns="107950" spcFirstLastPara="1" rIns="107950" wrap="square" tIns="539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grpSp>
          <p:nvGrpSpPr>
            <p:cNvPr id="190" name="Google Shape;190;p3"/>
            <p:cNvGrpSpPr/>
            <p:nvPr/>
          </p:nvGrpSpPr>
          <p:grpSpPr>
            <a:xfrm>
              <a:off x="3382" y="2725"/>
              <a:ext cx="302" cy="198"/>
              <a:chOff x="2263" y="970"/>
              <a:chExt cx="288" cy="189"/>
            </a:xfrm>
          </p:grpSpPr>
          <p:sp>
            <p:nvSpPr>
              <p:cNvPr id="191" name="Google Shape;191;p3"/>
              <p:cNvSpPr/>
              <p:nvPr/>
            </p:nvSpPr>
            <p:spPr>
              <a:xfrm>
                <a:off x="2263" y="970"/>
                <a:ext cx="288" cy="189"/>
              </a:xfrm>
              <a:prstGeom prst="roundRect">
                <a:avLst>
                  <a:gd fmla="val 16667" name="adj"/>
                </a:avLst>
              </a:prstGeom>
              <a:solidFill>
                <a:srgbClr val="8ECC8E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rotWithShape="0" algn="ctr" dir="3378596" dist="45791">
                  <a:srgbClr val="C0C0C0"/>
                </a:outerShdw>
              </a:effectLst>
            </p:spPr>
            <p:txBody>
              <a:bodyPr anchorCtr="0" anchor="ctr" bIns="53975" lIns="107950" spcFirstLastPara="1" rIns="107950" wrap="square" tIns="539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grpSp>
            <p:nvGrpSpPr>
              <p:cNvPr id="192" name="Google Shape;192;p3"/>
              <p:cNvGrpSpPr/>
              <p:nvPr/>
            </p:nvGrpSpPr>
            <p:grpSpPr>
              <a:xfrm>
                <a:off x="2300" y="996"/>
                <a:ext cx="86" cy="128"/>
                <a:chOff x="2853" y="1773"/>
                <a:chExt cx="161" cy="237"/>
              </a:xfrm>
            </p:grpSpPr>
            <p:sp>
              <p:nvSpPr>
                <p:cNvPr id="193" name="Google Shape;193;p3"/>
                <p:cNvSpPr/>
                <p:nvPr/>
              </p:nvSpPr>
              <p:spPr>
                <a:xfrm>
                  <a:off x="2853" y="1880"/>
                  <a:ext cx="161" cy="130"/>
                </a:xfrm>
                <a:prstGeom prst="parallelogram">
                  <a:avLst>
                    <a:gd fmla="val 30962" name="adj"/>
                  </a:avLst>
                </a:prstGeom>
                <a:solidFill>
                  <a:srgbClr val="FFCC99"/>
                </a:solidFill>
                <a:ln cap="flat" cmpd="sng" w="9525">
                  <a:solidFill>
                    <a:schemeClr val="lt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3975" lIns="107950" spcFirstLastPara="1" rIns="107950" wrap="square" tIns="539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194" name="Google Shape;194;p3"/>
                <p:cNvSpPr/>
                <p:nvPr/>
              </p:nvSpPr>
              <p:spPr>
                <a:xfrm>
                  <a:off x="2915" y="1773"/>
                  <a:ext cx="87" cy="87"/>
                </a:xfrm>
                <a:prstGeom prst="ellipse">
                  <a:avLst/>
                </a:prstGeom>
                <a:solidFill>
                  <a:srgbClr val="FFCC99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53975" lIns="107950" spcFirstLastPara="1" rIns="107950" wrap="square" tIns="539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</p:grpSp>
          <p:grpSp>
            <p:nvGrpSpPr>
              <p:cNvPr id="195" name="Google Shape;195;p3"/>
              <p:cNvGrpSpPr/>
              <p:nvPr/>
            </p:nvGrpSpPr>
            <p:grpSpPr>
              <a:xfrm>
                <a:off x="2373" y="985"/>
                <a:ext cx="65" cy="93"/>
                <a:chOff x="3387" y="1863"/>
                <a:chExt cx="122" cy="174"/>
              </a:xfrm>
            </p:grpSpPr>
            <p:sp>
              <p:nvSpPr>
                <p:cNvPr id="196" name="Google Shape;196;p3"/>
                <p:cNvSpPr/>
                <p:nvPr/>
              </p:nvSpPr>
              <p:spPr>
                <a:xfrm>
                  <a:off x="3387" y="1863"/>
                  <a:ext cx="122" cy="174"/>
                </a:xfrm>
                <a:custGeom>
                  <a:rect b="b" l="l" r="r" t="t"/>
                  <a:pathLst>
                    <a:path extrusionOk="0" h="174" w="122">
                      <a:moveTo>
                        <a:pt x="0" y="0"/>
                      </a:moveTo>
                      <a:lnTo>
                        <a:pt x="0" y="174"/>
                      </a:lnTo>
                      <a:lnTo>
                        <a:pt x="122" y="174"/>
                      </a:lnTo>
                      <a:lnTo>
                        <a:pt x="122" y="38"/>
                      </a:lnTo>
                      <a:lnTo>
                        <a:pt x="8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966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53975" lIns="107950" spcFirstLastPara="1" rIns="107950" wrap="square" tIns="539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197" name="Google Shape;197;p3"/>
                <p:cNvCxnSpPr/>
                <p:nvPr/>
              </p:nvCxnSpPr>
              <p:spPr>
                <a:xfrm>
                  <a:off x="3468" y="1863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8" name="Google Shape;198;p3"/>
                <p:cNvCxnSpPr/>
                <p:nvPr/>
              </p:nvCxnSpPr>
              <p:spPr>
                <a:xfrm rot="10800000">
                  <a:off x="3466" y="1904"/>
                  <a:ext cx="41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99" name="Google Shape;199;p3"/>
              <p:cNvSpPr/>
              <p:nvPr/>
            </p:nvSpPr>
            <p:spPr>
              <a:xfrm>
                <a:off x="2400" y="1055"/>
                <a:ext cx="129" cy="74"/>
              </a:xfrm>
              <a:prstGeom prst="homePlate">
                <a:avLst>
                  <a:gd fmla="val 51571" name="adj"/>
                </a:avLst>
              </a:prstGeom>
              <a:solidFill>
                <a:srgbClr val="FFFFCC"/>
              </a:solidFill>
              <a:ln cap="flat" cmpd="sng" w="9525">
                <a:solidFill>
                  <a:schemeClr val="l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53975" lIns="107950" spcFirstLastPara="1" rIns="107950" wrap="square" tIns="539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sp>
          <p:nvSpPr>
            <p:cNvPr id="200" name="Google Shape;200;p3"/>
            <p:cNvSpPr txBox="1"/>
            <p:nvPr/>
          </p:nvSpPr>
          <p:spPr>
            <a:xfrm>
              <a:off x="1963" y="612"/>
              <a:ext cx="704" cy="2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975" lIns="107950" spcFirstLastPara="1" rIns="107950" wrap="square" tIns="53975">
              <a:spAutoFit/>
            </a:bodyPr>
            <a:lstStyle/>
            <a:p>
              <a:pPr indent="0" lvl="0" marL="0" marR="0" rtl="0" algn="l">
                <a:lnSpc>
                  <a:spcPct val="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chemeClr val="lt2"/>
                  </a:solidFill>
                  <a:latin typeface="Constantia"/>
                  <a:ea typeface="Constantia"/>
                  <a:cs typeface="Constantia"/>
                  <a:sym typeface="Constantia"/>
                </a:rPr>
                <a:t>[Early</a:t>
              </a:r>
              <a:endParaRPr/>
            </a:p>
            <a:p>
              <a:pPr indent="0" lvl="0" marL="0" marR="0" rtl="0" algn="l">
                <a:lnSpc>
                  <a:spcPct val="35000"/>
                </a:lnSpc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chemeClr val="lt2"/>
                  </a:solidFill>
                  <a:latin typeface="Constantia"/>
                  <a:ea typeface="Constantia"/>
                  <a:cs typeface="Constantia"/>
                  <a:sym typeface="Constantia"/>
                </a:rPr>
                <a:t>Elaboration</a:t>
              </a:r>
              <a:endParaRPr/>
            </a:p>
            <a:p>
              <a:pPr indent="0" lvl="0" marL="0" marR="0" rtl="0" algn="l">
                <a:lnSpc>
                  <a:spcPct val="35000"/>
                </a:lnSpc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chemeClr val="lt2"/>
                  </a:solidFill>
                  <a:latin typeface="Constantia"/>
                  <a:ea typeface="Constantia"/>
                  <a:cs typeface="Constantia"/>
                  <a:sym typeface="Constantia"/>
                </a:rPr>
                <a:t>  Iteration]</a:t>
              </a:r>
              <a:endParaRPr/>
            </a:p>
          </p:txBody>
        </p:sp>
        <p:sp>
          <p:nvSpPr>
            <p:cNvPr id="201" name="Google Shape;201;p3"/>
            <p:cNvSpPr txBox="1"/>
            <p:nvPr/>
          </p:nvSpPr>
          <p:spPr>
            <a:xfrm>
              <a:off x="2885" y="705"/>
              <a:ext cx="903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975" lIns="107950" spcFirstLastPara="1" rIns="107950" wrap="square" tIns="53975">
              <a:spAutoFit/>
            </a:bodyPr>
            <a:lstStyle/>
            <a:p>
              <a:pPr indent="0" lvl="0" marL="0" marR="0" rtl="0" algn="l">
                <a:lnSpc>
                  <a:spcPct val="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chemeClr val="lt2"/>
                  </a:solidFill>
                  <a:latin typeface="Constantia"/>
                  <a:ea typeface="Constantia"/>
                  <a:cs typeface="Constantia"/>
                  <a:sym typeface="Constantia"/>
                </a:rPr>
                <a:t>[Inception</a:t>
              </a:r>
              <a:endParaRPr/>
            </a:p>
            <a:p>
              <a:pPr indent="0" lvl="0" marL="0" marR="0" rtl="0" algn="l">
                <a:lnSpc>
                  <a:spcPct val="35000"/>
                </a:lnSpc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chemeClr val="lt2"/>
                  </a:solidFill>
                  <a:latin typeface="Constantia"/>
                  <a:ea typeface="Constantia"/>
                  <a:cs typeface="Constantia"/>
                  <a:sym typeface="Constantia"/>
                </a:rPr>
                <a:t>  Iteration (Optional)]</a:t>
              </a:r>
              <a:endParaRPr/>
            </a:p>
          </p:txBody>
        </p:sp>
        <p:sp>
          <p:nvSpPr>
            <p:cNvPr id="202" name="Google Shape;202;p3"/>
            <p:cNvSpPr txBox="1"/>
            <p:nvPr/>
          </p:nvSpPr>
          <p:spPr>
            <a:xfrm>
              <a:off x="1925" y="1237"/>
              <a:ext cx="903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975" lIns="107950" spcFirstLastPara="1" rIns="107950" wrap="square" tIns="53975">
              <a:spAutoFit/>
            </a:bodyPr>
            <a:lstStyle/>
            <a:p>
              <a:pPr indent="0" lvl="0" marL="0" marR="0" rtl="0" algn="l">
                <a:lnSpc>
                  <a:spcPct val="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chemeClr val="lt2"/>
                  </a:solidFill>
                  <a:latin typeface="Constantia"/>
                  <a:ea typeface="Constantia"/>
                  <a:cs typeface="Constantia"/>
                  <a:sym typeface="Constantia"/>
                </a:rPr>
                <a:t>Define a Candidate</a:t>
              </a:r>
              <a:endParaRPr/>
            </a:p>
            <a:p>
              <a:pPr indent="0" lvl="0" marL="0" marR="0" rtl="0" algn="l">
                <a:lnSpc>
                  <a:spcPct val="35000"/>
                </a:lnSpc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chemeClr val="lt2"/>
                  </a:solidFill>
                  <a:latin typeface="Constantia"/>
                  <a:ea typeface="Constantia"/>
                  <a:cs typeface="Constantia"/>
                  <a:sym typeface="Constantia"/>
                </a:rPr>
                <a:t>Architecture</a:t>
              </a:r>
              <a:endParaRPr/>
            </a:p>
          </p:txBody>
        </p:sp>
        <p:sp>
          <p:nvSpPr>
            <p:cNvPr id="203" name="Google Shape;203;p3"/>
            <p:cNvSpPr txBox="1"/>
            <p:nvPr/>
          </p:nvSpPr>
          <p:spPr>
            <a:xfrm>
              <a:off x="3035" y="1236"/>
              <a:ext cx="704" cy="2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975" lIns="107950" spcFirstLastPara="1" rIns="107950" wrap="square" tIns="53975">
              <a:spAutoFit/>
            </a:bodyPr>
            <a:lstStyle/>
            <a:p>
              <a:pPr indent="0" lvl="0" marL="0" marR="0" rtl="0" algn="l">
                <a:lnSpc>
                  <a:spcPct val="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chemeClr val="lt2"/>
                  </a:solidFill>
                  <a:latin typeface="Constantia"/>
                  <a:ea typeface="Constantia"/>
                  <a:cs typeface="Constantia"/>
                  <a:sym typeface="Constantia"/>
                </a:rPr>
                <a:t>Perform</a:t>
              </a:r>
              <a:endParaRPr/>
            </a:p>
            <a:p>
              <a:pPr indent="0" lvl="0" marL="0" marR="0" rtl="0" algn="l">
                <a:lnSpc>
                  <a:spcPct val="35000"/>
                </a:lnSpc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chemeClr val="lt2"/>
                  </a:solidFill>
                  <a:latin typeface="Constantia"/>
                  <a:ea typeface="Constantia"/>
                  <a:cs typeface="Constantia"/>
                  <a:sym typeface="Constantia"/>
                </a:rPr>
                <a:t>Architectural</a:t>
              </a:r>
              <a:endParaRPr/>
            </a:p>
            <a:p>
              <a:pPr indent="0" lvl="0" marL="0" marR="0" rtl="0" algn="l">
                <a:lnSpc>
                  <a:spcPct val="35000"/>
                </a:lnSpc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chemeClr val="lt2"/>
                  </a:solidFill>
                  <a:latin typeface="Constantia"/>
                  <a:ea typeface="Constantia"/>
                  <a:cs typeface="Constantia"/>
                  <a:sym typeface="Constantia"/>
                </a:rPr>
                <a:t>Synthesis</a:t>
              </a:r>
              <a:endParaRPr/>
            </a:p>
          </p:txBody>
        </p:sp>
        <p:sp>
          <p:nvSpPr>
            <p:cNvPr id="204" name="Google Shape;204;p3"/>
            <p:cNvSpPr txBox="1"/>
            <p:nvPr/>
          </p:nvSpPr>
          <p:spPr>
            <a:xfrm>
              <a:off x="2745" y="2118"/>
              <a:ext cx="762" cy="1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975" lIns="107950" spcFirstLastPara="1" rIns="107950" wrap="square" tIns="53975">
              <a:spAutoFit/>
            </a:bodyPr>
            <a:lstStyle/>
            <a:p>
              <a:pPr indent="0" lvl="0" marL="0" marR="0" rtl="0" algn="l">
                <a:lnSpc>
                  <a:spcPct val="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chemeClr val="lt2"/>
                  </a:solidFill>
                  <a:latin typeface="Constantia"/>
                  <a:ea typeface="Constantia"/>
                  <a:cs typeface="Constantia"/>
                  <a:sym typeface="Constantia"/>
                </a:rPr>
                <a:t>Analyze Behavior</a:t>
              </a:r>
              <a:endParaRPr/>
            </a:p>
          </p:txBody>
        </p:sp>
        <p:sp>
          <p:nvSpPr>
            <p:cNvPr id="205" name="Google Shape;205;p3"/>
            <p:cNvSpPr txBox="1"/>
            <p:nvPr/>
          </p:nvSpPr>
          <p:spPr>
            <a:xfrm>
              <a:off x="1880" y="2445"/>
              <a:ext cx="570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975" lIns="107950" spcFirstLastPara="1" rIns="107950" wrap="square" tIns="53975">
              <a:spAutoFit/>
            </a:bodyPr>
            <a:lstStyle/>
            <a:p>
              <a:pPr indent="0" lvl="0" marL="0" marR="0" rtl="0" algn="l">
                <a:lnSpc>
                  <a:spcPct val="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chemeClr val="lt2"/>
                  </a:solidFill>
                  <a:latin typeface="Constantia"/>
                  <a:ea typeface="Constantia"/>
                  <a:cs typeface="Constantia"/>
                  <a:sym typeface="Constantia"/>
                </a:rPr>
                <a:t>Refine the</a:t>
              </a:r>
              <a:endParaRPr/>
            </a:p>
            <a:p>
              <a:pPr indent="0" lvl="0" marL="0" marR="0" rtl="0" algn="l">
                <a:lnSpc>
                  <a:spcPct val="35000"/>
                </a:lnSpc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chemeClr val="lt2"/>
                  </a:solidFill>
                  <a:latin typeface="Constantia"/>
                  <a:ea typeface="Constantia"/>
                  <a:cs typeface="Constantia"/>
                  <a:sym typeface="Constantia"/>
                </a:rPr>
                <a:t>Architecture</a:t>
              </a:r>
              <a:endParaRPr/>
            </a:p>
          </p:txBody>
        </p:sp>
        <p:sp>
          <p:nvSpPr>
            <p:cNvPr id="206" name="Google Shape;206;p3"/>
            <p:cNvSpPr txBox="1"/>
            <p:nvPr/>
          </p:nvSpPr>
          <p:spPr>
            <a:xfrm>
              <a:off x="2424" y="2962"/>
              <a:ext cx="598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975" lIns="107950" spcFirstLastPara="1" rIns="107950" wrap="square" tIns="53975">
              <a:spAutoFit/>
            </a:bodyPr>
            <a:lstStyle/>
            <a:p>
              <a:pPr indent="0" lvl="0" marL="0" marR="0" rtl="0" algn="l">
                <a:lnSpc>
                  <a:spcPct val="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chemeClr val="lt2"/>
                  </a:solidFill>
                  <a:latin typeface="Constantia"/>
                  <a:ea typeface="Constantia"/>
                  <a:cs typeface="Constantia"/>
                  <a:sym typeface="Constantia"/>
                </a:rPr>
                <a:t>Define</a:t>
              </a:r>
              <a:endParaRPr/>
            </a:p>
            <a:p>
              <a:pPr indent="0" lvl="0" marL="0" marR="0" rtl="0" algn="l">
                <a:lnSpc>
                  <a:spcPct val="35000"/>
                </a:lnSpc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chemeClr val="lt2"/>
                  </a:solidFill>
                  <a:latin typeface="Constantia"/>
                  <a:ea typeface="Constantia"/>
                  <a:cs typeface="Constantia"/>
                  <a:sym typeface="Constantia"/>
                </a:rPr>
                <a:t>Components</a:t>
              </a:r>
              <a:endParaRPr/>
            </a:p>
          </p:txBody>
        </p:sp>
        <p:sp>
          <p:nvSpPr>
            <p:cNvPr id="207" name="Google Shape;207;p3"/>
            <p:cNvSpPr txBox="1"/>
            <p:nvPr/>
          </p:nvSpPr>
          <p:spPr>
            <a:xfrm>
              <a:off x="3240" y="2962"/>
              <a:ext cx="598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975" lIns="107950" spcFirstLastPara="1" rIns="107950" wrap="square" tIns="53975">
              <a:spAutoFit/>
            </a:bodyPr>
            <a:lstStyle/>
            <a:p>
              <a:pPr indent="0" lvl="0" marL="0" marR="0" rtl="0" algn="l">
                <a:lnSpc>
                  <a:spcPct val="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chemeClr val="lt2"/>
                  </a:solidFill>
                  <a:latin typeface="Constantia"/>
                  <a:ea typeface="Constantia"/>
                  <a:cs typeface="Constantia"/>
                  <a:sym typeface="Constantia"/>
                </a:rPr>
                <a:t>Design the</a:t>
              </a:r>
              <a:endParaRPr/>
            </a:p>
            <a:p>
              <a:pPr indent="0" lvl="0" marL="0" marR="0" rtl="0" algn="l">
                <a:lnSpc>
                  <a:spcPct val="35000"/>
                </a:lnSpc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chemeClr val="lt2"/>
                  </a:solidFill>
                  <a:latin typeface="Constantia"/>
                  <a:ea typeface="Constantia"/>
                  <a:cs typeface="Constantia"/>
                  <a:sym typeface="Constantia"/>
                </a:rPr>
                <a:t>Database</a:t>
              </a:r>
              <a:endParaRPr/>
            </a:p>
          </p:txBody>
        </p:sp>
        <p:sp>
          <p:nvSpPr>
            <p:cNvPr id="208" name="Google Shape;208;p3"/>
            <p:cNvSpPr txBox="1"/>
            <p:nvPr/>
          </p:nvSpPr>
          <p:spPr>
            <a:xfrm>
              <a:off x="3494" y="2387"/>
              <a:ext cx="488" cy="1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975" lIns="107950" spcFirstLastPara="1" rIns="107950" wrap="square" tIns="53975">
              <a:spAutoFit/>
            </a:bodyPr>
            <a:lstStyle/>
            <a:p>
              <a:pPr indent="0" lvl="0" marL="0" marR="0" rtl="0" algn="l">
                <a:lnSpc>
                  <a:spcPct val="3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chemeClr val="lt2"/>
                  </a:solidFill>
                  <a:latin typeface="Constantia"/>
                  <a:ea typeface="Constantia"/>
                  <a:cs typeface="Constantia"/>
                  <a:sym typeface="Constantia"/>
                </a:rPr>
                <a:t>(Optional)</a:t>
              </a: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366" y="889"/>
              <a:ext cx="282" cy="104"/>
            </a:xfrm>
            <a:custGeom>
              <a:rect b="b" l="l" r="r" t="t"/>
              <a:pathLst>
                <a:path extrusionOk="0" h="109" w="282">
                  <a:moveTo>
                    <a:pt x="282" y="0"/>
                  </a:moveTo>
                  <a:lnTo>
                    <a:pt x="0" y="0"/>
                  </a:lnTo>
                  <a:lnTo>
                    <a:pt x="0" y="109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stealth"/>
            </a:ln>
          </p:spPr>
          <p:txBody>
            <a:bodyPr anchorCtr="0" anchor="t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210" name="Google Shape;210;p3"/>
            <p:cNvCxnSpPr/>
            <p:nvPr/>
          </p:nvCxnSpPr>
          <p:spPr>
            <a:xfrm>
              <a:off x="2785" y="685"/>
              <a:ext cx="0" cy="129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11" name="Google Shape;211;p3"/>
            <p:cNvSpPr/>
            <p:nvPr/>
          </p:nvSpPr>
          <p:spPr>
            <a:xfrm>
              <a:off x="2896" y="890"/>
              <a:ext cx="493" cy="105"/>
            </a:xfrm>
            <a:custGeom>
              <a:rect b="b" l="l" r="r" t="t"/>
              <a:pathLst>
                <a:path extrusionOk="0" h="112" w="493">
                  <a:moveTo>
                    <a:pt x="0" y="0"/>
                  </a:moveTo>
                  <a:lnTo>
                    <a:pt x="492" y="1"/>
                  </a:lnTo>
                  <a:lnTo>
                    <a:pt x="493" y="112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stealth"/>
            </a:ln>
          </p:spPr>
          <p:txBody>
            <a:bodyPr anchorCtr="0" anchor="t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2648" y="819"/>
              <a:ext cx="272" cy="124"/>
            </a:xfrm>
            <a:custGeom>
              <a:rect b="b" l="l" r="r" t="t"/>
              <a:pathLst>
                <a:path extrusionOk="0" h="240" w="528">
                  <a:moveTo>
                    <a:pt x="0" y="136"/>
                  </a:moveTo>
                  <a:lnTo>
                    <a:pt x="264" y="0"/>
                  </a:lnTo>
                  <a:lnTo>
                    <a:pt x="528" y="136"/>
                  </a:lnTo>
                  <a:lnTo>
                    <a:pt x="264" y="240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FFCC99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362" y="1408"/>
              <a:ext cx="280" cy="72"/>
            </a:xfrm>
            <a:custGeom>
              <a:rect b="b" l="l" r="r" t="t"/>
              <a:pathLst>
                <a:path extrusionOk="0" h="99" w="274">
                  <a:moveTo>
                    <a:pt x="1" y="0"/>
                  </a:moveTo>
                  <a:lnTo>
                    <a:pt x="0" y="99"/>
                  </a:lnTo>
                  <a:lnTo>
                    <a:pt x="274" y="99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stealth"/>
            </a:ln>
          </p:spPr>
          <p:txBody>
            <a:bodyPr anchorCtr="0" anchor="t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214" name="Google Shape;214;p3"/>
            <p:cNvCxnSpPr/>
            <p:nvPr/>
          </p:nvCxnSpPr>
          <p:spPr>
            <a:xfrm>
              <a:off x="3397" y="1477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15" name="Google Shape;215;p3"/>
            <p:cNvCxnSpPr/>
            <p:nvPr/>
          </p:nvCxnSpPr>
          <p:spPr>
            <a:xfrm>
              <a:off x="2785" y="946"/>
              <a:ext cx="0" cy="459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16" name="Google Shape;216;p3"/>
            <p:cNvCxnSpPr/>
            <p:nvPr/>
          </p:nvCxnSpPr>
          <p:spPr>
            <a:xfrm>
              <a:off x="2785" y="1537"/>
              <a:ext cx="0" cy="129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17" name="Google Shape;217;p3"/>
            <p:cNvSpPr/>
            <p:nvPr/>
          </p:nvSpPr>
          <p:spPr>
            <a:xfrm>
              <a:off x="2648" y="1409"/>
              <a:ext cx="272" cy="124"/>
            </a:xfrm>
            <a:custGeom>
              <a:rect b="b" l="l" r="r" t="t"/>
              <a:pathLst>
                <a:path extrusionOk="0" h="240" w="528">
                  <a:moveTo>
                    <a:pt x="0" y="136"/>
                  </a:moveTo>
                  <a:lnTo>
                    <a:pt x="264" y="0"/>
                  </a:lnTo>
                  <a:lnTo>
                    <a:pt x="528" y="136"/>
                  </a:lnTo>
                  <a:lnTo>
                    <a:pt x="264" y="240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FFCC99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218" name="Google Shape;218;p3"/>
            <p:cNvCxnSpPr/>
            <p:nvPr/>
          </p:nvCxnSpPr>
          <p:spPr>
            <a:xfrm>
              <a:off x="3121" y="1696"/>
              <a:ext cx="0" cy="177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19" name="Google Shape;219;p3"/>
            <p:cNvCxnSpPr/>
            <p:nvPr/>
          </p:nvCxnSpPr>
          <p:spPr>
            <a:xfrm>
              <a:off x="3121" y="2203"/>
              <a:ext cx="0" cy="114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20" name="Google Shape;220;p3"/>
            <p:cNvCxnSpPr/>
            <p:nvPr/>
          </p:nvCxnSpPr>
          <p:spPr>
            <a:xfrm>
              <a:off x="3529" y="2350"/>
              <a:ext cx="0" cy="366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21" name="Google Shape;221;p3"/>
            <p:cNvCxnSpPr/>
            <p:nvPr/>
          </p:nvCxnSpPr>
          <p:spPr>
            <a:xfrm>
              <a:off x="2713" y="2350"/>
              <a:ext cx="0" cy="366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22" name="Google Shape;222;p3"/>
            <p:cNvSpPr/>
            <p:nvPr/>
          </p:nvSpPr>
          <p:spPr>
            <a:xfrm>
              <a:off x="2570" y="2329"/>
              <a:ext cx="1091" cy="31"/>
            </a:xfrm>
            <a:prstGeom prst="rect">
              <a:avLst/>
            </a:prstGeom>
            <a:solidFill>
              <a:srgbClr val="1F6B60"/>
            </a:solidFill>
            <a:ln cap="flat" cmpd="sng" w="9525">
              <a:solidFill>
                <a:srgbClr val="1F6B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2158" y="1696"/>
              <a:ext cx="312" cy="507"/>
            </a:xfrm>
            <a:custGeom>
              <a:rect b="b" l="l" r="r" t="t"/>
              <a:pathLst>
                <a:path extrusionOk="0" h="507" w="312">
                  <a:moveTo>
                    <a:pt x="312" y="0"/>
                  </a:moveTo>
                  <a:lnTo>
                    <a:pt x="312" y="240"/>
                  </a:lnTo>
                  <a:lnTo>
                    <a:pt x="0" y="240"/>
                  </a:lnTo>
                  <a:lnTo>
                    <a:pt x="0" y="507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stealth"/>
            </a:ln>
          </p:spPr>
          <p:txBody>
            <a:bodyPr anchorCtr="0" anchor="t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357" y="1672"/>
              <a:ext cx="866" cy="30"/>
            </a:xfrm>
            <a:prstGeom prst="rect">
              <a:avLst/>
            </a:prstGeom>
            <a:solidFill>
              <a:srgbClr val="1F6B60"/>
            </a:solidFill>
            <a:ln cap="flat" cmpd="sng" w="9525">
              <a:solidFill>
                <a:srgbClr val="1F6B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grpSp>
          <p:nvGrpSpPr>
            <p:cNvPr id="225" name="Google Shape;225;p3"/>
            <p:cNvGrpSpPr/>
            <p:nvPr/>
          </p:nvGrpSpPr>
          <p:grpSpPr>
            <a:xfrm>
              <a:off x="2713" y="3130"/>
              <a:ext cx="816" cy="266"/>
              <a:chOff x="2745" y="3066"/>
              <a:chExt cx="816" cy="342"/>
            </a:xfrm>
          </p:grpSpPr>
          <p:cxnSp>
            <p:nvCxnSpPr>
              <p:cNvPr id="226" name="Google Shape;226;p3"/>
              <p:cNvCxnSpPr/>
              <p:nvPr/>
            </p:nvCxnSpPr>
            <p:spPr>
              <a:xfrm>
                <a:off x="3561" y="3066"/>
                <a:ext cx="0" cy="3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227" name="Google Shape;227;p3"/>
              <p:cNvCxnSpPr/>
              <p:nvPr/>
            </p:nvCxnSpPr>
            <p:spPr>
              <a:xfrm>
                <a:off x="2745" y="3066"/>
                <a:ext cx="0" cy="3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</p:grpSp>
        <p:cxnSp>
          <p:nvCxnSpPr>
            <p:cNvPr id="228" name="Google Shape;228;p3"/>
            <p:cNvCxnSpPr/>
            <p:nvPr/>
          </p:nvCxnSpPr>
          <p:spPr>
            <a:xfrm>
              <a:off x="3139" y="3428"/>
              <a:ext cx="0" cy="159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29" name="Google Shape;229;p3"/>
            <p:cNvCxnSpPr/>
            <p:nvPr/>
          </p:nvCxnSpPr>
          <p:spPr>
            <a:xfrm>
              <a:off x="2158" y="2617"/>
              <a:ext cx="0" cy="972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30" name="Google Shape;230;p3"/>
            <p:cNvCxnSpPr/>
            <p:nvPr/>
          </p:nvCxnSpPr>
          <p:spPr>
            <a:xfrm>
              <a:off x="2866" y="3617"/>
              <a:ext cx="0" cy="159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31" name="Google Shape;231;p3"/>
            <p:cNvSpPr/>
            <p:nvPr/>
          </p:nvSpPr>
          <p:spPr>
            <a:xfrm>
              <a:off x="2576" y="3401"/>
              <a:ext cx="1091" cy="31"/>
            </a:xfrm>
            <a:prstGeom prst="rect">
              <a:avLst/>
            </a:prstGeom>
            <a:solidFill>
              <a:srgbClr val="1F6B60"/>
            </a:solidFill>
            <a:ln cap="flat" cmpd="sng" w="9525">
              <a:solidFill>
                <a:srgbClr val="1F6B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2040" y="3593"/>
              <a:ext cx="1232" cy="32"/>
            </a:xfrm>
            <a:prstGeom prst="rect">
              <a:avLst/>
            </a:prstGeom>
            <a:solidFill>
              <a:srgbClr val="1F6B60"/>
            </a:solidFill>
            <a:ln cap="flat" cmpd="sng" w="9525">
              <a:solidFill>
                <a:srgbClr val="1F6B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  <p:grpSp>
        <p:nvGrpSpPr>
          <p:cNvPr id="233" name="Google Shape;233;p3"/>
          <p:cNvGrpSpPr/>
          <p:nvPr/>
        </p:nvGrpSpPr>
        <p:grpSpPr>
          <a:xfrm>
            <a:off x="927534" y="3282809"/>
            <a:ext cx="3030112" cy="2764774"/>
            <a:chOff x="492" y="1852"/>
            <a:chExt cx="2011" cy="1983"/>
          </a:xfrm>
        </p:grpSpPr>
        <p:sp>
          <p:nvSpPr>
            <p:cNvPr id="234" name="Google Shape;234;p3"/>
            <p:cNvSpPr/>
            <p:nvPr/>
          </p:nvSpPr>
          <p:spPr>
            <a:xfrm rot="-8446413">
              <a:off x="739" y="2183"/>
              <a:ext cx="1517" cy="1321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lnTo>
                    <a:pt x="0" y="21600"/>
                  </a:lnTo>
                  <a:lnTo>
                    <a:pt x="21600" y="10800"/>
                  </a:lnTo>
                  <a:close/>
                </a:path>
              </a:pathLst>
            </a:custGeom>
            <a:solidFill>
              <a:srgbClr val="D8EBB3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rotWithShape="0" algn="ctr" dir="2700000" dist="107763">
                <a:srgbClr val="808080"/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1096" y="2860"/>
              <a:ext cx="200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25221E"/>
                  </a:solidFill>
                  <a:latin typeface="Constantia"/>
                  <a:ea typeface="Constantia"/>
                  <a:cs typeface="Constantia"/>
                  <a:sym typeface="Constantia"/>
                </a:rPr>
                <a:t>Class</a:t>
              </a:r>
              <a:endPara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1061" y="2946"/>
              <a:ext cx="248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25221E"/>
                  </a:solidFill>
                  <a:latin typeface="Constantia"/>
                  <a:ea typeface="Constantia"/>
                  <a:cs typeface="Constantia"/>
                  <a:sym typeface="Constantia"/>
                </a:rPr>
                <a:t>Design</a:t>
              </a:r>
              <a:endPara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1054" y="2648"/>
              <a:ext cx="271" cy="168"/>
            </a:xfrm>
            <a:custGeom>
              <a:rect b="b" l="l" r="r" t="t"/>
              <a:pathLst>
                <a:path extrusionOk="0" h="23" w="38">
                  <a:moveTo>
                    <a:pt x="0" y="0"/>
                  </a:moveTo>
                  <a:lnTo>
                    <a:pt x="26" y="0"/>
                  </a:lnTo>
                  <a:lnTo>
                    <a:pt x="38" y="11"/>
                  </a:lnTo>
                  <a:lnTo>
                    <a:pt x="26" y="23"/>
                  </a:lnTo>
                  <a:lnTo>
                    <a:pt x="0" y="23"/>
                  </a:lnTo>
                  <a:lnTo>
                    <a:pt x="0" y="0"/>
                  </a:lnTo>
                </a:path>
              </a:pathLst>
            </a:custGeom>
            <a:solidFill>
              <a:srgbClr val="C2C1C1"/>
            </a:solidFill>
            <a:ln cap="flat" cmpd="sng" w="9525">
              <a:solidFill>
                <a:srgbClr val="C2C1C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1095" y="2645"/>
              <a:ext cx="271" cy="175"/>
            </a:xfrm>
            <a:custGeom>
              <a:rect b="b" l="l" r="r" t="t"/>
              <a:pathLst>
                <a:path extrusionOk="0" h="24" w="38">
                  <a:moveTo>
                    <a:pt x="0" y="0"/>
                  </a:moveTo>
                  <a:lnTo>
                    <a:pt x="26" y="0"/>
                  </a:lnTo>
                  <a:lnTo>
                    <a:pt x="38" y="12"/>
                  </a:lnTo>
                  <a:lnTo>
                    <a:pt x="26" y="24"/>
                  </a:lnTo>
                  <a:lnTo>
                    <a:pt x="0" y="24"/>
                  </a:lnTo>
                  <a:lnTo>
                    <a:pt x="0" y="0"/>
                  </a:lnTo>
                </a:path>
              </a:pathLst>
            </a:custGeom>
            <a:solidFill>
              <a:srgbClr val="FDFFC7"/>
            </a:solidFill>
            <a:ln cap="flat" cmpd="sng" w="9525">
              <a:solidFill>
                <a:srgbClr val="25221E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1677" y="2543"/>
              <a:ext cx="135" cy="132"/>
            </a:xfrm>
            <a:prstGeom prst="ellipse">
              <a:avLst/>
            </a:prstGeom>
            <a:solidFill>
              <a:srgbClr val="A9A8A7"/>
            </a:solidFill>
            <a:ln cap="flat" cmpd="sng" w="9525">
              <a:solidFill>
                <a:srgbClr val="C2C1C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1591" y="2711"/>
              <a:ext cx="257" cy="206"/>
            </a:xfrm>
            <a:custGeom>
              <a:rect b="b" l="l" r="r" t="t"/>
              <a:pathLst>
                <a:path extrusionOk="0" h="28" w="36">
                  <a:moveTo>
                    <a:pt x="9" y="0"/>
                  </a:moveTo>
                  <a:lnTo>
                    <a:pt x="36" y="0"/>
                  </a:lnTo>
                  <a:lnTo>
                    <a:pt x="27" y="28"/>
                  </a:lnTo>
                  <a:lnTo>
                    <a:pt x="0" y="28"/>
                  </a:lnTo>
                  <a:lnTo>
                    <a:pt x="9" y="0"/>
                  </a:lnTo>
                </a:path>
              </a:pathLst>
            </a:custGeom>
            <a:solidFill>
              <a:srgbClr val="A9A8A7"/>
            </a:solidFill>
            <a:ln cap="flat" cmpd="sng" w="9525">
              <a:solidFill>
                <a:srgbClr val="C2C1C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1676" y="2528"/>
              <a:ext cx="136" cy="132"/>
            </a:xfrm>
            <a:prstGeom prst="ellipse">
              <a:avLst/>
            </a:prstGeom>
            <a:solidFill>
              <a:srgbClr val="FBC88D"/>
            </a:solidFill>
            <a:ln cap="flat" cmpd="sng" w="9525">
              <a:solidFill>
                <a:srgbClr val="2522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1591" y="2689"/>
              <a:ext cx="257" cy="206"/>
            </a:xfrm>
            <a:custGeom>
              <a:rect b="b" l="l" r="r" t="t"/>
              <a:pathLst>
                <a:path extrusionOk="0" h="28" w="36">
                  <a:moveTo>
                    <a:pt x="9" y="0"/>
                  </a:moveTo>
                  <a:lnTo>
                    <a:pt x="36" y="0"/>
                  </a:lnTo>
                  <a:lnTo>
                    <a:pt x="27" y="28"/>
                  </a:lnTo>
                  <a:lnTo>
                    <a:pt x="0" y="28"/>
                  </a:lnTo>
                  <a:lnTo>
                    <a:pt x="9" y="0"/>
                  </a:lnTo>
                </a:path>
              </a:pathLst>
            </a:custGeom>
            <a:solidFill>
              <a:srgbClr val="FBC88D"/>
            </a:solidFill>
            <a:ln cap="flat" cmpd="sng" w="9525">
              <a:solidFill>
                <a:srgbClr val="25221E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1128" y="2610"/>
              <a:ext cx="171" cy="203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1586" y="2960"/>
              <a:ext cx="319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25221E"/>
                  </a:solidFill>
                  <a:latin typeface="Constantia"/>
                  <a:ea typeface="Constantia"/>
                  <a:cs typeface="Constantia"/>
                  <a:sym typeface="Constantia"/>
                </a:rPr>
                <a:t>Designer</a:t>
              </a:r>
              <a:endPara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"/>
          <p:cNvSpPr txBox="1"/>
          <p:nvPr>
            <p:ph type="title"/>
          </p:nvPr>
        </p:nvSpPr>
        <p:spPr>
          <a:xfrm>
            <a:off x="457200" y="704088"/>
            <a:ext cx="82296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/>
              <a:t>Tổng quan về thiết kế lớp</a:t>
            </a:r>
            <a:endParaRPr sz="3600"/>
          </a:p>
        </p:txBody>
      </p:sp>
      <p:sp>
        <p:nvSpPr>
          <p:cNvPr id="250" name="Google Shape;250;p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51" name="Google Shape;251;p4"/>
          <p:cNvGrpSpPr/>
          <p:nvPr/>
        </p:nvGrpSpPr>
        <p:grpSpPr>
          <a:xfrm>
            <a:off x="685800" y="2238376"/>
            <a:ext cx="7015162" cy="4046536"/>
            <a:chOff x="1176349" y="1555753"/>
            <a:chExt cx="7015162" cy="4046536"/>
          </a:xfrm>
        </p:grpSpPr>
        <p:grpSp>
          <p:nvGrpSpPr>
            <p:cNvPr id="252" name="Google Shape;252;p4"/>
            <p:cNvGrpSpPr/>
            <p:nvPr/>
          </p:nvGrpSpPr>
          <p:grpSpPr>
            <a:xfrm>
              <a:off x="1195392" y="4013201"/>
              <a:ext cx="1736727" cy="1589088"/>
              <a:chOff x="2064" y="2736"/>
              <a:chExt cx="1094" cy="1001"/>
            </a:xfrm>
          </p:grpSpPr>
          <p:grpSp>
            <p:nvGrpSpPr>
              <p:cNvPr id="253" name="Google Shape;253;p4"/>
              <p:cNvGrpSpPr/>
              <p:nvPr/>
            </p:nvGrpSpPr>
            <p:grpSpPr>
              <a:xfrm>
                <a:off x="2390" y="2736"/>
                <a:ext cx="432" cy="720"/>
                <a:chOff x="1249" y="2496"/>
                <a:chExt cx="432" cy="720"/>
              </a:xfrm>
            </p:grpSpPr>
            <p:sp>
              <p:nvSpPr>
                <p:cNvPr id="254" name="Google Shape;254;p4"/>
                <p:cNvSpPr/>
                <p:nvPr/>
              </p:nvSpPr>
              <p:spPr>
                <a:xfrm>
                  <a:off x="1249" y="2496"/>
                  <a:ext cx="432" cy="72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255" name="Google Shape;255;p4"/>
                <p:cNvCxnSpPr/>
                <p:nvPr/>
              </p:nvCxnSpPr>
              <p:spPr>
                <a:xfrm>
                  <a:off x="1537" y="2496"/>
                  <a:ext cx="144" cy="14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6" name="Google Shape;256;p4"/>
                <p:cNvCxnSpPr/>
                <p:nvPr/>
              </p:nvCxnSpPr>
              <p:spPr>
                <a:xfrm>
                  <a:off x="1537" y="2496"/>
                  <a:ext cx="0" cy="14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7" name="Google Shape;257;p4"/>
                <p:cNvCxnSpPr/>
                <p:nvPr/>
              </p:nvCxnSpPr>
              <p:spPr>
                <a:xfrm rot="10800000">
                  <a:off x="1537" y="2640"/>
                  <a:ext cx="144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8" name="Google Shape;258;p4"/>
                <p:cNvCxnSpPr/>
                <p:nvPr/>
              </p:nvCxnSpPr>
              <p:spPr>
                <a:xfrm>
                  <a:off x="1297" y="2736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9" name="Google Shape;259;p4"/>
                <p:cNvCxnSpPr/>
                <p:nvPr/>
              </p:nvCxnSpPr>
              <p:spPr>
                <a:xfrm>
                  <a:off x="1297" y="2784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0" name="Google Shape;260;p4"/>
                <p:cNvCxnSpPr/>
                <p:nvPr/>
              </p:nvCxnSpPr>
              <p:spPr>
                <a:xfrm>
                  <a:off x="1297" y="2832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1" name="Google Shape;261;p4"/>
                <p:cNvCxnSpPr/>
                <p:nvPr/>
              </p:nvCxnSpPr>
              <p:spPr>
                <a:xfrm>
                  <a:off x="1297" y="292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2" name="Google Shape;262;p4"/>
                <p:cNvCxnSpPr/>
                <p:nvPr/>
              </p:nvCxnSpPr>
              <p:spPr>
                <a:xfrm>
                  <a:off x="1297" y="2880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3" name="Google Shape;263;p4"/>
                <p:cNvCxnSpPr/>
                <p:nvPr/>
              </p:nvCxnSpPr>
              <p:spPr>
                <a:xfrm>
                  <a:off x="1297" y="2976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4" name="Google Shape;264;p4"/>
                <p:cNvCxnSpPr/>
                <p:nvPr/>
              </p:nvCxnSpPr>
              <p:spPr>
                <a:xfrm>
                  <a:off x="1297" y="3024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5" name="Google Shape;265;p4"/>
                <p:cNvCxnSpPr/>
                <p:nvPr/>
              </p:nvCxnSpPr>
              <p:spPr>
                <a:xfrm>
                  <a:off x="1297" y="3072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6" name="Google Shape;266;p4"/>
                <p:cNvCxnSpPr/>
                <p:nvPr/>
              </p:nvCxnSpPr>
              <p:spPr>
                <a:xfrm>
                  <a:off x="1297" y="3120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7" name="Google Shape;267;p4"/>
                <p:cNvCxnSpPr/>
                <p:nvPr/>
              </p:nvCxnSpPr>
              <p:spPr>
                <a:xfrm>
                  <a:off x="1297" y="316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8" name="Google Shape;268;p4"/>
                <p:cNvCxnSpPr/>
                <p:nvPr/>
              </p:nvCxnSpPr>
              <p:spPr>
                <a:xfrm>
                  <a:off x="1297" y="268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9" name="Google Shape;269;p4"/>
                <p:cNvCxnSpPr/>
                <p:nvPr/>
              </p:nvCxnSpPr>
              <p:spPr>
                <a:xfrm>
                  <a:off x="1297" y="2592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0" name="Google Shape;270;p4"/>
                <p:cNvCxnSpPr/>
                <p:nvPr/>
              </p:nvCxnSpPr>
              <p:spPr>
                <a:xfrm>
                  <a:off x="1297" y="2544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1" name="Google Shape;271;p4"/>
                <p:cNvCxnSpPr/>
                <p:nvPr/>
              </p:nvCxnSpPr>
              <p:spPr>
                <a:xfrm>
                  <a:off x="1297" y="2640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72" name="Google Shape;272;p4"/>
              <p:cNvSpPr txBox="1"/>
              <p:nvPr/>
            </p:nvSpPr>
            <p:spPr>
              <a:xfrm>
                <a:off x="2064" y="3504"/>
                <a:ext cx="10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Đặc tả bổ xung</a:t>
                </a:r>
                <a:endParaRPr b="0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sp>
          <p:nvSpPr>
            <p:cNvPr id="273" name="Google Shape;273;p4"/>
            <p:cNvSpPr/>
            <p:nvPr/>
          </p:nvSpPr>
          <p:spPr>
            <a:xfrm>
              <a:off x="4035425" y="2847975"/>
              <a:ext cx="1751013" cy="966788"/>
            </a:xfrm>
            <a:prstGeom prst="homePlate">
              <a:avLst>
                <a:gd fmla="val 54955" name="adj"/>
              </a:avLst>
            </a:prstGeom>
            <a:solidFill>
              <a:srgbClr val="00CCFF"/>
            </a:solidFill>
            <a:ln cap="flat" cmpd="sng" w="28575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3897313" y="2986088"/>
              <a:ext cx="1751012" cy="966787"/>
            </a:xfrm>
            <a:prstGeom prst="homePlate">
              <a:avLst>
                <a:gd fmla="val 54955" name="adj"/>
              </a:avLst>
            </a:prstGeom>
            <a:solidFill>
              <a:srgbClr val="00CCFF"/>
            </a:solidFill>
            <a:ln cap="flat" cmpd="sng" w="28575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grpSp>
          <p:nvGrpSpPr>
            <p:cNvPr id="275" name="Google Shape;275;p4"/>
            <p:cNvGrpSpPr/>
            <p:nvPr/>
          </p:nvGrpSpPr>
          <p:grpSpPr>
            <a:xfrm>
              <a:off x="1176349" y="1555753"/>
              <a:ext cx="2095506" cy="2143127"/>
              <a:chOff x="3959" y="1776"/>
              <a:chExt cx="1320" cy="1350"/>
            </a:xfrm>
          </p:grpSpPr>
          <p:grpSp>
            <p:nvGrpSpPr>
              <p:cNvPr id="276" name="Google Shape;276;p4"/>
              <p:cNvGrpSpPr/>
              <p:nvPr/>
            </p:nvGrpSpPr>
            <p:grpSpPr>
              <a:xfrm>
                <a:off x="4297" y="1776"/>
                <a:ext cx="432" cy="720"/>
                <a:chOff x="1249" y="2496"/>
                <a:chExt cx="432" cy="720"/>
              </a:xfrm>
            </p:grpSpPr>
            <p:sp>
              <p:nvSpPr>
                <p:cNvPr id="277" name="Google Shape;277;p4"/>
                <p:cNvSpPr/>
                <p:nvPr/>
              </p:nvSpPr>
              <p:spPr>
                <a:xfrm>
                  <a:off x="1249" y="2496"/>
                  <a:ext cx="432" cy="72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278" name="Google Shape;278;p4"/>
                <p:cNvCxnSpPr/>
                <p:nvPr/>
              </p:nvCxnSpPr>
              <p:spPr>
                <a:xfrm>
                  <a:off x="1537" y="2496"/>
                  <a:ext cx="144" cy="14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9" name="Google Shape;279;p4"/>
                <p:cNvCxnSpPr/>
                <p:nvPr/>
              </p:nvCxnSpPr>
              <p:spPr>
                <a:xfrm>
                  <a:off x="1537" y="2496"/>
                  <a:ext cx="0" cy="14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0" name="Google Shape;280;p4"/>
                <p:cNvCxnSpPr/>
                <p:nvPr/>
              </p:nvCxnSpPr>
              <p:spPr>
                <a:xfrm rot="10800000">
                  <a:off x="1537" y="2640"/>
                  <a:ext cx="144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1" name="Google Shape;281;p4"/>
                <p:cNvCxnSpPr/>
                <p:nvPr/>
              </p:nvCxnSpPr>
              <p:spPr>
                <a:xfrm>
                  <a:off x="1297" y="2736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2" name="Google Shape;282;p4"/>
                <p:cNvCxnSpPr/>
                <p:nvPr/>
              </p:nvCxnSpPr>
              <p:spPr>
                <a:xfrm>
                  <a:off x="1297" y="2784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3" name="Google Shape;283;p4"/>
                <p:cNvCxnSpPr/>
                <p:nvPr/>
              </p:nvCxnSpPr>
              <p:spPr>
                <a:xfrm>
                  <a:off x="1297" y="2832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4" name="Google Shape;284;p4"/>
                <p:cNvCxnSpPr/>
                <p:nvPr/>
              </p:nvCxnSpPr>
              <p:spPr>
                <a:xfrm>
                  <a:off x="1297" y="292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5" name="Google Shape;285;p4"/>
                <p:cNvCxnSpPr/>
                <p:nvPr/>
              </p:nvCxnSpPr>
              <p:spPr>
                <a:xfrm>
                  <a:off x="1297" y="2880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6" name="Google Shape;286;p4"/>
                <p:cNvCxnSpPr/>
                <p:nvPr/>
              </p:nvCxnSpPr>
              <p:spPr>
                <a:xfrm>
                  <a:off x="1297" y="2976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7" name="Google Shape;287;p4"/>
                <p:cNvCxnSpPr/>
                <p:nvPr/>
              </p:nvCxnSpPr>
              <p:spPr>
                <a:xfrm>
                  <a:off x="1297" y="3024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8" name="Google Shape;288;p4"/>
                <p:cNvCxnSpPr/>
                <p:nvPr/>
              </p:nvCxnSpPr>
              <p:spPr>
                <a:xfrm>
                  <a:off x="1297" y="3072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9" name="Google Shape;289;p4"/>
                <p:cNvCxnSpPr/>
                <p:nvPr/>
              </p:nvCxnSpPr>
              <p:spPr>
                <a:xfrm>
                  <a:off x="1297" y="3120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0" name="Google Shape;290;p4"/>
                <p:cNvCxnSpPr/>
                <p:nvPr/>
              </p:nvCxnSpPr>
              <p:spPr>
                <a:xfrm>
                  <a:off x="1297" y="316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1" name="Google Shape;291;p4"/>
                <p:cNvCxnSpPr/>
                <p:nvPr/>
              </p:nvCxnSpPr>
              <p:spPr>
                <a:xfrm>
                  <a:off x="1297" y="268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2" name="Google Shape;292;p4"/>
                <p:cNvCxnSpPr/>
                <p:nvPr/>
              </p:nvCxnSpPr>
              <p:spPr>
                <a:xfrm>
                  <a:off x="1297" y="2592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3" name="Google Shape;293;p4"/>
                <p:cNvCxnSpPr/>
                <p:nvPr/>
              </p:nvCxnSpPr>
              <p:spPr>
                <a:xfrm>
                  <a:off x="1297" y="2544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4" name="Google Shape;294;p4"/>
                <p:cNvCxnSpPr/>
                <p:nvPr/>
              </p:nvCxnSpPr>
              <p:spPr>
                <a:xfrm>
                  <a:off x="1297" y="2640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95" name="Google Shape;295;p4"/>
              <p:cNvSpPr txBox="1"/>
              <p:nvPr/>
            </p:nvSpPr>
            <p:spPr>
              <a:xfrm>
                <a:off x="3959" y="2544"/>
                <a:ext cx="1320" cy="5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Các tài liệu</a:t>
                </a:r>
                <a:endParaRPr b="0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hướng dẫn</a:t>
                </a:r>
                <a:endParaRPr b="0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 chuyên cho dự án</a:t>
                </a:r>
                <a:endParaRPr b="0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cxnSp>
          <p:nvCxnSpPr>
            <p:cNvPr id="296" name="Google Shape;296;p4"/>
            <p:cNvCxnSpPr/>
            <p:nvPr/>
          </p:nvCxnSpPr>
          <p:spPr>
            <a:xfrm>
              <a:off x="2743200" y="2374900"/>
              <a:ext cx="825500" cy="825500"/>
            </a:xfrm>
            <a:prstGeom prst="straightConnector1">
              <a:avLst/>
            </a:prstGeom>
            <a:noFill/>
            <a:ln cap="flat" cmpd="sng" w="28575">
              <a:solidFill>
                <a:schemeClr val="hlink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7" name="Google Shape;297;p4"/>
            <p:cNvCxnSpPr/>
            <p:nvPr/>
          </p:nvCxnSpPr>
          <p:spPr>
            <a:xfrm>
              <a:off x="5930900" y="3352800"/>
              <a:ext cx="685800" cy="0"/>
            </a:xfrm>
            <a:prstGeom prst="straightConnector1">
              <a:avLst/>
            </a:prstGeom>
            <a:noFill/>
            <a:ln cap="flat" cmpd="sng" w="28575">
              <a:solidFill>
                <a:schemeClr val="hlink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298" name="Google Shape;298;p4"/>
            <p:cNvGrpSpPr/>
            <p:nvPr/>
          </p:nvGrpSpPr>
          <p:grpSpPr>
            <a:xfrm>
              <a:off x="6578609" y="2971801"/>
              <a:ext cx="1612902" cy="1044576"/>
              <a:chOff x="4191" y="1200"/>
              <a:chExt cx="1016" cy="658"/>
            </a:xfrm>
          </p:grpSpPr>
          <p:sp>
            <p:nvSpPr>
              <p:cNvPr id="299" name="Google Shape;299;p4"/>
              <p:cNvSpPr txBox="1"/>
              <p:nvPr/>
            </p:nvSpPr>
            <p:spPr>
              <a:xfrm>
                <a:off x="4191" y="1684"/>
                <a:ext cx="1016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Các lớp thiết kế</a:t>
                </a:r>
                <a:endParaRPr b="0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grpSp>
            <p:nvGrpSpPr>
              <p:cNvPr id="300" name="Google Shape;300;p4"/>
              <p:cNvGrpSpPr/>
              <p:nvPr/>
            </p:nvGrpSpPr>
            <p:grpSpPr>
              <a:xfrm>
                <a:off x="4416" y="1200"/>
                <a:ext cx="576" cy="384"/>
                <a:chOff x="144" y="1440"/>
                <a:chExt cx="881" cy="510"/>
              </a:xfrm>
            </p:grpSpPr>
            <p:sp>
              <p:nvSpPr>
                <p:cNvPr id="301" name="Google Shape;301;p4"/>
                <p:cNvSpPr/>
                <p:nvPr/>
              </p:nvSpPr>
              <p:spPr>
                <a:xfrm>
                  <a:off x="144" y="1440"/>
                  <a:ext cx="881" cy="51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302" name="Google Shape;302;p4"/>
                <p:cNvCxnSpPr/>
                <p:nvPr/>
              </p:nvCxnSpPr>
              <p:spPr>
                <a:xfrm>
                  <a:off x="144" y="181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03" name="Google Shape;303;p4"/>
                <p:cNvCxnSpPr/>
                <p:nvPr/>
              </p:nvCxnSpPr>
              <p:spPr>
                <a:xfrm>
                  <a:off x="144" y="168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304" name="Google Shape;304;p4"/>
            <p:cNvCxnSpPr/>
            <p:nvPr/>
          </p:nvCxnSpPr>
          <p:spPr>
            <a:xfrm flipH="1" rot="10800000">
              <a:off x="2743200" y="3975100"/>
              <a:ext cx="825500" cy="825500"/>
            </a:xfrm>
            <a:prstGeom prst="straightConnector1">
              <a:avLst/>
            </a:prstGeom>
            <a:noFill/>
            <a:ln cap="flat" cmpd="sng" w="28575">
              <a:solidFill>
                <a:schemeClr val="hlink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"/>
          <p:cNvSpPr txBox="1"/>
          <p:nvPr>
            <p:ph type="title"/>
          </p:nvPr>
        </p:nvSpPr>
        <p:spPr>
          <a:xfrm>
            <a:off x="457200" y="704088"/>
            <a:ext cx="8229600" cy="7437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/>
              <a:t>Các bước thiết kế lớp</a:t>
            </a:r>
            <a:endParaRPr sz="3600"/>
          </a:p>
        </p:txBody>
      </p:sp>
      <p:sp>
        <p:nvSpPr>
          <p:cNvPr id="310" name="Google Shape;310;p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1" name="Google Shape;311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Tạo các lớp thiết kế khởi tạo</a:t>
            </a:r>
            <a:endParaRPr/>
          </a:p>
          <a:p>
            <a:pPr indent="-274320" lvl="0" marL="274320" rtl="0" algn="l">
              <a:lnSpc>
                <a:spcPct val="7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Xác định các hoạt động</a:t>
            </a:r>
            <a:endParaRPr/>
          </a:p>
          <a:p>
            <a:pPr indent="-274320" lvl="0" marL="274320" rtl="0" algn="l">
              <a:lnSpc>
                <a:spcPct val="7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Xác định các phương thức</a:t>
            </a:r>
            <a:endParaRPr/>
          </a:p>
          <a:p>
            <a:pPr indent="-274320" lvl="0" marL="274320" rtl="0" algn="l">
              <a:lnSpc>
                <a:spcPct val="7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Xác định các trạng thái</a:t>
            </a:r>
            <a:endParaRPr/>
          </a:p>
          <a:p>
            <a:pPr indent="-274320" lvl="0" marL="274320" rtl="0" algn="l">
              <a:lnSpc>
                <a:spcPct val="7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Xác định các thuộc tính</a:t>
            </a:r>
            <a:endParaRPr/>
          </a:p>
          <a:p>
            <a:pPr indent="-274320" lvl="0" marL="274320" rtl="0" algn="l">
              <a:lnSpc>
                <a:spcPct val="7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Xác định các phụ thuộc</a:t>
            </a:r>
            <a:endParaRPr/>
          </a:p>
          <a:p>
            <a:pPr indent="-274320" lvl="0" marL="274320" rtl="0" algn="l">
              <a:lnSpc>
                <a:spcPct val="7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Xác định các kết hợp</a:t>
            </a:r>
            <a:endParaRPr/>
          </a:p>
          <a:p>
            <a:pPr indent="-274320" lvl="0" marL="274320" rtl="0" algn="l">
              <a:lnSpc>
                <a:spcPct val="7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Xác định các quan hệ tổng quát hóa</a:t>
            </a:r>
            <a:endParaRPr/>
          </a:p>
          <a:p>
            <a:pPr indent="-274320" lvl="0" marL="274320" rtl="0" algn="l">
              <a:lnSpc>
                <a:spcPct val="7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Giải quyết (resolve) những xung đột ca sử dụng </a:t>
            </a:r>
            <a:endParaRPr/>
          </a:p>
          <a:p>
            <a:pPr indent="-274320" lvl="0" marL="274320" rtl="0" algn="l">
              <a:lnSpc>
                <a:spcPct val="7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Xử lý các yêu cầu phi chức năng thông thường</a:t>
            </a:r>
            <a:endParaRPr/>
          </a:p>
          <a:p>
            <a:pPr indent="-274320" lvl="0" marL="274320" rtl="0" algn="l">
              <a:lnSpc>
                <a:spcPct val="7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Checkpoints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"/>
          <p:cNvSpPr txBox="1"/>
          <p:nvPr>
            <p:ph type="title"/>
          </p:nvPr>
        </p:nvSpPr>
        <p:spPr>
          <a:xfrm>
            <a:off x="457200" y="704088"/>
            <a:ext cx="8229600" cy="7437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Tạo các lớp thiết kế khởi tạo</a:t>
            </a:r>
            <a:endParaRPr sz="4000"/>
          </a:p>
        </p:txBody>
      </p:sp>
      <p:sp>
        <p:nvSpPr>
          <p:cNvPr id="317" name="Google Shape;317;p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8" name="Google Shape;318;p6"/>
          <p:cNvSpPr txBox="1"/>
          <p:nvPr>
            <p:ph idx="1" type="body"/>
          </p:nvPr>
        </p:nvSpPr>
        <p:spPr>
          <a:xfrm>
            <a:off x="457200" y="1677988"/>
            <a:ext cx="8489950" cy="5043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Kiểu lớp (Class stereotype)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Lớp biên (Boundary)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Lớp thực thể (Entity)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Lớp điều khiển (Control)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Các mẫu thiết kế có thể áp dụng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Cơ chế kiến trúc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Lưu trữ bền vững (Persistence)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Phân tán (Distribution)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V.v.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7"/>
          <p:cNvSpPr txBox="1"/>
          <p:nvPr>
            <p:ph type="title"/>
          </p:nvPr>
        </p:nvSpPr>
        <p:spPr>
          <a:xfrm>
            <a:off x="457200" y="704088"/>
            <a:ext cx="8229600" cy="7437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Tạo các lớp thiết kế khởi tạo</a:t>
            </a:r>
            <a:endParaRPr sz="4000"/>
          </a:p>
        </p:txBody>
      </p:sp>
      <p:sp>
        <p:nvSpPr>
          <p:cNvPr id="324" name="Google Shape;324;p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5" name="Google Shape;325;p7"/>
          <p:cNvSpPr txBox="1"/>
          <p:nvPr/>
        </p:nvSpPr>
        <p:spPr>
          <a:xfrm>
            <a:off x="520700" y="5225143"/>
            <a:ext cx="80772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CCFF"/>
                </a:solidFill>
                <a:latin typeface="Constantia"/>
                <a:ea typeface="Constantia"/>
                <a:cs typeface="Constantia"/>
                <a:sym typeface="Constantia"/>
              </a:rPr>
              <a:t>Mỗi lớp nên </a:t>
            </a:r>
            <a:r>
              <a:rPr i="1" lang="en-US" sz="2400">
                <a:solidFill>
                  <a:srgbClr val="00CCFF"/>
                </a:solidFill>
                <a:latin typeface="Constantia"/>
                <a:ea typeface="Constantia"/>
                <a:cs typeface="Constantia"/>
                <a:sym typeface="Constantia"/>
              </a:rPr>
              <a:t>tập</a:t>
            </a:r>
            <a:r>
              <a:rPr i="1" lang="en-US" sz="2400">
                <a:solidFill>
                  <a:srgbClr val="00CCFF"/>
                </a:solidFill>
                <a:latin typeface="Constantia"/>
                <a:ea typeface="Constantia"/>
                <a:cs typeface="Constantia"/>
                <a:sym typeface="Constantia"/>
              </a:rPr>
              <a:t> trung vào một mục tiêu duy nhất và rõ ràng. Mỗi lớp lên tập trung vào một thứ và hãy làm tốt công việc đó</a:t>
            </a:r>
            <a:endParaRPr i="1" sz="2400">
              <a:solidFill>
                <a:srgbClr val="00CC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26" name="Google Shape;326;p7"/>
          <p:cNvSpPr txBox="1"/>
          <p:nvPr>
            <p:ph idx="1" type="body"/>
          </p:nvPr>
        </p:nvSpPr>
        <p:spPr>
          <a:xfrm>
            <a:off x="196850" y="1600200"/>
            <a:ext cx="8489950" cy="3900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660"/>
              <a:buChar char="⚫"/>
            </a:pPr>
            <a:r>
              <a:rPr lang="en-US" sz="2800"/>
              <a:t>Nhiều lớp, các lớp sẽ đơn giản, trong đó mỗi lớp</a:t>
            </a:r>
            <a:endParaRPr sz="2800"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Đóng gói ít chức năng của hệ thống hơn</a:t>
            </a:r>
            <a:endParaRPr sz="2400"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Dễ tái sử dụng</a:t>
            </a:r>
            <a:endParaRPr sz="2400"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Dễ cài đặt hơn</a:t>
            </a:r>
            <a:endParaRPr sz="2400"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Ít lớp, các lớp trở lên phức tạp, trong đó mỗi lớp</a:t>
            </a:r>
            <a:endParaRPr sz="3200"/>
          </a:p>
          <a:p>
            <a:pPr indent="-342900" lvl="1" marL="798513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Đóng gói một lượng lớn các chức năng của hệ thống</a:t>
            </a:r>
            <a:endParaRPr/>
          </a:p>
          <a:p>
            <a:pPr indent="-342900" lvl="1" marL="798513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Khả năng tái sử dụng bị giảm</a:t>
            </a:r>
            <a:endParaRPr/>
          </a:p>
          <a:p>
            <a:pPr indent="-342900" lvl="1" marL="798513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Cài đặt khó hơn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8"/>
          <p:cNvSpPr txBox="1"/>
          <p:nvPr>
            <p:ph type="title"/>
          </p:nvPr>
        </p:nvSpPr>
        <p:spPr>
          <a:xfrm>
            <a:off x="457200" y="704088"/>
            <a:ext cx="8229600" cy="7437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Xác định các hoạt động</a:t>
            </a:r>
            <a:endParaRPr sz="4000"/>
          </a:p>
        </p:txBody>
      </p:sp>
      <p:sp>
        <p:nvSpPr>
          <p:cNvPr id="332" name="Google Shape;332;p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3" name="Google Shape;333;p8"/>
          <p:cNvSpPr txBox="1"/>
          <p:nvPr>
            <p:ph idx="1" type="body"/>
          </p:nvPr>
        </p:nvSpPr>
        <p:spPr>
          <a:xfrm>
            <a:off x="361950" y="1752600"/>
            <a:ext cx="8489950" cy="433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2285"/>
              <a:buChar char="⚫"/>
            </a:pPr>
            <a:r>
              <a:rPr lang="en-US" sz="2405"/>
              <a:t>Tạo tên hoạt động thích hợp</a:t>
            </a:r>
            <a:endParaRPr sz="2405"/>
          </a:p>
          <a:p>
            <a:pPr indent="-246888" lvl="1" marL="640080" rtl="0" algn="l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SzPts val="1887"/>
              <a:buFont typeface="Arial"/>
              <a:buChar char="–"/>
            </a:pPr>
            <a:r>
              <a:rPr lang="en-US" sz="2220"/>
              <a:t>Chỉ rõ đầu ra</a:t>
            </a:r>
            <a:endParaRPr sz="2220"/>
          </a:p>
          <a:p>
            <a:pPr indent="-246888" lvl="1" marL="640080" rtl="0" algn="l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SzPts val="1887"/>
              <a:buFont typeface="Arial"/>
              <a:buChar char="–"/>
            </a:pPr>
            <a:r>
              <a:rPr lang="en-US" sz="2220"/>
              <a:t>Sử dụng ngữ cảnh khách</a:t>
            </a:r>
            <a:endParaRPr sz="2220"/>
          </a:p>
          <a:p>
            <a:pPr indent="-246888" lvl="1" marL="640080" rtl="0" algn="l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SzPts val="1887"/>
              <a:buFont typeface="Arial"/>
              <a:buChar char="–"/>
            </a:pPr>
            <a:r>
              <a:rPr lang="en-US" sz="2220"/>
              <a:t>Bền vững trên các lớp</a:t>
            </a:r>
            <a:endParaRPr sz="2220"/>
          </a:p>
          <a:p>
            <a:pPr indent="-274320" lvl="0" marL="274320" rtl="0" algn="l">
              <a:lnSpc>
                <a:spcPct val="57000"/>
              </a:lnSpc>
              <a:spcBef>
                <a:spcPts val="481"/>
              </a:spcBef>
              <a:spcAft>
                <a:spcPts val="0"/>
              </a:spcAft>
              <a:buSzPts val="2285"/>
              <a:buChar char="⚫"/>
            </a:pPr>
            <a:r>
              <a:rPr lang="en-US" sz="2405"/>
              <a:t>Định nghĩa dấu hiệu hoạt động</a:t>
            </a:r>
            <a:endParaRPr sz="2405"/>
          </a:p>
          <a:p>
            <a:pPr indent="-246888" lvl="1" marL="640080" rtl="0" algn="l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SzPts val="1887"/>
              <a:buFont typeface="Arial"/>
              <a:buChar char="–"/>
            </a:pPr>
            <a:r>
              <a:rPr lang="en-US" sz="2220"/>
              <a:t>operationName([direction]parameter : class,..) : returnType</a:t>
            </a:r>
            <a:endParaRPr sz="2220"/>
          </a:p>
          <a:p>
            <a:pPr indent="-246888" lvl="1" marL="640080" rtl="0" algn="l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SzPts val="1887"/>
              <a:buFont typeface="Arial"/>
              <a:buChar char="–"/>
            </a:pPr>
            <a:r>
              <a:rPr lang="en-US" sz="2220"/>
              <a:t>Hướng in, out hay inout  với giá trị mặc định in nếu không được truyền vào</a:t>
            </a:r>
            <a:endParaRPr sz="2220"/>
          </a:p>
          <a:p>
            <a:pPr indent="-274320" lvl="0" marL="274320" rtl="0" algn="l">
              <a:lnSpc>
                <a:spcPct val="50000"/>
              </a:lnSpc>
              <a:spcBef>
                <a:spcPts val="481"/>
              </a:spcBef>
              <a:spcAft>
                <a:spcPts val="0"/>
              </a:spcAft>
              <a:buSzPts val="2285"/>
              <a:buChar char="⚫"/>
            </a:pPr>
            <a:r>
              <a:rPr lang="en-US" sz="2405"/>
              <a:t>Cung cấp mô tả ngắn gọn, bao gồm ý nghĩa của các tham số</a:t>
            </a:r>
            <a:endParaRPr sz="2405"/>
          </a:p>
          <a:p>
            <a:pPr indent="-274320" lvl="0" marL="27432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SzPts val="2461"/>
              <a:buFont typeface="Arial"/>
              <a:buChar char="•"/>
            </a:pPr>
            <a:r>
              <a:rPr lang="en-US" sz="2590"/>
              <a:t>Các chức năng phụ thuộc vào việc cài đặt khác</a:t>
            </a:r>
            <a:endParaRPr sz="2590"/>
          </a:p>
          <a:p>
            <a:pPr indent="-246888" lvl="1" marL="640080" rtl="0" algn="l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SzPts val="1887"/>
              <a:buFont typeface="Arial"/>
              <a:buChar char="–"/>
            </a:pPr>
            <a:r>
              <a:rPr lang="en-US" sz="2220"/>
              <a:t>Các chức năng quản lý</a:t>
            </a:r>
            <a:endParaRPr sz="2220"/>
          </a:p>
          <a:p>
            <a:pPr indent="-246888" lvl="1" marL="640080" rtl="0" algn="l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SzPts val="1887"/>
              <a:buFont typeface="Arial"/>
              <a:buChar char="–"/>
            </a:pPr>
            <a:r>
              <a:rPr lang="en-US" sz="2220"/>
              <a:t>Cần thiết cho việc sao chép lớp</a:t>
            </a:r>
            <a:endParaRPr sz="2220"/>
          </a:p>
          <a:p>
            <a:pPr indent="-246888" lvl="1" marL="640080" rtl="0" algn="l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SzPts val="1887"/>
              <a:buFont typeface="Arial"/>
              <a:buChar char="–"/>
            </a:pPr>
            <a:r>
              <a:rPr lang="en-US" sz="2220"/>
              <a:t>Cần thiết cho việc kiểm tra bằng nhau</a:t>
            </a:r>
            <a:endParaRPr sz="222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9"/>
          <p:cNvSpPr txBox="1"/>
          <p:nvPr>
            <p:ph type="title"/>
          </p:nvPr>
        </p:nvSpPr>
        <p:spPr>
          <a:xfrm>
            <a:off x="457200" y="704088"/>
            <a:ext cx="8229600" cy="7437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Xác định các phương thức</a:t>
            </a:r>
            <a:endParaRPr sz="4000"/>
          </a:p>
        </p:txBody>
      </p:sp>
      <p:sp>
        <p:nvSpPr>
          <p:cNvPr id="339" name="Google Shape;339;p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0" name="Google Shape;340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660"/>
              <a:buChar char="⚫"/>
            </a:pPr>
            <a:r>
              <a:rPr lang="en-US" sz="2800"/>
              <a:t>Phương thức là gì?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Mô tả việc cài đặt (implementation) các hoạt động</a:t>
            </a:r>
            <a:endParaRPr/>
          </a:p>
          <a:p>
            <a:pPr indent="-274320" lvl="0" marL="274320" rtl="0" algn="l">
              <a:lnSpc>
                <a:spcPct val="7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</a:pPr>
            <a:r>
              <a:rPr lang="en-US" sz="2800"/>
              <a:t>Mục đích</a:t>
            </a:r>
            <a:endParaRPr sz="2800"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Xác định những khía cạnh đặc biệt của việc cài đặt hoạt động</a:t>
            </a:r>
            <a:endParaRPr/>
          </a:p>
          <a:p>
            <a:pPr indent="-274320" lvl="0" marL="274320" rtl="0" algn="l">
              <a:lnSpc>
                <a:spcPct val="7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</a:pPr>
            <a:r>
              <a:rPr lang="en-US" sz="2800"/>
              <a:t>Những điều cần xem xét: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Các thuật toán đặc biệt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Những đối tượng và hoạt động khác được sử dụng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Các thuộc tính và tham số được cài đặt và sử dụng như thế nào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Các quan hệ được cài đặt và sử dụng như thế nào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0"/>
          <p:cNvSpPr txBox="1"/>
          <p:nvPr>
            <p:ph type="title"/>
          </p:nvPr>
        </p:nvSpPr>
        <p:spPr>
          <a:xfrm>
            <a:off x="457200" y="704088"/>
            <a:ext cx="8229600" cy="5913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/>
              <a:t>Xác định các trạng thái</a:t>
            </a:r>
            <a:endParaRPr sz="3600"/>
          </a:p>
        </p:txBody>
      </p:sp>
      <p:sp>
        <p:nvSpPr>
          <p:cNvPr id="346" name="Google Shape;346;p10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7" name="Google Shape;34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Mục đích</a:t>
            </a:r>
            <a:endParaRPr/>
          </a:p>
          <a:p>
            <a:pPr indent="-246888" lvl="1" marL="64008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Trạng thái của một đối tượng ảnh hưởng hành vi của nó ra sao</a:t>
            </a:r>
            <a:endParaRPr/>
          </a:p>
          <a:p>
            <a:pPr indent="-246888" lvl="1" marL="64008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Phát triển lược đồ  trạng thái (statecharts) để mô hình hành vi này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Những điều cần xem xét:</a:t>
            </a:r>
            <a:endParaRPr/>
          </a:p>
          <a:p>
            <a:pPr indent="-246888" lvl="1" marL="64008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Đối tượng nào có trạng thái quan trọng?</a:t>
            </a:r>
            <a:endParaRPr/>
          </a:p>
          <a:p>
            <a:pPr indent="-246888" lvl="1" marL="64008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Làm sao để xác định các trạng thái có thể của một đối tượng?</a:t>
            </a:r>
            <a:endParaRPr/>
          </a:p>
          <a:p>
            <a:pPr indent="-246888" lvl="1" marL="64008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statecharts ánh xạ với các phần còn lại của mô hình ra sao?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1"/>
          <p:cNvSpPr txBox="1"/>
          <p:nvPr>
            <p:ph type="title"/>
          </p:nvPr>
        </p:nvSpPr>
        <p:spPr>
          <a:xfrm>
            <a:off x="457200" y="704088"/>
            <a:ext cx="82296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/>
              <a:t>Xác định thuộc tính</a:t>
            </a:r>
            <a:endParaRPr sz="3600"/>
          </a:p>
        </p:txBody>
      </p:sp>
      <p:sp>
        <p:nvSpPr>
          <p:cNvPr id="353" name="Google Shape;353;p1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" name="Google Shape;354;p11"/>
          <p:cNvSpPr txBox="1"/>
          <p:nvPr>
            <p:ph idx="1" type="body"/>
          </p:nvPr>
        </p:nvSpPr>
        <p:spPr>
          <a:xfrm>
            <a:off x="457200" y="1600201"/>
            <a:ext cx="8229600" cy="233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Kiểm tra các mô tả phương thức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Kiểm tra trạng thái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Kiểm tra bất cứ thông tin mà lớp cần có để duy trì.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2"/>
          <p:cNvSpPr txBox="1"/>
          <p:nvPr>
            <p:ph type="title"/>
          </p:nvPr>
        </p:nvSpPr>
        <p:spPr>
          <a:xfrm>
            <a:off x="838200" y="381000"/>
            <a:ext cx="83058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None/>
            </a:pPr>
            <a:r>
              <a:rPr lang="en-US" sz="2800"/>
              <a:t>Xác định các kết hợp</a:t>
            </a:r>
            <a:endParaRPr sz="2800"/>
          </a:p>
        </p:txBody>
      </p:sp>
      <p:sp>
        <p:nvSpPr>
          <p:cNvPr id="360" name="Google Shape;360;p1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1" name="Google Shape;361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What Is a Dependency?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A relationship between two objects</a:t>
            </a:r>
            <a:endParaRPr/>
          </a:p>
          <a:p>
            <a:pPr indent="-11734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11734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11734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7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Purpose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Determine where structural relationships are NOT required</a:t>
            </a:r>
            <a:endParaRPr/>
          </a:p>
          <a:p>
            <a:pPr indent="-274320" lvl="0" marL="274320" rtl="0" algn="l">
              <a:lnSpc>
                <a:spcPct val="7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Things to look for :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What causes the supplier to be visible to the client</a:t>
            </a:r>
            <a:endParaRPr/>
          </a:p>
          <a:p>
            <a:pPr indent="-117475" lvl="0" marL="274320" rtl="0" algn="l">
              <a:lnSpc>
                <a:spcPct val="7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grpSp>
        <p:nvGrpSpPr>
          <p:cNvPr id="362" name="Google Shape;362;p12"/>
          <p:cNvGrpSpPr/>
          <p:nvPr/>
        </p:nvGrpSpPr>
        <p:grpSpPr>
          <a:xfrm>
            <a:off x="2027237" y="2741613"/>
            <a:ext cx="5089525" cy="782638"/>
            <a:chOff x="2057400" y="2159000"/>
            <a:chExt cx="5089525" cy="782638"/>
          </a:xfrm>
        </p:grpSpPr>
        <p:sp>
          <p:nvSpPr>
            <p:cNvPr id="363" name="Google Shape;363;p12"/>
            <p:cNvSpPr/>
            <p:nvPr/>
          </p:nvSpPr>
          <p:spPr>
            <a:xfrm>
              <a:off x="5549900" y="2159000"/>
              <a:ext cx="1597025" cy="782638"/>
            </a:xfrm>
            <a:prstGeom prst="rect">
              <a:avLst/>
            </a:prstGeom>
            <a:solidFill>
              <a:srgbClr val="FFFFCC"/>
            </a:solidFill>
            <a:ln cap="flat" cmpd="sng" w="12700">
              <a:solidFill>
                <a:srgbClr val="8A0E5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364" name="Google Shape;364;p12"/>
            <p:cNvCxnSpPr/>
            <p:nvPr/>
          </p:nvCxnSpPr>
          <p:spPr>
            <a:xfrm>
              <a:off x="5549900" y="2727325"/>
              <a:ext cx="1597025" cy="0"/>
            </a:xfrm>
            <a:prstGeom prst="straightConnector1">
              <a:avLst/>
            </a:prstGeom>
            <a:noFill/>
            <a:ln cap="flat" cmpd="sng" w="12700">
              <a:solidFill>
                <a:srgbClr val="8A0E5E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5" name="Google Shape;365;p12"/>
            <p:cNvCxnSpPr/>
            <p:nvPr/>
          </p:nvCxnSpPr>
          <p:spPr>
            <a:xfrm>
              <a:off x="5549900" y="2590800"/>
              <a:ext cx="1597025" cy="0"/>
            </a:xfrm>
            <a:prstGeom prst="straightConnector1">
              <a:avLst/>
            </a:prstGeom>
            <a:noFill/>
            <a:ln cap="flat" cmpd="sng" w="12700">
              <a:solidFill>
                <a:srgbClr val="8A0E5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6" name="Google Shape;366;p12"/>
            <p:cNvSpPr txBox="1"/>
            <p:nvPr/>
          </p:nvSpPr>
          <p:spPr>
            <a:xfrm>
              <a:off x="5949950" y="2271713"/>
              <a:ext cx="812800" cy="244475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Supplier</a:t>
              </a:r>
              <a:endParaRPr/>
            </a:p>
          </p:txBody>
        </p:sp>
        <p:sp>
          <p:nvSpPr>
            <p:cNvPr id="367" name="Google Shape;367;p12"/>
            <p:cNvSpPr/>
            <p:nvPr/>
          </p:nvSpPr>
          <p:spPr>
            <a:xfrm>
              <a:off x="2057400" y="2159000"/>
              <a:ext cx="1597025" cy="782638"/>
            </a:xfrm>
            <a:prstGeom prst="rect">
              <a:avLst/>
            </a:prstGeom>
            <a:solidFill>
              <a:srgbClr val="FFFFCC"/>
            </a:solidFill>
            <a:ln cap="flat" cmpd="sng" w="12700">
              <a:solidFill>
                <a:srgbClr val="8A0E5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368" name="Google Shape;368;p12"/>
            <p:cNvCxnSpPr/>
            <p:nvPr/>
          </p:nvCxnSpPr>
          <p:spPr>
            <a:xfrm>
              <a:off x="2057400" y="2727325"/>
              <a:ext cx="1597025" cy="0"/>
            </a:xfrm>
            <a:prstGeom prst="straightConnector1">
              <a:avLst/>
            </a:prstGeom>
            <a:noFill/>
            <a:ln cap="flat" cmpd="sng" w="12700">
              <a:solidFill>
                <a:srgbClr val="8A0E5E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9" name="Google Shape;369;p12"/>
            <p:cNvCxnSpPr/>
            <p:nvPr/>
          </p:nvCxnSpPr>
          <p:spPr>
            <a:xfrm>
              <a:off x="2057400" y="2603500"/>
              <a:ext cx="1597025" cy="0"/>
            </a:xfrm>
            <a:prstGeom prst="straightConnector1">
              <a:avLst/>
            </a:prstGeom>
            <a:noFill/>
            <a:ln cap="flat" cmpd="sng" w="12700">
              <a:solidFill>
                <a:srgbClr val="8A0E5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70" name="Google Shape;370;p12"/>
            <p:cNvSpPr txBox="1"/>
            <p:nvPr/>
          </p:nvSpPr>
          <p:spPr>
            <a:xfrm>
              <a:off x="2576513" y="2271713"/>
              <a:ext cx="565150" cy="244475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Client</a:t>
              </a:r>
              <a:endParaRPr/>
            </a:p>
          </p:txBody>
        </p:sp>
        <p:cxnSp>
          <p:nvCxnSpPr>
            <p:cNvPr id="371" name="Google Shape;371;p12"/>
            <p:cNvCxnSpPr/>
            <p:nvPr/>
          </p:nvCxnSpPr>
          <p:spPr>
            <a:xfrm>
              <a:off x="3663950" y="2527300"/>
              <a:ext cx="187325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round/>
              <a:headEnd len="sm" w="sm" type="none"/>
              <a:tailEnd len="lg" w="lg" type="stealth"/>
            </a:ln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3"/>
          <p:cNvSpPr txBox="1"/>
          <p:nvPr>
            <p:ph type="title"/>
          </p:nvPr>
        </p:nvSpPr>
        <p:spPr>
          <a:xfrm>
            <a:off x="457200" y="704088"/>
            <a:ext cx="8229600" cy="7437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/>
              <a:t>Xác định các quan hệ tổng quát hóa</a:t>
            </a:r>
            <a:endParaRPr sz="3200"/>
          </a:p>
        </p:txBody>
      </p:sp>
      <p:sp>
        <p:nvSpPr>
          <p:cNvPr id="377" name="Google Shape;377;p1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8" name="Google Shape;378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Purpose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Refine remaining associations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Things to look for :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Association vs. Aggregation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Aggregation vs. Composition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Attribute vs. Association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Navigability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Association class design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Multiplicity design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4"/>
          <p:cNvSpPr txBox="1"/>
          <p:nvPr>
            <p:ph type="title"/>
          </p:nvPr>
        </p:nvSpPr>
        <p:spPr>
          <a:xfrm>
            <a:off x="0" y="704088"/>
            <a:ext cx="9144000" cy="5913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/>
              <a:t>Giải quyết (resolve) những xung đột ca sử dụng </a:t>
            </a:r>
            <a:endParaRPr/>
          </a:p>
        </p:txBody>
      </p:sp>
      <p:sp>
        <p:nvSpPr>
          <p:cNvPr id="384" name="Google Shape;384;p1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5" name="Google Shape;385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Complete 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End of the inheritance tree </a:t>
            </a:r>
            <a:endParaRPr/>
          </a:p>
          <a:p>
            <a:pPr indent="-274320" lvl="0" marL="274320" rtl="0" algn="l">
              <a:lnSpc>
                <a:spcPct val="7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Incomplete 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Inheritance tree may be extended</a:t>
            </a:r>
            <a:endParaRPr/>
          </a:p>
          <a:p>
            <a:pPr indent="-274320" lvl="0" marL="274320" rtl="0" algn="l">
              <a:lnSpc>
                <a:spcPct val="7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Disjoint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Subclasses mutually exclusive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Doesn’t support multiple inheritance</a:t>
            </a:r>
            <a:endParaRPr/>
          </a:p>
          <a:p>
            <a:pPr indent="-274320" lvl="0" marL="274320" rtl="0" algn="l">
              <a:lnSpc>
                <a:spcPct val="7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Overlapping 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Subclasses are not mutually exclusive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Supports multiple inheritance</a:t>
            </a:r>
            <a:endParaRPr/>
          </a:p>
          <a:p>
            <a:pPr indent="-11734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5"/>
          <p:cNvSpPr txBox="1"/>
          <p:nvPr>
            <p:ph type="title"/>
          </p:nvPr>
        </p:nvSpPr>
        <p:spPr>
          <a:xfrm>
            <a:off x="0" y="704088"/>
            <a:ext cx="9144000" cy="5913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/>
              <a:t>Giải quyết (resolve) những xung đột ca sử dụng </a:t>
            </a:r>
            <a:endParaRPr/>
          </a:p>
        </p:txBody>
      </p:sp>
      <p:sp>
        <p:nvSpPr>
          <p:cNvPr id="391" name="Google Shape;391;p1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2" name="Google Shape;392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660"/>
              <a:buChar char="⚫"/>
            </a:pPr>
            <a:r>
              <a:rPr lang="en-US" sz="2800"/>
              <a:t>Multiple use cases may simultaneously access design objects</a:t>
            </a:r>
            <a:endParaRPr/>
          </a:p>
          <a:p>
            <a:pPr indent="-274320" lvl="0" marL="274320" rtl="0" algn="l">
              <a:lnSpc>
                <a:spcPct val="7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</a:pPr>
            <a:r>
              <a:rPr lang="en-US" sz="2800"/>
              <a:t>Options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Use synchronous messaging =&gt; first-come first-serve order processing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Identify operations (or code) to protect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Apply access control mechanisms</a:t>
            </a:r>
            <a:endParaRPr/>
          </a:p>
          <a:p>
            <a:pPr indent="-246887" lvl="2" marL="91440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US"/>
              <a:t>Message queuing</a:t>
            </a:r>
            <a:endParaRPr/>
          </a:p>
          <a:p>
            <a:pPr indent="-246887" lvl="2" marL="91440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US"/>
              <a:t>Semaphores (or “tokens”)</a:t>
            </a:r>
            <a:endParaRPr/>
          </a:p>
          <a:p>
            <a:pPr indent="-246887" lvl="2" marL="91440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US"/>
              <a:t>Other locking mechanism</a:t>
            </a:r>
            <a:endParaRPr/>
          </a:p>
          <a:p>
            <a:pPr indent="-274320" lvl="0" marL="274320" rtl="0" algn="l">
              <a:lnSpc>
                <a:spcPct val="7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</a:pPr>
            <a:r>
              <a:rPr lang="en-US" sz="2800"/>
              <a:t>Resolution is highly dependent on implementation environment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6"/>
          <p:cNvSpPr txBox="1"/>
          <p:nvPr>
            <p:ph type="title"/>
          </p:nvPr>
        </p:nvSpPr>
        <p:spPr>
          <a:xfrm>
            <a:off x="0" y="704088"/>
            <a:ext cx="9144000" cy="5913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/>
              <a:t>Xử lý các yêu cầu phi chức năng thông thường</a:t>
            </a:r>
            <a:endParaRPr sz="3600"/>
          </a:p>
        </p:txBody>
      </p:sp>
      <p:sp>
        <p:nvSpPr>
          <p:cNvPr id="398" name="Google Shape;398;p1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9" name="Google Shape;399;p16"/>
          <p:cNvGrpSpPr/>
          <p:nvPr/>
        </p:nvGrpSpPr>
        <p:grpSpPr>
          <a:xfrm>
            <a:off x="3798888" y="1477963"/>
            <a:ext cx="5068887" cy="1663700"/>
            <a:chOff x="624" y="1368"/>
            <a:chExt cx="4201" cy="1578"/>
          </a:xfrm>
        </p:grpSpPr>
        <p:cxnSp>
          <p:nvCxnSpPr>
            <p:cNvPr id="400" name="Google Shape;400;p16"/>
            <p:cNvCxnSpPr/>
            <p:nvPr/>
          </p:nvCxnSpPr>
          <p:spPr>
            <a:xfrm>
              <a:off x="2544" y="1368"/>
              <a:ext cx="0" cy="154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01" name="Google Shape;401;p16"/>
            <p:cNvSpPr/>
            <p:nvPr/>
          </p:nvSpPr>
          <p:spPr>
            <a:xfrm>
              <a:off x="624" y="1368"/>
              <a:ext cx="4032" cy="1548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402" name="Google Shape;402;p16"/>
            <p:cNvCxnSpPr/>
            <p:nvPr/>
          </p:nvCxnSpPr>
          <p:spPr>
            <a:xfrm>
              <a:off x="624" y="1752"/>
              <a:ext cx="40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03" name="Google Shape;403;p16"/>
            <p:cNvSpPr txBox="1"/>
            <p:nvPr/>
          </p:nvSpPr>
          <p:spPr>
            <a:xfrm>
              <a:off x="863" y="1464"/>
              <a:ext cx="1512" cy="2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Analysis Class</a:t>
              </a:r>
              <a:endParaRPr/>
            </a:p>
          </p:txBody>
        </p:sp>
        <p:sp>
          <p:nvSpPr>
            <p:cNvPr id="404" name="Google Shape;404;p16"/>
            <p:cNvSpPr txBox="1"/>
            <p:nvPr/>
          </p:nvSpPr>
          <p:spPr>
            <a:xfrm>
              <a:off x="2759" y="1464"/>
              <a:ext cx="1824" cy="2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Analysis Mechanism(s)</a:t>
              </a:r>
              <a:endParaRPr/>
            </a:p>
          </p:txBody>
        </p:sp>
        <p:sp>
          <p:nvSpPr>
            <p:cNvPr id="405" name="Google Shape;405;p16"/>
            <p:cNvSpPr txBox="1"/>
            <p:nvPr/>
          </p:nvSpPr>
          <p:spPr>
            <a:xfrm>
              <a:off x="624" y="1761"/>
              <a:ext cx="1200" cy="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Student</a:t>
              </a:r>
              <a:endParaRPr/>
            </a:p>
          </p:txBody>
        </p:sp>
        <p:cxnSp>
          <p:nvCxnSpPr>
            <p:cNvPr id="406" name="Google Shape;406;p16"/>
            <p:cNvCxnSpPr/>
            <p:nvPr/>
          </p:nvCxnSpPr>
          <p:spPr>
            <a:xfrm>
              <a:off x="624" y="1992"/>
              <a:ext cx="40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07" name="Google Shape;407;p16"/>
            <p:cNvSpPr txBox="1"/>
            <p:nvPr/>
          </p:nvSpPr>
          <p:spPr>
            <a:xfrm>
              <a:off x="624" y="1991"/>
              <a:ext cx="1200" cy="2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Schedule</a:t>
              </a:r>
              <a:endParaRPr/>
            </a:p>
          </p:txBody>
        </p:sp>
        <p:cxnSp>
          <p:nvCxnSpPr>
            <p:cNvPr id="408" name="Google Shape;408;p16"/>
            <p:cNvCxnSpPr/>
            <p:nvPr/>
          </p:nvCxnSpPr>
          <p:spPr>
            <a:xfrm>
              <a:off x="624" y="2223"/>
              <a:ext cx="40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09" name="Google Shape;409;p16"/>
            <p:cNvSpPr txBox="1"/>
            <p:nvPr/>
          </p:nvSpPr>
          <p:spPr>
            <a:xfrm>
              <a:off x="624" y="2223"/>
              <a:ext cx="1200" cy="2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CourseOffering</a:t>
              </a:r>
              <a:endParaRPr/>
            </a:p>
          </p:txBody>
        </p:sp>
        <p:cxnSp>
          <p:nvCxnSpPr>
            <p:cNvPr id="410" name="Google Shape;410;p16"/>
            <p:cNvCxnSpPr/>
            <p:nvPr/>
          </p:nvCxnSpPr>
          <p:spPr>
            <a:xfrm>
              <a:off x="624" y="2454"/>
              <a:ext cx="40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11" name="Google Shape;411;p16"/>
            <p:cNvSpPr txBox="1"/>
            <p:nvPr/>
          </p:nvSpPr>
          <p:spPr>
            <a:xfrm>
              <a:off x="624" y="2454"/>
              <a:ext cx="1200" cy="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Course</a:t>
              </a:r>
              <a:endParaRPr/>
            </a:p>
          </p:txBody>
        </p:sp>
        <p:cxnSp>
          <p:nvCxnSpPr>
            <p:cNvPr id="412" name="Google Shape;412;p16"/>
            <p:cNvCxnSpPr/>
            <p:nvPr/>
          </p:nvCxnSpPr>
          <p:spPr>
            <a:xfrm>
              <a:off x="624" y="2685"/>
              <a:ext cx="40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13" name="Google Shape;413;p16"/>
            <p:cNvSpPr txBox="1"/>
            <p:nvPr/>
          </p:nvSpPr>
          <p:spPr>
            <a:xfrm>
              <a:off x="624" y="2686"/>
              <a:ext cx="1631" cy="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RegistrationController</a:t>
              </a:r>
              <a:endParaRPr/>
            </a:p>
          </p:txBody>
        </p:sp>
        <p:sp>
          <p:nvSpPr>
            <p:cNvPr id="414" name="Google Shape;414;p16"/>
            <p:cNvSpPr txBox="1"/>
            <p:nvPr/>
          </p:nvSpPr>
          <p:spPr>
            <a:xfrm>
              <a:off x="2640" y="1761"/>
              <a:ext cx="1680" cy="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Persistency, Security</a:t>
              </a:r>
              <a:endParaRPr/>
            </a:p>
          </p:txBody>
        </p:sp>
        <p:sp>
          <p:nvSpPr>
            <p:cNvPr id="415" name="Google Shape;415;p16"/>
            <p:cNvSpPr txBox="1"/>
            <p:nvPr/>
          </p:nvSpPr>
          <p:spPr>
            <a:xfrm>
              <a:off x="2640" y="2223"/>
              <a:ext cx="2185" cy="2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Persistency, Legacy Interface</a:t>
              </a:r>
              <a:endParaRPr/>
            </a:p>
          </p:txBody>
        </p:sp>
        <p:sp>
          <p:nvSpPr>
            <p:cNvPr id="416" name="Google Shape;416;p16"/>
            <p:cNvSpPr txBox="1"/>
            <p:nvPr/>
          </p:nvSpPr>
          <p:spPr>
            <a:xfrm>
              <a:off x="2640" y="2454"/>
              <a:ext cx="2185" cy="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Persistency, Legacy Interface</a:t>
              </a:r>
              <a:endParaRPr/>
            </a:p>
          </p:txBody>
        </p:sp>
        <p:sp>
          <p:nvSpPr>
            <p:cNvPr id="417" name="Google Shape;417;p16"/>
            <p:cNvSpPr txBox="1"/>
            <p:nvPr/>
          </p:nvSpPr>
          <p:spPr>
            <a:xfrm>
              <a:off x="2640" y="2686"/>
              <a:ext cx="1177" cy="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Distribution</a:t>
              </a:r>
              <a:endParaRPr/>
            </a:p>
          </p:txBody>
        </p:sp>
        <p:sp>
          <p:nvSpPr>
            <p:cNvPr id="418" name="Google Shape;418;p16"/>
            <p:cNvSpPr txBox="1"/>
            <p:nvPr/>
          </p:nvSpPr>
          <p:spPr>
            <a:xfrm>
              <a:off x="2640" y="1991"/>
              <a:ext cx="1680" cy="2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Persistency, Security</a:t>
              </a:r>
              <a:endParaRPr/>
            </a:p>
          </p:txBody>
        </p:sp>
      </p:grpSp>
      <p:grpSp>
        <p:nvGrpSpPr>
          <p:cNvPr id="419" name="Google Shape;419;p16"/>
          <p:cNvGrpSpPr/>
          <p:nvPr/>
        </p:nvGrpSpPr>
        <p:grpSpPr>
          <a:xfrm>
            <a:off x="7562850" y="3975100"/>
            <a:ext cx="1263650" cy="1860550"/>
            <a:chOff x="4115" y="1776"/>
            <a:chExt cx="796" cy="1172"/>
          </a:xfrm>
        </p:grpSpPr>
        <p:grpSp>
          <p:nvGrpSpPr>
            <p:cNvPr id="420" name="Google Shape;420;p16"/>
            <p:cNvGrpSpPr/>
            <p:nvPr/>
          </p:nvGrpSpPr>
          <p:grpSpPr>
            <a:xfrm>
              <a:off x="4297" y="1776"/>
              <a:ext cx="432" cy="720"/>
              <a:chOff x="1249" y="2496"/>
              <a:chExt cx="432" cy="720"/>
            </a:xfrm>
          </p:grpSpPr>
          <p:sp>
            <p:nvSpPr>
              <p:cNvPr id="421" name="Google Shape;421;p16"/>
              <p:cNvSpPr/>
              <p:nvPr/>
            </p:nvSpPr>
            <p:spPr>
              <a:xfrm>
                <a:off x="1249" y="2496"/>
                <a:ext cx="432" cy="72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422" name="Google Shape;422;p16"/>
              <p:cNvCxnSpPr/>
              <p:nvPr/>
            </p:nvCxnSpPr>
            <p:spPr>
              <a:xfrm>
                <a:off x="1537" y="2496"/>
                <a:ext cx="144" cy="14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1537" y="2496"/>
                <a:ext cx="0" cy="14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4" name="Google Shape;424;p16"/>
              <p:cNvCxnSpPr/>
              <p:nvPr/>
            </p:nvCxnSpPr>
            <p:spPr>
              <a:xfrm rot="10800000">
                <a:off x="1537" y="2640"/>
                <a:ext cx="1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5" name="Google Shape;425;p16"/>
              <p:cNvCxnSpPr/>
              <p:nvPr/>
            </p:nvCxnSpPr>
            <p:spPr>
              <a:xfrm>
                <a:off x="1297" y="2736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6" name="Google Shape;426;p16"/>
              <p:cNvCxnSpPr/>
              <p:nvPr/>
            </p:nvCxnSpPr>
            <p:spPr>
              <a:xfrm>
                <a:off x="1297" y="2784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7" name="Google Shape;427;p16"/>
              <p:cNvCxnSpPr/>
              <p:nvPr/>
            </p:nvCxnSpPr>
            <p:spPr>
              <a:xfrm>
                <a:off x="1297" y="2832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8" name="Google Shape;428;p16"/>
              <p:cNvCxnSpPr/>
              <p:nvPr/>
            </p:nvCxnSpPr>
            <p:spPr>
              <a:xfrm>
                <a:off x="1297" y="2928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9" name="Google Shape;429;p16"/>
              <p:cNvCxnSpPr/>
              <p:nvPr/>
            </p:nvCxnSpPr>
            <p:spPr>
              <a:xfrm>
                <a:off x="1297" y="2880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0" name="Google Shape;430;p16"/>
              <p:cNvCxnSpPr/>
              <p:nvPr/>
            </p:nvCxnSpPr>
            <p:spPr>
              <a:xfrm>
                <a:off x="1297" y="2976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1" name="Google Shape;431;p16"/>
              <p:cNvCxnSpPr/>
              <p:nvPr/>
            </p:nvCxnSpPr>
            <p:spPr>
              <a:xfrm>
                <a:off x="1297" y="3024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2" name="Google Shape;432;p16"/>
              <p:cNvCxnSpPr/>
              <p:nvPr/>
            </p:nvCxnSpPr>
            <p:spPr>
              <a:xfrm>
                <a:off x="1297" y="3072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3" name="Google Shape;433;p16"/>
              <p:cNvCxnSpPr/>
              <p:nvPr/>
            </p:nvCxnSpPr>
            <p:spPr>
              <a:xfrm>
                <a:off x="1297" y="3120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4" name="Google Shape;434;p16"/>
              <p:cNvCxnSpPr/>
              <p:nvPr/>
            </p:nvCxnSpPr>
            <p:spPr>
              <a:xfrm>
                <a:off x="1297" y="3168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5" name="Google Shape;435;p16"/>
              <p:cNvCxnSpPr/>
              <p:nvPr/>
            </p:nvCxnSpPr>
            <p:spPr>
              <a:xfrm>
                <a:off x="1297" y="2688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6" name="Google Shape;436;p16"/>
              <p:cNvCxnSpPr/>
              <p:nvPr/>
            </p:nvCxnSpPr>
            <p:spPr>
              <a:xfrm>
                <a:off x="1297" y="2592"/>
                <a:ext cx="209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7" name="Google Shape;437;p16"/>
              <p:cNvCxnSpPr/>
              <p:nvPr/>
            </p:nvCxnSpPr>
            <p:spPr>
              <a:xfrm>
                <a:off x="1297" y="2544"/>
                <a:ext cx="209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8" name="Google Shape;438;p16"/>
              <p:cNvCxnSpPr/>
              <p:nvPr/>
            </p:nvCxnSpPr>
            <p:spPr>
              <a:xfrm>
                <a:off x="1297" y="2640"/>
                <a:ext cx="209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39" name="Google Shape;439;p16"/>
            <p:cNvSpPr txBox="1"/>
            <p:nvPr/>
          </p:nvSpPr>
          <p:spPr>
            <a:xfrm>
              <a:off x="4115" y="2544"/>
              <a:ext cx="796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Design</a:t>
              </a:r>
              <a:br>
                <a:rPr b="0"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</a:br>
              <a:r>
                <a:rPr b="0"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Guidelines</a:t>
              </a:r>
              <a:endParaRPr/>
            </a:p>
          </p:txBody>
        </p:sp>
      </p:grpSp>
      <p:sp>
        <p:nvSpPr>
          <p:cNvPr id="440" name="Google Shape;440;p16"/>
          <p:cNvSpPr txBox="1"/>
          <p:nvPr/>
        </p:nvSpPr>
        <p:spPr>
          <a:xfrm>
            <a:off x="336550" y="6375400"/>
            <a:ext cx="94615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CCFF"/>
                </a:solidFill>
                <a:latin typeface="Constantia"/>
                <a:ea typeface="Constantia"/>
                <a:cs typeface="Constantia"/>
                <a:sym typeface="Constantia"/>
              </a:rPr>
              <a:t>Analysis</a:t>
            </a:r>
            <a:endParaRPr b="0" sz="1200">
              <a:solidFill>
                <a:srgbClr val="00CC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41" name="Google Shape;441;p16"/>
          <p:cNvSpPr txBox="1"/>
          <p:nvPr/>
        </p:nvSpPr>
        <p:spPr>
          <a:xfrm>
            <a:off x="1871663" y="6375400"/>
            <a:ext cx="949325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CCFF"/>
                </a:solidFill>
                <a:latin typeface="Constantia"/>
                <a:ea typeface="Constantia"/>
                <a:cs typeface="Constantia"/>
                <a:sym typeface="Constantia"/>
              </a:rPr>
              <a:t>Design</a:t>
            </a:r>
            <a:endParaRPr b="0" sz="1200">
              <a:solidFill>
                <a:srgbClr val="00CC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42" name="Google Shape;442;p16"/>
          <p:cNvSpPr txBox="1"/>
          <p:nvPr/>
        </p:nvSpPr>
        <p:spPr>
          <a:xfrm>
            <a:off x="3560763" y="6375400"/>
            <a:ext cx="1316037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CCFF"/>
                </a:solidFill>
                <a:latin typeface="Constantia"/>
                <a:ea typeface="Constantia"/>
                <a:cs typeface="Constantia"/>
                <a:sym typeface="Constantia"/>
              </a:rPr>
              <a:t>Implementation</a:t>
            </a:r>
            <a:endParaRPr b="0" sz="1200">
              <a:solidFill>
                <a:srgbClr val="00CC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43" name="Google Shape;443;p16"/>
          <p:cNvSpPr txBox="1"/>
          <p:nvPr/>
        </p:nvSpPr>
        <p:spPr>
          <a:xfrm>
            <a:off x="1784350" y="5786438"/>
            <a:ext cx="13287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Remote Method Invocation (RMI)</a:t>
            </a:r>
            <a:endParaRPr/>
          </a:p>
        </p:txBody>
      </p:sp>
      <p:sp>
        <p:nvSpPr>
          <p:cNvPr id="444" name="Google Shape;444;p16"/>
          <p:cNvSpPr txBox="1"/>
          <p:nvPr/>
        </p:nvSpPr>
        <p:spPr>
          <a:xfrm>
            <a:off x="273050" y="4306888"/>
            <a:ext cx="1074738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Persistency</a:t>
            </a:r>
            <a:endParaRPr/>
          </a:p>
        </p:txBody>
      </p:sp>
      <p:sp>
        <p:nvSpPr>
          <p:cNvPr id="445" name="Google Shape;445;p16"/>
          <p:cNvSpPr txBox="1"/>
          <p:nvPr/>
        </p:nvSpPr>
        <p:spPr>
          <a:xfrm>
            <a:off x="230188" y="3357563"/>
            <a:ext cx="1158875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7E9532"/>
                </a:solidFill>
                <a:latin typeface="Constantia"/>
                <a:ea typeface="Constantia"/>
                <a:cs typeface="Constantia"/>
                <a:sym typeface="Constantia"/>
              </a:rPr>
              <a:t>Analysis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7E9532"/>
                </a:solidFill>
                <a:latin typeface="Constantia"/>
                <a:ea typeface="Constantia"/>
                <a:cs typeface="Constantia"/>
                <a:sym typeface="Constantia"/>
              </a:rPr>
              <a:t>Mechanism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7E9532"/>
                </a:solidFill>
                <a:latin typeface="Constantia"/>
                <a:ea typeface="Constantia"/>
                <a:cs typeface="Constantia"/>
                <a:sym typeface="Constantia"/>
              </a:rPr>
              <a:t>(Conceptual)</a:t>
            </a:r>
            <a:endParaRPr/>
          </a:p>
        </p:txBody>
      </p:sp>
      <p:sp>
        <p:nvSpPr>
          <p:cNvPr id="446" name="Google Shape;446;p16"/>
          <p:cNvSpPr txBox="1"/>
          <p:nvPr/>
        </p:nvSpPr>
        <p:spPr>
          <a:xfrm>
            <a:off x="1481138" y="3357563"/>
            <a:ext cx="1730375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7E9532"/>
                </a:solidFill>
                <a:latin typeface="Constantia"/>
                <a:ea typeface="Constantia"/>
                <a:cs typeface="Constantia"/>
                <a:sym typeface="Constantia"/>
              </a:rPr>
              <a:t>Design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7E9532"/>
                </a:solidFill>
                <a:latin typeface="Constantia"/>
                <a:ea typeface="Constantia"/>
                <a:cs typeface="Constantia"/>
                <a:sym typeface="Constantia"/>
              </a:rPr>
              <a:t>Mechanism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7E9532"/>
                </a:solidFill>
                <a:latin typeface="Constantia"/>
                <a:ea typeface="Constantia"/>
                <a:cs typeface="Constantia"/>
                <a:sym typeface="Constantia"/>
              </a:rPr>
              <a:t>(Concrete)</a:t>
            </a:r>
            <a:endParaRPr/>
          </a:p>
        </p:txBody>
      </p:sp>
      <p:sp>
        <p:nvSpPr>
          <p:cNvPr id="447" name="Google Shape;447;p16"/>
          <p:cNvSpPr txBox="1"/>
          <p:nvPr/>
        </p:nvSpPr>
        <p:spPr>
          <a:xfrm>
            <a:off x="3295650" y="3357563"/>
            <a:ext cx="1666875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7E9532"/>
                </a:solidFill>
                <a:latin typeface="Constantia"/>
                <a:ea typeface="Constantia"/>
                <a:cs typeface="Constantia"/>
                <a:sym typeface="Constantia"/>
              </a:rPr>
              <a:t>Implementation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7E9532"/>
                </a:solidFill>
                <a:latin typeface="Constantia"/>
                <a:ea typeface="Constantia"/>
                <a:cs typeface="Constantia"/>
                <a:sym typeface="Constantia"/>
              </a:rPr>
              <a:t>Mechanism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7E9532"/>
                </a:solidFill>
                <a:latin typeface="Constantia"/>
                <a:ea typeface="Constantia"/>
                <a:cs typeface="Constantia"/>
                <a:sym typeface="Constantia"/>
              </a:rPr>
              <a:t>(Actual)</a:t>
            </a:r>
            <a:endParaRPr/>
          </a:p>
        </p:txBody>
      </p:sp>
      <p:sp>
        <p:nvSpPr>
          <p:cNvPr id="448" name="Google Shape;448;p16"/>
          <p:cNvSpPr txBox="1"/>
          <p:nvPr/>
        </p:nvSpPr>
        <p:spPr>
          <a:xfrm>
            <a:off x="1908175" y="5461000"/>
            <a:ext cx="8778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OODBMS</a:t>
            </a:r>
            <a:endParaRPr/>
          </a:p>
        </p:txBody>
      </p:sp>
      <p:cxnSp>
        <p:nvCxnSpPr>
          <p:cNvPr id="449" name="Google Shape;449;p16"/>
          <p:cNvCxnSpPr/>
          <p:nvPr/>
        </p:nvCxnSpPr>
        <p:spPr>
          <a:xfrm>
            <a:off x="1225550" y="4459288"/>
            <a:ext cx="5953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sp>
        <p:nvSpPr>
          <p:cNvPr id="450" name="Google Shape;450;p16"/>
          <p:cNvSpPr txBox="1"/>
          <p:nvPr/>
        </p:nvSpPr>
        <p:spPr>
          <a:xfrm>
            <a:off x="1978025" y="4697413"/>
            <a:ext cx="736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RDBMS</a:t>
            </a:r>
            <a:endParaRPr/>
          </a:p>
        </p:txBody>
      </p:sp>
      <p:sp>
        <p:nvSpPr>
          <p:cNvPr id="451" name="Google Shape;451;p16"/>
          <p:cNvSpPr txBox="1"/>
          <p:nvPr/>
        </p:nvSpPr>
        <p:spPr>
          <a:xfrm>
            <a:off x="3787775" y="4332288"/>
            <a:ext cx="681038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JDBC</a:t>
            </a:r>
            <a:endParaRPr/>
          </a:p>
        </p:txBody>
      </p:sp>
      <p:sp>
        <p:nvSpPr>
          <p:cNvPr id="452" name="Google Shape;452;p16"/>
          <p:cNvSpPr txBox="1"/>
          <p:nvPr/>
        </p:nvSpPr>
        <p:spPr>
          <a:xfrm>
            <a:off x="3611563" y="5097463"/>
            <a:ext cx="121285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ObjectStore</a:t>
            </a:r>
            <a:endParaRPr/>
          </a:p>
        </p:txBody>
      </p:sp>
      <p:cxnSp>
        <p:nvCxnSpPr>
          <p:cNvPr id="453" name="Google Shape;453;p16"/>
          <p:cNvCxnSpPr/>
          <p:nvPr/>
        </p:nvCxnSpPr>
        <p:spPr>
          <a:xfrm>
            <a:off x="1452563" y="3260725"/>
            <a:ext cx="0" cy="3444875"/>
          </a:xfrm>
          <a:prstGeom prst="straightConnector1">
            <a:avLst/>
          </a:prstGeom>
          <a:noFill/>
          <a:ln cap="flat" cmpd="sng" w="28575">
            <a:solidFill>
              <a:schemeClr val="hlink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54" name="Google Shape;454;p16"/>
          <p:cNvCxnSpPr/>
          <p:nvPr/>
        </p:nvCxnSpPr>
        <p:spPr>
          <a:xfrm>
            <a:off x="3278188" y="3260725"/>
            <a:ext cx="0" cy="3444875"/>
          </a:xfrm>
          <a:prstGeom prst="straightConnector1">
            <a:avLst/>
          </a:prstGeom>
          <a:noFill/>
          <a:ln cap="flat" cmpd="sng" w="28575">
            <a:solidFill>
              <a:schemeClr val="hlink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55" name="Google Shape;455;p16"/>
          <p:cNvSpPr txBox="1"/>
          <p:nvPr/>
        </p:nvSpPr>
        <p:spPr>
          <a:xfrm>
            <a:off x="3568700" y="5895975"/>
            <a:ext cx="1477963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Java 1.2 from Sun</a:t>
            </a:r>
            <a:endParaRPr/>
          </a:p>
        </p:txBody>
      </p:sp>
      <p:sp>
        <p:nvSpPr>
          <p:cNvPr id="456" name="Google Shape;456;p16"/>
          <p:cNvSpPr txBox="1"/>
          <p:nvPr/>
        </p:nvSpPr>
        <p:spPr>
          <a:xfrm>
            <a:off x="1973263" y="4211638"/>
            <a:ext cx="750887" cy="457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lt2"/>
                </a:solidFill>
                <a:latin typeface="Constantia"/>
                <a:ea typeface="Constantia"/>
                <a:cs typeface="Constantia"/>
                <a:sym typeface="Constantia"/>
              </a:rPr>
              <a:t>Legacy Data</a:t>
            </a:r>
            <a:endParaRPr/>
          </a:p>
        </p:txBody>
      </p:sp>
      <p:sp>
        <p:nvSpPr>
          <p:cNvPr id="457" name="Google Shape;457;p16"/>
          <p:cNvSpPr txBox="1"/>
          <p:nvPr/>
        </p:nvSpPr>
        <p:spPr>
          <a:xfrm>
            <a:off x="1955800" y="4983163"/>
            <a:ext cx="768350" cy="457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lt2"/>
                </a:solidFill>
                <a:latin typeface="Constantia"/>
                <a:ea typeface="Constantia"/>
                <a:cs typeface="Constantia"/>
                <a:sym typeface="Constantia"/>
              </a:rPr>
              <a:t>New Data</a:t>
            </a:r>
            <a:endParaRPr/>
          </a:p>
        </p:txBody>
      </p:sp>
      <p:sp>
        <p:nvSpPr>
          <p:cNvPr id="458" name="Google Shape;458;p16"/>
          <p:cNvSpPr txBox="1"/>
          <p:nvPr/>
        </p:nvSpPr>
        <p:spPr>
          <a:xfrm>
            <a:off x="333375" y="5870575"/>
            <a:ext cx="950913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Distribution</a:t>
            </a:r>
            <a:endParaRPr/>
          </a:p>
        </p:txBody>
      </p:sp>
      <p:sp>
        <p:nvSpPr>
          <p:cNvPr id="459" name="Google Shape;459;p16"/>
          <p:cNvSpPr txBox="1"/>
          <p:nvPr/>
        </p:nvSpPr>
        <p:spPr>
          <a:xfrm>
            <a:off x="254000" y="5084763"/>
            <a:ext cx="1112838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Persistency</a:t>
            </a:r>
            <a:endParaRPr/>
          </a:p>
        </p:txBody>
      </p:sp>
      <p:cxnSp>
        <p:nvCxnSpPr>
          <p:cNvPr id="460" name="Google Shape;460;p16"/>
          <p:cNvCxnSpPr/>
          <p:nvPr/>
        </p:nvCxnSpPr>
        <p:spPr>
          <a:xfrm flipH="1" rot="-5400000">
            <a:off x="6028531" y="3785394"/>
            <a:ext cx="569913" cy="3175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1" name="Google Shape;461;p16"/>
          <p:cNvCxnSpPr/>
          <p:nvPr/>
        </p:nvCxnSpPr>
        <p:spPr>
          <a:xfrm flipH="1">
            <a:off x="7383463" y="4752975"/>
            <a:ext cx="354012" cy="1588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2" name="Google Shape;462;p16"/>
          <p:cNvSpPr/>
          <p:nvPr/>
        </p:nvSpPr>
        <p:spPr>
          <a:xfrm>
            <a:off x="5365750" y="4424363"/>
            <a:ext cx="1905000" cy="628650"/>
          </a:xfrm>
          <a:prstGeom prst="rect">
            <a:avLst/>
          </a:prstGeom>
          <a:solidFill>
            <a:srgbClr val="FFFFCC"/>
          </a:solidFill>
          <a:ln cap="flat" cmpd="sng" w="12700">
            <a:solidFill>
              <a:srgbClr val="8A0E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3975" lIns="107950" spcFirstLastPara="1" rIns="107950" wrap="square" tIns="53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463" name="Google Shape;463;p16"/>
          <p:cNvCxnSpPr/>
          <p:nvPr/>
        </p:nvCxnSpPr>
        <p:spPr>
          <a:xfrm>
            <a:off x="5365750" y="4779963"/>
            <a:ext cx="1908175" cy="0"/>
          </a:xfrm>
          <a:prstGeom prst="straightConnector1">
            <a:avLst/>
          </a:prstGeom>
          <a:noFill/>
          <a:ln cap="flat" cmpd="sng" w="12700">
            <a:solidFill>
              <a:srgbClr val="8A0E5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16"/>
          <p:cNvCxnSpPr/>
          <p:nvPr/>
        </p:nvCxnSpPr>
        <p:spPr>
          <a:xfrm>
            <a:off x="5367338" y="4854894"/>
            <a:ext cx="1901952" cy="0"/>
          </a:xfrm>
          <a:prstGeom prst="straightConnector1">
            <a:avLst/>
          </a:prstGeom>
          <a:noFill/>
          <a:ln cap="flat" cmpd="sng" w="12700">
            <a:solidFill>
              <a:srgbClr val="8A0E5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5" name="Google Shape;465;p16"/>
          <p:cNvSpPr txBox="1"/>
          <p:nvPr/>
        </p:nvSpPr>
        <p:spPr>
          <a:xfrm>
            <a:off x="5343525" y="4427538"/>
            <a:ext cx="20129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53975" lIns="107950" spcFirstLastPara="1" rIns="107950" wrap="square" tIns="53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SomeDesignClass</a:t>
            </a:r>
            <a:endParaRPr sz="16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466" name="Google Shape;466;p16"/>
          <p:cNvCxnSpPr/>
          <p:nvPr/>
        </p:nvCxnSpPr>
        <p:spPr>
          <a:xfrm>
            <a:off x="4894263" y="4752975"/>
            <a:ext cx="354012" cy="1588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7" name="Google Shape;467;p16"/>
          <p:cNvCxnSpPr/>
          <p:nvPr/>
        </p:nvCxnSpPr>
        <p:spPr>
          <a:xfrm>
            <a:off x="1225550" y="5221288"/>
            <a:ext cx="5953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468" name="Google Shape;468;p16"/>
          <p:cNvCxnSpPr/>
          <p:nvPr/>
        </p:nvCxnSpPr>
        <p:spPr>
          <a:xfrm>
            <a:off x="1225550" y="6008688"/>
            <a:ext cx="5953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469" name="Google Shape;469;p16"/>
          <p:cNvCxnSpPr/>
          <p:nvPr/>
        </p:nvCxnSpPr>
        <p:spPr>
          <a:xfrm>
            <a:off x="3054350" y="4459288"/>
            <a:ext cx="5953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470" name="Google Shape;470;p16"/>
          <p:cNvCxnSpPr/>
          <p:nvPr/>
        </p:nvCxnSpPr>
        <p:spPr>
          <a:xfrm>
            <a:off x="3054350" y="5221288"/>
            <a:ext cx="5953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471" name="Google Shape;471;p16"/>
          <p:cNvCxnSpPr/>
          <p:nvPr/>
        </p:nvCxnSpPr>
        <p:spPr>
          <a:xfrm>
            <a:off x="3054350" y="6008688"/>
            <a:ext cx="5953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7"/>
          <p:cNvSpPr txBox="1"/>
          <p:nvPr>
            <p:ph type="title"/>
          </p:nvPr>
        </p:nvSpPr>
        <p:spPr>
          <a:xfrm>
            <a:off x="0" y="704088"/>
            <a:ext cx="9144000" cy="5913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/>
              <a:t>Checkpoints</a:t>
            </a:r>
            <a:endParaRPr/>
          </a:p>
        </p:txBody>
      </p:sp>
      <p:sp>
        <p:nvSpPr>
          <p:cNvPr id="477" name="Google Shape;477;p1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8" name="Google Shape;478;p17"/>
          <p:cNvSpPr txBox="1"/>
          <p:nvPr>
            <p:ph idx="1" type="body"/>
          </p:nvPr>
        </p:nvSpPr>
        <p:spPr>
          <a:xfrm>
            <a:off x="285750" y="1322388"/>
            <a:ext cx="8020050" cy="5043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660"/>
              <a:buChar char="⚫"/>
            </a:pPr>
            <a:r>
              <a:rPr lang="en-US" sz="2800"/>
              <a:t>Clear class names</a:t>
            </a:r>
            <a:endParaRPr/>
          </a:p>
          <a:p>
            <a:pPr indent="-274320" lvl="0" marL="274320" rtl="0" algn="l">
              <a:spcBef>
                <a:spcPts val="560"/>
              </a:spcBef>
              <a:spcAft>
                <a:spcPts val="0"/>
              </a:spcAft>
              <a:buSzPts val="2660"/>
              <a:buChar char="⚫"/>
            </a:pPr>
            <a:r>
              <a:rPr lang="en-US" sz="2800"/>
              <a:t>One well-defined abstraction </a:t>
            </a:r>
            <a:endParaRPr/>
          </a:p>
          <a:p>
            <a:pPr indent="-274320" lvl="0" marL="274320" rtl="0" algn="l">
              <a:spcBef>
                <a:spcPts val="560"/>
              </a:spcBef>
              <a:spcAft>
                <a:spcPts val="0"/>
              </a:spcAft>
              <a:buSzPts val="2660"/>
              <a:buChar char="⚫"/>
            </a:pPr>
            <a:r>
              <a:rPr lang="en-US" sz="2800"/>
              <a:t>Functionally coupled attributes/behavior</a:t>
            </a:r>
            <a:endParaRPr/>
          </a:p>
          <a:p>
            <a:pPr indent="-274320" lvl="0" marL="274320" rtl="0" algn="l">
              <a:spcBef>
                <a:spcPts val="560"/>
              </a:spcBef>
              <a:spcAft>
                <a:spcPts val="0"/>
              </a:spcAft>
              <a:buSzPts val="2660"/>
              <a:buChar char="⚫"/>
            </a:pPr>
            <a:r>
              <a:rPr lang="en-US" sz="2800"/>
              <a:t>Generalizations were made.</a:t>
            </a:r>
            <a:endParaRPr/>
          </a:p>
          <a:p>
            <a:pPr indent="-274320" lvl="0" marL="274320" rtl="0" algn="l">
              <a:spcBef>
                <a:spcPts val="560"/>
              </a:spcBef>
              <a:spcAft>
                <a:spcPts val="0"/>
              </a:spcAft>
              <a:buSzPts val="2660"/>
              <a:buChar char="⚫"/>
            </a:pPr>
            <a:r>
              <a:rPr lang="en-US" sz="2800"/>
              <a:t>All class requirements were addressed</a:t>
            </a:r>
            <a:endParaRPr/>
          </a:p>
          <a:p>
            <a:pPr indent="-274320" lvl="0" marL="274320" rtl="0" algn="l">
              <a:spcBef>
                <a:spcPts val="560"/>
              </a:spcBef>
              <a:spcAft>
                <a:spcPts val="0"/>
              </a:spcAft>
              <a:buSzPts val="2660"/>
              <a:buChar char="⚫"/>
            </a:pPr>
            <a:r>
              <a:rPr lang="en-US" sz="2800"/>
              <a:t>Demands are consistent with statecharts.</a:t>
            </a:r>
            <a:endParaRPr/>
          </a:p>
          <a:p>
            <a:pPr indent="-274320" lvl="0" marL="274320" rtl="0" algn="l">
              <a:spcBef>
                <a:spcPts val="560"/>
              </a:spcBef>
              <a:spcAft>
                <a:spcPts val="0"/>
              </a:spcAft>
              <a:buSzPts val="2660"/>
              <a:buChar char="⚫"/>
            </a:pPr>
            <a:r>
              <a:rPr lang="en-US" sz="2800"/>
              <a:t>Complete class instance life cycle is described.</a:t>
            </a:r>
            <a:endParaRPr/>
          </a:p>
          <a:p>
            <a:pPr indent="-274320" lvl="0" marL="274320" rtl="0" algn="l">
              <a:spcBef>
                <a:spcPts val="560"/>
              </a:spcBef>
              <a:spcAft>
                <a:spcPts val="0"/>
              </a:spcAft>
              <a:buSzPts val="2660"/>
              <a:buChar char="⚫"/>
            </a:pPr>
            <a:r>
              <a:rPr lang="en-US" sz="2800"/>
              <a:t>The class has the required behavior.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8"/>
          <p:cNvSpPr txBox="1"/>
          <p:nvPr>
            <p:ph type="title"/>
          </p:nvPr>
        </p:nvSpPr>
        <p:spPr>
          <a:xfrm>
            <a:off x="2895600" y="2438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The End.</a:t>
            </a:r>
            <a:endParaRPr/>
          </a:p>
        </p:txBody>
      </p:sp>
      <p:sp>
        <p:nvSpPr>
          <p:cNvPr id="484" name="Google Shape;484;p1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2017-11-13T20:26:15Z</dcterms:created>
  <dc:creator>ThuGiang</dc:creator>
</cp:coreProperties>
</file>