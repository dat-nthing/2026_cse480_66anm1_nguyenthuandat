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6858000" cx="9144000"/>
  <p:notesSz cx="6858000" cy="9144000"/>
  <p:embeddedFontLst>
    <p:embeddedFont>
      <p:font typeface="Constantia"/>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5" roundtripDataSignature="AMtx7mjU9Q4JOAts3JVCjntuyp0tL81L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font" Target="fonts/Constantia-bold.fntdata"/><Relationship Id="rId41" Type="http://schemas.openxmlformats.org/officeDocument/2006/relationships/font" Target="fonts/Constantia-regular.fntdata"/><Relationship Id="rId22" Type="http://schemas.openxmlformats.org/officeDocument/2006/relationships/slide" Target="slides/slide16.xml"/><Relationship Id="rId44" Type="http://schemas.openxmlformats.org/officeDocument/2006/relationships/font" Target="fonts/Constantia-boldItalic.fntdata"/><Relationship Id="rId21" Type="http://schemas.openxmlformats.org/officeDocument/2006/relationships/slide" Target="slides/slide15.xml"/><Relationship Id="rId43" Type="http://schemas.openxmlformats.org/officeDocument/2006/relationships/font" Target="fonts/Constantia-italic.fntdata"/><Relationship Id="rId24" Type="http://schemas.openxmlformats.org/officeDocument/2006/relationships/slide" Target="slides/slide18.xml"/><Relationship Id="rId23" Type="http://schemas.openxmlformats.org/officeDocument/2006/relationships/slide" Target="slides/slide17.xml"/><Relationship Id="rId45"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21" name="Google Shape;121;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20" name="Shape 20"/>
        <p:cNvGrpSpPr/>
        <p:nvPr/>
      </p:nvGrpSpPr>
      <p:grpSpPr>
        <a:xfrm>
          <a:off x="0" y="0"/>
          <a:ext cx="0" cy="0"/>
          <a:chOff x="0" y="0"/>
          <a:chExt cx="0" cy="0"/>
        </a:xfrm>
      </p:grpSpPr>
      <p:sp>
        <p:nvSpPr>
          <p:cNvPr id="21" name="Google Shape;21;p38"/>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8"/>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3" name="Google Shape;23;p3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3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0" name="Google Shape;40;p3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43" name="Shape 43"/>
        <p:cNvGrpSpPr/>
        <p:nvPr/>
      </p:nvGrpSpPr>
      <p:grpSpPr>
        <a:xfrm>
          <a:off x="0" y="0"/>
          <a:ext cx="0" cy="0"/>
          <a:chOff x="0" y="0"/>
          <a:chExt cx="0" cy="0"/>
        </a:xfrm>
      </p:grpSpPr>
      <p:sp>
        <p:nvSpPr>
          <p:cNvPr id="44" name="Google Shape;44;p37"/>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37"/>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46" name="Google Shape;46;p3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439FD7"/>
            </a:gs>
            <a:gs pos="25000">
              <a:srgbClr val="4397CA"/>
            </a:gs>
            <a:gs pos="100000">
              <a:srgbClr val="00466A"/>
            </a:gs>
          </a:gsLst>
          <a:path path="circle">
            <a:fillToRect b="50%" l="50%" r="50%" t="50%"/>
          </a:path>
          <a:tileRect/>
        </a:gradFill>
      </p:bgPr>
    </p:bg>
    <p:spTree>
      <p:nvGrpSpPr>
        <p:cNvPr id="49" name="Shape 49"/>
        <p:cNvGrpSpPr/>
        <p:nvPr/>
      </p:nvGrpSpPr>
      <p:grpSpPr>
        <a:xfrm>
          <a:off x="0" y="0"/>
          <a:ext cx="0" cy="0"/>
          <a:chOff x="0" y="0"/>
          <a:chExt cx="0" cy="0"/>
        </a:xfrm>
      </p:grpSpPr>
      <p:sp>
        <p:nvSpPr>
          <p:cNvPr id="50" name="Google Shape;50;p40"/>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0"/>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rm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2" name="Google Shape;52;p4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4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41"/>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8" name="Google Shape;58;p41"/>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9" name="Google Shape;59;p4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4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4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42"/>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5" name="Google Shape;65;p42"/>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rm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6" name="Google Shape;66;p42"/>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7" name="Google Shape;67;p42"/>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8" name="Google Shape;68;p4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4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43"/>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4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4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4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45"/>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45"/>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3" name="Google Shape;83;p45"/>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rm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4" name="Google Shape;84;p4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4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4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87" name="Shape 87"/>
        <p:cNvGrpSpPr/>
        <p:nvPr/>
      </p:nvGrpSpPr>
      <p:grpSpPr>
        <a:xfrm>
          <a:off x="0" y="0"/>
          <a:ext cx="0" cy="0"/>
          <a:chOff x="0" y="0"/>
          <a:chExt cx="0" cy="0"/>
        </a:xfrm>
      </p:grpSpPr>
      <p:sp>
        <p:nvSpPr>
          <p:cNvPr id="88" name="Google Shape;88;p46"/>
          <p:cNvSpPr/>
          <p:nvPr/>
        </p:nvSpPr>
        <p:spPr>
          <a:xfrm flipH="1" rot="-10380000">
            <a:off x="3165753" y="1108077"/>
            <a:ext cx="5257800" cy="4114800"/>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00" rotWithShape="0" algn="tl" dir="7500000" dist="38500" sy="10008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89" name="Google Shape;89;p46"/>
          <p:cNvSpPr/>
          <p:nvPr/>
        </p:nvSpPr>
        <p:spPr>
          <a:xfrm flipH="1" rot="-10380000">
            <a:off x="8004134" y="5359769"/>
            <a:ext cx="155448" cy="155448"/>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6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90" name="Google Shape;90;p46"/>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rmAutofit/>
          </a:bodyPr>
          <a:lstStyle>
            <a:lvl1pPr lvl="0" algn="l">
              <a:spcBef>
                <a:spcPts val="0"/>
              </a:spcBef>
              <a:spcAft>
                <a:spcPts val="0"/>
              </a:spcAft>
              <a:buClr>
                <a:schemeClr val="dk2"/>
              </a:buClr>
              <a:buSzPts val="2000"/>
              <a:buFont typeface="Calibri"/>
              <a:buNone/>
              <a:defRPr b="1"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46"/>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rmAutofit/>
          </a:bodyPr>
          <a:lstStyle>
            <a:lvl1pPr indent="-228600" lvl="0" marL="457200" algn="l">
              <a:spcBef>
                <a:spcPts val="250"/>
              </a:spcBef>
              <a:spcAft>
                <a:spcPts val="0"/>
              </a:spcAft>
              <a:buSzPts val="1235"/>
              <a:buFont typeface="Constantia"/>
              <a:buNone/>
              <a:defRPr sz="1300"/>
            </a:lvl1pPr>
            <a:lvl2pPr indent="-293369"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7" lvl="3" marL="1828800" algn="l">
              <a:spcBef>
                <a:spcPts val="180"/>
              </a:spcBef>
              <a:spcAft>
                <a:spcPts val="0"/>
              </a:spcAft>
              <a:buSzPts val="585"/>
              <a:buChar char="⚫"/>
              <a:defRPr sz="900"/>
            </a:lvl4pPr>
            <a:lvl5pPr indent="-265747" lvl="4" marL="2286000" algn="l">
              <a:spcBef>
                <a:spcPts val="180"/>
              </a:spcBef>
              <a:spcAft>
                <a:spcPts val="0"/>
              </a:spcAft>
              <a:buSzPts val="585"/>
              <a:buChar char="⚫"/>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2" name="Google Shape;92;p4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4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46"/>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5" name="Google Shape;95;p46"/>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txBody>
          <a:bodyPr anchorCtr="0" anchor="t" bIns="45700" lIns="91425" spcFirstLastPara="1" rIns="91425" wrap="square" tIns="45700">
            <a:normAutofit/>
          </a:bodyPr>
          <a:lstStyle>
            <a:lvl1pPr lvl="0" marR="0" rtl="0" algn="l">
              <a:spcBef>
                <a:spcPts val="640"/>
              </a:spcBef>
              <a:spcAft>
                <a:spcPts val="0"/>
              </a:spcAft>
              <a:buClr>
                <a:schemeClr val="accent3"/>
              </a:buClr>
              <a:buSzPts val="3040"/>
              <a:buFont typeface="Noto Sans Symbols"/>
              <a:buNone/>
              <a:defRPr b="0" i="0" sz="3200" u="none" cap="none" strike="noStrike">
                <a:solidFill>
                  <a:schemeClr val="dk1"/>
                </a:solidFill>
                <a:latin typeface="Constantia"/>
                <a:ea typeface="Constantia"/>
                <a:cs typeface="Constantia"/>
                <a:sym typeface="Constantia"/>
              </a:defRPr>
            </a:lvl1pPr>
            <a:lvl2pPr lvl="1"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lvl="2"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lvl="3"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lvl="4"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lvl="5"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lvl="6"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lvl="7"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lvl="8"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96" name="Google Shape;96;p46"/>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7" name="Google Shape;97;p46"/>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8" name="Shape 98"/>
        <p:cNvGrpSpPr/>
        <p:nvPr/>
      </p:nvGrpSpPr>
      <p:grpSpPr>
        <a:xfrm>
          <a:off x="0" y="0"/>
          <a:ext cx="0" cy="0"/>
          <a:chOff x="0" y="0"/>
          <a:chExt cx="0" cy="0"/>
        </a:xfrm>
      </p:grpSpPr>
      <p:sp>
        <p:nvSpPr>
          <p:cNvPr id="99" name="Google Shape;99;p4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47"/>
          <p:cNvSpPr txBox="1"/>
          <p:nvPr>
            <p:ph idx="1" type="body"/>
          </p:nvPr>
        </p:nvSpPr>
        <p:spPr>
          <a:xfrm rot="5400000">
            <a:off x="2377440" y="15240"/>
            <a:ext cx="4389120" cy="82296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1" name="Google Shape;101;p4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4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4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48"/>
          <p:cNvSpPr txBox="1"/>
          <p:nvPr>
            <p:ph type="title"/>
          </p:nvPr>
        </p:nvSpPr>
        <p:spPr>
          <a:xfrm rot="5400000">
            <a:off x="5052218" y="2491583"/>
            <a:ext cx="5211763" cy="20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48"/>
          <p:cNvSpPr txBox="1"/>
          <p:nvPr>
            <p:ph idx="1" type="body"/>
          </p:nvPr>
        </p:nvSpPr>
        <p:spPr>
          <a:xfrm rot="5400000">
            <a:off x="861219" y="510383"/>
            <a:ext cx="5211763" cy="60198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7" name="Google Shape;107;p4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4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4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9" name="Shape 9"/>
        <p:cNvGrpSpPr/>
        <p:nvPr/>
      </p:nvGrpSpPr>
      <p:grpSpPr>
        <a:xfrm>
          <a:off x="0" y="0"/>
          <a:ext cx="0" cy="0"/>
          <a:chOff x="0" y="0"/>
          <a:chExt cx="0" cy="0"/>
        </a:xfrm>
      </p:grpSpPr>
      <p:sp>
        <p:nvSpPr>
          <p:cNvPr id="10" name="Google Shape;10;p36"/>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1" name="Google Shape;11;p36"/>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2" name="Google Shape;12;p3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lt2"/>
              </a:buClr>
              <a:buSzPts val="5000"/>
              <a:buFont typeface="Calibri"/>
              <a:buNone/>
              <a:defRPr b="0" i="0" sz="5000" u="none" cap="none" strike="noStrike">
                <a:solidFill>
                  <a:schemeClr val="lt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36"/>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14" name="Google Shape;14;p3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5" name="Google Shape;15;p3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6" name="Google Shape;16;p3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i="0" sz="1200" u="none" cap="none" strike="noStrike">
                <a:solidFill>
                  <a:srgbClr val="D0E9ED"/>
                </a:solidFill>
                <a:latin typeface="Constantia"/>
                <a:ea typeface="Constantia"/>
                <a:cs typeface="Constantia"/>
                <a:sym typeface="Constantia"/>
              </a:defRPr>
            </a:lvl1pPr>
            <a:lvl2pPr indent="0" lvl="1" marL="0" marR="0" rtl="0" algn="r">
              <a:spcBef>
                <a:spcPts val="0"/>
              </a:spcBef>
              <a:buNone/>
              <a:defRPr b="0" i="0" sz="1200" u="none" cap="none" strike="noStrike">
                <a:solidFill>
                  <a:srgbClr val="D0E9ED"/>
                </a:solidFill>
                <a:latin typeface="Constantia"/>
                <a:ea typeface="Constantia"/>
                <a:cs typeface="Constantia"/>
                <a:sym typeface="Constantia"/>
              </a:defRPr>
            </a:lvl2pPr>
            <a:lvl3pPr indent="0" lvl="2" marL="0" marR="0" rtl="0" algn="r">
              <a:spcBef>
                <a:spcPts val="0"/>
              </a:spcBef>
              <a:buNone/>
              <a:defRPr b="0" i="0" sz="1200" u="none" cap="none" strike="noStrike">
                <a:solidFill>
                  <a:srgbClr val="D0E9ED"/>
                </a:solidFill>
                <a:latin typeface="Constantia"/>
                <a:ea typeface="Constantia"/>
                <a:cs typeface="Constantia"/>
                <a:sym typeface="Constantia"/>
              </a:defRPr>
            </a:lvl3pPr>
            <a:lvl4pPr indent="0" lvl="3" marL="0" marR="0" rtl="0" algn="r">
              <a:spcBef>
                <a:spcPts val="0"/>
              </a:spcBef>
              <a:buNone/>
              <a:defRPr b="0" i="0" sz="1200" u="none" cap="none" strike="noStrike">
                <a:solidFill>
                  <a:srgbClr val="D0E9ED"/>
                </a:solidFill>
                <a:latin typeface="Constantia"/>
                <a:ea typeface="Constantia"/>
                <a:cs typeface="Constantia"/>
                <a:sym typeface="Constantia"/>
              </a:defRPr>
            </a:lvl4pPr>
            <a:lvl5pPr indent="0" lvl="4" marL="0" marR="0" rtl="0" algn="r">
              <a:spcBef>
                <a:spcPts val="0"/>
              </a:spcBef>
              <a:buNone/>
              <a:defRPr b="0" i="0" sz="1200" u="none" cap="none" strike="noStrike">
                <a:solidFill>
                  <a:srgbClr val="D0E9ED"/>
                </a:solidFill>
                <a:latin typeface="Constantia"/>
                <a:ea typeface="Constantia"/>
                <a:cs typeface="Constantia"/>
                <a:sym typeface="Constantia"/>
              </a:defRPr>
            </a:lvl5pPr>
            <a:lvl6pPr indent="0" lvl="5" marL="0" marR="0" rtl="0" algn="r">
              <a:spcBef>
                <a:spcPts val="0"/>
              </a:spcBef>
              <a:buNone/>
              <a:defRPr b="0" i="0" sz="1200" u="none" cap="none" strike="noStrike">
                <a:solidFill>
                  <a:srgbClr val="D0E9ED"/>
                </a:solidFill>
                <a:latin typeface="Constantia"/>
                <a:ea typeface="Constantia"/>
                <a:cs typeface="Constantia"/>
                <a:sym typeface="Constantia"/>
              </a:defRPr>
            </a:lvl6pPr>
            <a:lvl7pPr indent="0" lvl="6" marL="0" marR="0" rtl="0" algn="r">
              <a:spcBef>
                <a:spcPts val="0"/>
              </a:spcBef>
              <a:buNone/>
              <a:defRPr b="0" i="0" sz="1200" u="none" cap="none" strike="noStrike">
                <a:solidFill>
                  <a:srgbClr val="D0E9ED"/>
                </a:solidFill>
                <a:latin typeface="Constantia"/>
                <a:ea typeface="Constantia"/>
                <a:cs typeface="Constantia"/>
                <a:sym typeface="Constantia"/>
              </a:defRPr>
            </a:lvl7pPr>
            <a:lvl8pPr indent="0" lvl="7" marL="0" marR="0" rtl="0" algn="r">
              <a:spcBef>
                <a:spcPts val="0"/>
              </a:spcBef>
              <a:buNone/>
              <a:defRPr b="0" i="0" sz="1200" u="none" cap="none" strike="noStrike">
                <a:solidFill>
                  <a:srgbClr val="D0E9ED"/>
                </a:solidFill>
                <a:latin typeface="Constantia"/>
                <a:ea typeface="Constantia"/>
                <a:cs typeface="Constantia"/>
                <a:sym typeface="Constantia"/>
              </a:defRPr>
            </a:lvl8pPr>
            <a:lvl9pPr indent="0" lvl="8" marL="0" marR="0" rtl="0" algn="r">
              <a:spcBef>
                <a:spcPts val="0"/>
              </a:spcBef>
              <a:buNone/>
              <a:defRPr b="0" i="0" sz="1200" u="none" cap="none" strike="noStrike">
                <a:solidFill>
                  <a:srgbClr val="D0E9ED"/>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17" name="Google Shape;17;p36"/>
          <p:cNvGrpSpPr/>
          <p:nvPr/>
        </p:nvGrpSpPr>
        <p:grpSpPr>
          <a:xfrm>
            <a:off x="-29294" y="-16113"/>
            <a:ext cx="9198255" cy="1086266"/>
            <a:chOff x="-29322" y="-1971"/>
            <a:chExt cx="9198255" cy="1086266"/>
          </a:xfrm>
        </p:grpSpPr>
        <p:sp>
          <p:nvSpPr>
            <p:cNvPr id="18" name="Google Shape;18;p36"/>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19" name="Google Shape;19;p36"/>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4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26" name="Shape 26"/>
        <p:cNvGrpSpPr/>
        <p:nvPr/>
      </p:nvGrpSpPr>
      <p:grpSpPr>
        <a:xfrm>
          <a:off x="0" y="0"/>
          <a:ext cx="0" cy="0"/>
          <a:chOff x="0" y="0"/>
          <a:chExt cx="0" cy="0"/>
        </a:xfrm>
      </p:grpSpPr>
      <p:sp>
        <p:nvSpPr>
          <p:cNvPr id="27" name="Google Shape;27;p35"/>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8" name="Google Shape;28;p35"/>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9" name="Google Shape;29;p3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dk2"/>
              </a:buClr>
              <a:buSzPts val="5000"/>
              <a:buFont typeface="Calibri"/>
              <a:buNone/>
              <a:defRPr b="0" i="0" sz="5000" u="none" cap="none" strike="noStrik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 name="Google Shape;30;p3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31" name="Google Shape;31;p3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2" name="Google Shape;32;p3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3" name="Google Shape;33;p3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sz="1200" u="none">
                <a:solidFill>
                  <a:srgbClr val="035C75"/>
                </a:solidFill>
                <a:latin typeface="Constantia"/>
                <a:ea typeface="Constantia"/>
                <a:cs typeface="Constantia"/>
                <a:sym typeface="Constantia"/>
              </a:defRPr>
            </a:lvl1pPr>
            <a:lvl2pPr indent="0" lvl="1" marL="0" marR="0" rtl="0" algn="r">
              <a:spcBef>
                <a:spcPts val="0"/>
              </a:spcBef>
              <a:buNone/>
              <a:defRPr b="0" sz="1200" u="none">
                <a:solidFill>
                  <a:srgbClr val="035C75"/>
                </a:solidFill>
                <a:latin typeface="Constantia"/>
                <a:ea typeface="Constantia"/>
                <a:cs typeface="Constantia"/>
                <a:sym typeface="Constantia"/>
              </a:defRPr>
            </a:lvl2pPr>
            <a:lvl3pPr indent="0" lvl="2" marL="0" marR="0" rtl="0" algn="r">
              <a:spcBef>
                <a:spcPts val="0"/>
              </a:spcBef>
              <a:buNone/>
              <a:defRPr b="0" sz="1200" u="none">
                <a:solidFill>
                  <a:srgbClr val="035C75"/>
                </a:solidFill>
                <a:latin typeface="Constantia"/>
                <a:ea typeface="Constantia"/>
                <a:cs typeface="Constantia"/>
                <a:sym typeface="Constantia"/>
              </a:defRPr>
            </a:lvl3pPr>
            <a:lvl4pPr indent="0" lvl="3" marL="0" marR="0" rtl="0" algn="r">
              <a:spcBef>
                <a:spcPts val="0"/>
              </a:spcBef>
              <a:buNone/>
              <a:defRPr b="0" sz="1200" u="none">
                <a:solidFill>
                  <a:srgbClr val="035C75"/>
                </a:solidFill>
                <a:latin typeface="Constantia"/>
                <a:ea typeface="Constantia"/>
                <a:cs typeface="Constantia"/>
                <a:sym typeface="Constantia"/>
              </a:defRPr>
            </a:lvl4pPr>
            <a:lvl5pPr indent="0" lvl="4" marL="0" marR="0" rtl="0" algn="r">
              <a:spcBef>
                <a:spcPts val="0"/>
              </a:spcBef>
              <a:buNone/>
              <a:defRPr b="0" sz="1200" u="none">
                <a:solidFill>
                  <a:srgbClr val="035C75"/>
                </a:solidFill>
                <a:latin typeface="Constantia"/>
                <a:ea typeface="Constantia"/>
                <a:cs typeface="Constantia"/>
                <a:sym typeface="Constantia"/>
              </a:defRPr>
            </a:lvl5pPr>
            <a:lvl6pPr indent="0" lvl="5" marL="0" marR="0" rtl="0" algn="r">
              <a:spcBef>
                <a:spcPts val="0"/>
              </a:spcBef>
              <a:buNone/>
              <a:defRPr b="0" sz="1200" u="none">
                <a:solidFill>
                  <a:srgbClr val="035C75"/>
                </a:solidFill>
                <a:latin typeface="Constantia"/>
                <a:ea typeface="Constantia"/>
                <a:cs typeface="Constantia"/>
                <a:sym typeface="Constantia"/>
              </a:defRPr>
            </a:lvl6pPr>
            <a:lvl7pPr indent="0" lvl="6" marL="0" marR="0" rtl="0" algn="r">
              <a:spcBef>
                <a:spcPts val="0"/>
              </a:spcBef>
              <a:buNone/>
              <a:defRPr b="0" sz="1200" u="none">
                <a:solidFill>
                  <a:srgbClr val="035C75"/>
                </a:solidFill>
                <a:latin typeface="Constantia"/>
                <a:ea typeface="Constantia"/>
                <a:cs typeface="Constantia"/>
                <a:sym typeface="Constantia"/>
              </a:defRPr>
            </a:lvl7pPr>
            <a:lvl8pPr indent="0" lvl="7" marL="0" marR="0" rtl="0" algn="r">
              <a:spcBef>
                <a:spcPts val="0"/>
              </a:spcBef>
              <a:buNone/>
              <a:defRPr b="0" sz="1200" u="none">
                <a:solidFill>
                  <a:srgbClr val="035C75"/>
                </a:solidFill>
                <a:latin typeface="Constantia"/>
                <a:ea typeface="Constantia"/>
                <a:cs typeface="Constantia"/>
                <a:sym typeface="Constantia"/>
              </a:defRPr>
            </a:lvl8pPr>
            <a:lvl9pPr indent="0" lvl="8" marL="0" marR="0" rtl="0" algn="r">
              <a:spcBef>
                <a:spcPts val="0"/>
              </a:spcBef>
              <a:buNone/>
              <a:defRPr b="0" sz="1200" u="non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34" name="Google Shape;34;p35"/>
          <p:cNvGrpSpPr/>
          <p:nvPr/>
        </p:nvGrpSpPr>
        <p:grpSpPr>
          <a:xfrm>
            <a:off x="-29294" y="-16113"/>
            <a:ext cx="9198255" cy="1086266"/>
            <a:chOff x="-29322" y="-1971"/>
            <a:chExt cx="9198255" cy="1086266"/>
          </a:xfrm>
        </p:grpSpPr>
        <p:sp>
          <p:nvSpPr>
            <p:cNvPr id="35" name="Google Shape;35;p35"/>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6" name="Google Shape;36;p35"/>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namnv@tlu.edu.v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23.png"/><Relationship Id="rId5"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3.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18.png"/><Relationship Id="rId5" Type="http://schemas.openxmlformats.org/officeDocument/2006/relationships/image" Target="../media/image7.png"/><Relationship Id="rId6"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1.png"/><Relationship Id="rId4" Type="http://schemas.openxmlformats.org/officeDocument/2006/relationships/image" Target="../media/image31.png"/><Relationship Id="rId5" Type="http://schemas.openxmlformats.org/officeDocument/2006/relationships/image" Target="../media/image30.png"/><Relationship Id="rId6" Type="http://schemas.openxmlformats.org/officeDocument/2006/relationships/image" Target="../media/image24.png"/><Relationship Id="rId7"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2.png"/><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3.png"/><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2.png"/><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p>
            <a:pPr indent="0" lvl="0" marL="0" rtl="0" algn="r">
              <a:spcBef>
                <a:spcPts val="0"/>
              </a:spcBef>
              <a:spcAft>
                <a:spcPts val="0"/>
              </a:spcAft>
              <a:buClr>
                <a:srgbClr val="4CE0EA"/>
              </a:buClr>
              <a:buSzPts val="5600"/>
              <a:buFont typeface="Calibri"/>
              <a:buNone/>
            </a:pPr>
            <a:r>
              <a:rPr lang="en-US"/>
              <a:t>Phân tích Thiết kế HTTT</a:t>
            </a:r>
            <a:endParaRPr/>
          </a:p>
        </p:txBody>
      </p:sp>
      <p:sp>
        <p:nvSpPr>
          <p:cNvPr id="115" name="Google Shape;115;p1"/>
          <p:cNvSpPr txBox="1"/>
          <p:nvPr>
            <p:ph idx="1" type="subTitle"/>
          </p:nvPr>
        </p:nvSpPr>
        <p:spPr>
          <a:xfrm>
            <a:off x="533400" y="4191000"/>
            <a:ext cx="7854696" cy="1905000"/>
          </a:xfrm>
          <a:prstGeom prst="rect">
            <a:avLst/>
          </a:prstGeom>
          <a:noFill/>
          <a:ln>
            <a:noFill/>
          </a:ln>
        </p:spPr>
        <p:txBody>
          <a:bodyPr anchorCtr="0" anchor="t" bIns="45700" lIns="0" spcFirstLastPara="1" rIns="18275" wrap="square" tIns="45700">
            <a:normAutofit/>
          </a:bodyPr>
          <a:lstStyle/>
          <a:p>
            <a:pPr indent="0" lvl="0" marL="0" marR="45720" rtl="0" algn="r">
              <a:spcBef>
                <a:spcPts val="0"/>
              </a:spcBef>
              <a:spcAft>
                <a:spcPts val="0"/>
              </a:spcAft>
              <a:buSzPts val="2470"/>
              <a:buNone/>
            </a:pPr>
            <a:r>
              <a:rPr lang="en-US"/>
              <a:t>Ths. Nguyễn Văn Nam</a:t>
            </a:r>
            <a:endParaRPr/>
          </a:p>
          <a:p>
            <a:pPr indent="0" lvl="0" marL="0" marR="45720" rtl="0" algn="r">
              <a:spcBef>
                <a:spcPts val="520"/>
              </a:spcBef>
              <a:spcAft>
                <a:spcPts val="0"/>
              </a:spcAft>
              <a:buSzPts val="2470"/>
              <a:buNone/>
            </a:pPr>
            <a:r>
              <a:rPr lang="en-US"/>
              <a:t>Email: </a:t>
            </a:r>
            <a:r>
              <a:rPr lang="en-US" u="sng">
                <a:solidFill>
                  <a:schemeClr val="hlink"/>
                </a:solidFill>
                <a:hlinkClick r:id="rId3"/>
              </a:rPr>
              <a:t>namnv@tlu.edu.vn</a:t>
            </a:r>
            <a:endParaRPr/>
          </a:p>
          <a:p>
            <a:pPr indent="0" lvl="0" marL="0" marR="45720" rtl="0" algn="r">
              <a:spcBef>
                <a:spcPts val="520"/>
              </a:spcBef>
              <a:spcAft>
                <a:spcPts val="0"/>
              </a:spcAft>
              <a:buSzPts val="2470"/>
              <a:buNone/>
            </a:pPr>
            <a:r>
              <a:rPr lang="en-US"/>
              <a:t>Website: namvannguyen.blogspot.com</a:t>
            </a:r>
            <a:endParaRPr/>
          </a:p>
          <a:p>
            <a:pPr indent="0" lvl="0" marL="0" marR="45720" rtl="0" algn="r">
              <a:spcBef>
                <a:spcPts val="520"/>
              </a:spcBef>
              <a:spcAft>
                <a:spcPts val="0"/>
              </a:spcAft>
              <a:buSzPts val="2470"/>
              <a:buNone/>
            </a:pPr>
            <a:r>
              <a:t/>
            </a:r>
            <a:endParaRPr/>
          </a:p>
        </p:txBody>
      </p:sp>
      <p:sp>
        <p:nvSpPr>
          <p:cNvPr id="116" name="Google Shape;116;p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17" name="Google Shape;117;p1"/>
          <p:cNvSpPr txBox="1"/>
          <p:nvPr/>
        </p:nvSpPr>
        <p:spPr>
          <a:xfrm>
            <a:off x="609600" y="3200400"/>
            <a:ext cx="7854696" cy="914400"/>
          </a:xfrm>
          <a:prstGeom prst="rect">
            <a:avLst/>
          </a:prstGeom>
          <a:noFill/>
          <a:ln>
            <a:noFill/>
          </a:ln>
        </p:spPr>
        <p:txBody>
          <a:bodyPr anchorCtr="0" anchor="t" bIns="45700" lIns="0" spcFirstLastPara="1" rIns="18275" wrap="square" tIns="45700">
            <a:normAutofit/>
          </a:bodyPr>
          <a:lstStyle/>
          <a:p>
            <a:pPr indent="0" lvl="0" marL="0" marR="45720" rtl="0" algn="r">
              <a:lnSpc>
                <a:spcPct val="100000"/>
              </a:lnSpc>
              <a:spcBef>
                <a:spcPts val="0"/>
              </a:spcBef>
              <a:spcAft>
                <a:spcPts val="0"/>
              </a:spcAft>
              <a:buClr>
                <a:schemeClr val="accent3"/>
              </a:buClr>
              <a:buSzPts val="3040"/>
              <a:buFont typeface="Noto Sans Symbols"/>
              <a:buNone/>
            </a:pPr>
            <a:r>
              <a:rPr b="0" i="0" lang="en-US" sz="3200" u="none" cap="none" strike="noStrike">
                <a:solidFill>
                  <a:schemeClr val="lt1"/>
                </a:solidFill>
                <a:latin typeface="Constantia"/>
                <a:ea typeface="Constantia"/>
                <a:cs typeface="Constantia"/>
                <a:sym typeface="Constantia"/>
              </a:rPr>
              <a:t>UML</a:t>
            </a:r>
            <a:endParaRPr b="0" i="0" sz="3200" u="none" cap="none" strike="noStrike">
              <a:solidFill>
                <a:schemeClr val="lt1"/>
              </a:solidFill>
              <a:latin typeface="Constantia"/>
              <a:ea typeface="Constantia"/>
              <a:cs typeface="Constantia"/>
              <a:sym typeface="Constant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Nội dung</a:t>
            </a:r>
            <a:endParaRPr/>
          </a:p>
        </p:txBody>
      </p:sp>
      <p:sp>
        <p:nvSpPr>
          <p:cNvPr id="124" name="Google Shape;124;p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UML - Overview</a:t>
            </a:r>
            <a:endParaRPr/>
          </a:p>
          <a:p>
            <a:pPr indent="-274320" lvl="0" marL="274320" rtl="0" algn="l">
              <a:spcBef>
                <a:spcPts val="520"/>
              </a:spcBef>
              <a:spcAft>
                <a:spcPts val="0"/>
              </a:spcAft>
              <a:buSzPts val="2470"/>
              <a:buChar char="⚫"/>
            </a:pPr>
            <a:r>
              <a:rPr lang="en-US"/>
              <a:t>UML – Khôi xây dựng (Bui</a:t>
            </a:r>
            <a:r>
              <a:rPr lang="en-US"/>
              <a:t>l</a:t>
            </a:r>
            <a:r>
              <a:rPr lang="en-US"/>
              <a:t>ding Block)</a:t>
            </a:r>
            <a:endParaRPr/>
          </a:p>
          <a:p>
            <a:pPr indent="-274320" lvl="0" marL="274320" rtl="0" algn="l">
              <a:spcBef>
                <a:spcPts val="520"/>
              </a:spcBef>
              <a:spcAft>
                <a:spcPts val="0"/>
              </a:spcAft>
              <a:buSzPts val="2470"/>
              <a:buChar char="⚫"/>
            </a:pPr>
            <a:r>
              <a:rPr lang="en-US"/>
              <a:t>UML – Kiến trúc (Architecture)</a:t>
            </a:r>
            <a:endParaRPr/>
          </a:p>
          <a:p>
            <a:pPr indent="-274320" lvl="0" marL="274320" rtl="0" algn="l">
              <a:spcBef>
                <a:spcPts val="520"/>
              </a:spcBef>
              <a:spcAft>
                <a:spcPts val="0"/>
              </a:spcAft>
              <a:buSzPts val="2470"/>
              <a:buChar char="⚫"/>
            </a:pPr>
            <a:r>
              <a:rPr lang="en-US"/>
              <a:t>UML – Các loại mô hình hóa (Modeling Types)</a:t>
            </a:r>
            <a:endParaRPr/>
          </a:p>
          <a:p>
            <a:pPr indent="-274320" lvl="0" marL="274320" rtl="0" algn="l">
              <a:spcBef>
                <a:spcPts val="520"/>
              </a:spcBef>
              <a:spcAft>
                <a:spcPts val="0"/>
              </a:spcAft>
              <a:buSzPts val="2470"/>
              <a:buChar char="⚫"/>
            </a:pPr>
            <a:r>
              <a:rPr lang="en-US"/>
              <a:t>UML – Các ký hiệu căn bản (Basic Notations)</a:t>
            </a:r>
            <a:endParaRPr/>
          </a:p>
          <a:p>
            <a:pPr indent="-274320" lvl="0" marL="274320" rtl="0" algn="l">
              <a:spcBef>
                <a:spcPts val="520"/>
              </a:spcBef>
              <a:spcAft>
                <a:spcPts val="0"/>
              </a:spcAft>
              <a:buSzPts val="2470"/>
              <a:buChar char="⚫"/>
            </a:pPr>
            <a:r>
              <a:rPr lang="en-US"/>
              <a:t>UML – Các biểu đồ chuẩn (Standard Diagrams)</a:t>
            </a:r>
            <a:endParaRPr/>
          </a:p>
          <a:p>
            <a:pPr indent="-274320" lvl="0" marL="274320" rtl="0" algn="l">
              <a:spcBef>
                <a:spcPts val="520"/>
              </a:spcBef>
              <a:spcAft>
                <a:spcPts val="0"/>
              </a:spcAft>
              <a:buSzPts val="2470"/>
              <a:buChar char="⚫"/>
            </a:pPr>
            <a:r>
              <a:rPr lang="en-US"/>
              <a:t>UML – Biểu đồ lớp (Class Diagram)</a:t>
            </a:r>
            <a:endParaRPr/>
          </a:p>
          <a:p>
            <a:pPr indent="-274320" lvl="0" marL="274320" rtl="0" algn="l">
              <a:spcBef>
                <a:spcPts val="520"/>
              </a:spcBef>
              <a:spcAft>
                <a:spcPts val="0"/>
              </a:spcAft>
              <a:buSzPts val="2470"/>
              <a:buChar char="⚫"/>
            </a:pPr>
            <a:r>
              <a:rPr lang="en-US"/>
              <a:t>UML – Biểu đồ đối tượng (Object Diagram)</a:t>
            </a:r>
            <a:endParaRPr/>
          </a:p>
          <a:p>
            <a:pPr indent="-117475"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p:txBody>
      </p:sp>
      <p:sp>
        <p:nvSpPr>
          <p:cNvPr id="125" name="Google Shape;125;p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UML – Tổng Quan</a:t>
            </a:r>
            <a:endParaRPr/>
          </a:p>
        </p:txBody>
      </p:sp>
      <p:sp>
        <p:nvSpPr>
          <p:cNvPr id="131" name="Google Shape;131;p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UML – Ngôn ngữ chuẩn cho đặc tả, hình ảnh hóa, xây dựng, và mô tả tài liệu cho các tác nhân của hệ thống phần mềm.</a:t>
            </a:r>
            <a:endParaRPr/>
          </a:p>
          <a:p>
            <a:pPr indent="-274320" lvl="0" marL="274320" rtl="0" algn="l">
              <a:spcBef>
                <a:spcPts val="520"/>
              </a:spcBef>
              <a:spcAft>
                <a:spcPts val="0"/>
              </a:spcAft>
              <a:buSzPts val="2470"/>
              <a:buChar char="⚫"/>
            </a:pPr>
            <a:r>
              <a:rPr lang="en-US"/>
              <a:t>UML – được tạo bởi Nhóm Quản lý Đối tượng (Object Management Group – OMG), phiên bản UML 1.0 được đưa ra vào tháng 01/1997.</a:t>
            </a:r>
            <a:endParaRPr/>
          </a:p>
          <a:p>
            <a:pPr indent="-274320" lvl="0" marL="274320" rtl="0" algn="l">
              <a:spcBef>
                <a:spcPts val="520"/>
              </a:spcBef>
              <a:spcAft>
                <a:spcPts val="0"/>
              </a:spcAft>
              <a:buSzPts val="2470"/>
              <a:buChar char="⚫"/>
            </a:pPr>
            <a:r>
              <a:rPr lang="en-US"/>
              <a:t>OMG tiếp tục phát triển UML như một tiêu chuẩn công nghiệp phần mềm thực sự.</a:t>
            </a:r>
            <a:endParaRPr/>
          </a:p>
        </p:txBody>
      </p:sp>
      <p:sp>
        <p:nvSpPr>
          <p:cNvPr id="132" name="Google Shape;132;p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UML – Tổng Quan</a:t>
            </a:r>
            <a:endParaRPr/>
          </a:p>
        </p:txBody>
      </p:sp>
      <p:sp>
        <p:nvSpPr>
          <p:cNvPr id="138" name="Google Shape;138;p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2285"/>
              <a:buChar char="⚫"/>
            </a:pPr>
            <a:r>
              <a:rPr lang="en-US" sz="2405"/>
              <a:t>Đặc điểm UML:</a:t>
            </a:r>
            <a:endParaRPr/>
          </a:p>
          <a:p>
            <a:pPr indent="-246888" lvl="1" marL="640080" rtl="0" algn="l">
              <a:lnSpc>
                <a:spcPct val="90000"/>
              </a:lnSpc>
              <a:spcBef>
                <a:spcPts val="444"/>
              </a:spcBef>
              <a:spcAft>
                <a:spcPts val="0"/>
              </a:spcAft>
              <a:buSzPts val="1887"/>
              <a:buChar char="⚫"/>
            </a:pPr>
            <a:r>
              <a:rPr lang="en-US" sz="2220"/>
              <a:t>UML viết tắt của Unified Modeling Language</a:t>
            </a:r>
            <a:endParaRPr/>
          </a:p>
          <a:p>
            <a:pPr indent="-246888" lvl="1" marL="640080" rtl="0" algn="l">
              <a:lnSpc>
                <a:spcPct val="90000"/>
              </a:lnSpc>
              <a:spcBef>
                <a:spcPts val="444"/>
              </a:spcBef>
              <a:spcAft>
                <a:spcPts val="0"/>
              </a:spcAft>
              <a:buSzPts val="1887"/>
              <a:buChar char="⚫"/>
            </a:pPr>
            <a:r>
              <a:rPr lang="en-US" sz="2220"/>
              <a:t>UML khác với ngôn ngữ lập trình: C/C++, Java, PHP, Cobol,…</a:t>
            </a:r>
            <a:endParaRPr/>
          </a:p>
          <a:p>
            <a:pPr indent="-246888" lvl="1" marL="640080" rtl="0" algn="l">
              <a:lnSpc>
                <a:spcPct val="90000"/>
              </a:lnSpc>
              <a:spcBef>
                <a:spcPts val="444"/>
              </a:spcBef>
              <a:spcAft>
                <a:spcPts val="0"/>
              </a:spcAft>
              <a:buSzPts val="1887"/>
              <a:buChar char="⚫"/>
            </a:pPr>
            <a:r>
              <a:rPr lang="en-US" sz="2220"/>
              <a:t>UML là ngôn ngữ hình ảnh sử dụng tạo ra các bản kế hoạch thiết kế.</a:t>
            </a:r>
            <a:endParaRPr/>
          </a:p>
          <a:p>
            <a:pPr indent="-246888" lvl="1" marL="640080" rtl="0" algn="l">
              <a:lnSpc>
                <a:spcPct val="90000"/>
              </a:lnSpc>
              <a:spcBef>
                <a:spcPts val="444"/>
              </a:spcBef>
              <a:spcAft>
                <a:spcPts val="0"/>
              </a:spcAft>
              <a:buSzPts val="1887"/>
              <a:buChar char="⚫"/>
            </a:pPr>
            <a:r>
              <a:rPr lang="en-US" sz="2220"/>
              <a:t>UML có thể được mô tả như ngôn ngữ mô hình hóa hình ảnh đa năng để hình ảnh hóa, đặc tả, xây dựng và văn bản hóa hệ thống phần mềm</a:t>
            </a:r>
            <a:endParaRPr sz="2220"/>
          </a:p>
          <a:p>
            <a:pPr indent="-246888" lvl="1" marL="640080" rtl="0" algn="l">
              <a:lnSpc>
                <a:spcPct val="90000"/>
              </a:lnSpc>
              <a:spcBef>
                <a:spcPts val="444"/>
              </a:spcBef>
              <a:spcAft>
                <a:spcPts val="0"/>
              </a:spcAft>
              <a:buSzPts val="1887"/>
              <a:buChar char="⚫"/>
            </a:pPr>
            <a:r>
              <a:rPr lang="en-US" sz="2220"/>
              <a:t>Mặc dù UML chuyên dành cho thiết kế, mô hình hóa phần mềm, nhưng nó có thể dùng để mô hình hóa các hệ thống không phải phần mềm. Ví dụ: luồng nghiệp vụ cho một đơn vị sản xuất.</a:t>
            </a:r>
            <a:endParaRPr sz="2220"/>
          </a:p>
        </p:txBody>
      </p:sp>
      <p:sp>
        <p:nvSpPr>
          <p:cNvPr id="139" name="Google Shape;139;p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UML – Tổng Quan</a:t>
            </a:r>
            <a:endParaRPr/>
          </a:p>
        </p:txBody>
      </p:sp>
      <p:sp>
        <p:nvSpPr>
          <p:cNvPr id="145" name="Google Shape;145;p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Mục đích của UML:</a:t>
            </a:r>
            <a:endParaRPr/>
          </a:p>
          <a:p>
            <a:pPr indent="-246888" lvl="1" marL="640080" rtl="0" algn="l">
              <a:spcBef>
                <a:spcPts val="480"/>
              </a:spcBef>
              <a:spcAft>
                <a:spcPts val="0"/>
              </a:spcAft>
              <a:buSzPts val="2040"/>
              <a:buChar char="⚫"/>
            </a:pPr>
            <a:r>
              <a:rPr lang="en-US"/>
              <a:t>“A picture is worth a thousand words” – UML.</a:t>
            </a:r>
            <a:endParaRPr/>
          </a:p>
          <a:p>
            <a:pPr indent="-246888" lvl="1" marL="640080" rtl="0" algn="l">
              <a:spcBef>
                <a:spcPts val="480"/>
              </a:spcBef>
              <a:spcAft>
                <a:spcPts val="0"/>
              </a:spcAft>
              <a:buSzPts val="2040"/>
              <a:buChar char="⚫"/>
            </a:pPr>
            <a:r>
              <a:rPr lang="en-US"/>
              <a:t>Mục đích chính là UML như là cơ chế mô hình hóa đơn giản để mô hình tất cả các hệ thống tiện ích của môi trường thực tế phức tạp hiện nay.</a:t>
            </a:r>
            <a:endParaRPr/>
          </a:p>
          <a:p>
            <a:pPr indent="-117348" lvl="1" marL="640080" rtl="0" algn="l">
              <a:spcBef>
                <a:spcPts val="480"/>
              </a:spcBef>
              <a:spcAft>
                <a:spcPts val="0"/>
              </a:spcAft>
              <a:buSzPts val="2040"/>
              <a:buNone/>
            </a:pPr>
            <a:r>
              <a:t/>
            </a:r>
            <a:endParaRPr/>
          </a:p>
        </p:txBody>
      </p:sp>
      <p:sp>
        <p:nvSpPr>
          <p:cNvPr id="146" name="Google Shape;146;p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UML – Tổng Quan</a:t>
            </a:r>
            <a:endParaRPr/>
          </a:p>
        </p:txBody>
      </p:sp>
      <p:sp>
        <p:nvSpPr>
          <p:cNvPr id="152" name="Google Shape;152;p6"/>
          <p:cNvSpPr txBox="1"/>
          <p:nvPr>
            <p:ph idx="1" type="body"/>
          </p:nvPr>
        </p:nvSpPr>
        <p:spPr>
          <a:xfrm>
            <a:off x="609600" y="24688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3800"/>
              <a:buChar char="⚫"/>
            </a:pPr>
            <a:r>
              <a:rPr lang="en-US" sz="4000"/>
              <a:t>Mô hình khái niệm là gì? </a:t>
            </a:r>
            <a:endParaRPr/>
          </a:p>
          <a:p>
            <a:pPr indent="-274320" lvl="0" marL="274320" rtl="0" algn="l">
              <a:spcBef>
                <a:spcPts val="800"/>
              </a:spcBef>
              <a:spcAft>
                <a:spcPts val="0"/>
              </a:spcAft>
              <a:buSzPts val="3800"/>
              <a:buChar char="⚫"/>
            </a:pPr>
            <a:r>
              <a:rPr lang="en-US" sz="4000"/>
              <a:t>Vì sao cần Mô hình khái niệm?</a:t>
            </a:r>
            <a:endParaRPr/>
          </a:p>
        </p:txBody>
      </p:sp>
      <p:sp>
        <p:nvSpPr>
          <p:cNvPr id="153" name="Google Shape;153;p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UML – Tổng Quan</a:t>
            </a:r>
            <a:endParaRPr/>
          </a:p>
        </p:txBody>
      </p:sp>
      <p:sp>
        <p:nvSpPr>
          <p:cNvPr id="159" name="Google Shape;159;p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2285"/>
              <a:buChar char="⚫"/>
            </a:pPr>
            <a:r>
              <a:rPr lang="en-US" sz="2405"/>
              <a:t>Mô hình khái niệm – mô hình được tạo lên bởi các khái niệm và các quan hệ giữa chúng.</a:t>
            </a:r>
            <a:endParaRPr/>
          </a:p>
          <a:p>
            <a:pPr indent="-274320" lvl="0" marL="274320" rtl="0" algn="l">
              <a:lnSpc>
                <a:spcPct val="90000"/>
              </a:lnSpc>
              <a:spcBef>
                <a:spcPts val="481"/>
              </a:spcBef>
              <a:spcAft>
                <a:spcPts val="0"/>
              </a:spcAft>
              <a:buSzPts val="2285"/>
              <a:buChar char="⚫"/>
            </a:pPr>
            <a:r>
              <a:rPr lang="en-US" sz="2405"/>
              <a:t>Mô hình khái niệm là bước đầu </a:t>
            </a:r>
            <a:r>
              <a:rPr lang="en-US" sz="2405"/>
              <a:t>tiên</a:t>
            </a:r>
            <a:r>
              <a:rPr lang="en-US" sz="2405"/>
              <a:t> vẽ các biểu đồ UML. Nó giúp hiểu được các thực thể trong thế giới thực và chúng tương tác lẫn nhau như thế nào.</a:t>
            </a:r>
            <a:endParaRPr/>
          </a:p>
          <a:p>
            <a:pPr indent="-274320" lvl="0" marL="274320" rtl="0" algn="l">
              <a:lnSpc>
                <a:spcPct val="90000"/>
              </a:lnSpc>
              <a:spcBef>
                <a:spcPts val="481"/>
              </a:spcBef>
              <a:spcAft>
                <a:spcPts val="0"/>
              </a:spcAft>
              <a:buSzPts val="2285"/>
              <a:buChar char="⚫"/>
            </a:pPr>
            <a:r>
              <a:rPr lang="en-US" sz="2405"/>
              <a:t>Để UML mô tả thế giới thực, nó cần phải tạo ra mô hình khái niệm và sau đó xử lý dần dần từng bước.</a:t>
            </a:r>
            <a:endParaRPr/>
          </a:p>
          <a:p>
            <a:pPr indent="-274320" lvl="0" marL="274320" rtl="0" algn="l">
              <a:lnSpc>
                <a:spcPct val="90000"/>
              </a:lnSpc>
              <a:spcBef>
                <a:spcPts val="481"/>
              </a:spcBef>
              <a:spcAft>
                <a:spcPts val="0"/>
              </a:spcAft>
              <a:buSzPts val="2285"/>
              <a:buChar char="⚫"/>
            </a:pPr>
            <a:r>
              <a:rPr lang="en-US" sz="2405"/>
              <a:t>Mô hình khái niệm của UML có thể mô tả 3 khái niệm chính:</a:t>
            </a:r>
            <a:endParaRPr/>
          </a:p>
          <a:p>
            <a:pPr indent="-246888" lvl="1" marL="640080" rtl="0" algn="l">
              <a:lnSpc>
                <a:spcPct val="90000"/>
              </a:lnSpc>
              <a:spcBef>
                <a:spcPts val="444"/>
              </a:spcBef>
              <a:spcAft>
                <a:spcPts val="0"/>
              </a:spcAft>
              <a:buSzPts val="1887"/>
              <a:buChar char="⚫"/>
            </a:pPr>
            <a:r>
              <a:rPr lang="en-US" sz="2220"/>
              <a:t>Các khối xây dựng UML (UML Building Blocks)</a:t>
            </a:r>
            <a:endParaRPr/>
          </a:p>
          <a:p>
            <a:pPr indent="-246888" lvl="1" marL="640080" rtl="0" algn="l">
              <a:lnSpc>
                <a:spcPct val="90000"/>
              </a:lnSpc>
              <a:spcBef>
                <a:spcPts val="444"/>
              </a:spcBef>
              <a:spcAft>
                <a:spcPts val="0"/>
              </a:spcAft>
              <a:buSzPts val="1887"/>
              <a:buChar char="⚫"/>
            </a:pPr>
            <a:r>
              <a:rPr lang="en-US" sz="2220"/>
              <a:t>Luật liên kết các khối xây dựng UML</a:t>
            </a:r>
            <a:endParaRPr/>
          </a:p>
          <a:p>
            <a:pPr indent="-246888" lvl="1" marL="640080" rtl="0" algn="l">
              <a:lnSpc>
                <a:spcPct val="90000"/>
              </a:lnSpc>
              <a:spcBef>
                <a:spcPts val="444"/>
              </a:spcBef>
              <a:spcAft>
                <a:spcPts val="0"/>
              </a:spcAft>
              <a:buSzPts val="1887"/>
              <a:buChar char="⚫"/>
            </a:pPr>
            <a:r>
              <a:rPr lang="en-US" sz="2220"/>
              <a:t>Cơ chế chung của UML</a:t>
            </a:r>
            <a:endParaRPr sz="2220"/>
          </a:p>
        </p:txBody>
      </p:sp>
      <p:sp>
        <p:nvSpPr>
          <p:cNvPr id="160" name="Google Shape;160;p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UML – Tổng Quan</a:t>
            </a:r>
            <a:endParaRPr/>
          </a:p>
        </p:txBody>
      </p:sp>
      <p:sp>
        <p:nvSpPr>
          <p:cNvPr id="166" name="Google Shape;166;p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Các khái niệm Hướng đối tượng</a:t>
            </a:r>
            <a:endParaRPr/>
          </a:p>
          <a:p>
            <a:pPr indent="-246888" lvl="1" marL="640080" rtl="0" algn="l">
              <a:spcBef>
                <a:spcPts val="480"/>
              </a:spcBef>
              <a:spcAft>
                <a:spcPts val="0"/>
              </a:spcAft>
              <a:buSzPts val="2040"/>
              <a:buChar char="⚫"/>
            </a:pPr>
            <a:r>
              <a:rPr lang="en-US"/>
              <a:t>Objects &amp; Class</a:t>
            </a:r>
            <a:endParaRPr/>
          </a:p>
          <a:p>
            <a:pPr indent="-246888" lvl="1" marL="640080" rtl="0" algn="l">
              <a:spcBef>
                <a:spcPts val="480"/>
              </a:spcBef>
              <a:spcAft>
                <a:spcPts val="0"/>
              </a:spcAft>
              <a:buSzPts val="2040"/>
              <a:buChar char="⚫"/>
            </a:pPr>
            <a:r>
              <a:rPr lang="en-US"/>
              <a:t>Abstraction – Encapsulation – Inheritance – Polymorphism</a:t>
            </a:r>
            <a:endParaRPr/>
          </a:p>
          <a:p>
            <a:pPr indent="-274320" lvl="0" marL="274320" rtl="0" algn="l">
              <a:spcBef>
                <a:spcPts val="520"/>
              </a:spcBef>
              <a:spcAft>
                <a:spcPts val="0"/>
              </a:spcAft>
              <a:buSzPts val="2470"/>
              <a:buChar char="⚫"/>
            </a:pPr>
            <a:r>
              <a:rPr lang="en-US"/>
              <a:t>OO Analysis and Design</a:t>
            </a:r>
            <a:endParaRPr/>
          </a:p>
          <a:p>
            <a:pPr indent="-274320" lvl="0" marL="274320" rtl="0" algn="l">
              <a:spcBef>
                <a:spcPts val="520"/>
              </a:spcBef>
              <a:spcAft>
                <a:spcPts val="0"/>
              </a:spcAft>
              <a:buSzPts val="2470"/>
              <a:buChar char="⚫"/>
            </a:pPr>
            <a:r>
              <a:rPr lang="en-US"/>
              <a:t>Vai trò của UML trong OO Design</a:t>
            </a:r>
            <a:endParaRPr/>
          </a:p>
          <a:p>
            <a:pPr indent="-246888" lvl="1" marL="640080" rtl="0" algn="l">
              <a:spcBef>
                <a:spcPts val="480"/>
              </a:spcBef>
              <a:spcAft>
                <a:spcPts val="0"/>
              </a:spcAft>
              <a:buSzPts val="2040"/>
              <a:buChar char="⚫"/>
            </a:pPr>
            <a:r>
              <a:rPr lang="en-US"/>
              <a:t>UML là ngôn ngữ mô hình hóa các hệ thống phần mềm và hệ thống chung</a:t>
            </a:r>
            <a:endParaRPr/>
          </a:p>
          <a:p>
            <a:pPr indent="-246888" lvl="1" marL="640080" rtl="0" algn="l">
              <a:spcBef>
                <a:spcPts val="480"/>
              </a:spcBef>
              <a:spcAft>
                <a:spcPts val="0"/>
              </a:spcAft>
              <a:buSzPts val="2040"/>
              <a:buChar char="⚫"/>
            </a:pPr>
            <a:r>
              <a:rPr lang="en-US"/>
              <a:t>OOD là chuyển đổi thành các biểu đồ UML dựa trên các yêu cầu người dùng.</a:t>
            </a:r>
            <a:endParaRPr/>
          </a:p>
        </p:txBody>
      </p:sp>
      <p:sp>
        <p:nvSpPr>
          <p:cNvPr id="167" name="Google Shape;167;p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9"/>
          <p:cNvSpPr txBox="1"/>
          <p:nvPr>
            <p:ph idx="1" type="body"/>
          </p:nvPr>
        </p:nvSpPr>
        <p:spPr>
          <a:xfrm>
            <a:off x="457200" y="838200"/>
            <a:ext cx="8229600" cy="6019800"/>
          </a:xfrm>
          <a:prstGeom prst="rect">
            <a:avLst/>
          </a:prstGeom>
          <a:noFill/>
          <a:ln>
            <a:noFill/>
          </a:ln>
        </p:spPr>
        <p:txBody>
          <a:bodyPr anchorCtr="0" anchor="t" bIns="45700" lIns="91425" spcFirstLastPara="1" rIns="91425" wrap="square" tIns="45700">
            <a:normAutofit/>
          </a:bodyPr>
          <a:lstStyle/>
          <a:p>
            <a:pPr indent="-274320" lvl="0" marL="274320" rtl="0" algn="l">
              <a:lnSpc>
                <a:spcPct val="80000"/>
              </a:lnSpc>
              <a:spcBef>
                <a:spcPts val="0"/>
              </a:spcBef>
              <a:spcAft>
                <a:spcPts val="0"/>
              </a:spcAft>
              <a:buSzPts val="2100"/>
              <a:buChar char="⚫"/>
            </a:pPr>
            <a:r>
              <a:rPr lang="en-US" sz="2210"/>
              <a:t>Building Blocks – bao gồm:</a:t>
            </a:r>
            <a:endParaRPr/>
          </a:p>
          <a:p>
            <a:pPr indent="-246888" lvl="1" marL="640080" rtl="0" algn="l">
              <a:lnSpc>
                <a:spcPct val="80000"/>
              </a:lnSpc>
              <a:spcBef>
                <a:spcPts val="408"/>
              </a:spcBef>
              <a:spcAft>
                <a:spcPts val="0"/>
              </a:spcAft>
              <a:buSzPts val="1734"/>
              <a:buChar char="⚫"/>
            </a:pPr>
            <a:r>
              <a:rPr lang="en-US" sz="2040"/>
              <a:t>Sự vật (Things)</a:t>
            </a:r>
            <a:endParaRPr/>
          </a:p>
          <a:p>
            <a:pPr indent="-246887" lvl="2" marL="914400" rtl="0" algn="l">
              <a:lnSpc>
                <a:spcPct val="80000"/>
              </a:lnSpc>
              <a:spcBef>
                <a:spcPts val="357"/>
              </a:spcBef>
              <a:spcAft>
                <a:spcPts val="0"/>
              </a:spcAft>
              <a:buSzPts val="1250"/>
              <a:buChar char="⚫"/>
            </a:pPr>
            <a:r>
              <a:rPr lang="en-US" sz="1785"/>
              <a:t>Cấu trúc (Structural)</a:t>
            </a:r>
            <a:endParaRPr/>
          </a:p>
          <a:p>
            <a:pPr indent="-246887" lvl="2" marL="914400" rtl="0" algn="l">
              <a:lnSpc>
                <a:spcPct val="80000"/>
              </a:lnSpc>
              <a:spcBef>
                <a:spcPts val="357"/>
              </a:spcBef>
              <a:spcAft>
                <a:spcPts val="0"/>
              </a:spcAft>
              <a:buSzPts val="1250"/>
              <a:buChar char="⚫"/>
            </a:pPr>
            <a:r>
              <a:rPr lang="en-US" sz="1785"/>
              <a:t>Hành vi (Behavioral)</a:t>
            </a:r>
            <a:endParaRPr/>
          </a:p>
          <a:p>
            <a:pPr indent="-246887" lvl="2" marL="914400" rtl="0" algn="l">
              <a:lnSpc>
                <a:spcPct val="80000"/>
              </a:lnSpc>
              <a:spcBef>
                <a:spcPts val="357"/>
              </a:spcBef>
              <a:spcAft>
                <a:spcPts val="0"/>
              </a:spcAft>
              <a:buSzPts val="1250"/>
              <a:buChar char="⚫"/>
            </a:pPr>
            <a:r>
              <a:rPr lang="en-US" sz="1785"/>
              <a:t>Nhóm (Grouping)</a:t>
            </a:r>
            <a:endParaRPr/>
          </a:p>
          <a:p>
            <a:pPr indent="-246887" lvl="2" marL="914400" rtl="0" algn="l">
              <a:lnSpc>
                <a:spcPct val="80000"/>
              </a:lnSpc>
              <a:spcBef>
                <a:spcPts val="357"/>
              </a:spcBef>
              <a:spcAft>
                <a:spcPts val="0"/>
              </a:spcAft>
              <a:buSzPts val="1250"/>
              <a:buChar char="⚫"/>
            </a:pPr>
            <a:r>
              <a:rPr lang="en-US" sz="1785"/>
              <a:t>Lời giải thích (Annotation)</a:t>
            </a:r>
            <a:endParaRPr/>
          </a:p>
          <a:p>
            <a:pPr indent="-246888" lvl="1" marL="640080" rtl="0" algn="l">
              <a:lnSpc>
                <a:spcPct val="80000"/>
              </a:lnSpc>
              <a:spcBef>
                <a:spcPts val="408"/>
              </a:spcBef>
              <a:spcAft>
                <a:spcPts val="0"/>
              </a:spcAft>
              <a:buSzPts val="1734"/>
              <a:buChar char="⚫"/>
            </a:pPr>
            <a:r>
              <a:rPr lang="en-US" sz="2040"/>
              <a:t>Các mối quan hệ:</a:t>
            </a:r>
            <a:endParaRPr/>
          </a:p>
          <a:p>
            <a:pPr indent="-246887" lvl="2" marL="914400" rtl="0" algn="l">
              <a:lnSpc>
                <a:spcPct val="80000"/>
              </a:lnSpc>
              <a:spcBef>
                <a:spcPts val="357"/>
              </a:spcBef>
              <a:spcAft>
                <a:spcPts val="0"/>
              </a:spcAft>
              <a:buSzPts val="1250"/>
              <a:buChar char="⚫"/>
            </a:pPr>
            <a:r>
              <a:rPr lang="en-US" sz="1785"/>
              <a:t>Phụ thuộc (Dependency)</a:t>
            </a:r>
            <a:endParaRPr/>
          </a:p>
          <a:p>
            <a:pPr indent="-246887" lvl="2" marL="914400" rtl="0" algn="l">
              <a:lnSpc>
                <a:spcPct val="80000"/>
              </a:lnSpc>
              <a:spcBef>
                <a:spcPts val="357"/>
              </a:spcBef>
              <a:spcAft>
                <a:spcPts val="0"/>
              </a:spcAft>
              <a:buSzPts val="1250"/>
              <a:buChar char="⚫"/>
            </a:pPr>
            <a:r>
              <a:rPr lang="en-US" sz="1785"/>
              <a:t>Liên kết (Association)</a:t>
            </a:r>
            <a:endParaRPr/>
          </a:p>
          <a:p>
            <a:pPr indent="-246887" lvl="2" marL="914400" rtl="0" algn="l">
              <a:lnSpc>
                <a:spcPct val="80000"/>
              </a:lnSpc>
              <a:spcBef>
                <a:spcPts val="357"/>
              </a:spcBef>
              <a:spcAft>
                <a:spcPts val="0"/>
              </a:spcAft>
              <a:buSzPts val="1250"/>
              <a:buChar char="⚫"/>
            </a:pPr>
            <a:r>
              <a:rPr lang="en-US" sz="1785"/>
              <a:t>Tổng quan (Generalization)</a:t>
            </a:r>
            <a:endParaRPr/>
          </a:p>
          <a:p>
            <a:pPr indent="-246887" lvl="2" marL="914400" rtl="0" algn="l">
              <a:lnSpc>
                <a:spcPct val="80000"/>
              </a:lnSpc>
              <a:spcBef>
                <a:spcPts val="357"/>
              </a:spcBef>
              <a:spcAft>
                <a:spcPts val="0"/>
              </a:spcAft>
              <a:buSzPts val="1250"/>
              <a:buChar char="⚫"/>
            </a:pPr>
            <a:r>
              <a:rPr lang="en-US" sz="1785"/>
              <a:t>Hiện thực hóa (Realization)</a:t>
            </a:r>
            <a:endParaRPr/>
          </a:p>
          <a:p>
            <a:pPr indent="-246888" lvl="1" marL="640080" rtl="0" algn="l">
              <a:lnSpc>
                <a:spcPct val="80000"/>
              </a:lnSpc>
              <a:spcBef>
                <a:spcPts val="408"/>
              </a:spcBef>
              <a:spcAft>
                <a:spcPts val="0"/>
              </a:spcAft>
              <a:buSzPts val="1734"/>
              <a:buChar char="⚫"/>
            </a:pPr>
            <a:r>
              <a:rPr lang="en-US" sz="2040"/>
              <a:t>Biểu đồ:</a:t>
            </a:r>
            <a:endParaRPr/>
          </a:p>
          <a:p>
            <a:pPr indent="-246887" lvl="2" marL="914400" rtl="0" algn="l">
              <a:lnSpc>
                <a:spcPct val="80000"/>
              </a:lnSpc>
              <a:spcBef>
                <a:spcPts val="357"/>
              </a:spcBef>
              <a:spcAft>
                <a:spcPts val="0"/>
              </a:spcAft>
              <a:buSzPts val="1250"/>
              <a:buChar char="⚫"/>
            </a:pPr>
            <a:r>
              <a:rPr lang="en-US" sz="1785"/>
              <a:t>Lớp (Class Diagram)</a:t>
            </a:r>
            <a:endParaRPr/>
          </a:p>
          <a:p>
            <a:pPr indent="-246887" lvl="2" marL="914400" rtl="0" algn="l">
              <a:lnSpc>
                <a:spcPct val="80000"/>
              </a:lnSpc>
              <a:spcBef>
                <a:spcPts val="357"/>
              </a:spcBef>
              <a:spcAft>
                <a:spcPts val="0"/>
              </a:spcAft>
              <a:buSzPts val="1250"/>
              <a:buChar char="⚫"/>
            </a:pPr>
            <a:r>
              <a:rPr lang="en-US" sz="1785"/>
              <a:t>Đối tượng (Object Diagram)</a:t>
            </a:r>
            <a:endParaRPr/>
          </a:p>
          <a:p>
            <a:pPr indent="-246887" lvl="2" marL="914400" rtl="0" algn="l">
              <a:lnSpc>
                <a:spcPct val="80000"/>
              </a:lnSpc>
              <a:spcBef>
                <a:spcPts val="357"/>
              </a:spcBef>
              <a:spcAft>
                <a:spcPts val="0"/>
              </a:spcAft>
              <a:buSzPts val="1250"/>
              <a:buChar char="⚫"/>
            </a:pPr>
            <a:r>
              <a:rPr lang="en-US" sz="1785"/>
              <a:t>Trường hợp sử dụng (Use case Diagram)</a:t>
            </a:r>
            <a:endParaRPr/>
          </a:p>
          <a:p>
            <a:pPr indent="-246887" lvl="2" marL="914400" rtl="0" algn="l">
              <a:lnSpc>
                <a:spcPct val="80000"/>
              </a:lnSpc>
              <a:spcBef>
                <a:spcPts val="357"/>
              </a:spcBef>
              <a:spcAft>
                <a:spcPts val="0"/>
              </a:spcAft>
              <a:buSzPts val="1250"/>
              <a:buChar char="⚫"/>
            </a:pPr>
            <a:r>
              <a:rPr lang="en-US" sz="1785"/>
              <a:t>Liên tiếp (Sequence Diagram)</a:t>
            </a:r>
            <a:endParaRPr/>
          </a:p>
          <a:p>
            <a:pPr indent="-246887" lvl="2" marL="914400" rtl="0" algn="l">
              <a:lnSpc>
                <a:spcPct val="80000"/>
              </a:lnSpc>
              <a:spcBef>
                <a:spcPts val="357"/>
              </a:spcBef>
              <a:spcAft>
                <a:spcPts val="0"/>
              </a:spcAft>
              <a:buSzPts val="1250"/>
              <a:buChar char="⚫"/>
            </a:pPr>
            <a:r>
              <a:rPr lang="en-US" sz="1785"/>
              <a:t>Hợp tác (Collaborate Diagram) - Communication Diagram (StarUML)</a:t>
            </a:r>
            <a:endParaRPr/>
          </a:p>
          <a:p>
            <a:pPr indent="-246887" lvl="2" marL="914400" rtl="0" algn="l">
              <a:lnSpc>
                <a:spcPct val="80000"/>
              </a:lnSpc>
              <a:spcBef>
                <a:spcPts val="357"/>
              </a:spcBef>
              <a:spcAft>
                <a:spcPts val="0"/>
              </a:spcAft>
              <a:buSzPts val="1250"/>
              <a:buChar char="⚫"/>
            </a:pPr>
            <a:r>
              <a:rPr lang="en-US" sz="1785"/>
              <a:t>Hành động (Activity Diagram)</a:t>
            </a:r>
            <a:endParaRPr/>
          </a:p>
          <a:p>
            <a:pPr indent="-246887" lvl="2" marL="914400" rtl="0" algn="l">
              <a:lnSpc>
                <a:spcPct val="80000"/>
              </a:lnSpc>
              <a:spcBef>
                <a:spcPts val="357"/>
              </a:spcBef>
              <a:spcAft>
                <a:spcPts val="0"/>
              </a:spcAft>
              <a:buSzPts val="1250"/>
              <a:buChar char="⚫"/>
            </a:pPr>
            <a:r>
              <a:rPr lang="en-US" sz="1785"/>
              <a:t>Biểu đồ trạng thái (Statechart Diagram)</a:t>
            </a:r>
            <a:endParaRPr/>
          </a:p>
          <a:p>
            <a:pPr indent="-246887" lvl="2" marL="914400" rtl="0" algn="l">
              <a:lnSpc>
                <a:spcPct val="80000"/>
              </a:lnSpc>
              <a:spcBef>
                <a:spcPts val="357"/>
              </a:spcBef>
              <a:spcAft>
                <a:spcPts val="0"/>
              </a:spcAft>
              <a:buSzPts val="1250"/>
              <a:buChar char="⚫"/>
            </a:pPr>
            <a:r>
              <a:rPr lang="en-US" sz="1785"/>
              <a:t>Triển khai (Deploy Diagram)</a:t>
            </a:r>
            <a:endParaRPr/>
          </a:p>
          <a:p>
            <a:pPr indent="-246887" lvl="2" marL="914400" rtl="0" algn="l">
              <a:lnSpc>
                <a:spcPct val="80000"/>
              </a:lnSpc>
              <a:spcBef>
                <a:spcPts val="357"/>
              </a:spcBef>
              <a:spcAft>
                <a:spcPts val="0"/>
              </a:spcAft>
              <a:buSzPts val="1250"/>
              <a:buChar char="⚫"/>
            </a:pPr>
            <a:r>
              <a:rPr lang="en-US" sz="1785"/>
              <a:t>Thành phần (Component Diagram)</a:t>
            </a:r>
            <a:endParaRPr/>
          </a:p>
          <a:p>
            <a:pPr indent="-246887" lvl="2" marL="914400" rtl="0" algn="l">
              <a:lnSpc>
                <a:spcPct val="80000"/>
              </a:lnSpc>
              <a:spcBef>
                <a:spcPts val="357"/>
              </a:spcBef>
              <a:spcAft>
                <a:spcPts val="0"/>
              </a:spcAft>
              <a:buSzPts val="1250"/>
              <a:buNone/>
            </a:pPr>
            <a:r>
              <a:t/>
            </a:r>
            <a:endParaRPr sz="1785"/>
          </a:p>
        </p:txBody>
      </p:sp>
      <p:sp>
        <p:nvSpPr>
          <p:cNvPr id="173" name="Google Shape;173;p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0"/>
          <p:cNvSpPr txBox="1"/>
          <p:nvPr>
            <p:ph type="title"/>
          </p:nvPr>
        </p:nvSpPr>
        <p:spPr>
          <a:xfrm>
            <a:off x="457200" y="704088"/>
            <a:ext cx="8229600" cy="7437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UML – Building Blocks</a:t>
            </a:r>
            <a:endParaRPr sz="4500"/>
          </a:p>
        </p:txBody>
      </p:sp>
      <p:sp>
        <p:nvSpPr>
          <p:cNvPr id="179" name="Google Shape;179;p10"/>
          <p:cNvSpPr txBox="1"/>
          <p:nvPr>
            <p:ph idx="1" type="body"/>
          </p:nvPr>
        </p:nvSpPr>
        <p:spPr>
          <a:xfrm>
            <a:off x="533400" y="1524000"/>
            <a:ext cx="8229600" cy="4389120"/>
          </a:xfrm>
          <a:prstGeom prst="rect">
            <a:avLst/>
          </a:prstGeom>
          <a:noFill/>
          <a:ln>
            <a:noFill/>
          </a:ln>
        </p:spPr>
        <p:txBody>
          <a:bodyPr anchorCtr="0" anchor="t" bIns="45700" lIns="91425" spcFirstLastPara="1" rIns="91425" wrap="square" tIns="45700">
            <a:normAutofit/>
          </a:bodyPr>
          <a:lstStyle/>
          <a:p>
            <a:pPr indent="-246888" lvl="1" marL="640080" rtl="0" algn="l">
              <a:spcBef>
                <a:spcPts val="0"/>
              </a:spcBef>
              <a:spcAft>
                <a:spcPts val="0"/>
              </a:spcAft>
              <a:buSzPts val="2040"/>
              <a:buChar char="⚫"/>
            </a:pPr>
            <a:r>
              <a:rPr lang="en-US"/>
              <a:t>Sự vật (Things) - Cấu trúc (Structural): là phần tĩnh của mô hình. Bao gồm:</a:t>
            </a:r>
            <a:endParaRPr/>
          </a:p>
          <a:p>
            <a:pPr indent="-246887" lvl="2" marL="914400" rtl="0" algn="l">
              <a:spcBef>
                <a:spcPts val="420"/>
              </a:spcBef>
              <a:spcAft>
                <a:spcPts val="0"/>
              </a:spcAft>
              <a:buSzPts val="1470"/>
              <a:buChar char="⚫"/>
            </a:pPr>
            <a:r>
              <a:rPr lang="en-US"/>
              <a:t>Lớp (Class): thể hiện 1 tập các đối tượng có cùng trách nhiệm tương tự nhau.</a:t>
            </a:r>
            <a:endParaRPr/>
          </a:p>
          <a:p>
            <a:pPr indent="-246887" lvl="2" marL="914400" rtl="0" algn="l">
              <a:spcBef>
                <a:spcPts val="420"/>
              </a:spcBef>
              <a:spcAft>
                <a:spcPts val="0"/>
              </a:spcAft>
              <a:buSzPts val="1470"/>
              <a:buChar char="⚫"/>
            </a:pPr>
            <a:r>
              <a:rPr lang="en-US"/>
              <a:t>Giao diện(Interface): Thể hiện mộ tập các hoạt động chỉ ra các trách nhiệm của một lớp.</a:t>
            </a:r>
            <a:endParaRPr/>
          </a:p>
          <a:p>
            <a:pPr indent="-246887" lvl="2" marL="914400" rtl="0" algn="l">
              <a:spcBef>
                <a:spcPts val="420"/>
              </a:spcBef>
              <a:spcAft>
                <a:spcPts val="0"/>
              </a:spcAft>
              <a:buSzPts val="1470"/>
              <a:buChar char="⚫"/>
            </a:pPr>
            <a:r>
              <a:rPr lang="en-US"/>
              <a:t>Use case: đại diện tập các hành động được thể hiện bởi hệ thống cho một mục đích nào đấy.</a:t>
            </a:r>
            <a:endParaRPr/>
          </a:p>
        </p:txBody>
      </p:sp>
      <p:sp>
        <p:nvSpPr>
          <p:cNvPr id="180" name="Google Shape;180;p1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181" name="Google Shape;181;p10"/>
          <p:cNvPicPr preferRelativeResize="0"/>
          <p:nvPr/>
        </p:nvPicPr>
        <p:blipFill rotWithShape="1">
          <a:blip r:embed="rId3">
            <a:alphaModFix/>
          </a:blip>
          <a:srcRect b="0" l="0" r="0" t="0"/>
          <a:stretch/>
        </p:blipFill>
        <p:spPr>
          <a:xfrm>
            <a:off x="1219200" y="4876800"/>
            <a:ext cx="1905000" cy="1400175"/>
          </a:xfrm>
          <a:prstGeom prst="rect">
            <a:avLst/>
          </a:prstGeom>
          <a:noFill/>
          <a:ln>
            <a:noFill/>
          </a:ln>
        </p:spPr>
      </p:pic>
      <p:pic>
        <p:nvPicPr>
          <p:cNvPr id="182" name="Google Shape;182;p10"/>
          <p:cNvPicPr preferRelativeResize="0"/>
          <p:nvPr/>
        </p:nvPicPr>
        <p:blipFill rotWithShape="1">
          <a:blip r:embed="rId4">
            <a:alphaModFix/>
          </a:blip>
          <a:srcRect b="0" l="0" r="0" t="0"/>
          <a:stretch/>
        </p:blipFill>
        <p:spPr>
          <a:xfrm>
            <a:off x="3733800" y="4876800"/>
            <a:ext cx="1971675" cy="1028700"/>
          </a:xfrm>
          <a:prstGeom prst="rect">
            <a:avLst/>
          </a:prstGeom>
          <a:noFill/>
          <a:ln>
            <a:noFill/>
          </a:ln>
        </p:spPr>
      </p:pic>
      <p:pic>
        <p:nvPicPr>
          <p:cNvPr id="183" name="Google Shape;183;p10"/>
          <p:cNvPicPr preferRelativeResize="0"/>
          <p:nvPr/>
        </p:nvPicPr>
        <p:blipFill rotWithShape="1">
          <a:blip r:embed="rId5">
            <a:alphaModFix/>
          </a:blip>
          <a:srcRect b="0" l="0" r="0" t="0"/>
          <a:stretch/>
        </p:blipFill>
        <p:spPr>
          <a:xfrm>
            <a:off x="6324600" y="4876800"/>
            <a:ext cx="1638300" cy="828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UML – Building Blocks - Things</a:t>
            </a:r>
            <a:endParaRPr/>
          </a:p>
        </p:txBody>
      </p:sp>
      <p:sp>
        <p:nvSpPr>
          <p:cNvPr id="189" name="Google Shape;189;p1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Thành phần (Component): mô tả như là thành phần vật lý của hệ thống.</a:t>
            </a:r>
            <a:endParaRPr/>
          </a:p>
          <a:p>
            <a:pPr indent="-274320" lvl="0" marL="274320" rtl="0" algn="l">
              <a:spcBef>
                <a:spcPts val="520"/>
              </a:spcBef>
              <a:spcAft>
                <a:spcPts val="0"/>
              </a:spcAft>
              <a:buSzPts val="2470"/>
              <a:buChar char="⚫"/>
            </a:pPr>
            <a:r>
              <a:rPr lang="en-US"/>
              <a:t>Node: là phần tử vật lý tồn tại trong khi hệ thống đang chạy.</a:t>
            </a:r>
            <a:endParaRPr/>
          </a:p>
          <a:p>
            <a:pPr indent="-274320" lvl="2" marL="274320" rtl="0" algn="l">
              <a:spcBef>
                <a:spcPts val="420"/>
              </a:spcBef>
              <a:spcAft>
                <a:spcPts val="0"/>
              </a:spcAft>
              <a:buClr>
                <a:schemeClr val="accent3"/>
              </a:buClr>
              <a:buSzPts val="1995"/>
              <a:buChar char="⚫"/>
            </a:pPr>
            <a:r>
              <a:rPr lang="en-US"/>
              <a:t>Sự hợp tác (Collaboration): xác định tương tác giữa các phần tử</a:t>
            </a:r>
            <a:endParaRPr/>
          </a:p>
        </p:txBody>
      </p:sp>
      <p:sp>
        <p:nvSpPr>
          <p:cNvPr id="190" name="Google Shape;190;p1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191" name="Google Shape;191;p11"/>
          <p:cNvPicPr preferRelativeResize="0"/>
          <p:nvPr/>
        </p:nvPicPr>
        <p:blipFill rotWithShape="1">
          <a:blip r:embed="rId3">
            <a:alphaModFix/>
          </a:blip>
          <a:srcRect b="0" l="0" r="0" t="0"/>
          <a:stretch/>
        </p:blipFill>
        <p:spPr>
          <a:xfrm>
            <a:off x="457200" y="4343400"/>
            <a:ext cx="2343150" cy="1047750"/>
          </a:xfrm>
          <a:prstGeom prst="rect">
            <a:avLst/>
          </a:prstGeom>
          <a:noFill/>
          <a:ln>
            <a:noFill/>
          </a:ln>
        </p:spPr>
      </p:pic>
      <p:pic>
        <p:nvPicPr>
          <p:cNvPr id="192" name="Google Shape;192;p11"/>
          <p:cNvPicPr preferRelativeResize="0"/>
          <p:nvPr/>
        </p:nvPicPr>
        <p:blipFill rotWithShape="1">
          <a:blip r:embed="rId4">
            <a:alphaModFix/>
          </a:blip>
          <a:srcRect b="0" l="0" r="0" t="0"/>
          <a:stretch/>
        </p:blipFill>
        <p:spPr>
          <a:xfrm>
            <a:off x="3048000" y="4267200"/>
            <a:ext cx="1752600" cy="1571625"/>
          </a:xfrm>
          <a:prstGeom prst="rect">
            <a:avLst/>
          </a:prstGeom>
          <a:noFill/>
          <a:ln>
            <a:noFill/>
          </a:ln>
        </p:spPr>
      </p:pic>
      <p:pic>
        <p:nvPicPr>
          <p:cNvPr id="193" name="Google Shape;193;p11"/>
          <p:cNvPicPr preferRelativeResize="0"/>
          <p:nvPr/>
        </p:nvPicPr>
        <p:blipFill rotWithShape="1">
          <a:blip r:embed="rId5">
            <a:alphaModFix/>
          </a:blip>
          <a:srcRect b="0" l="0" r="0" t="0"/>
          <a:stretch/>
        </p:blipFill>
        <p:spPr>
          <a:xfrm>
            <a:off x="5257800" y="4267200"/>
            <a:ext cx="1438275" cy="638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UML – Building Blocks - Things</a:t>
            </a:r>
            <a:endParaRPr/>
          </a:p>
        </p:txBody>
      </p:sp>
      <p:sp>
        <p:nvSpPr>
          <p:cNvPr id="199" name="Google Shape;199;p1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Hành vi</a:t>
            </a:r>
            <a:endParaRPr/>
          </a:p>
          <a:p>
            <a:pPr indent="-246888" lvl="1" marL="640080" rtl="0" algn="l">
              <a:spcBef>
                <a:spcPts val="480"/>
              </a:spcBef>
              <a:spcAft>
                <a:spcPts val="0"/>
              </a:spcAft>
              <a:buSzPts val="2040"/>
              <a:buChar char="⚫"/>
            </a:pPr>
            <a:r>
              <a:rPr lang="en-US"/>
              <a:t>Tương tác (</a:t>
            </a:r>
            <a:r>
              <a:rPr lang="en-US"/>
              <a:t>Interaction</a:t>
            </a:r>
            <a:r>
              <a:rPr lang="en-US"/>
              <a:t>): là một hành vì bao gồm nhóm các thông điệp (Messages) trao đổi giữa các phần tử để hoàn thành một nhiệm vụ nhất định</a:t>
            </a:r>
            <a:endParaRPr/>
          </a:p>
          <a:p>
            <a:pPr indent="-246888" lvl="1" marL="640080" rtl="0" algn="l">
              <a:spcBef>
                <a:spcPts val="480"/>
              </a:spcBef>
              <a:spcAft>
                <a:spcPts val="0"/>
              </a:spcAft>
              <a:buSzPts val="2040"/>
              <a:buChar char="⚫"/>
            </a:pPr>
            <a:r>
              <a:rPr lang="en-US"/>
              <a:t>Máy trạng thái (State machine): thể hiện các trạng thái của đối tượng trong vòng đời của đối tượng, mà các trạng thái này là quan trọng.</a:t>
            </a:r>
            <a:endParaRPr/>
          </a:p>
        </p:txBody>
      </p:sp>
      <p:sp>
        <p:nvSpPr>
          <p:cNvPr id="200" name="Google Shape;200;p1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201" name="Google Shape;201;p12"/>
          <p:cNvPicPr preferRelativeResize="0"/>
          <p:nvPr/>
        </p:nvPicPr>
        <p:blipFill rotWithShape="1">
          <a:blip r:embed="rId3">
            <a:alphaModFix/>
          </a:blip>
          <a:srcRect b="0" l="0" r="0" t="0"/>
          <a:stretch/>
        </p:blipFill>
        <p:spPr>
          <a:xfrm>
            <a:off x="1905000" y="5181600"/>
            <a:ext cx="1876425" cy="790575"/>
          </a:xfrm>
          <a:prstGeom prst="rect">
            <a:avLst/>
          </a:prstGeom>
          <a:noFill/>
          <a:ln>
            <a:noFill/>
          </a:ln>
        </p:spPr>
      </p:pic>
      <p:pic>
        <p:nvPicPr>
          <p:cNvPr id="202" name="Google Shape;202;p12"/>
          <p:cNvPicPr preferRelativeResize="0"/>
          <p:nvPr/>
        </p:nvPicPr>
        <p:blipFill rotWithShape="1">
          <a:blip r:embed="rId4">
            <a:alphaModFix/>
          </a:blip>
          <a:srcRect b="0" l="0" r="0" t="0"/>
          <a:stretch/>
        </p:blipFill>
        <p:spPr>
          <a:xfrm>
            <a:off x="4724400" y="5029200"/>
            <a:ext cx="2085975" cy="12668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UML – Building Blocks - Grouping</a:t>
            </a:r>
            <a:endParaRPr sz="4500"/>
          </a:p>
        </p:txBody>
      </p:sp>
      <p:sp>
        <p:nvSpPr>
          <p:cNvPr id="208" name="Google Shape;208;p1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Nhóm (Grouping) là cơ chế nhóm các phần tử của mô hình UML vào với nhau. Chỉ có một hình ảnh nhóm là Gói (Package). </a:t>
            </a:r>
            <a:endParaRPr/>
          </a:p>
          <a:p>
            <a:pPr indent="-246888" lvl="1" marL="640080" rtl="0" algn="l">
              <a:spcBef>
                <a:spcPts val="480"/>
              </a:spcBef>
              <a:spcAft>
                <a:spcPts val="0"/>
              </a:spcAft>
              <a:buSzPts val="2040"/>
              <a:buChar char="⚫"/>
            </a:pPr>
            <a:r>
              <a:rPr lang="en-US"/>
              <a:t>Package: là tập trung các cấu trúc và hành vi của một vật (Thing) vào với nhau</a:t>
            </a:r>
            <a:endParaRPr/>
          </a:p>
          <a:p>
            <a:pPr indent="-117475" lvl="0" marL="274320" rtl="0" algn="l">
              <a:spcBef>
                <a:spcPts val="520"/>
              </a:spcBef>
              <a:spcAft>
                <a:spcPts val="0"/>
              </a:spcAft>
              <a:buSzPts val="2470"/>
              <a:buNone/>
            </a:pPr>
            <a:r>
              <a:t/>
            </a:r>
            <a:endParaRPr/>
          </a:p>
        </p:txBody>
      </p:sp>
      <p:sp>
        <p:nvSpPr>
          <p:cNvPr id="209" name="Google Shape;209;p1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210" name="Google Shape;210;p13"/>
          <p:cNvPicPr preferRelativeResize="0"/>
          <p:nvPr/>
        </p:nvPicPr>
        <p:blipFill rotWithShape="1">
          <a:blip r:embed="rId3">
            <a:alphaModFix/>
          </a:blip>
          <a:srcRect b="0" l="0" r="0" t="0"/>
          <a:stretch/>
        </p:blipFill>
        <p:spPr>
          <a:xfrm>
            <a:off x="3505200" y="4267200"/>
            <a:ext cx="2162175" cy="1381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UML – Building Blocks - Annotation</a:t>
            </a:r>
            <a:endParaRPr sz="4500"/>
          </a:p>
        </p:txBody>
      </p:sp>
      <p:sp>
        <p:nvSpPr>
          <p:cNvPr id="216" name="Google Shape;216;p1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Note: Đưa ra các lời chú giải, </a:t>
            </a:r>
            <a:r>
              <a:rPr lang="en-US"/>
              <a:t>ràng</a:t>
            </a:r>
            <a:r>
              <a:rPr lang="en-US"/>
              <a:t> buộc,… của một phần tử UML</a:t>
            </a:r>
            <a:endParaRPr/>
          </a:p>
        </p:txBody>
      </p:sp>
      <p:sp>
        <p:nvSpPr>
          <p:cNvPr id="217" name="Google Shape;217;p1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218" name="Google Shape;218;p14"/>
          <p:cNvPicPr preferRelativeResize="0"/>
          <p:nvPr/>
        </p:nvPicPr>
        <p:blipFill rotWithShape="1">
          <a:blip r:embed="rId3">
            <a:alphaModFix/>
          </a:blip>
          <a:srcRect b="0" l="0" r="0" t="0"/>
          <a:stretch/>
        </p:blipFill>
        <p:spPr>
          <a:xfrm>
            <a:off x="3581400" y="3124200"/>
            <a:ext cx="1638300" cy="1143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UML – BB - Relationships</a:t>
            </a:r>
            <a:endParaRPr/>
          </a:p>
        </p:txBody>
      </p:sp>
      <p:sp>
        <p:nvSpPr>
          <p:cNvPr id="224" name="Google Shape;224;p1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Các mối quan hệ (Relationships): là một trong những Building Block quan trọng nhất của UML. Nó thể hiện các phần tử quan hệ với nhau như thế nào, và mối quan hệ này mô tả chức năng  của ứng dụng.</a:t>
            </a:r>
            <a:endParaRPr/>
          </a:p>
          <a:p>
            <a:pPr indent="-274320" lvl="0" marL="274320" rtl="0" algn="l">
              <a:spcBef>
                <a:spcPts val="520"/>
              </a:spcBef>
              <a:spcAft>
                <a:spcPts val="0"/>
              </a:spcAft>
              <a:buSzPts val="2470"/>
              <a:buChar char="⚫"/>
            </a:pPr>
            <a:r>
              <a:rPr lang="en-US"/>
              <a:t>Có bốn kiểu quan hệ:</a:t>
            </a:r>
            <a:endParaRPr/>
          </a:p>
          <a:p>
            <a:pPr indent="-246888" lvl="1" marL="640080" rtl="0" algn="l">
              <a:spcBef>
                <a:spcPts val="480"/>
              </a:spcBef>
              <a:spcAft>
                <a:spcPts val="0"/>
              </a:spcAft>
              <a:buSzPts val="2040"/>
              <a:buChar char="⚫"/>
            </a:pPr>
            <a:r>
              <a:rPr lang="en-US"/>
              <a:t>Phụ thuộc (Dependency)</a:t>
            </a:r>
            <a:endParaRPr/>
          </a:p>
          <a:p>
            <a:pPr indent="-246888" lvl="1" marL="640080" rtl="0" algn="l">
              <a:spcBef>
                <a:spcPts val="480"/>
              </a:spcBef>
              <a:spcAft>
                <a:spcPts val="0"/>
              </a:spcAft>
              <a:buSzPts val="2040"/>
              <a:buChar char="⚫"/>
            </a:pPr>
            <a:r>
              <a:rPr lang="en-US"/>
              <a:t>Liên kết (</a:t>
            </a:r>
            <a:r>
              <a:rPr lang="en-US"/>
              <a:t>Association</a:t>
            </a:r>
            <a:r>
              <a:rPr lang="en-US"/>
              <a:t>)</a:t>
            </a:r>
            <a:endParaRPr/>
          </a:p>
          <a:p>
            <a:pPr indent="-246888" lvl="1" marL="640080" rtl="0" algn="l">
              <a:spcBef>
                <a:spcPts val="480"/>
              </a:spcBef>
              <a:spcAft>
                <a:spcPts val="0"/>
              </a:spcAft>
              <a:buSzPts val="2040"/>
              <a:buChar char="⚫"/>
            </a:pPr>
            <a:r>
              <a:rPr lang="en-US"/>
              <a:t>Tổng quát hóa (</a:t>
            </a:r>
            <a:r>
              <a:rPr lang="en-US"/>
              <a:t>Generalization</a:t>
            </a:r>
            <a:r>
              <a:rPr lang="en-US"/>
              <a:t>)</a:t>
            </a:r>
            <a:endParaRPr/>
          </a:p>
          <a:p>
            <a:pPr indent="-246888" lvl="1" marL="640080" rtl="0" algn="l">
              <a:spcBef>
                <a:spcPts val="480"/>
              </a:spcBef>
              <a:spcAft>
                <a:spcPts val="0"/>
              </a:spcAft>
              <a:buSzPts val="2040"/>
              <a:buChar char="⚫"/>
            </a:pPr>
            <a:r>
              <a:rPr lang="en-US"/>
              <a:t>Hiện thực hóa (Realization)</a:t>
            </a:r>
            <a:endParaRPr/>
          </a:p>
        </p:txBody>
      </p:sp>
      <p:sp>
        <p:nvSpPr>
          <p:cNvPr id="225" name="Google Shape;225;p1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6"/>
          <p:cNvSpPr txBox="1"/>
          <p:nvPr>
            <p:ph idx="1" type="body"/>
          </p:nvPr>
        </p:nvSpPr>
        <p:spPr>
          <a:xfrm>
            <a:off x="381000" y="7162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2470"/>
              <a:buChar char="⚫"/>
            </a:pPr>
            <a:r>
              <a:rPr lang="en-US"/>
              <a:t>Phụ thuộc – Dependency: là quan hệ khi một phần tử thay đổi cũng ảnh hướng tới phần tử kia</a:t>
            </a:r>
            <a:endParaRPr/>
          </a:p>
          <a:p>
            <a:pPr indent="-274320" lvl="0" marL="274320" rtl="0" algn="l">
              <a:lnSpc>
                <a:spcPct val="90000"/>
              </a:lnSpc>
              <a:spcBef>
                <a:spcPts val="520"/>
              </a:spcBef>
              <a:spcAft>
                <a:spcPts val="0"/>
              </a:spcAft>
              <a:buSzPts val="2470"/>
              <a:buChar char="⚫"/>
            </a:pPr>
            <a:r>
              <a:rPr lang="en-US"/>
              <a:t>Liên kết – Association: căn bản là các mối liên kết các phần tử trong  mô hình UML.</a:t>
            </a:r>
            <a:endParaRPr/>
          </a:p>
          <a:p>
            <a:pPr indent="-274320" lvl="0" marL="274320" rtl="0" algn="l">
              <a:lnSpc>
                <a:spcPct val="90000"/>
              </a:lnSpc>
              <a:spcBef>
                <a:spcPts val="520"/>
              </a:spcBef>
              <a:spcAft>
                <a:spcPts val="0"/>
              </a:spcAft>
              <a:buSzPts val="2470"/>
              <a:buChar char="⚫"/>
            </a:pPr>
            <a:r>
              <a:rPr lang="en-US"/>
              <a:t>Tổng quan hóa – Generalization: thể hiện liên kết một phần tử nhất định và phần tử sinh ra nó.</a:t>
            </a:r>
            <a:endParaRPr/>
          </a:p>
          <a:p>
            <a:pPr indent="-274320" lvl="0" marL="274320" rtl="0" algn="l">
              <a:lnSpc>
                <a:spcPct val="90000"/>
              </a:lnSpc>
              <a:spcBef>
                <a:spcPts val="520"/>
              </a:spcBef>
              <a:spcAft>
                <a:spcPts val="0"/>
              </a:spcAft>
              <a:buSzPts val="2470"/>
              <a:buChar char="⚫"/>
            </a:pPr>
            <a:r>
              <a:rPr lang="en-US"/>
              <a:t>Hiện thực hóa – Realization: thể hiện mối quan hệ hai phần tử liên kết. Một phần tử mô tả các trách nhiệm, nhưng không được cài đặt, còn phần tử còn lại cài đặt các trách nhiệm này. Interface là một trong các mqh này.</a:t>
            </a:r>
            <a:endParaRPr/>
          </a:p>
        </p:txBody>
      </p:sp>
      <p:sp>
        <p:nvSpPr>
          <p:cNvPr id="231" name="Google Shape;231;p1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232" name="Google Shape;232;p16"/>
          <p:cNvPicPr preferRelativeResize="0"/>
          <p:nvPr/>
        </p:nvPicPr>
        <p:blipFill rotWithShape="1">
          <a:blip r:embed="rId3">
            <a:alphaModFix/>
          </a:blip>
          <a:srcRect b="0" l="0" r="0" t="0"/>
          <a:stretch/>
        </p:blipFill>
        <p:spPr>
          <a:xfrm>
            <a:off x="1219200" y="4876800"/>
            <a:ext cx="2133600" cy="990600"/>
          </a:xfrm>
          <a:prstGeom prst="rect">
            <a:avLst/>
          </a:prstGeom>
          <a:noFill/>
          <a:ln>
            <a:noFill/>
          </a:ln>
        </p:spPr>
      </p:pic>
      <p:pic>
        <p:nvPicPr>
          <p:cNvPr id="233" name="Google Shape;233;p16"/>
          <p:cNvPicPr preferRelativeResize="0"/>
          <p:nvPr/>
        </p:nvPicPr>
        <p:blipFill rotWithShape="1">
          <a:blip r:embed="rId4">
            <a:alphaModFix/>
          </a:blip>
          <a:srcRect b="0" l="0" r="0" t="0"/>
          <a:stretch/>
        </p:blipFill>
        <p:spPr>
          <a:xfrm>
            <a:off x="914400" y="6086475"/>
            <a:ext cx="3067050" cy="771525"/>
          </a:xfrm>
          <a:prstGeom prst="rect">
            <a:avLst/>
          </a:prstGeom>
          <a:noFill/>
          <a:ln>
            <a:noFill/>
          </a:ln>
        </p:spPr>
      </p:pic>
      <p:pic>
        <p:nvPicPr>
          <p:cNvPr id="234" name="Google Shape;234;p16"/>
          <p:cNvPicPr preferRelativeResize="0"/>
          <p:nvPr/>
        </p:nvPicPr>
        <p:blipFill rotWithShape="1">
          <a:blip r:embed="rId5">
            <a:alphaModFix/>
          </a:blip>
          <a:srcRect b="0" l="0" r="0" t="0"/>
          <a:stretch/>
        </p:blipFill>
        <p:spPr>
          <a:xfrm>
            <a:off x="4953000" y="4876800"/>
            <a:ext cx="2838450" cy="1028700"/>
          </a:xfrm>
          <a:prstGeom prst="rect">
            <a:avLst/>
          </a:prstGeom>
          <a:noFill/>
          <a:ln>
            <a:noFill/>
          </a:ln>
        </p:spPr>
      </p:pic>
      <p:pic>
        <p:nvPicPr>
          <p:cNvPr id="235" name="Google Shape;235;p16"/>
          <p:cNvPicPr preferRelativeResize="0"/>
          <p:nvPr/>
        </p:nvPicPr>
        <p:blipFill rotWithShape="1">
          <a:blip r:embed="rId6">
            <a:alphaModFix/>
          </a:blip>
          <a:srcRect b="0" l="0" r="0" t="0"/>
          <a:stretch/>
        </p:blipFill>
        <p:spPr>
          <a:xfrm>
            <a:off x="5029200" y="5943600"/>
            <a:ext cx="2924175" cy="914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UML - Architecture</a:t>
            </a:r>
            <a:endParaRPr/>
          </a:p>
        </p:txBody>
      </p:sp>
      <p:sp>
        <p:nvSpPr>
          <p:cNvPr id="241" name="Google Shape;241;p1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Kiến trúc chung: Trước khi thiết kế cần phải đứng ở các phương diện người dùng khác nhau: LTV(</a:t>
            </a:r>
            <a:r>
              <a:rPr lang="en-US"/>
              <a:t>Developers</a:t>
            </a:r>
            <a:r>
              <a:rPr lang="en-US"/>
              <a:t>), Testers, Kinh doanh (Business people), Nhà phân tích (analysts),… Dựa trên các quan điểm đó nên có kiến trúc chung của việc phát triển phần mềm:</a:t>
            </a:r>
            <a:endParaRPr/>
          </a:p>
          <a:p>
            <a:pPr indent="-246888" lvl="1" marL="640080" rtl="0" algn="l">
              <a:spcBef>
                <a:spcPts val="480"/>
              </a:spcBef>
              <a:spcAft>
                <a:spcPts val="0"/>
              </a:spcAft>
              <a:buSzPts val="2040"/>
              <a:buChar char="⚫"/>
            </a:pPr>
            <a:r>
              <a:rPr lang="en-US"/>
              <a:t>Thiết kế (Design)</a:t>
            </a:r>
            <a:endParaRPr/>
          </a:p>
          <a:p>
            <a:pPr indent="-246888" lvl="1" marL="640080" rtl="0" algn="l">
              <a:spcBef>
                <a:spcPts val="480"/>
              </a:spcBef>
              <a:spcAft>
                <a:spcPts val="0"/>
              </a:spcAft>
              <a:buSzPts val="2040"/>
              <a:buChar char="⚫"/>
            </a:pPr>
            <a:r>
              <a:rPr lang="en-US"/>
              <a:t>Cài đặt (Implementation)</a:t>
            </a:r>
            <a:endParaRPr/>
          </a:p>
          <a:p>
            <a:pPr indent="-246888" lvl="1" marL="640080" rtl="0" algn="l">
              <a:spcBef>
                <a:spcPts val="480"/>
              </a:spcBef>
              <a:spcAft>
                <a:spcPts val="0"/>
              </a:spcAft>
              <a:buSzPts val="2040"/>
              <a:buChar char="⚫"/>
            </a:pPr>
            <a:r>
              <a:rPr lang="en-US"/>
              <a:t>Quy trình nghiệp vụ (Process)</a:t>
            </a:r>
            <a:endParaRPr/>
          </a:p>
          <a:p>
            <a:pPr indent="-246888" lvl="1" marL="640080" rtl="0" algn="l">
              <a:spcBef>
                <a:spcPts val="480"/>
              </a:spcBef>
              <a:spcAft>
                <a:spcPts val="0"/>
              </a:spcAft>
              <a:buSzPts val="2040"/>
              <a:buChar char="⚫"/>
            </a:pPr>
            <a:r>
              <a:rPr lang="en-US"/>
              <a:t>Triển khai (Deployment)</a:t>
            </a:r>
            <a:endParaRPr/>
          </a:p>
        </p:txBody>
      </p:sp>
      <p:sp>
        <p:nvSpPr>
          <p:cNvPr id="242" name="Google Shape;242;p1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UML - Architecture</a:t>
            </a:r>
            <a:endParaRPr/>
          </a:p>
        </p:txBody>
      </p:sp>
      <p:sp>
        <p:nvSpPr>
          <p:cNvPr id="248" name="Google Shape;248;p1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Design: Bao gồm các Lớp (Classes), Giao diện (Interfaces), và sự hợp tác (Collaborations) - Class Diagram và Object Diagram.</a:t>
            </a:r>
            <a:endParaRPr/>
          </a:p>
          <a:p>
            <a:pPr indent="-274320" lvl="0" marL="274320" rtl="0" algn="l">
              <a:spcBef>
                <a:spcPts val="520"/>
              </a:spcBef>
              <a:spcAft>
                <a:spcPts val="0"/>
              </a:spcAft>
              <a:buSzPts val="2470"/>
              <a:buChar char="⚫"/>
            </a:pPr>
            <a:r>
              <a:rPr lang="en-US"/>
              <a:t>Implementation: Các thành phần được kết hợp với nhau để tạo ra hệ thống vật lý – Component Diagram.</a:t>
            </a:r>
            <a:endParaRPr/>
          </a:p>
          <a:p>
            <a:pPr indent="-274320" lvl="0" marL="274320" rtl="0" algn="l">
              <a:spcBef>
                <a:spcPts val="520"/>
              </a:spcBef>
              <a:spcAft>
                <a:spcPts val="0"/>
              </a:spcAft>
              <a:buSzPts val="2470"/>
              <a:buChar char="⚫"/>
            </a:pPr>
            <a:r>
              <a:rPr lang="en-US"/>
              <a:t>Process: mô tả các luồng nghiệp vụ của hệ thống – Có một số phần tử dùng trong UML biểu diễn quan điểm này.</a:t>
            </a:r>
            <a:endParaRPr/>
          </a:p>
          <a:p>
            <a:pPr indent="-274320" lvl="0" marL="274320" rtl="0" algn="l">
              <a:spcBef>
                <a:spcPts val="520"/>
              </a:spcBef>
              <a:spcAft>
                <a:spcPts val="0"/>
              </a:spcAft>
              <a:buSzPts val="2470"/>
              <a:buChar char="⚫"/>
            </a:pPr>
            <a:r>
              <a:rPr lang="en-US"/>
              <a:t>Deployment: Thể hiện các node vật lý của hệ thống – phần cứng – Deployment diagram.</a:t>
            </a:r>
            <a:endParaRPr/>
          </a:p>
        </p:txBody>
      </p:sp>
      <p:sp>
        <p:nvSpPr>
          <p:cNvPr id="249" name="Google Shape;249;p1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UML – Modeling Types</a:t>
            </a:r>
            <a:endParaRPr/>
          </a:p>
        </p:txBody>
      </p:sp>
      <p:sp>
        <p:nvSpPr>
          <p:cNvPr id="255" name="Google Shape;255;p1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Có ba loại mô hình hóa:</a:t>
            </a:r>
            <a:endParaRPr/>
          </a:p>
          <a:p>
            <a:pPr indent="-246888" lvl="1" marL="640080" rtl="0" algn="l">
              <a:spcBef>
                <a:spcPts val="480"/>
              </a:spcBef>
              <a:spcAft>
                <a:spcPts val="0"/>
              </a:spcAft>
              <a:buSzPts val="2040"/>
              <a:buChar char="⚫"/>
            </a:pPr>
            <a:r>
              <a:rPr lang="en-US"/>
              <a:t>Mô hình cấu trúc: Tính năng tĩnh của hệ thống.</a:t>
            </a:r>
            <a:endParaRPr/>
          </a:p>
          <a:p>
            <a:pPr indent="-246887" lvl="2" marL="914400" rtl="0" algn="l">
              <a:spcBef>
                <a:spcPts val="420"/>
              </a:spcBef>
              <a:spcAft>
                <a:spcPts val="0"/>
              </a:spcAft>
              <a:buSzPts val="1470"/>
              <a:buChar char="⚫"/>
            </a:pPr>
            <a:r>
              <a:rPr lang="en-US"/>
              <a:t>Biểu đồ lớp</a:t>
            </a:r>
            <a:endParaRPr/>
          </a:p>
          <a:p>
            <a:pPr indent="-246887" lvl="2" marL="914400" rtl="0" algn="l">
              <a:spcBef>
                <a:spcPts val="420"/>
              </a:spcBef>
              <a:spcAft>
                <a:spcPts val="0"/>
              </a:spcAft>
              <a:buSzPts val="1470"/>
              <a:buChar char="⚫"/>
            </a:pPr>
            <a:r>
              <a:rPr lang="en-US"/>
              <a:t>Biểu đồ đối tượng</a:t>
            </a:r>
            <a:endParaRPr/>
          </a:p>
          <a:p>
            <a:pPr indent="-246887" lvl="2" marL="914400" rtl="0" algn="l">
              <a:spcBef>
                <a:spcPts val="420"/>
              </a:spcBef>
              <a:spcAft>
                <a:spcPts val="0"/>
              </a:spcAft>
              <a:buSzPts val="1470"/>
              <a:buChar char="⚫"/>
            </a:pPr>
            <a:r>
              <a:rPr lang="en-US"/>
              <a:t>Biểu đồ triển khai</a:t>
            </a:r>
            <a:endParaRPr/>
          </a:p>
          <a:p>
            <a:pPr indent="-246887" lvl="2" marL="914400" rtl="0" algn="l">
              <a:spcBef>
                <a:spcPts val="420"/>
              </a:spcBef>
              <a:spcAft>
                <a:spcPts val="0"/>
              </a:spcAft>
              <a:buSzPts val="1470"/>
              <a:buChar char="⚫"/>
            </a:pPr>
            <a:r>
              <a:rPr lang="en-US"/>
              <a:t>Biểu đồ đóng gói</a:t>
            </a:r>
            <a:endParaRPr/>
          </a:p>
          <a:p>
            <a:pPr indent="-246887" lvl="2" marL="914400" rtl="0" algn="l">
              <a:spcBef>
                <a:spcPts val="420"/>
              </a:spcBef>
              <a:spcAft>
                <a:spcPts val="0"/>
              </a:spcAft>
              <a:buSzPts val="1470"/>
              <a:buChar char="⚫"/>
            </a:pPr>
            <a:r>
              <a:rPr lang="en-US"/>
              <a:t>Biểu đồ cấu trúc hỗn hợp</a:t>
            </a:r>
            <a:endParaRPr/>
          </a:p>
          <a:p>
            <a:pPr indent="-246887" lvl="2" marL="914400" rtl="0" algn="l">
              <a:spcBef>
                <a:spcPts val="420"/>
              </a:spcBef>
              <a:spcAft>
                <a:spcPts val="0"/>
              </a:spcAft>
              <a:buSzPts val="1470"/>
              <a:buChar char="⚫"/>
            </a:pPr>
            <a:r>
              <a:rPr lang="en-US"/>
              <a:t>Biểu đồ thành phần</a:t>
            </a:r>
            <a:endParaRPr/>
          </a:p>
          <a:p>
            <a:pPr indent="-274320"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p:txBody>
      </p:sp>
      <p:sp>
        <p:nvSpPr>
          <p:cNvPr id="256" name="Google Shape;256;p1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UML – Modeling Types</a:t>
            </a:r>
            <a:endParaRPr/>
          </a:p>
        </p:txBody>
      </p:sp>
      <p:sp>
        <p:nvSpPr>
          <p:cNvPr id="262" name="Google Shape;262;p20"/>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46888" lvl="1" marL="640080" rtl="0" algn="l">
              <a:spcBef>
                <a:spcPts val="0"/>
              </a:spcBef>
              <a:spcAft>
                <a:spcPts val="0"/>
              </a:spcAft>
              <a:buSzPts val="2040"/>
              <a:buChar char="⚫"/>
            </a:pPr>
            <a:r>
              <a:rPr lang="en-US"/>
              <a:t>Mô hình hành vi: Tính năng tương tác của hệ thống</a:t>
            </a:r>
            <a:endParaRPr/>
          </a:p>
          <a:p>
            <a:pPr indent="-246887" lvl="2" marL="914400" rtl="0" algn="l">
              <a:spcBef>
                <a:spcPts val="420"/>
              </a:spcBef>
              <a:spcAft>
                <a:spcPts val="0"/>
              </a:spcAft>
              <a:buSzPts val="1470"/>
              <a:buChar char="⚫"/>
            </a:pPr>
            <a:r>
              <a:rPr lang="en-US"/>
              <a:t>Biểu đồ hành động</a:t>
            </a:r>
            <a:endParaRPr/>
          </a:p>
          <a:p>
            <a:pPr indent="-246887" lvl="2" marL="914400" rtl="0" algn="l">
              <a:spcBef>
                <a:spcPts val="420"/>
              </a:spcBef>
              <a:spcAft>
                <a:spcPts val="0"/>
              </a:spcAft>
              <a:buSzPts val="1470"/>
              <a:buChar char="⚫"/>
            </a:pPr>
            <a:r>
              <a:rPr lang="en-US"/>
              <a:t>Biểu đồ tương tác</a:t>
            </a:r>
            <a:endParaRPr/>
          </a:p>
          <a:p>
            <a:pPr indent="-246887" lvl="2" marL="914400" rtl="0" algn="l">
              <a:spcBef>
                <a:spcPts val="420"/>
              </a:spcBef>
              <a:spcAft>
                <a:spcPts val="0"/>
              </a:spcAft>
              <a:buSzPts val="1470"/>
              <a:buChar char="⚫"/>
            </a:pPr>
            <a:r>
              <a:rPr lang="en-US"/>
              <a:t>Biểu đồ use case</a:t>
            </a:r>
            <a:endParaRPr/>
          </a:p>
          <a:p>
            <a:pPr indent="-246888" lvl="1" marL="640080" rtl="0" algn="l">
              <a:spcBef>
                <a:spcPts val="480"/>
              </a:spcBef>
              <a:spcAft>
                <a:spcPts val="0"/>
              </a:spcAft>
              <a:buSzPts val="2040"/>
              <a:buChar char="⚫"/>
            </a:pPr>
            <a:r>
              <a:rPr lang="en-US"/>
              <a:t>Mô hình kiến trúc: thể hiện khung chung cho toàn bộ hệ thống.</a:t>
            </a:r>
            <a:endParaRPr/>
          </a:p>
          <a:p>
            <a:pPr indent="-246887" lvl="2" marL="914400" rtl="0" algn="l">
              <a:spcBef>
                <a:spcPts val="420"/>
              </a:spcBef>
              <a:spcAft>
                <a:spcPts val="0"/>
              </a:spcAft>
              <a:buSzPts val="1470"/>
              <a:buChar char="⚫"/>
            </a:pPr>
            <a:r>
              <a:rPr lang="en-US"/>
              <a:t>Biểu đồ đóng gói (Package Diagram)</a:t>
            </a:r>
            <a:endParaRPr/>
          </a:p>
        </p:txBody>
      </p:sp>
      <p:sp>
        <p:nvSpPr>
          <p:cNvPr id="263" name="Google Shape;263;p2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UML – Basic Notations</a:t>
            </a:r>
            <a:endParaRPr/>
          </a:p>
        </p:txBody>
      </p:sp>
      <p:sp>
        <p:nvSpPr>
          <p:cNvPr id="269" name="Google Shape;269;p2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Structural Things:</a:t>
            </a:r>
            <a:endParaRPr/>
          </a:p>
          <a:p>
            <a:pPr indent="-246888" lvl="1" marL="640080" rtl="0" algn="l">
              <a:spcBef>
                <a:spcPts val="480"/>
              </a:spcBef>
              <a:spcAft>
                <a:spcPts val="0"/>
              </a:spcAft>
              <a:buSzPts val="2040"/>
              <a:buChar char="⚫"/>
            </a:pPr>
            <a:r>
              <a:rPr lang="en-US"/>
              <a:t>Class: thể hiện cho đối tượng. Các đối tượng có thể có các thuộc tính và hành vi.</a:t>
            </a:r>
            <a:endParaRPr/>
          </a:p>
        </p:txBody>
      </p:sp>
      <p:sp>
        <p:nvSpPr>
          <p:cNvPr id="270" name="Google Shape;270;p2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271" name="Google Shape;271;p21"/>
          <p:cNvPicPr preferRelativeResize="0"/>
          <p:nvPr/>
        </p:nvPicPr>
        <p:blipFill rotWithShape="1">
          <a:blip r:embed="rId3">
            <a:alphaModFix/>
          </a:blip>
          <a:srcRect b="0" l="0" r="0" t="0"/>
          <a:stretch/>
        </p:blipFill>
        <p:spPr>
          <a:xfrm>
            <a:off x="2514600" y="3171326"/>
            <a:ext cx="6553200" cy="368667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UML – Basic Notations</a:t>
            </a:r>
            <a:endParaRPr/>
          </a:p>
        </p:txBody>
      </p:sp>
      <p:sp>
        <p:nvSpPr>
          <p:cNvPr id="277" name="Google Shape;277;p2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Kí hiệu đối tượng (Object notation):</a:t>
            </a:r>
            <a:endParaRPr/>
          </a:p>
          <a:p>
            <a:pPr indent="-246888" lvl="1" marL="640080" rtl="0" algn="l">
              <a:spcBef>
                <a:spcPts val="480"/>
              </a:spcBef>
              <a:spcAft>
                <a:spcPts val="0"/>
              </a:spcAft>
              <a:buSzPts val="2040"/>
              <a:buChar char="⚫"/>
            </a:pPr>
            <a:r>
              <a:rPr lang="en-US"/>
              <a:t>Đối tượng: là sự cài đặt thực tế của lớp. </a:t>
            </a:r>
            <a:endParaRPr/>
          </a:p>
        </p:txBody>
      </p:sp>
      <p:sp>
        <p:nvSpPr>
          <p:cNvPr id="278" name="Google Shape;278;p2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279" name="Google Shape;279;p22"/>
          <p:cNvPicPr preferRelativeResize="0"/>
          <p:nvPr/>
        </p:nvPicPr>
        <p:blipFill rotWithShape="1">
          <a:blip r:embed="rId3">
            <a:alphaModFix/>
          </a:blip>
          <a:srcRect b="0" l="0" r="0" t="0"/>
          <a:stretch/>
        </p:blipFill>
        <p:spPr>
          <a:xfrm>
            <a:off x="2514600" y="3200400"/>
            <a:ext cx="4171950" cy="28194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UML – Basic Notations</a:t>
            </a:r>
            <a:endParaRPr/>
          </a:p>
        </p:txBody>
      </p:sp>
      <p:sp>
        <p:nvSpPr>
          <p:cNvPr id="285" name="Google Shape;285;p2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Kiếu hiệu giao diện (interface Notation) – Thể hiện các chức năng chưa được cài đặt.</a:t>
            </a:r>
            <a:endParaRPr/>
          </a:p>
        </p:txBody>
      </p:sp>
      <p:sp>
        <p:nvSpPr>
          <p:cNvPr id="286" name="Google Shape;286;p2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287" name="Google Shape;287;p23"/>
          <p:cNvPicPr preferRelativeResize="0"/>
          <p:nvPr/>
        </p:nvPicPr>
        <p:blipFill rotWithShape="1">
          <a:blip r:embed="rId3">
            <a:alphaModFix/>
          </a:blip>
          <a:srcRect b="0" l="0" r="0" t="0"/>
          <a:stretch/>
        </p:blipFill>
        <p:spPr>
          <a:xfrm>
            <a:off x="2133600" y="3352800"/>
            <a:ext cx="5124450" cy="29146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UML – Basic Notations</a:t>
            </a:r>
            <a:endParaRPr/>
          </a:p>
        </p:txBody>
      </p:sp>
      <p:sp>
        <p:nvSpPr>
          <p:cNvPr id="293" name="Google Shape;293;p2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Kiếu hiệu hợp (Collaboration Notation) – Thể hiện hành vi trách nhiệm, thường trong nhóm.</a:t>
            </a:r>
            <a:endParaRPr/>
          </a:p>
        </p:txBody>
      </p:sp>
      <p:sp>
        <p:nvSpPr>
          <p:cNvPr id="294" name="Google Shape;294;p2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295" name="Google Shape;295;p24"/>
          <p:cNvPicPr preferRelativeResize="0"/>
          <p:nvPr/>
        </p:nvPicPr>
        <p:blipFill rotWithShape="1">
          <a:blip r:embed="rId3">
            <a:alphaModFix/>
          </a:blip>
          <a:srcRect b="0" l="0" r="0" t="0"/>
          <a:stretch/>
        </p:blipFill>
        <p:spPr>
          <a:xfrm>
            <a:off x="1828800" y="2971800"/>
            <a:ext cx="6324600" cy="3238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UML – Basic Notations</a:t>
            </a:r>
            <a:endParaRPr/>
          </a:p>
        </p:txBody>
      </p:sp>
      <p:sp>
        <p:nvSpPr>
          <p:cNvPr id="301" name="Google Shape;301;p2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Use case</a:t>
            </a:r>
            <a:endParaRPr/>
          </a:p>
          <a:p>
            <a:pPr indent="-117475"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a:p>
            <a:pPr indent="-274320" lvl="0" marL="274320" rtl="0" algn="l">
              <a:spcBef>
                <a:spcPts val="520"/>
              </a:spcBef>
              <a:spcAft>
                <a:spcPts val="0"/>
              </a:spcAft>
              <a:buSzPts val="2470"/>
              <a:buNone/>
            </a:pPr>
            <a:r>
              <a:t/>
            </a:r>
            <a:endParaRPr/>
          </a:p>
          <a:p>
            <a:pPr indent="-274320" lvl="0" marL="274320" rtl="0" algn="l">
              <a:spcBef>
                <a:spcPts val="520"/>
              </a:spcBef>
              <a:spcAft>
                <a:spcPts val="0"/>
              </a:spcAft>
              <a:buSzPts val="2470"/>
              <a:buChar char="⚫"/>
            </a:pPr>
            <a:r>
              <a:rPr lang="en-US"/>
              <a:t>Actor</a:t>
            </a:r>
            <a:endParaRPr/>
          </a:p>
          <a:p>
            <a:pPr indent="-274320" lvl="0" marL="274320" rtl="0" algn="l">
              <a:spcBef>
                <a:spcPts val="520"/>
              </a:spcBef>
              <a:spcAft>
                <a:spcPts val="0"/>
              </a:spcAft>
              <a:buSzPts val="2470"/>
              <a:buNone/>
            </a:pPr>
            <a:r>
              <a:t/>
            </a:r>
            <a:endParaRPr/>
          </a:p>
          <a:p>
            <a:pPr indent="-274320" lvl="0" marL="274320" rtl="0" algn="l">
              <a:spcBef>
                <a:spcPts val="520"/>
              </a:spcBef>
              <a:spcAft>
                <a:spcPts val="0"/>
              </a:spcAft>
              <a:buSzPts val="2470"/>
              <a:buNone/>
            </a:pPr>
            <a:r>
              <a:t/>
            </a:r>
            <a:endParaRPr/>
          </a:p>
        </p:txBody>
      </p:sp>
      <p:sp>
        <p:nvSpPr>
          <p:cNvPr id="302" name="Google Shape;302;p2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303" name="Google Shape;303;p25"/>
          <p:cNvPicPr preferRelativeResize="0"/>
          <p:nvPr/>
        </p:nvPicPr>
        <p:blipFill rotWithShape="1">
          <a:blip r:embed="rId3">
            <a:alphaModFix/>
          </a:blip>
          <a:srcRect b="0" l="0" r="0" t="0"/>
          <a:stretch/>
        </p:blipFill>
        <p:spPr>
          <a:xfrm>
            <a:off x="2667000" y="1828800"/>
            <a:ext cx="3790950" cy="1971675"/>
          </a:xfrm>
          <a:prstGeom prst="rect">
            <a:avLst/>
          </a:prstGeom>
          <a:noFill/>
          <a:ln>
            <a:noFill/>
          </a:ln>
        </p:spPr>
      </p:pic>
      <p:pic>
        <p:nvPicPr>
          <p:cNvPr id="304" name="Google Shape;304;p25"/>
          <p:cNvPicPr preferRelativeResize="0"/>
          <p:nvPr/>
        </p:nvPicPr>
        <p:blipFill rotWithShape="1">
          <a:blip r:embed="rId4">
            <a:alphaModFix/>
          </a:blip>
          <a:srcRect b="0" l="0" r="0" t="0"/>
          <a:stretch/>
        </p:blipFill>
        <p:spPr>
          <a:xfrm>
            <a:off x="4572000" y="3962400"/>
            <a:ext cx="1019175" cy="14954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UML – Basic Notations</a:t>
            </a:r>
            <a:endParaRPr/>
          </a:p>
        </p:txBody>
      </p:sp>
      <p:sp>
        <p:nvSpPr>
          <p:cNvPr id="310" name="Google Shape;310;p26"/>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117475" lvl="0" marL="274320" rtl="0" algn="l">
              <a:spcBef>
                <a:spcPts val="0"/>
              </a:spcBef>
              <a:spcAft>
                <a:spcPts val="0"/>
              </a:spcAft>
              <a:buSzPts val="2470"/>
              <a:buNone/>
            </a:pPr>
            <a:r>
              <a:t/>
            </a:r>
            <a:endParaRPr/>
          </a:p>
          <a:p>
            <a:pPr indent="-274320" lvl="0" marL="274320" rtl="0" algn="l">
              <a:spcBef>
                <a:spcPts val="520"/>
              </a:spcBef>
              <a:spcAft>
                <a:spcPts val="0"/>
              </a:spcAft>
              <a:buSzPts val="2470"/>
              <a:buChar char="⚫"/>
            </a:pPr>
            <a:r>
              <a:rPr lang="en-US"/>
              <a:t>Điểm khởi đâu (Initial state)</a:t>
            </a:r>
            <a:endParaRPr/>
          </a:p>
          <a:p>
            <a:pPr indent="-274320" lvl="0" marL="274320" rtl="0" algn="l">
              <a:spcBef>
                <a:spcPts val="520"/>
              </a:spcBef>
              <a:spcAft>
                <a:spcPts val="0"/>
              </a:spcAft>
              <a:buSzPts val="2470"/>
              <a:buChar char="⚫"/>
            </a:pPr>
            <a:r>
              <a:rPr lang="en-US"/>
              <a:t>Điểm kết thúc (Final state)</a:t>
            </a:r>
            <a:endParaRPr/>
          </a:p>
          <a:p>
            <a:pPr indent="-274320" lvl="0" marL="274320" rtl="0" algn="l">
              <a:spcBef>
                <a:spcPts val="520"/>
              </a:spcBef>
              <a:spcAft>
                <a:spcPts val="0"/>
              </a:spcAft>
              <a:buSzPts val="2470"/>
              <a:buChar char="⚫"/>
            </a:pPr>
            <a:r>
              <a:rPr lang="en-US"/>
              <a:t>Lớp hoạt động (Active Class)</a:t>
            </a:r>
            <a:endParaRPr/>
          </a:p>
          <a:p>
            <a:pPr indent="-274320" lvl="0" marL="274320" rtl="0" algn="l">
              <a:spcBef>
                <a:spcPts val="520"/>
              </a:spcBef>
              <a:spcAft>
                <a:spcPts val="0"/>
              </a:spcAft>
              <a:buSzPts val="2470"/>
              <a:buChar char="⚫"/>
            </a:pPr>
            <a:r>
              <a:rPr lang="en-US"/>
              <a:t>Component</a:t>
            </a:r>
            <a:endParaRPr/>
          </a:p>
          <a:p>
            <a:pPr indent="-274320" lvl="0" marL="274320" rtl="0" algn="l">
              <a:spcBef>
                <a:spcPts val="520"/>
              </a:spcBef>
              <a:spcAft>
                <a:spcPts val="0"/>
              </a:spcAft>
              <a:buSzPts val="2470"/>
              <a:buChar char="⚫"/>
            </a:pPr>
            <a:r>
              <a:rPr lang="en-US"/>
              <a:t>Node</a:t>
            </a:r>
            <a:endParaRPr/>
          </a:p>
          <a:p>
            <a:pPr indent="-117475" lvl="0" marL="274320" rtl="0" algn="l">
              <a:spcBef>
                <a:spcPts val="520"/>
              </a:spcBef>
              <a:spcAft>
                <a:spcPts val="0"/>
              </a:spcAft>
              <a:buSzPts val="2470"/>
              <a:buNone/>
            </a:pPr>
            <a:r>
              <a:t/>
            </a:r>
            <a:endParaRPr/>
          </a:p>
        </p:txBody>
      </p:sp>
      <p:sp>
        <p:nvSpPr>
          <p:cNvPr id="311" name="Google Shape;311;p2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312" name="Google Shape;312;p26"/>
          <p:cNvPicPr preferRelativeResize="0"/>
          <p:nvPr/>
        </p:nvPicPr>
        <p:blipFill rotWithShape="1">
          <a:blip r:embed="rId3">
            <a:alphaModFix/>
          </a:blip>
          <a:srcRect b="0" l="0" r="0" t="0"/>
          <a:stretch/>
        </p:blipFill>
        <p:spPr>
          <a:xfrm>
            <a:off x="4876800" y="2286000"/>
            <a:ext cx="1628775" cy="1162050"/>
          </a:xfrm>
          <a:prstGeom prst="rect">
            <a:avLst/>
          </a:prstGeom>
          <a:noFill/>
          <a:ln>
            <a:noFill/>
          </a:ln>
        </p:spPr>
      </p:pic>
      <p:pic>
        <p:nvPicPr>
          <p:cNvPr id="313" name="Google Shape;313;p26"/>
          <p:cNvPicPr preferRelativeResize="0"/>
          <p:nvPr/>
        </p:nvPicPr>
        <p:blipFill rotWithShape="1">
          <a:blip r:embed="rId4">
            <a:alphaModFix/>
          </a:blip>
          <a:srcRect b="0" l="0" r="0" t="0"/>
          <a:stretch/>
        </p:blipFill>
        <p:spPr>
          <a:xfrm>
            <a:off x="6781800" y="2438400"/>
            <a:ext cx="2124075" cy="781050"/>
          </a:xfrm>
          <a:prstGeom prst="rect">
            <a:avLst/>
          </a:prstGeom>
          <a:noFill/>
          <a:ln>
            <a:noFill/>
          </a:ln>
        </p:spPr>
      </p:pic>
      <p:pic>
        <p:nvPicPr>
          <p:cNvPr id="314" name="Google Shape;314;p26"/>
          <p:cNvPicPr preferRelativeResize="0"/>
          <p:nvPr/>
        </p:nvPicPr>
        <p:blipFill rotWithShape="1">
          <a:blip r:embed="rId5">
            <a:alphaModFix/>
          </a:blip>
          <a:srcRect b="0" l="0" r="0" t="0"/>
          <a:stretch/>
        </p:blipFill>
        <p:spPr>
          <a:xfrm>
            <a:off x="152401" y="4953000"/>
            <a:ext cx="3521242" cy="1219200"/>
          </a:xfrm>
          <a:prstGeom prst="rect">
            <a:avLst/>
          </a:prstGeom>
          <a:noFill/>
          <a:ln>
            <a:noFill/>
          </a:ln>
        </p:spPr>
      </p:pic>
      <p:pic>
        <p:nvPicPr>
          <p:cNvPr id="315" name="Google Shape;315;p26"/>
          <p:cNvPicPr preferRelativeResize="0"/>
          <p:nvPr/>
        </p:nvPicPr>
        <p:blipFill rotWithShape="1">
          <a:blip r:embed="rId6">
            <a:alphaModFix/>
          </a:blip>
          <a:srcRect b="0" l="0" r="0" t="0"/>
          <a:stretch/>
        </p:blipFill>
        <p:spPr>
          <a:xfrm>
            <a:off x="3581400" y="5029200"/>
            <a:ext cx="2943225" cy="1400175"/>
          </a:xfrm>
          <a:prstGeom prst="rect">
            <a:avLst/>
          </a:prstGeom>
          <a:noFill/>
          <a:ln>
            <a:noFill/>
          </a:ln>
        </p:spPr>
      </p:pic>
      <p:pic>
        <p:nvPicPr>
          <p:cNvPr id="316" name="Google Shape;316;p26"/>
          <p:cNvPicPr preferRelativeResize="0"/>
          <p:nvPr/>
        </p:nvPicPr>
        <p:blipFill rotWithShape="1">
          <a:blip r:embed="rId7">
            <a:alphaModFix/>
          </a:blip>
          <a:srcRect b="0" l="0" r="0" t="0"/>
          <a:stretch/>
        </p:blipFill>
        <p:spPr>
          <a:xfrm>
            <a:off x="6705600" y="4800600"/>
            <a:ext cx="2065001" cy="15525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UML – Basic Notations - Behavioral</a:t>
            </a:r>
            <a:endParaRPr sz="4500"/>
          </a:p>
        </p:txBody>
      </p:sp>
      <p:sp>
        <p:nvSpPr>
          <p:cNvPr id="322" name="Google Shape;322;p2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Hành vi – (Behavioral Things)</a:t>
            </a:r>
            <a:endParaRPr/>
          </a:p>
          <a:p>
            <a:pPr indent="-274320" lvl="0" marL="274320" rtl="0" algn="l">
              <a:spcBef>
                <a:spcPts val="520"/>
              </a:spcBef>
              <a:spcAft>
                <a:spcPts val="0"/>
              </a:spcAft>
              <a:buSzPts val="2470"/>
              <a:buNone/>
            </a:pPr>
            <a:r>
              <a:rPr lang="en-US"/>
              <a:t>Phần động của UML. Có hai thành phần động chính quan trọng trong UML:</a:t>
            </a:r>
            <a:endParaRPr/>
          </a:p>
          <a:p>
            <a:pPr indent="-274320" lvl="0" marL="274320" rtl="0" algn="l">
              <a:spcBef>
                <a:spcPts val="520"/>
              </a:spcBef>
              <a:spcAft>
                <a:spcPts val="0"/>
              </a:spcAft>
              <a:buSzPts val="2470"/>
              <a:buChar char="⚫"/>
            </a:pPr>
            <a:r>
              <a:rPr lang="en-US"/>
              <a:t>Các tương tác(</a:t>
            </a:r>
            <a:r>
              <a:rPr lang="en-US"/>
              <a:t>Interactions</a:t>
            </a:r>
            <a:r>
              <a:rPr lang="en-US"/>
              <a:t>):</a:t>
            </a:r>
            <a:endParaRPr/>
          </a:p>
          <a:p>
            <a:pPr indent="-246888" lvl="1" marL="640080" rtl="0" algn="l">
              <a:spcBef>
                <a:spcPts val="480"/>
              </a:spcBef>
              <a:spcAft>
                <a:spcPts val="0"/>
              </a:spcAft>
              <a:buSzPts val="2040"/>
              <a:buChar char="⚫"/>
            </a:pPr>
            <a:r>
              <a:rPr lang="en-US"/>
              <a:t>Tuần tự (Sequential) thể hiện bởi biểu đồ Tuần tự (Sequential Diagram)</a:t>
            </a:r>
            <a:endParaRPr/>
          </a:p>
          <a:p>
            <a:pPr indent="-246888" lvl="1" marL="640080" rtl="0" algn="l">
              <a:spcBef>
                <a:spcPts val="480"/>
              </a:spcBef>
              <a:spcAft>
                <a:spcPts val="0"/>
              </a:spcAft>
              <a:buSzPts val="2040"/>
              <a:buChar char="⚫"/>
            </a:pPr>
            <a:r>
              <a:rPr lang="en-US"/>
              <a:t>Hợp tác (Collaboration) – </a:t>
            </a:r>
            <a:r>
              <a:rPr lang="en-US"/>
              <a:t>Collaboration</a:t>
            </a:r>
            <a:r>
              <a:rPr lang="en-US"/>
              <a:t> Diagram</a:t>
            </a:r>
            <a:endParaRPr/>
          </a:p>
        </p:txBody>
      </p:sp>
      <p:sp>
        <p:nvSpPr>
          <p:cNvPr id="323" name="Google Shape;323;p2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t/>
            </a:r>
            <a:endParaRPr/>
          </a:p>
        </p:txBody>
      </p:sp>
      <p:sp>
        <p:nvSpPr>
          <p:cNvPr id="329" name="Google Shape;329;p2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Các tương tác căn bản là</a:t>
            </a:r>
            <a:endParaRPr/>
          </a:p>
          <a:p>
            <a:pPr indent="-274320" lvl="0" marL="274320" rtl="0" algn="l">
              <a:spcBef>
                <a:spcPts val="520"/>
              </a:spcBef>
              <a:spcAft>
                <a:spcPts val="0"/>
              </a:spcAft>
              <a:buSzPts val="2470"/>
              <a:buNone/>
            </a:pPr>
            <a:r>
              <a:rPr lang="en-US"/>
              <a:t>các thông điệp giữa hai</a:t>
            </a:r>
            <a:endParaRPr/>
          </a:p>
          <a:p>
            <a:pPr indent="-274320" lvl="0" marL="274320" rtl="0" algn="l">
              <a:spcBef>
                <a:spcPts val="520"/>
              </a:spcBef>
              <a:spcAft>
                <a:spcPts val="0"/>
              </a:spcAft>
              <a:buSzPts val="2470"/>
              <a:buNone/>
            </a:pPr>
            <a:r>
              <a:rPr lang="en-US"/>
              <a:t>thành phần của UML.</a:t>
            </a:r>
            <a:endParaRPr/>
          </a:p>
          <a:p>
            <a:pPr indent="-274320" lvl="0" marL="274320" rtl="0" algn="l">
              <a:spcBef>
                <a:spcPts val="520"/>
              </a:spcBef>
              <a:spcAft>
                <a:spcPts val="0"/>
              </a:spcAft>
              <a:buSzPts val="2470"/>
              <a:buNone/>
            </a:pPr>
            <a:r>
              <a:t/>
            </a:r>
            <a:endParaRPr/>
          </a:p>
        </p:txBody>
      </p:sp>
      <p:sp>
        <p:nvSpPr>
          <p:cNvPr id="330" name="Google Shape;330;p2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331" name="Google Shape;331;p28"/>
          <p:cNvPicPr preferRelativeResize="0"/>
          <p:nvPr/>
        </p:nvPicPr>
        <p:blipFill rotWithShape="1">
          <a:blip r:embed="rId3">
            <a:alphaModFix/>
          </a:blip>
          <a:srcRect b="0" l="0" r="0" t="0"/>
          <a:stretch/>
        </p:blipFill>
        <p:spPr>
          <a:xfrm>
            <a:off x="4724400" y="1676400"/>
            <a:ext cx="4419600" cy="47720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t/>
            </a:r>
            <a:endParaRPr/>
          </a:p>
        </p:txBody>
      </p:sp>
      <p:sp>
        <p:nvSpPr>
          <p:cNvPr id="337" name="Google Shape;337;p2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Statemachine là mô tả </a:t>
            </a:r>
            <a:endParaRPr/>
          </a:p>
          <a:p>
            <a:pPr indent="-274320" lvl="0" marL="274320" rtl="0" algn="l">
              <a:spcBef>
                <a:spcPts val="520"/>
              </a:spcBef>
              <a:spcAft>
                <a:spcPts val="0"/>
              </a:spcAft>
              <a:buSzPts val="2470"/>
              <a:buNone/>
            </a:pPr>
            <a:r>
              <a:rPr lang="en-US"/>
              <a:t>các trạng thái khác nhau </a:t>
            </a:r>
            <a:endParaRPr/>
          </a:p>
          <a:p>
            <a:pPr indent="-274320" lvl="0" marL="274320" rtl="0" algn="l">
              <a:spcBef>
                <a:spcPts val="520"/>
              </a:spcBef>
              <a:spcAft>
                <a:spcPts val="0"/>
              </a:spcAft>
              <a:buSzPts val="2470"/>
              <a:buNone/>
            </a:pPr>
            <a:r>
              <a:rPr lang="en-US"/>
              <a:t>của một thành phần </a:t>
            </a:r>
            <a:endParaRPr/>
          </a:p>
          <a:p>
            <a:pPr indent="-274320" lvl="0" marL="274320" rtl="0" algn="l">
              <a:spcBef>
                <a:spcPts val="520"/>
              </a:spcBef>
              <a:spcAft>
                <a:spcPts val="0"/>
              </a:spcAft>
              <a:buSzPts val="2470"/>
              <a:buNone/>
            </a:pPr>
            <a:r>
              <a:rPr lang="en-US"/>
              <a:t>trong vòng đời của nó.</a:t>
            </a:r>
            <a:endParaRPr/>
          </a:p>
        </p:txBody>
      </p:sp>
      <p:sp>
        <p:nvSpPr>
          <p:cNvPr id="338" name="Google Shape;338;p2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339" name="Google Shape;339;p29"/>
          <p:cNvPicPr preferRelativeResize="0"/>
          <p:nvPr/>
        </p:nvPicPr>
        <p:blipFill rotWithShape="1">
          <a:blip r:embed="rId3">
            <a:alphaModFix/>
          </a:blip>
          <a:srcRect b="0" l="0" r="0" t="0"/>
          <a:stretch/>
        </p:blipFill>
        <p:spPr>
          <a:xfrm>
            <a:off x="4610100" y="2286000"/>
            <a:ext cx="4533900" cy="37147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0"/>
          <p:cNvSpPr txBox="1"/>
          <p:nvPr>
            <p:ph type="title"/>
          </p:nvPr>
        </p:nvSpPr>
        <p:spPr>
          <a:xfrm>
            <a:off x="457200" y="265112"/>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UML – Grouping Things</a:t>
            </a:r>
            <a:endParaRPr/>
          </a:p>
        </p:txBody>
      </p:sp>
      <p:sp>
        <p:nvSpPr>
          <p:cNvPr id="345" name="Google Shape;345;p30"/>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Grouping Thing</a:t>
            </a:r>
            <a:endParaRPr/>
          </a:p>
          <a:p>
            <a:pPr indent="-117475"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a:p>
            <a:pPr indent="-274320" lvl="0" marL="274320" rtl="0" algn="l">
              <a:spcBef>
                <a:spcPts val="520"/>
              </a:spcBef>
              <a:spcAft>
                <a:spcPts val="0"/>
              </a:spcAft>
              <a:buSzPts val="2470"/>
              <a:buChar char="⚫"/>
            </a:pPr>
            <a:r>
              <a:rPr lang="en-US"/>
              <a:t>Annotation Thing</a:t>
            </a:r>
            <a:endParaRPr/>
          </a:p>
        </p:txBody>
      </p:sp>
      <p:sp>
        <p:nvSpPr>
          <p:cNvPr id="346" name="Google Shape;346;p3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347" name="Google Shape;347;p30"/>
          <p:cNvPicPr preferRelativeResize="0"/>
          <p:nvPr/>
        </p:nvPicPr>
        <p:blipFill rotWithShape="1">
          <a:blip r:embed="rId3">
            <a:alphaModFix/>
          </a:blip>
          <a:srcRect b="0" l="0" r="0" t="0"/>
          <a:stretch/>
        </p:blipFill>
        <p:spPr>
          <a:xfrm>
            <a:off x="4267200" y="1981200"/>
            <a:ext cx="4438650" cy="1943100"/>
          </a:xfrm>
          <a:prstGeom prst="rect">
            <a:avLst/>
          </a:prstGeom>
          <a:noFill/>
          <a:ln>
            <a:noFill/>
          </a:ln>
        </p:spPr>
      </p:pic>
      <p:pic>
        <p:nvPicPr>
          <p:cNvPr id="348" name="Google Shape;348;p30"/>
          <p:cNvPicPr preferRelativeResize="0"/>
          <p:nvPr/>
        </p:nvPicPr>
        <p:blipFill rotWithShape="1">
          <a:blip r:embed="rId4">
            <a:alphaModFix/>
          </a:blip>
          <a:srcRect b="0" l="0" r="0" t="0"/>
          <a:stretch/>
        </p:blipFill>
        <p:spPr>
          <a:xfrm>
            <a:off x="4495800" y="4191000"/>
            <a:ext cx="3886200" cy="1219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t/>
            </a:r>
            <a:endParaRPr/>
          </a:p>
        </p:txBody>
      </p:sp>
      <p:sp>
        <p:nvSpPr>
          <p:cNvPr id="354" name="Google Shape;354;p3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Relationships</a:t>
            </a:r>
            <a:endParaRPr/>
          </a:p>
          <a:p>
            <a:pPr indent="-246888" lvl="1" marL="640080" rtl="0" algn="l">
              <a:spcBef>
                <a:spcPts val="480"/>
              </a:spcBef>
              <a:spcAft>
                <a:spcPts val="0"/>
              </a:spcAft>
              <a:buSzPts val="2040"/>
              <a:buChar char="⚫"/>
            </a:pPr>
            <a:r>
              <a:rPr lang="en-US"/>
              <a:t>Dependency: thể hiện sự phụ</a:t>
            </a:r>
            <a:endParaRPr/>
          </a:p>
          <a:p>
            <a:pPr indent="-246888" lvl="1" marL="640080" rtl="0" algn="l">
              <a:spcBef>
                <a:spcPts val="480"/>
              </a:spcBef>
              <a:spcAft>
                <a:spcPts val="0"/>
              </a:spcAft>
              <a:buSzPts val="2040"/>
              <a:buNone/>
            </a:pPr>
            <a:r>
              <a:rPr lang="en-US"/>
              <a:t>thuộc giữa hai phần tử của</a:t>
            </a:r>
            <a:endParaRPr/>
          </a:p>
          <a:p>
            <a:pPr indent="-246888" lvl="1" marL="640080" rtl="0" algn="l">
              <a:spcBef>
                <a:spcPts val="480"/>
              </a:spcBef>
              <a:spcAft>
                <a:spcPts val="0"/>
              </a:spcAft>
              <a:buSzPts val="2040"/>
              <a:buNone/>
            </a:pPr>
            <a:r>
              <a:rPr lang="en-US"/>
              <a:t>một hệ thống.</a:t>
            </a:r>
            <a:endParaRPr/>
          </a:p>
        </p:txBody>
      </p:sp>
      <p:sp>
        <p:nvSpPr>
          <p:cNvPr id="355" name="Google Shape;355;p3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356" name="Google Shape;356;p31"/>
          <p:cNvPicPr preferRelativeResize="0"/>
          <p:nvPr/>
        </p:nvPicPr>
        <p:blipFill rotWithShape="1">
          <a:blip r:embed="rId3">
            <a:alphaModFix/>
          </a:blip>
          <a:srcRect b="0" l="0" r="0" t="0"/>
          <a:stretch/>
        </p:blipFill>
        <p:spPr>
          <a:xfrm>
            <a:off x="5257800" y="2057400"/>
            <a:ext cx="3573895" cy="3124200"/>
          </a:xfrm>
          <a:prstGeom prst="rect">
            <a:avLst/>
          </a:prstGeom>
          <a:noFill/>
          <a:ln>
            <a:noFill/>
          </a:ln>
        </p:spPr>
      </p:pic>
      <p:pic>
        <p:nvPicPr>
          <p:cNvPr id="357" name="Google Shape;357;p31"/>
          <p:cNvPicPr preferRelativeResize="0"/>
          <p:nvPr/>
        </p:nvPicPr>
        <p:blipFill rotWithShape="1">
          <a:blip r:embed="rId4">
            <a:alphaModFix/>
          </a:blip>
          <a:srcRect b="0" l="0" r="0" t="0"/>
          <a:stretch/>
        </p:blipFill>
        <p:spPr>
          <a:xfrm>
            <a:off x="762000" y="3962400"/>
            <a:ext cx="4305300" cy="14859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t/>
            </a:r>
            <a:endParaRPr/>
          </a:p>
        </p:txBody>
      </p:sp>
      <p:sp>
        <p:nvSpPr>
          <p:cNvPr id="363" name="Google Shape;363;p3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Association: mqh chung</a:t>
            </a:r>
            <a:endParaRPr/>
          </a:p>
          <a:p>
            <a:pPr indent="-274320" lvl="0" marL="274320" rtl="0" algn="l">
              <a:spcBef>
                <a:spcPts val="520"/>
              </a:spcBef>
              <a:spcAft>
                <a:spcPts val="0"/>
              </a:spcAft>
              <a:buSzPts val="2470"/>
              <a:buNone/>
            </a:pPr>
            <a:r>
              <a:rPr lang="en-US"/>
              <a:t>giữa hai phần tử UML</a:t>
            </a:r>
            <a:endParaRPr/>
          </a:p>
          <a:p>
            <a:pPr indent="-117475"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a:p>
            <a:pPr indent="-274320" lvl="0" marL="274320" rtl="0" algn="l">
              <a:spcBef>
                <a:spcPts val="520"/>
              </a:spcBef>
              <a:spcAft>
                <a:spcPts val="0"/>
              </a:spcAft>
              <a:buSzPts val="2470"/>
              <a:buChar char="⚫"/>
            </a:pPr>
            <a:r>
              <a:rPr lang="en-US"/>
              <a:t>Generalization</a:t>
            </a:r>
            <a:r>
              <a:rPr lang="en-US"/>
              <a:t>: mqh cha</a:t>
            </a:r>
            <a:endParaRPr/>
          </a:p>
          <a:p>
            <a:pPr indent="-274320" lvl="0" marL="274320" rtl="0" algn="l">
              <a:spcBef>
                <a:spcPts val="520"/>
              </a:spcBef>
              <a:spcAft>
                <a:spcPts val="0"/>
              </a:spcAft>
              <a:buSzPts val="2470"/>
              <a:buNone/>
            </a:pPr>
            <a:r>
              <a:rPr lang="en-US"/>
              <a:t>con của hai phần tử UML</a:t>
            </a:r>
            <a:endParaRPr/>
          </a:p>
          <a:p>
            <a:pPr indent="-117475" lvl="0" marL="274320" rtl="0" algn="l">
              <a:spcBef>
                <a:spcPts val="520"/>
              </a:spcBef>
              <a:spcAft>
                <a:spcPts val="0"/>
              </a:spcAft>
              <a:buSzPts val="2470"/>
              <a:buNone/>
            </a:pPr>
            <a:r>
              <a:t/>
            </a:r>
            <a:endParaRPr/>
          </a:p>
          <a:p>
            <a:pPr indent="-274320"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p:txBody>
      </p:sp>
      <p:sp>
        <p:nvSpPr>
          <p:cNvPr id="364" name="Google Shape;364;p3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365" name="Google Shape;365;p32"/>
          <p:cNvPicPr preferRelativeResize="0"/>
          <p:nvPr/>
        </p:nvPicPr>
        <p:blipFill rotWithShape="1">
          <a:blip r:embed="rId3">
            <a:alphaModFix/>
          </a:blip>
          <a:srcRect b="0" l="0" r="0" t="0"/>
          <a:stretch/>
        </p:blipFill>
        <p:spPr>
          <a:xfrm>
            <a:off x="4419600" y="2133600"/>
            <a:ext cx="4171950" cy="1352550"/>
          </a:xfrm>
          <a:prstGeom prst="rect">
            <a:avLst/>
          </a:prstGeom>
          <a:noFill/>
          <a:ln>
            <a:noFill/>
          </a:ln>
        </p:spPr>
      </p:pic>
      <p:pic>
        <p:nvPicPr>
          <p:cNvPr id="366" name="Google Shape;366;p32"/>
          <p:cNvPicPr preferRelativeResize="0"/>
          <p:nvPr/>
        </p:nvPicPr>
        <p:blipFill rotWithShape="1">
          <a:blip r:embed="rId4">
            <a:alphaModFix/>
          </a:blip>
          <a:srcRect b="0" l="0" r="0" t="0"/>
          <a:stretch/>
        </p:blipFill>
        <p:spPr>
          <a:xfrm>
            <a:off x="4495800" y="3810000"/>
            <a:ext cx="3905250" cy="3905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t/>
            </a:r>
            <a:endParaRPr/>
          </a:p>
        </p:txBody>
      </p:sp>
      <p:sp>
        <p:nvSpPr>
          <p:cNvPr id="372" name="Google Shape;372;p3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Các ký hiệu mở rộng (Extensibility Notations)</a:t>
            </a:r>
            <a:endParaRPr/>
          </a:p>
          <a:p>
            <a:pPr indent="-246888" lvl="1" marL="640080" rtl="0" algn="l">
              <a:spcBef>
                <a:spcPts val="480"/>
              </a:spcBef>
              <a:spcAft>
                <a:spcPts val="0"/>
              </a:spcAft>
              <a:buSzPts val="2040"/>
              <a:buChar char="⚫"/>
            </a:pPr>
            <a:r>
              <a:rPr lang="en-US"/>
              <a:t>StereoTypes – thể hiện một phần tử mới</a:t>
            </a:r>
            <a:endParaRPr/>
          </a:p>
          <a:p>
            <a:pPr indent="-246888" lvl="1" marL="640080" rtl="0" algn="l">
              <a:spcBef>
                <a:spcPts val="480"/>
              </a:spcBef>
              <a:spcAft>
                <a:spcPts val="0"/>
              </a:spcAft>
              <a:buSzPts val="2040"/>
              <a:buChar char="⚫"/>
            </a:pPr>
            <a:r>
              <a:rPr lang="en-US"/>
              <a:t>Tagged values – thể hiện thuộc tính mới</a:t>
            </a:r>
            <a:endParaRPr/>
          </a:p>
          <a:p>
            <a:pPr indent="-246888" lvl="1" marL="640080" rtl="0" algn="l">
              <a:spcBef>
                <a:spcPts val="480"/>
              </a:spcBef>
              <a:spcAft>
                <a:spcPts val="0"/>
              </a:spcAft>
              <a:buSzPts val="2040"/>
              <a:buChar char="⚫"/>
            </a:pPr>
            <a:r>
              <a:rPr lang="en-US"/>
              <a:t>Constraints – thể hiện các giới hạn</a:t>
            </a:r>
            <a:endParaRPr/>
          </a:p>
        </p:txBody>
      </p:sp>
      <p:sp>
        <p:nvSpPr>
          <p:cNvPr id="373" name="Google Shape;373;p3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374" name="Google Shape;374;p33"/>
          <p:cNvPicPr preferRelativeResize="0"/>
          <p:nvPr/>
        </p:nvPicPr>
        <p:blipFill rotWithShape="1">
          <a:blip r:embed="rId3">
            <a:alphaModFix/>
          </a:blip>
          <a:srcRect b="0" l="0" r="0" t="0"/>
          <a:stretch/>
        </p:blipFill>
        <p:spPr>
          <a:xfrm>
            <a:off x="2438400" y="3810000"/>
            <a:ext cx="3971925" cy="24479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4"/>
          <p:cNvSpPr txBox="1"/>
          <p:nvPr>
            <p:ph type="title"/>
          </p:nvPr>
        </p:nvSpPr>
        <p:spPr>
          <a:xfrm>
            <a:off x="2895600" y="2438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The End.</a:t>
            </a:r>
            <a:endParaRPr/>
          </a:p>
        </p:txBody>
      </p:sp>
      <p:sp>
        <p:nvSpPr>
          <p:cNvPr id="380" name="Google Shape;380;p3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2017-11-13T20:26:15Z</dcterms:created>
  <dc:creator>ThuGiang</dc:creator>
</cp:coreProperties>
</file>