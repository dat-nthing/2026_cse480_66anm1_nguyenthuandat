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6858000" cx="9144000"/>
  <p:notesSz cx="6858000" cy="9144000"/>
  <p:embeddedFontLst>
    <p:embeddedFont>
      <p:font typeface="Constantia"/>
      <p:regular r:id="rId30"/>
      <p:bold r:id="rId31"/>
      <p:italic r:id="rId32"/>
      <p:boldItalic r:id="rId33"/>
    </p:embeddedFont>
    <p:embeddedFont>
      <p:font typeface="Arial Narrow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8" roundtripDataSignature="AMtx7mjPFlrkxkxegb4rwe/DwFDqi77G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AD857B-4DC3-44C9-908D-A9506AD77369}">
  <a:tblStyle styleId="{94AD857B-4DC3-44C9-908D-A9506AD7736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Constantia-bold.fntdata"/><Relationship Id="rId30" Type="http://schemas.openxmlformats.org/officeDocument/2006/relationships/font" Target="fonts/Constantia-regular.fntdata"/><Relationship Id="rId11" Type="http://schemas.openxmlformats.org/officeDocument/2006/relationships/slide" Target="slides/slide4.xml"/><Relationship Id="rId33" Type="http://schemas.openxmlformats.org/officeDocument/2006/relationships/font" Target="fonts/Constantia-boldItalic.fntdata"/><Relationship Id="rId10" Type="http://schemas.openxmlformats.org/officeDocument/2006/relationships/slide" Target="slides/slide3.xml"/><Relationship Id="rId32" Type="http://schemas.openxmlformats.org/officeDocument/2006/relationships/font" Target="fonts/Constantia-italic.fntdata"/><Relationship Id="rId13" Type="http://schemas.openxmlformats.org/officeDocument/2006/relationships/slide" Target="slides/slide6.xml"/><Relationship Id="rId35" Type="http://schemas.openxmlformats.org/officeDocument/2006/relationships/font" Target="fonts/ArialNarrow-bold.fntdata"/><Relationship Id="rId12" Type="http://schemas.openxmlformats.org/officeDocument/2006/relationships/slide" Target="slides/slide5.xml"/><Relationship Id="rId34" Type="http://schemas.openxmlformats.org/officeDocument/2006/relationships/font" Target="fonts/ArialNarrow-regular.fntdata"/><Relationship Id="rId15" Type="http://schemas.openxmlformats.org/officeDocument/2006/relationships/slide" Target="slides/slide8.xml"/><Relationship Id="rId37" Type="http://schemas.openxmlformats.org/officeDocument/2006/relationships/font" Target="fonts/ArialNarrow-boldItalic.fntdata"/><Relationship Id="rId14" Type="http://schemas.openxmlformats.org/officeDocument/2006/relationships/slide" Target="slides/slide7.xml"/><Relationship Id="rId36" Type="http://schemas.openxmlformats.org/officeDocument/2006/relationships/font" Target="fonts/ArialNarrow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customschemas.google.com/relationships/presentationmetadata" Target="meta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5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b="1" sz="5600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" type="body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9"/>
          <p:cNvSpPr txBox="1"/>
          <p:nvPr>
            <p:ph idx="1" type="body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9"/>
          <p:cNvSpPr txBox="1"/>
          <p:nvPr>
            <p:ph idx="2" type="body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30"/>
          <p:cNvSpPr txBox="1"/>
          <p:nvPr>
            <p:ph idx="2" type="body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3" type="body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4" type="body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0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1"/>
          <p:cNvSpPr txBox="1"/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3"/>
          <p:cNvSpPr txBox="1"/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3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33"/>
          <p:cNvSpPr txBox="1"/>
          <p:nvPr>
            <p:ph idx="2" type="body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4"/>
          <p:cNvSpPr/>
          <p:nvPr/>
        </p:nvSpPr>
        <p:spPr>
          <a:xfrm flipH="1" rot="-10380000">
            <a:off x="3165753" y="1108077"/>
            <a:ext cx="5257800" cy="4114800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0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9" name="Google Shape;89;p34"/>
          <p:cNvSpPr/>
          <p:nvPr/>
        </p:nvSpPr>
        <p:spPr>
          <a:xfrm flipH="1" rot="-10380000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0" name="Google Shape;90;p34"/>
          <p:cNvSpPr txBox="1"/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4"/>
          <p:cNvSpPr txBox="1"/>
          <p:nvPr>
            <p:ph idx="1" type="body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indent="-293369" lvl="1" marL="914400" algn="l"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73050" lvl="2" marL="1371600" algn="l"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indent="-265747" lvl="3" marL="18288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indent="-265747" lvl="4" marL="22860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4"/>
          <p:cNvSpPr txBox="1"/>
          <p:nvPr>
            <p:ph idx="12" type="sldNum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34"/>
          <p:cNvSpPr/>
          <p:nvPr>
            <p:ph idx="2" type="pic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accent3"/>
              </a:buClr>
              <a:buSzPts val="304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96" name="Google Shape;96;p34"/>
          <p:cNvSpPr/>
          <p:nvPr/>
        </p:nvSpPr>
        <p:spPr>
          <a:xfrm flipH="1" rot="10800000">
            <a:off x="-9525" y="5816600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7" name="Google Shape;97;p34"/>
          <p:cNvSpPr/>
          <p:nvPr/>
        </p:nvSpPr>
        <p:spPr>
          <a:xfrm flipH="1" rot="10800000">
            <a:off x="4381500" y="6219825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5"/>
          <p:cNvSpPr txBox="1"/>
          <p:nvPr>
            <p:ph idx="1" type="body"/>
          </p:nvPr>
        </p:nvSpPr>
        <p:spPr>
          <a:xfrm rot="5400000">
            <a:off x="2377440" y="15240"/>
            <a:ext cx="438912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5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6"/>
          <p:cNvSpPr txBox="1"/>
          <p:nvPr>
            <p:ph type="title"/>
          </p:nvPr>
        </p:nvSpPr>
        <p:spPr>
          <a:xfrm rot="5400000">
            <a:off x="5052218" y="2491583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6"/>
          <p:cNvSpPr txBox="1"/>
          <p:nvPr>
            <p:ph idx="1" type="body"/>
          </p:nvPr>
        </p:nvSpPr>
        <p:spPr>
          <a:xfrm rot="5400000">
            <a:off x="861219" y="510383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6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1" name="Google Shape;11;p24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2" name="Google Shape;12;p2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Calibri"/>
              <a:buNone/>
              <a:defRPr b="0" i="0" sz="5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5" name="Google Shape;15;p2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" name="Google Shape;17;p24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18" name="Google Shape;18;p24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9" name="Google Shape;19;p24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3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8" name="Google Shape;28;p23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9" name="Google Shape;29;p2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1" name="Google Shape;3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2" name="Google Shape;32;p2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3" name="Google Shape;33;p2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4" name="Google Shape;34;p23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35" name="Google Shape;35;p23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6" name="Google Shape;36;p23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namnv@tlu.edu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Phân tích Thiết kế HTTT</a:t>
            </a:r>
            <a:endParaRPr/>
          </a:p>
        </p:txBody>
      </p:sp>
      <p:sp>
        <p:nvSpPr>
          <p:cNvPr id="115" name="Google Shape;115;p1"/>
          <p:cNvSpPr txBox="1"/>
          <p:nvPr>
            <p:ph idx="1" type="subTitle"/>
          </p:nvPr>
        </p:nvSpPr>
        <p:spPr>
          <a:xfrm>
            <a:off x="533400" y="4191000"/>
            <a:ext cx="7854696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Ths. Nguyễn Văn Nam</a:t>
            </a:r>
            <a:endParaRPr/>
          </a:p>
          <a:p>
            <a:pPr indent="0" lvl="0" marL="0" marR="45720" rtl="0" algn="r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Email: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namnv@tlu.edu.vn</a:t>
            </a:r>
            <a:endParaRPr/>
          </a:p>
          <a:p>
            <a:pPr indent="0" lvl="0" marL="0" marR="45720" rtl="0" algn="r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Website: namvannguyen.blogspot.com</a:t>
            </a:r>
            <a:endParaRPr/>
          </a:p>
          <a:p>
            <a:pPr indent="0" lvl="0" marL="0" marR="45720" rtl="0" algn="r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116" name="Google Shape;116;p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1"/>
          <p:cNvSpPr txBox="1"/>
          <p:nvPr/>
        </p:nvSpPr>
        <p:spPr>
          <a:xfrm>
            <a:off x="609600" y="3200400"/>
            <a:ext cx="78546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40"/>
              <a:buFont typeface="Noto Sans Symbols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Thiết kế </a:t>
            </a:r>
            <a:r>
              <a:rPr lang="en-US" sz="32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Database</a:t>
            </a:r>
            <a:endParaRPr b="0" i="0" sz="32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Mục tiêu</a:t>
            </a:r>
            <a:endParaRPr/>
          </a:p>
        </p:txBody>
      </p:sp>
      <p:sp>
        <p:nvSpPr>
          <p:cNvPr id="123" name="Google Shape;123;p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2"/>
          <p:cNvSpPr txBox="1"/>
          <p:nvPr>
            <p:ph idx="1" type="body"/>
          </p:nvPr>
        </p:nvSpPr>
        <p:spPr>
          <a:xfrm>
            <a:off x="423862" y="202723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Xác định mục đích của hoạt động thiết kế cơ sở dữ liệu và vị trí của hoạt động trong vòng đời phát triển phần mềm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Giải thích các lớp bền vững (persistent classes) được ánh xạ vào các mô hình dữ liệu như thế nào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Học cách phân phối hành vi của lớp vào trong cơ sở dữ liệu như thế nào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592677" y="14310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50"/>
              <a:buFont typeface="Calibri"/>
              <a:buNone/>
            </a:pPr>
            <a:r>
              <a:rPr b="0" lang="en-US" sz="42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Tổng quan về thiết kế cơ sở dữ liệu</a:t>
            </a:r>
            <a:endParaRPr b="0" sz="425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" name="Google Shape;131;p3"/>
          <p:cNvGrpSpPr/>
          <p:nvPr/>
        </p:nvGrpSpPr>
        <p:grpSpPr>
          <a:xfrm>
            <a:off x="387350" y="1752599"/>
            <a:ext cx="7994650" cy="4554539"/>
            <a:chOff x="387350" y="1003301"/>
            <a:chExt cx="8312150" cy="5303838"/>
          </a:xfrm>
        </p:grpSpPr>
        <p:grpSp>
          <p:nvGrpSpPr>
            <p:cNvPr id="132" name="Google Shape;132;p3"/>
            <p:cNvGrpSpPr/>
            <p:nvPr/>
          </p:nvGrpSpPr>
          <p:grpSpPr>
            <a:xfrm>
              <a:off x="781058" y="1003301"/>
              <a:ext cx="1736727" cy="1589088"/>
              <a:chOff x="3971" y="1776"/>
              <a:chExt cx="1094" cy="1001"/>
            </a:xfrm>
          </p:grpSpPr>
          <p:grpSp>
            <p:nvGrpSpPr>
              <p:cNvPr id="133" name="Google Shape;133;p3"/>
              <p:cNvGrpSpPr/>
              <p:nvPr/>
            </p:nvGrpSpPr>
            <p:grpSpPr>
              <a:xfrm>
                <a:off x="4297" y="1776"/>
                <a:ext cx="432" cy="720"/>
                <a:chOff x="1249" y="2496"/>
                <a:chExt cx="432" cy="720"/>
              </a:xfrm>
            </p:grpSpPr>
            <p:sp>
              <p:nvSpPr>
                <p:cNvPr id="134" name="Google Shape;134;p3"/>
                <p:cNvSpPr/>
                <p:nvPr/>
              </p:nvSpPr>
              <p:spPr>
                <a:xfrm>
                  <a:off x="1249" y="2496"/>
                  <a:ext cx="432" cy="72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135" name="Google Shape;135;p3"/>
                <p:cNvCxnSpPr/>
                <p:nvPr/>
              </p:nvCxnSpPr>
              <p:spPr>
                <a:xfrm>
                  <a:off x="1537" y="2496"/>
                  <a:ext cx="144" cy="14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36" name="Google Shape;136;p3"/>
                <p:cNvCxnSpPr/>
                <p:nvPr/>
              </p:nvCxnSpPr>
              <p:spPr>
                <a:xfrm>
                  <a:off x="1537" y="2496"/>
                  <a:ext cx="0" cy="14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37" name="Google Shape;137;p3"/>
                <p:cNvCxnSpPr/>
                <p:nvPr/>
              </p:nvCxnSpPr>
              <p:spPr>
                <a:xfrm rot="10800000">
                  <a:off x="1537" y="2640"/>
                  <a:ext cx="144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38" name="Google Shape;138;p3"/>
                <p:cNvCxnSpPr/>
                <p:nvPr/>
              </p:nvCxnSpPr>
              <p:spPr>
                <a:xfrm>
                  <a:off x="1297" y="2736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39" name="Google Shape;139;p3"/>
                <p:cNvCxnSpPr/>
                <p:nvPr/>
              </p:nvCxnSpPr>
              <p:spPr>
                <a:xfrm>
                  <a:off x="1297" y="2784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0" name="Google Shape;140;p3"/>
                <p:cNvCxnSpPr/>
                <p:nvPr/>
              </p:nvCxnSpPr>
              <p:spPr>
                <a:xfrm>
                  <a:off x="1297" y="2832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1" name="Google Shape;141;p3"/>
                <p:cNvCxnSpPr/>
                <p:nvPr/>
              </p:nvCxnSpPr>
              <p:spPr>
                <a:xfrm>
                  <a:off x="1297" y="292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2" name="Google Shape;142;p3"/>
                <p:cNvCxnSpPr/>
                <p:nvPr/>
              </p:nvCxnSpPr>
              <p:spPr>
                <a:xfrm>
                  <a:off x="1297" y="2880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3" name="Google Shape;143;p3"/>
                <p:cNvCxnSpPr/>
                <p:nvPr/>
              </p:nvCxnSpPr>
              <p:spPr>
                <a:xfrm>
                  <a:off x="1297" y="2976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4" name="Google Shape;144;p3"/>
                <p:cNvCxnSpPr/>
                <p:nvPr/>
              </p:nvCxnSpPr>
              <p:spPr>
                <a:xfrm>
                  <a:off x="1297" y="3024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5" name="Google Shape;145;p3"/>
                <p:cNvCxnSpPr/>
                <p:nvPr/>
              </p:nvCxnSpPr>
              <p:spPr>
                <a:xfrm>
                  <a:off x="1297" y="3072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6" name="Google Shape;146;p3"/>
                <p:cNvCxnSpPr/>
                <p:nvPr/>
              </p:nvCxnSpPr>
              <p:spPr>
                <a:xfrm>
                  <a:off x="1297" y="3120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7" name="Google Shape;147;p3"/>
                <p:cNvCxnSpPr/>
                <p:nvPr/>
              </p:nvCxnSpPr>
              <p:spPr>
                <a:xfrm>
                  <a:off x="1297" y="316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8" name="Google Shape;148;p3"/>
                <p:cNvCxnSpPr/>
                <p:nvPr/>
              </p:nvCxnSpPr>
              <p:spPr>
                <a:xfrm>
                  <a:off x="1297" y="268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9" name="Google Shape;149;p3"/>
                <p:cNvCxnSpPr/>
                <p:nvPr/>
              </p:nvCxnSpPr>
              <p:spPr>
                <a:xfrm>
                  <a:off x="1297" y="2592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0" name="Google Shape;150;p3"/>
                <p:cNvCxnSpPr/>
                <p:nvPr/>
              </p:nvCxnSpPr>
              <p:spPr>
                <a:xfrm>
                  <a:off x="1297" y="2544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1" name="Google Shape;151;p3"/>
                <p:cNvCxnSpPr/>
                <p:nvPr/>
              </p:nvCxnSpPr>
              <p:spPr>
                <a:xfrm>
                  <a:off x="1297" y="2640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52" name="Google Shape;152;p3"/>
              <p:cNvSpPr txBox="1"/>
              <p:nvPr/>
            </p:nvSpPr>
            <p:spPr>
              <a:xfrm>
                <a:off x="3971" y="2544"/>
                <a:ext cx="10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Đặc tả bổ xung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sp>
          <p:nvSpPr>
            <p:cNvPr id="153" name="Google Shape;153;p3"/>
            <p:cNvSpPr/>
            <p:nvPr/>
          </p:nvSpPr>
          <p:spPr>
            <a:xfrm>
              <a:off x="4000500" y="3276600"/>
              <a:ext cx="1714500" cy="966788"/>
            </a:xfrm>
            <a:prstGeom prst="homePlate">
              <a:avLst>
                <a:gd fmla="val 49918" name="adj"/>
              </a:avLst>
            </a:prstGeom>
            <a:solidFill>
              <a:srgbClr val="00CCFF"/>
            </a:solidFill>
            <a:ln cap="flat" cmpd="sng" w="28575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chemeClr val="lt2"/>
                  </a:solidFill>
                  <a:latin typeface="Constantia"/>
                  <a:ea typeface="Constantia"/>
                  <a:cs typeface="Constantia"/>
                  <a:sym typeface="Constantia"/>
                </a:rPr>
                <a:t>Thiết kế</a:t>
              </a:r>
              <a:endParaRPr b="1" sz="1700">
                <a:solidFill>
                  <a:schemeClr val="lt2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chemeClr val="lt2"/>
                  </a:solidFill>
                  <a:latin typeface="Constantia"/>
                  <a:ea typeface="Constantia"/>
                  <a:cs typeface="Constantia"/>
                  <a:sym typeface="Constantia"/>
                </a:rPr>
                <a:t> cơ sở dữ liệu</a:t>
              </a:r>
              <a:endParaRPr sz="1700">
                <a:solidFill>
                  <a:schemeClr val="lt2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grpSp>
          <p:nvGrpSpPr>
            <p:cNvPr id="154" name="Google Shape;154;p3"/>
            <p:cNvGrpSpPr/>
            <p:nvPr/>
          </p:nvGrpSpPr>
          <p:grpSpPr>
            <a:xfrm>
              <a:off x="387350" y="3211513"/>
              <a:ext cx="2852741" cy="881062"/>
              <a:chOff x="180" y="1919"/>
              <a:chExt cx="1797" cy="555"/>
            </a:xfrm>
          </p:grpSpPr>
          <p:sp>
            <p:nvSpPr>
              <p:cNvPr id="155" name="Google Shape;155;p3"/>
              <p:cNvSpPr/>
              <p:nvPr/>
            </p:nvSpPr>
            <p:spPr>
              <a:xfrm>
                <a:off x="604" y="1919"/>
                <a:ext cx="624" cy="288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156" name="Google Shape;156;p3"/>
              <p:cNvSpPr txBox="1"/>
              <p:nvPr/>
            </p:nvSpPr>
            <p:spPr>
              <a:xfrm>
                <a:off x="180" y="2241"/>
                <a:ext cx="1797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Hiện thực hóa ca sử dụng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cxnSp>
          <p:nvCxnSpPr>
            <p:cNvPr id="157" name="Google Shape;157;p3"/>
            <p:cNvCxnSpPr/>
            <p:nvPr/>
          </p:nvCxnSpPr>
          <p:spPr>
            <a:xfrm flipH="1" rot="10800000">
              <a:off x="2754313" y="3751263"/>
              <a:ext cx="1195387" cy="3175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158" name="Google Shape;158;p3"/>
            <p:cNvGrpSpPr/>
            <p:nvPr/>
          </p:nvGrpSpPr>
          <p:grpSpPr>
            <a:xfrm>
              <a:off x="768364" y="4441826"/>
              <a:ext cx="2130430" cy="1865313"/>
              <a:chOff x="3959" y="1776"/>
              <a:chExt cx="1342" cy="1175"/>
            </a:xfrm>
          </p:grpSpPr>
          <p:grpSp>
            <p:nvGrpSpPr>
              <p:cNvPr id="159" name="Google Shape;159;p3"/>
              <p:cNvGrpSpPr/>
              <p:nvPr/>
            </p:nvGrpSpPr>
            <p:grpSpPr>
              <a:xfrm>
                <a:off x="4297" y="1776"/>
                <a:ext cx="432" cy="720"/>
                <a:chOff x="1249" y="2496"/>
                <a:chExt cx="432" cy="720"/>
              </a:xfrm>
            </p:grpSpPr>
            <p:sp>
              <p:nvSpPr>
                <p:cNvPr id="160" name="Google Shape;160;p3"/>
                <p:cNvSpPr/>
                <p:nvPr/>
              </p:nvSpPr>
              <p:spPr>
                <a:xfrm>
                  <a:off x="1249" y="2496"/>
                  <a:ext cx="432" cy="72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161" name="Google Shape;161;p3"/>
                <p:cNvCxnSpPr/>
                <p:nvPr/>
              </p:nvCxnSpPr>
              <p:spPr>
                <a:xfrm>
                  <a:off x="1537" y="2496"/>
                  <a:ext cx="144" cy="14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2" name="Google Shape;162;p3"/>
                <p:cNvCxnSpPr/>
                <p:nvPr/>
              </p:nvCxnSpPr>
              <p:spPr>
                <a:xfrm>
                  <a:off x="1537" y="2496"/>
                  <a:ext cx="0" cy="14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3" name="Google Shape;163;p3"/>
                <p:cNvCxnSpPr/>
                <p:nvPr/>
              </p:nvCxnSpPr>
              <p:spPr>
                <a:xfrm rot="10800000">
                  <a:off x="1537" y="2640"/>
                  <a:ext cx="144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4" name="Google Shape;164;p3"/>
                <p:cNvCxnSpPr/>
                <p:nvPr/>
              </p:nvCxnSpPr>
              <p:spPr>
                <a:xfrm>
                  <a:off x="1297" y="2736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5" name="Google Shape;165;p3"/>
                <p:cNvCxnSpPr/>
                <p:nvPr/>
              </p:nvCxnSpPr>
              <p:spPr>
                <a:xfrm>
                  <a:off x="1297" y="2784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6" name="Google Shape;166;p3"/>
                <p:cNvCxnSpPr/>
                <p:nvPr/>
              </p:nvCxnSpPr>
              <p:spPr>
                <a:xfrm>
                  <a:off x="1297" y="2832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7" name="Google Shape;167;p3"/>
                <p:cNvCxnSpPr/>
                <p:nvPr/>
              </p:nvCxnSpPr>
              <p:spPr>
                <a:xfrm>
                  <a:off x="1297" y="292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8" name="Google Shape;168;p3"/>
                <p:cNvCxnSpPr/>
                <p:nvPr/>
              </p:nvCxnSpPr>
              <p:spPr>
                <a:xfrm>
                  <a:off x="1297" y="2880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9" name="Google Shape;169;p3"/>
                <p:cNvCxnSpPr/>
                <p:nvPr/>
              </p:nvCxnSpPr>
              <p:spPr>
                <a:xfrm>
                  <a:off x="1297" y="2976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0" name="Google Shape;170;p3"/>
                <p:cNvCxnSpPr/>
                <p:nvPr/>
              </p:nvCxnSpPr>
              <p:spPr>
                <a:xfrm>
                  <a:off x="1297" y="3024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1" name="Google Shape;171;p3"/>
                <p:cNvCxnSpPr/>
                <p:nvPr/>
              </p:nvCxnSpPr>
              <p:spPr>
                <a:xfrm>
                  <a:off x="1297" y="3072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2" name="Google Shape;172;p3"/>
                <p:cNvCxnSpPr/>
                <p:nvPr/>
              </p:nvCxnSpPr>
              <p:spPr>
                <a:xfrm>
                  <a:off x="1297" y="3120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3" name="Google Shape;173;p3"/>
                <p:cNvCxnSpPr/>
                <p:nvPr/>
              </p:nvCxnSpPr>
              <p:spPr>
                <a:xfrm>
                  <a:off x="1297" y="316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4" name="Google Shape;174;p3"/>
                <p:cNvCxnSpPr/>
                <p:nvPr/>
              </p:nvCxnSpPr>
              <p:spPr>
                <a:xfrm>
                  <a:off x="1297" y="268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5" name="Google Shape;175;p3"/>
                <p:cNvCxnSpPr/>
                <p:nvPr/>
              </p:nvCxnSpPr>
              <p:spPr>
                <a:xfrm>
                  <a:off x="1297" y="2592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6" name="Google Shape;176;p3"/>
                <p:cNvCxnSpPr/>
                <p:nvPr/>
              </p:nvCxnSpPr>
              <p:spPr>
                <a:xfrm>
                  <a:off x="1297" y="2544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7" name="Google Shape;177;p3"/>
                <p:cNvCxnSpPr/>
                <p:nvPr/>
              </p:nvCxnSpPr>
              <p:spPr>
                <a:xfrm>
                  <a:off x="1297" y="2640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78" name="Google Shape;178;p3"/>
              <p:cNvSpPr txBox="1"/>
              <p:nvPr/>
            </p:nvSpPr>
            <p:spPr>
              <a:xfrm>
                <a:off x="3959" y="2544"/>
                <a:ext cx="1342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Tài liệu hướng dẫn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chuyên cho dự án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cxnSp>
          <p:nvCxnSpPr>
            <p:cNvPr id="179" name="Google Shape;179;p3"/>
            <p:cNvCxnSpPr/>
            <p:nvPr/>
          </p:nvCxnSpPr>
          <p:spPr>
            <a:xfrm>
              <a:off x="5765800" y="3759200"/>
              <a:ext cx="762000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80" name="Google Shape;180;p3"/>
            <p:cNvCxnSpPr/>
            <p:nvPr/>
          </p:nvCxnSpPr>
          <p:spPr>
            <a:xfrm>
              <a:off x="2449513" y="2590800"/>
              <a:ext cx="1501775" cy="841375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81" name="Google Shape;181;p3"/>
            <p:cNvCxnSpPr/>
            <p:nvPr/>
          </p:nvCxnSpPr>
          <p:spPr>
            <a:xfrm flipH="1" rot="10800000">
              <a:off x="2449513" y="4086225"/>
              <a:ext cx="1501775" cy="841375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182" name="Google Shape;182;p3"/>
            <p:cNvGrpSpPr/>
            <p:nvPr/>
          </p:nvGrpSpPr>
          <p:grpSpPr>
            <a:xfrm>
              <a:off x="6642100" y="2590800"/>
              <a:ext cx="2057400" cy="2060576"/>
              <a:chOff x="6642100" y="2590800"/>
              <a:chExt cx="2057400" cy="2060576"/>
            </a:xfrm>
          </p:grpSpPr>
          <p:cxnSp>
            <p:nvCxnSpPr>
              <p:cNvPr id="183" name="Google Shape;183;p3"/>
              <p:cNvCxnSpPr/>
              <p:nvPr/>
            </p:nvCxnSpPr>
            <p:spPr>
              <a:xfrm flipH="1">
                <a:off x="7570788" y="3082925"/>
                <a:ext cx="263525" cy="1077913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184" name="Google Shape;184;p3"/>
              <p:cNvGrpSpPr/>
              <p:nvPr/>
            </p:nvGrpSpPr>
            <p:grpSpPr>
              <a:xfrm>
                <a:off x="8035925" y="3671888"/>
                <a:ext cx="663575" cy="488950"/>
                <a:chOff x="4800" y="2160"/>
                <a:chExt cx="480" cy="336"/>
              </a:xfrm>
            </p:grpSpPr>
            <p:sp>
              <p:nvSpPr>
                <p:cNvPr id="185" name="Google Shape;185;p3"/>
                <p:cNvSpPr/>
                <p:nvPr/>
              </p:nvSpPr>
              <p:spPr>
                <a:xfrm>
                  <a:off x="4800" y="2160"/>
                  <a:ext cx="480" cy="336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186" name="Google Shape;186;p3"/>
                <p:cNvCxnSpPr/>
                <p:nvPr/>
              </p:nvCxnSpPr>
              <p:spPr>
                <a:xfrm>
                  <a:off x="4800" y="2400"/>
                  <a:ext cx="48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7" name="Google Shape;187;p3"/>
                <p:cNvCxnSpPr/>
                <p:nvPr/>
              </p:nvCxnSpPr>
              <p:spPr>
                <a:xfrm>
                  <a:off x="4800" y="2256"/>
                  <a:ext cx="48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8" name="Google Shape;188;p3"/>
                <p:cNvCxnSpPr/>
                <p:nvPr/>
              </p:nvCxnSpPr>
              <p:spPr>
                <a:xfrm>
                  <a:off x="4896" y="2160"/>
                  <a:ext cx="0" cy="3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9" name="Google Shape;189;p3"/>
                <p:cNvCxnSpPr/>
                <p:nvPr/>
              </p:nvCxnSpPr>
              <p:spPr>
                <a:xfrm>
                  <a:off x="5088" y="2160"/>
                  <a:ext cx="0" cy="3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90" name="Google Shape;190;p3"/>
              <p:cNvGrpSpPr/>
              <p:nvPr/>
            </p:nvGrpSpPr>
            <p:grpSpPr>
              <a:xfrm>
                <a:off x="7107238" y="4160838"/>
                <a:ext cx="663575" cy="490538"/>
                <a:chOff x="4800" y="2160"/>
                <a:chExt cx="480" cy="336"/>
              </a:xfrm>
            </p:grpSpPr>
            <p:sp>
              <p:nvSpPr>
                <p:cNvPr id="191" name="Google Shape;191;p3"/>
                <p:cNvSpPr/>
                <p:nvPr/>
              </p:nvSpPr>
              <p:spPr>
                <a:xfrm>
                  <a:off x="4800" y="2160"/>
                  <a:ext cx="480" cy="336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192" name="Google Shape;192;p3"/>
                <p:cNvCxnSpPr/>
                <p:nvPr/>
              </p:nvCxnSpPr>
              <p:spPr>
                <a:xfrm>
                  <a:off x="4800" y="2400"/>
                  <a:ext cx="48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3" name="Google Shape;193;p3"/>
                <p:cNvCxnSpPr/>
                <p:nvPr/>
              </p:nvCxnSpPr>
              <p:spPr>
                <a:xfrm>
                  <a:off x="4800" y="2256"/>
                  <a:ext cx="48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4" name="Google Shape;194;p3"/>
                <p:cNvCxnSpPr/>
                <p:nvPr/>
              </p:nvCxnSpPr>
              <p:spPr>
                <a:xfrm>
                  <a:off x="4896" y="2160"/>
                  <a:ext cx="0" cy="3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5" name="Google Shape;195;p3"/>
                <p:cNvCxnSpPr/>
                <p:nvPr/>
              </p:nvCxnSpPr>
              <p:spPr>
                <a:xfrm>
                  <a:off x="5088" y="2160"/>
                  <a:ext cx="0" cy="3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96" name="Google Shape;196;p3"/>
              <p:cNvGrpSpPr/>
              <p:nvPr/>
            </p:nvGrpSpPr>
            <p:grpSpPr>
              <a:xfrm>
                <a:off x="6642100" y="3390900"/>
                <a:ext cx="663575" cy="490538"/>
                <a:chOff x="4800" y="2160"/>
                <a:chExt cx="480" cy="336"/>
              </a:xfrm>
            </p:grpSpPr>
            <p:sp>
              <p:nvSpPr>
                <p:cNvPr id="197" name="Google Shape;197;p3"/>
                <p:cNvSpPr/>
                <p:nvPr/>
              </p:nvSpPr>
              <p:spPr>
                <a:xfrm>
                  <a:off x="4800" y="2160"/>
                  <a:ext cx="480" cy="336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198" name="Google Shape;198;p3"/>
                <p:cNvCxnSpPr/>
                <p:nvPr/>
              </p:nvCxnSpPr>
              <p:spPr>
                <a:xfrm>
                  <a:off x="4800" y="2400"/>
                  <a:ext cx="48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9" name="Google Shape;199;p3"/>
                <p:cNvCxnSpPr/>
                <p:nvPr/>
              </p:nvCxnSpPr>
              <p:spPr>
                <a:xfrm>
                  <a:off x="4800" y="2256"/>
                  <a:ext cx="48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0" name="Google Shape;200;p3"/>
                <p:cNvCxnSpPr/>
                <p:nvPr/>
              </p:nvCxnSpPr>
              <p:spPr>
                <a:xfrm>
                  <a:off x="4896" y="2160"/>
                  <a:ext cx="0" cy="3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1" name="Google Shape;201;p3"/>
                <p:cNvCxnSpPr/>
                <p:nvPr/>
              </p:nvCxnSpPr>
              <p:spPr>
                <a:xfrm>
                  <a:off x="5088" y="2160"/>
                  <a:ext cx="0" cy="3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202" name="Google Shape;202;p3"/>
              <p:cNvGrpSpPr/>
              <p:nvPr/>
            </p:nvGrpSpPr>
            <p:grpSpPr>
              <a:xfrm>
                <a:off x="7480300" y="2590800"/>
                <a:ext cx="665163" cy="490538"/>
                <a:chOff x="4800" y="2160"/>
                <a:chExt cx="480" cy="336"/>
              </a:xfrm>
            </p:grpSpPr>
            <p:sp>
              <p:nvSpPr>
                <p:cNvPr id="203" name="Google Shape;203;p3"/>
                <p:cNvSpPr/>
                <p:nvPr/>
              </p:nvSpPr>
              <p:spPr>
                <a:xfrm>
                  <a:off x="4800" y="2160"/>
                  <a:ext cx="480" cy="336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204" name="Google Shape;204;p3"/>
                <p:cNvCxnSpPr/>
                <p:nvPr/>
              </p:nvCxnSpPr>
              <p:spPr>
                <a:xfrm>
                  <a:off x="4800" y="2400"/>
                  <a:ext cx="48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5" name="Google Shape;205;p3"/>
                <p:cNvCxnSpPr/>
                <p:nvPr/>
              </p:nvCxnSpPr>
              <p:spPr>
                <a:xfrm>
                  <a:off x="4800" y="2256"/>
                  <a:ext cx="48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6" name="Google Shape;206;p3"/>
                <p:cNvCxnSpPr/>
                <p:nvPr/>
              </p:nvCxnSpPr>
              <p:spPr>
                <a:xfrm>
                  <a:off x="4896" y="2160"/>
                  <a:ext cx="0" cy="3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7" name="Google Shape;207;p3"/>
                <p:cNvCxnSpPr/>
                <p:nvPr/>
              </p:nvCxnSpPr>
              <p:spPr>
                <a:xfrm>
                  <a:off x="5088" y="2160"/>
                  <a:ext cx="0" cy="33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208" name="Google Shape;208;p3"/>
              <p:cNvCxnSpPr/>
              <p:nvPr/>
            </p:nvCxnSpPr>
            <p:spPr>
              <a:xfrm flipH="1" rot="10800000">
                <a:off x="7770813" y="4160838"/>
                <a:ext cx="530225" cy="280988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9" name="Google Shape;209;p3"/>
              <p:cNvCxnSpPr/>
              <p:nvPr/>
            </p:nvCxnSpPr>
            <p:spPr>
              <a:xfrm rot="10800000">
                <a:off x="7107238" y="3881438"/>
                <a:ext cx="198438" cy="279400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10" name="Google Shape;210;p3"/>
              <p:cNvCxnSpPr/>
              <p:nvPr/>
            </p:nvCxnSpPr>
            <p:spPr>
              <a:xfrm flipH="1" rot="10800000">
                <a:off x="6907213" y="2895600"/>
                <a:ext cx="573088" cy="495300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11" name="Google Shape;211;p3"/>
          <p:cNvSpPr txBox="1"/>
          <p:nvPr/>
        </p:nvSpPr>
        <p:spPr>
          <a:xfrm>
            <a:off x="6322989" y="4896775"/>
            <a:ext cx="1821011" cy="386003"/>
          </a:xfrm>
          <a:prstGeom prst="rect">
            <a:avLst/>
          </a:prstGeom>
          <a:noFill/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Mô hình dữ liệu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"/>
          <p:cNvSpPr txBox="1"/>
          <p:nvPr>
            <p:ph type="title"/>
          </p:nvPr>
        </p:nvSpPr>
        <p:spPr>
          <a:xfrm>
            <a:off x="457200" y="704088"/>
            <a:ext cx="82296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Các bước thiết kế csdl</a:t>
            </a:r>
            <a:endParaRPr sz="3600"/>
          </a:p>
        </p:txBody>
      </p:sp>
      <p:sp>
        <p:nvSpPr>
          <p:cNvPr id="217" name="Google Shape;217;p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Ánh xạ các lớp thiết kế bền vững vào các mô hình dữ liệu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Phân phối hành vi của lớp vào csdl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"/>
          <p:cNvSpPr txBox="1"/>
          <p:nvPr>
            <p:ph type="title"/>
          </p:nvPr>
        </p:nvSpPr>
        <p:spPr>
          <a:xfrm>
            <a:off x="457200" y="704088"/>
            <a:ext cx="8229600" cy="7437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Csdl quan hệ và Hướng đối tượng</a:t>
            </a:r>
            <a:endParaRPr sz="3600"/>
          </a:p>
        </p:txBody>
      </p:sp>
      <p:sp>
        <p:nvSpPr>
          <p:cNvPr id="224" name="Google Shape;224;p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" name="Google Shape;225;p5"/>
          <p:cNvSpPr txBox="1"/>
          <p:nvPr>
            <p:ph idx="1" type="body"/>
          </p:nvPr>
        </p:nvSpPr>
        <p:spPr>
          <a:xfrm>
            <a:off x="336550" y="1728788"/>
            <a:ext cx="8470900" cy="5119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660"/>
              <a:buChar char="⚫"/>
            </a:pPr>
            <a:r>
              <a:rPr lang="en-US" sz="2800"/>
              <a:t>RDBMS và Hướng đối tượng không hoàn toàn tương thích nhau</a:t>
            </a:r>
            <a:endParaRPr sz="2800"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RDBMS </a:t>
            </a:r>
            <a:endParaRPr/>
          </a:p>
          <a:p>
            <a:pPr indent="-246887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US"/>
              <a:t>Tập trung vào dữ liệu</a:t>
            </a:r>
            <a:endParaRPr/>
          </a:p>
          <a:p>
            <a:pPr indent="-246887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US"/>
              <a:t>Phù hợp với các quan hệ cộng tác và các ứng dụng báo cáo (reporting application)</a:t>
            </a:r>
            <a:endParaRPr/>
          </a:p>
          <a:p>
            <a:pPr indent="-246887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US"/>
              <a:t>Thể hiện dữ liệu - expose data (column values)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Hệ thống hướng đối tượng</a:t>
            </a:r>
            <a:endParaRPr sz="2400"/>
          </a:p>
          <a:p>
            <a:pPr indent="-246887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US"/>
              <a:t>Tập trung vào hành vi</a:t>
            </a:r>
            <a:endParaRPr/>
          </a:p>
          <a:p>
            <a:pPr indent="-246887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US"/>
              <a:t>Phù hợp với việc xử lý các hành vi đặc trưng trạng thái trong đó dữ liệu đóng vai trò là thứ yếu</a:t>
            </a:r>
            <a:endParaRPr/>
          </a:p>
          <a:p>
            <a:pPr indent="-246887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US"/>
              <a:t>Che dấu dữ liệu (đóng gói)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"/>
          <p:cNvSpPr txBox="1"/>
          <p:nvPr>
            <p:ph type="title"/>
          </p:nvPr>
        </p:nvSpPr>
        <p:spPr>
          <a:xfrm>
            <a:off x="457200" y="704088"/>
            <a:ext cx="8229600" cy="7437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Mô Hình Dữ Liệu Quan Hệ</a:t>
            </a:r>
            <a:endParaRPr sz="4000"/>
          </a:p>
        </p:txBody>
      </p:sp>
      <p:sp>
        <p:nvSpPr>
          <p:cNvPr id="231" name="Google Shape;231;p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32" name="Google Shape;232;p6"/>
          <p:cNvGrpSpPr/>
          <p:nvPr/>
        </p:nvGrpSpPr>
        <p:grpSpPr>
          <a:xfrm>
            <a:off x="1492250" y="2438400"/>
            <a:ext cx="6286500" cy="3556000"/>
            <a:chOff x="1492250" y="2438400"/>
            <a:chExt cx="6286500" cy="3556000"/>
          </a:xfrm>
        </p:grpSpPr>
        <p:cxnSp>
          <p:nvCxnSpPr>
            <p:cNvPr id="233" name="Google Shape;233;p6"/>
            <p:cNvCxnSpPr/>
            <p:nvPr/>
          </p:nvCxnSpPr>
          <p:spPr>
            <a:xfrm>
              <a:off x="3657600" y="4038600"/>
              <a:ext cx="1295400" cy="0"/>
            </a:xfrm>
            <a:prstGeom prst="straightConnector1">
              <a:avLst/>
            </a:prstGeom>
            <a:noFill/>
            <a:ln cap="flat" cmpd="sng" w="12700">
              <a:solidFill>
                <a:srgbClr val="00CC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4" name="Google Shape;234;p6"/>
            <p:cNvCxnSpPr/>
            <p:nvPr/>
          </p:nvCxnSpPr>
          <p:spPr>
            <a:xfrm>
              <a:off x="6629400" y="3886200"/>
              <a:ext cx="0" cy="533400"/>
            </a:xfrm>
            <a:prstGeom prst="straightConnector1">
              <a:avLst/>
            </a:prstGeom>
            <a:noFill/>
            <a:ln cap="flat" cmpd="sng" w="9525">
              <a:solidFill>
                <a:srgbClr val="00CCFF"/>
              </a:solidFill>
              <a:prstDash val="solid"/>
              <a:round/>
              <a:headEnd len="med" w="med" type="none"/>
              <a:tailEnd len="lg" w="lg" type="stealth"/>
            </a:ln>
          </p:spPr>
        </p:cxnSp>
        <p:grpSp>
          <p:nvGrpSpPr>
            <p:cNvPr id="235" name="Google Shape;235;p6"/>
            <p:cNvGrpSpPr/>
            <p:nvPr/>
          </p:nvGrpSpPr>
          <p:grpSpPr>
            <a:xfrm>
              <a:off x="1492250" y="2438400"/>
              <a:ext cx="6286500" cy="3556000"/>
              <a:chOff x="1492250" y="2438400"/>
              <a:chExt cx="6286500" cy="3556000"/>
            </a:xfrm>
          </p:grpSpPr>
          <p:cxnSp>
            <p:nvCxnSpPr>
              <p:cNvPr id="236" name="Google Shape;236;p6"/>
              <p:cNvCxnSpPr/>
              <p:nvPr/>
            </p:nvCxnSpPr>
            <p:spPr>
              <a:xfrm>
                <a:off x="2209800" y="4495800"/>
                <a:ext cx="0" cy="533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CCFF"/>
                </a:solidFill>
                <a:prstDash val="solid"/>
                <a:round/>
                <a:headEnd len="lg" w="lg" type="stealth"/>
                <a:tailEnd len="sm" w="sm" type="none"/>
              </a:ln>
            </p:spPr>
          </p:cxnSp>
          <p:cxnSp>
            <p:nvCxnSpPr>
              <p:cNvPr id="237" name="Google Shape;237;p6"/>
              <p:cNvCxnSpPr/>
              <p:nvPr/>
            </p:nvCxnSpPr>
            <p:spPr>
              <a:xfrm>
                <a:off x="4953000" y="3886200"/>
                <a:ext cx="1676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CCFF"/>
                </a:solidFill>
                <a:prstDash val="solid"/>
                <a:round/>
                <a:headEnd len="lg" w="lg" type="triangle"/>
                <a:tailEnd len="med" w="med" type="none"/>
              </a:ln>
            </p:spPr>
          </p:cxnSp>
          <p:sp>
            <p:nvSpPr>
              <p:cNvPr id="238" name="Google Shape;238;p6"/>
              <p:cNvSpPr/>
              <p:nvPr/>
            </p:nvSpPr>
            <p:spPr>
              <a:xfrm>
                <a:off x="6553200" y="4191000"/>
                <a:ext cx="152400" cy="152400"/>
              </a:xfrm>
              <a:prstGeom prst="flowChartConnector">
                <a:avLst/>
              </a:prstGeom>
              <a:noFill/>
              <a:ln cap="flat" cmpd="sng" w="9525">
                <a:solidFill>
                  <a:srgbClr val="00CC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3975" lIns="107950" spcFirstLastPara="1" rIns="107950" wrap="square" tIns="539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99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grpSp>
            <p:nvGrpSpPr>
              <p:cNvPr id="239" name="Google Shape;239;p6"/>
              <p:cNvGrpSpPr/>
              <p:nvPr/>
            </p:nvGrpSpPr>
            <p:grpSpPr>
              <a:xfrm>
                <a:off x="1492250" y="2438400"/>
                <a:ext cx="6286500" cy="3556000"/>
                <a:chOff x="1492250" y="2438400"/>
                <a:chExt cx="6286500" cy="3556000"/>
              </a:xfrm>
            </p:grpSpPr>
            <p:grpSp>
              <p:nvGrpSpPr>
                <p:cNvPr id="240" name="Google Shape;240;p6"/>
                <p:cNvGrpSpPr/>
                <p:nvPr/>
              </p:nvGrpSpPr>
              <p:grpSpPr>
                <a:xfrm>
                  <a:off x="1600200" y="3657600"/>
                  <a:ext cx="1295400" cy="838200"/>
                  <a:chOff x="864" y="2976"/>
                  <a:chExt cx="816" cy="528"/>
                </a:xfrm>
              </p:grpSpPr>
              <p:sp>
                <p:nvSpPr>
                  <p:cNvPr id="241" name="Google Shape;241;p6"/>
                  <p:cNvSpPr/>
                  <p:nvPr/>
                </p:nvSpPr>
                <p:spPr>
                  <a:xfrm>
                    <a:off x="864" y="2976"/>
                    <a:ext cx="816" cy="528"/>
                  </a:xfrm>
                  <a:prstGeom prst="roundRect">
                    <a:avLst>
                      <a:gd fmla="val 16667" name="adj"/>
                    </a:avLst>
                  </a:prstGeom>
                  <a:noFill/>
                  <a:ln cap="flat" cmpd="sng" w="12700">
                    <a:solidFill>
                      <a:srgbClr val="00CC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53975" lIns="107950" spcFirstLastPara="1" rIns="107950" wrap="square" tIns="539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99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242" name="Google Shape;242;p6"/>
                  <p:cNvCxnSpPr/>
                  <p:nvPr/>
                </p:nvCxnSpPr>
                <p:spPr>
                  <a:xfrm>
                    <a:off x="864" y="3168"/>
                    <a:ext cx="816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CCFF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sp>
              <p:nvSpPr>
                <p:cNvPr id="243" name="Google Shape;243;p6"/>
                <p:cNvSpPr txBox="1"/>
                <p:nvPr/>
              </p:nvSpPr>
              <p:spPr>
                <a:xfrm>
                  <a:off x="1828800" y="3657600"/>
                  <a:ext cx="867225" cy="3244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53975" lIns="107950" spcFirstLastPara="1" rIns="107950" wrap="square" tIns="53975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00099"/>
                      </a:solidFill>
                      <a:latin typeface="Constantia"/>
                      <a:ea typeface="Constantia"/>
                      <a:cs typeface="Constantia"/>
                      <a:sym typeface="Constantia"/>
                    </a:rPr>
                    <a:t>ORDER</a:t>
                  </a:r>
                  <a:endParaRPr/>
                </a:p>
              </p:txBody>
            </p:sp>
            <p:sp>
              <p:nvSpPr>
                <p:cNvPr id="244" name="Google Shape;244;p6"/>
                <p:cNvSpPr/>
                <p:nvPr/>
              </p:nvSpPr>
              <p:spPr>
                <a:xfrm>
                  <a:off x="3657600" y="3581400"/>
                  <a:ext cx="1295400" cy="1905000"/>
                </a:xfrm>
                <a:prstGeom prst="roundRect">
                  <a:avLst>
                    <a:gd fmla="val 16667" name="adj"/>
                  </a:avLst>
                </a:prstGeom>
                <a:noFill/>
                <a:ln cap="flat" cmpd="sng" w="12700">
                  <a:solidFill>
                    <a:srgbClr val="00CC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99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grpSp>
              <p:nvGrpSpPr>
                <p:cNvPr id="245" name="Google Shape;245;p6"/>
                <p:cNvGrpSpPr/>
                <p:nvPr/>
              </p:nvGrpSpPr>
              <p:grpSpPr>
                <a:xfrm>
                  <a:off x="5943600" y="4419600"/>
                  <a:ext cx="1295400" cy="990600"/>
                  <a:chOff x="864" y="2976"/>
                  <a:chExt cx="816" cy="528"/>
                </a:xfrm>
              </p:grpSpPr>
              <p:sp>
                <p:nvSpPr>
                  <p:cNvPr id="246" name="Google Shape;246;p6"/>
                  <p:cNvSpPr/>
                  <p:nvPr/>
                </p:nvSpPr>
                <p:spPr>
                  <a:xfrm>
                    <a:off x="864" y="2976"/>
                    <a:ext cx="816" cy="528"/>
                  </a:xfrm>
                  <a:prstGeom prst="roundRect">
                    <a:avLst>
                      <a:gd fmla="val 16667" name="adj"/>
                    </a:avLst>
                  </a:prstGeom>
                  <a:noFill/>
                  <a:ln cap="flat" cmpd="sng" w="12700">
                    <a:solidFill>
                      <a:srgbClr val="00CC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53975" lIns="107950" spcFirstLastPara="1" rIns="107950" wrap="square" tIns="53975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99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247" name="Google Shape;247;p6"/>
                  <p:cNvCxnSpPr/>
                  <p:nvPr/>
                </p:nvCxnSpPr>
                <p:spPr>
                  <a:xfrm>
                    <a:off x="864" y="3168"/>
                    <a:ext cx="816" cy="0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CCFF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</p:grpSp>
            <p:sp>
              <p:nvSpPr>
                <p:cNvPr id="248" name="Google Shape;248;p6"/>
                <p:cNvSpPr txBox="1"/>
                <p:nvPr/>
              </p:nvSpPr>
              <p:spPr>
                <a:xfrm>
                  <a:off x="3783026" y="3657600"/>
                  <a:ext cx="1219200" cy="324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53975" lIns="107950" spcFirstLastPara="1" rIns="107950" wrap="square" tIns="53975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00099"/>
                      </a:solidFill>
                      <a:latin typeface="Constantia"/>
                      <a:ea typeface="Constantia"/>
                      <a:cs typeface="Constantia"/>
                      <a:sym typeface="Constantia"/>
                    </a:rPr>
                    <a:t>LINE ITEM</a:t>
                  </a:r>
                  <a:endParaRPr/>
                </a:p>
              </p:txBody>
            </p:sp>
            <p:sp>
              <p:nvSpPr>
                <p:cNvPr id="249" name="Google Shape;249;p6"/>
                <p:cNvSpPr txBox="1"/>
                <p:nvPr/>
              </p:nvSpPr>
              <p:spPr>
                <a:xfrm>
                  <a:off x="6096000" y="4419600"/>
                  <a:ext cx="1106072" cy="3244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53975" lIns="107950" spcFirstLastPara="1" rIns="107950" wrap="square" tIns="53975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000099"/>
                      </a:solidFill>
                      <a:latin typeface="Constantia"/>
                      <a:ea typeface="Constantia"/>
                      <a:cs typeface="Constantia"/>
                      <a:sym typeface="Constantia"/>
                    </a:rPr>
                    <a:t>PRODUCT</a:t>
                  </a:r>
                  <a:endParaRPr/>
                </a:p>
              </p:txBody>
            </p:sp>
            <p:sp>
              <p:nvSpPr>
                <p:cNvPr id="250" name="Google Shape;250;p6"/>
                <p:cNvSpPr txBox="1"/>
                <p:nvPr/>
              </p:nvSpPr>
              <p:spPr>
                <a:xfrm>
                  <a:off x="1644650" y="3987800"/>
                  <a:ext cx="1104600" cy="293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53975" lIns="107950" spcFirstLastPara="1" rIns="107950" wrap="square" tIns="53975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rgbClr val="000099"/>
                      </a:solidFill>
                      <a:latin typeface="Constantia"/>
                      <a:ea typeface="Constantia"/>
                      <a:cs typeface="Constantia"/>
                      <a:sym typeface="Constantia"/>
                    </a:rPr>
                    <a:t>Order_Id</a:t>
                  </a:r>
                  <a:endParaRPr/>
                </a:p>
              </p:txBody>
            </p:sp>
            <p:sp>
              <p:nvSpPr>
                <p:cNvPr id="251" name="Google Shape;251;p6"/>
                <p:cNvSpPr txBox="1"/>
                <p:nvPr/>
              </p:nvSpPr>
              <p:spPr>
                <a:xfrm>
                  <a:off x="3679825" y="4038600"/>
                  <a:ext cx="1273175" cy="1217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53975" lIns="107950" spcFirstLastPara="1" rIns="107950" wrap="square" tIns="53975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rgbClr val="000099"/>
                      </a:solidFill>
                      <a:latin typeface="Constantia"/>
                      <a:ea typeface="Constantia"/>
                      <a:cs typeface="Constantia"/>
                      <a:sym typeface="Constantia"/>
                    </a:rPr>
                    <a:t>LineItem_Id</a:t>
                  </a:r>
                  <a:endParaRPr sz="1200">
                    <a:solidFill>
                      <a:srgbClr val="000099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rgbClr val="000099"/>
                      </a:solidFill>
                      <a:latin typeface="Constantia"/>
                      <a:ea typeface="Constantia"/>
                      <a:cs typeface="Constantia"/>
                      <a:sym typeface="Constantia"/>
                    </a:rPr>
                    <a:t>Description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rgbClr val="000099"/>
                      </a:solidFill>
                      <a:latin typeface="Constantia"/>
                      <a:ea typeface="Constantia"/>
                      <a:cs typeface="Constantia"/>
                      <a:sym typeface="Constantia"/>
                    </a:rPr>
                    <a:t>Price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rgbClr val="000099"/>
                      </a:solidFill>
                      <a:latin typeface="Constantia"/>
                      <a:ea typeface="Constantia"/>
                      <a:cs typeface="Constantia"/>
                      <a:sym typeface="Constantia"/>
                    </a:rPr>
                    <a:t>Quantity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rgbClr val="000099"/>
                      </a:solidFill>
                      <a:latin typeface="Constantia"/>
                      <a:ea typeface="Constantia"/>
                      <a:cs typeface="Constantia"/>
                      <a:sym typeface="Constantia"/>
                    </a:rPr>
                    <a:t>Product_Id</a:t>
                  </a:r>
                  <a:endParaRPr sz="1200">
                    <a:solidFill>
                      <a:srgbClr val="000099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rgbClr val="000099"/>
                      </a:solidFill>
                      <a:latin typeface="Constantia"/>
                      <a:ea typeface="Constantia"/>
                      <a:cs typeface="Constantia"/>
                      <a:sym typeface="Constantia"/>
                    </a:rPr>
                    <a:t>Order_Id</a:t>
                  </a:r>
                  <a:endParaRPr sz="1200">
                    <a:solidFill>
                      <a:srgbClr val="000099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252" name="Google Shape;252;p6"/>
                <p:cNvSpPr txBox="1"/>
                <p:nvPr/>
              </p:nvSpPr>
              <p:spPr>
                <a:xfrm>
                  <a:off x="5965825" y="4738688"/>
                  <a:ext cx="960199" cy="66300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53975" lIns="107950" spcFirstLastPara="1" rIns="107950" wrap="square" tIns="53975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rgbClr val="000099"/>
                      </a:solidFill>
                      <a:latin typeface="Constantia"/>
                      <a:ea typeface="Constantia"/>
                      <a:cs typeface="Constantia"/>
                      <a:sym typeface="Constantia"/>
                    </a:rPr>
                    <a:t>Product_Id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rgbClr val="000099"/>
                      </a:solidFill>
                      <a:latin typeface="Constantia"/>
                      <a:ea typeface="Constantia"/>
                      <a:cs typeface="Constantia"/>
                      <a:sym typeface="Constantia"/>
                    </a:rPr>
                    <a:t>Name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rgbClr val="000099"/>
                      </a:solidFill>
                      <a:latin typeface="Constantia"/>
                      <a:ea typeface="Constantia"/>
                      <a:cs typeface="Constantia"/>
                      <a:sym typeface="Constantia"/>
                    </a:rPr>
                    <a:t>Price</a:t>
                  </a:r>
                  <a:endParaRPr/>
                </a:p>
              </p:txBody>
            </p:sp>
            <p:cxnSp>
              <p:nvCxnSpPr>
                <p:cNvPr id="253" name="Google Shape;253;p6"/>
                <p:cNvCxnSpPr/>
                <p:nvPr/>
              </p:nvCxnSpPr>
              <p:spPr>
                <a:xfrm>
                  <a:off x="2286000" y="5029200"/>
                  <a:ext cx="12954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CCFF"/>
                  </a:solidFill>
                  <a:prstDash val="solid"/>
                  <a:round/>
                  <a:headEnd len="med" w="med" type="none"/>
                  <a:tailEnd len="lg" w="lg" type="stealth"/>
                </a:ln>
              </p:spPr>
            </p:cxnSp>
            <p:sp>
              <p:nvSpPr>
                <p:cNvPr id="254" name="Google Shape;254;p6"/>
                <p:cNvSpPr txBox="1"/>
                <p:nvPr/>
              </p:nvSpPr>
              <p:spPr>
                <a:xfrm>
                  <a:off x="1492250" y="4673600"/>
                  <a:ext cx="958800" cy="293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53975" lIns="107950" spcFirstLastPara="1" rIns="107950" wrap="square" tIns="53975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rgbClr val="000099"/>
                      </a:solidFill>
                      <a:latin typeface="Constantia"/>
                      <a:ea typeface="Constantia"/>
                      <a:cs typeface="Constantia"/>
                      <a:sym typeface="Constantia"/>
                    </a:rPr>
                    <a:t>lineItem</a:t>
                  </a:r>
                  <a:endParaRPr/>
                </a:p>
              </p:txBody>
            </p:sp>
            <p:sp>
              <p:nvSpPr>
                <p:cNvPr id="255" name="Google Shape;255;p6"/>
                <p:cNvSpPr txBox="1"/>
                <p:nvPr/>
              </p:nvSpPr>
              <p:spPr>
                <a:xfrm>
                  <a:off x="2819400" y="4662488"/>
                  <a:ext cx="575479" cy="2936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53975" lIns="107950" spcFirstLastPara="1" rIns="107950" wrap="square" tIns="53975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rgbClr val="000099"/>
                      </a:solidFill>
                      <a:latin typeface="Constantia"/>
                      <a:ea typeface="Constantia"/>
                      <a:cs typeface="Constantia"/>
                      <a:sym typeface="Constantia"/>
                    </a:rPr>
                    <a:t>order</a:t>
                  </a:r>
                  <a:endParaRPr/>
                </a:p>
              </p:txBody>
            </p:sp>
            <p:cxnSp>
              <p:nvCxnSpPr>
                <p:cNvPr id="256" name="Google Shape;256;p6"/>
                <p:cNvCxnSpPr/>
                <p:nvPr/>
              </p:nvCxnSpPr>
              <p:spPr>
                <a:xfrm>
                  <a:off x="5029200" y="3886200"/>
                  <a:ext cx="12192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CCFF"/>
                  </a:solidFill>
                  <a:prstDash val="solid"/>
                  <a:round/>
                  <a:headEnd len="lg" w="lg" type="stealth"/>
                  <a:tailEnd len="med" w="med" type="none"/>
                </a:ln>
              </p:spPr>
            </p:cxnSp>
            <p:sp>
              <p:nvSpPr>
                <p:cNvPr id="257" name="Google Shape;257;p6"/>
                <p:cNvSpPr txBox="1"/>
                <p:nvPr/>
              </p:nvSpPr>
              <p:spPr>
                <a:xfrm>
                  <a:off x="5145088" y="3581400"/>
                  <a:ext cx="806311" cy="2936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53975" lIns="107950" spcFirstLastPara="1" rIns="107950" wrap="square" tIns="53975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rgbClr val="000099"/>
                      </a:solidFill>
                      <a:latin typeface="Constantia"/>
                      <a:ea typeface="Constantia"/>
                      <a:cs typeface="Constantia"/>
                      <a:sym typeface="Constantia"/>
                    </a:rPr>
                    <a:t>products</a:t>
                  </a:r>
                  <a:endParaRPr/>
                </a:p>
              </p:txBody>
            </p:sp>
            <p:sp>
              <p:nvSpPr>
                <p:cNvPr id="258" name="Google Shape;258;p6"/>
                <p:cNvSpPr txBox="1"/>
                <p:nvPr/>
              </p:nvSpPr>
              <p:spPr>
                <a:xfrm>
                  <a:off x="5791200" y="4114800"/>
                  <a:ext cx="831959" cy="2936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53975" lIns="107950" spcFirstLastPara="1" rIns="107950" wrap="square" tIns="53975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rgbClr val="000099"/>
                      </a:solidFill>
                      <a:latin typeface="Constantia"/>
                      <a:ea typeface="Constantia"/>
                      <a:cs typeface="Constantia"/>
                      <a:sym typeface="Constantia"/>
                    </a:rPr>
                    <a:t>lineItems</a:t>
                  </a:r>
                  <a:endParaRPr/>
                </a:p>
              </p:txBody>
            </p:sp>
            <p:sp>
              <p:nvSpPr>
                <p:cNvPr id="259" name="Google Shape;259;p6"/>
                <p:cNvSpPr txBox="1"/>
                <p:nvPr/>
              </p:nvSpPr>
              <p:spPr>
                <a:xfrm>
                  <a:off x="3924300" y="2438400"/>
                  <a:ext cx="958800" cy="352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53975" lIns="107950" spcFirstLastPara="1" rIns="107950" wrap="square" tIns="53975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000099"/>
                      </a:solidFill>
                      <a:latin typeface="Constantia"/>
                      <a:ea typeface="Constantia"/>
                      <a:cs typeface="Constantia"/>
                      <a:sym typeface="Constantia"/>
                    </a:rPr>
                    <a:t>Entity</a:t>
                  </a:r>
                  <a:endParaRPr/>
                </a:p>
              </p:txBody>
            </p:sp>
            <p:cxnSp>
              <p:nvCxnSpPr>
                <p:cNvPr id="260" name="Google Shape;260;p6"/>
                <p:cNvCxnSpPr/>
                <p:nvPr/>
              </p:nvCxnSpPr>
              <p:spPr>
                <a:xfrm>
                  <a:off x="4267200" y="2819400"/>
                  <a:ext cx="0" cy="6858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hlink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261" name="Google Shape;261;p6"/>
                <p:cNvCxnSpPr/>
                <p:nvPr/>
              </p:nvCxnSpPr>
              <p:spPr>
                <a:xfrm flipH="1">
                  <a:off x="2362200" y="2743200"/>
                  <a:ext cx="1524000" cy="8382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hlink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262" name="Google Shape;262;p6"/>
                <p:cNvSpPr txBox="1"/>
                <p:nvPr/>
              </p:nvSpPr>
              <p:spPr>
                <a:xfrm>
                  <a:off x="6819900" y="2847975"/>
                  <a:ext cx="958850" cy="3524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53975" lIns="107950" spcFirstLastPara="1" rIns="107950" wrap="square" tIns="53975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000099"/>
                      </a:solidFill>
                      <a:latin typeface="Constantia"/>
                      <a:ea typeface="Constantia"/>
                      <a:cs typeface="Constantia"/>
                      <a:sym typeface="Constantia"/>
                    </a:rPr>
                    <a:t>Relation</a:t>
                  </a:r>
                  <a:endParaRPr/>
                </a:p>
              </p:txBody>
            </p:sp>
            <p:cxnSp>
              <p:nvCxnSpPr>
                <p:cNvPr id="263" name="Google Shape;263;p6"/>
                <p:cNvCxnSpPr/>
                <p:nvPr/>
              </p:nvCxnSpPr>
              <p:spPr>
                <a:xfrm flipH="1">
                  <a:off x="6477000" y="3200400"/>
                  <a:ext cx="685800" cy="609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hlink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sp>
              <p:nvSpPr>
                <p:cNvPr id="264" name="Google Shape;264;p6"/>
                <p:cNvSpPr txBox="1"/>
                <p:nvPr/>
              </p:nvSpPr>
              <p:spPr>
                <a:xfrm>
                  <a:off x="5003800" y="5641975"/>
                  <a:ext cx="1016000" cy="3524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53975" lIns="107950" spcFirstLastPara="1" rIns="107950" wrap="square" tIns="53975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000099"/>
                      </a:solidFill>
                      <a:latin typeface="Constantia"/>
                      <a:ea typeface="Constantia"/>
                      <a:cs typeface="Constantia"/>
                      <a:sym typeface="Constantia"/>
                    </a:rPr>
                    <a:t>Columns</a:t>
                  </a:r>
                  <a:endParaRPr/>
                </a:p>
              </p:txBody>
            </p:sp>
            <p:cxnSp>
              <p:nvCxnSpPr>
                <p:cNvPr id="265" name="Google Shape;265;p6"/>
                <p:cNvCxnSpPr/>
                <p:nvPr/>
              </p:nvCxnSpPr>
              <p:spPr>
                <a:xfrm rot="10800000">
                  <a:off x="4648200" y="4953000"/>
                  <a:ext cx="762000" cy="6858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hlink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266" name="Google Shape;266;p6"/>
                <p:cNvCxnSpPr/>
                <p:nvPr/>
              </p:nvCxnSpPr>
              <p:spPr>
                <a:xfrm flipH="1" rot="10800000">
                  <a:off x="5600700" y="5105400"/>
                  <a:ext cx="419100" cy="5334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hlink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</p:grpSp>
      </p:grpSp>
      <p:sp>
        <p:nvSpPr>
          <p:cNvPr id="267" name="Google Shape;267;p6"/>
          <p:cNvSpPr txBox="1"/>
          <p:nvPr>
            <p:ph idx="1" type="body"/>
          </p:nvPr>
        </p:nvSpPr>
        <p:spPr>
          <a:xfrm>
            <a:off x="196850" y="1354071"/>
            <a:ext cx="8490000" cy="10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Mô hình quan hệ gồm có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Các thực thể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Các quan hệ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"/>
          <p:cNvSpPr txBox="1"/>
          <p:nvPr>
            <p:ph type="title"/>
          </p:nvPr>
        </p:nvSpPr>
        <p:spPr>
          <a:xfrm>
            <a:off x="457200" y="704088"/>
            <a:ext cx="8229600" cy="7437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Mô hình đối tượng</a:t>
            </a:r>
            <a:endParaRPr sz="4000"/>
          </a:p>
        </p:txBody>
      </p:sp>
      <p:sp>
        <p:nvSpPr>
          <p:cNvPr id="273" name="Google Shape;273;p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7"/>
          <p:cNvSpPr txBox="1"/>
          <p:nvPr>
            <p:ph idx="1" type="body"/>
          </p:nvPr>
        </p:nvSpPr>
        <p:spPr>
          <a:xfrm>
            <a:off x="196850" y="1420811"/>
            <a:ext cx="8489950" cy="153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Mô hình đối tượng bao gồm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Lớp (thuộc tính)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Các kết hợp</a:t>
            </a:r>
            <a:endParaRPr/>
          </a:p>
        </p:txBody>
      </p:sp>
      <p:grpSp>
        <p:nvGrpSpPr>
          <p:cNvPr id="275" name="Google Shape;275;p7"/>
          <p:cNvGrpSpPr/>
          <p:nvPr/>
        </p:nvGrpSpPr>
        <p:grpSpPr>
          <a:xfrm>
            <a:off x="3579813" y="2820986"/>
            <a:ext cx="4748212" cy="3559176"/>
            <a:chOff x="3744913" y="2452688"/>
            <a:chExt cx="4748212" cy="3559176"/>
          </a:xfrm>
        </p:grpSpPr>
        <p:sp>
          <p:nvSpPr>
            <p:cNvPr id="276" name="Google Shape;276;p7"/>
            <p:cNvSpPr/>
            <p:nvPr/>
          </p:nvSpPr>
          <p:spPr>
            <a:xfrm>
              <a:off x="6289675" y="2452688"/>
              <a:ext cx="1438275" cy="842963"/>
            </a:xfrm>
            <a:prstGeom prst="rect">
              <a:avLst/>
            </a:prstGeom>
            <a:solidFill>
              <a:srgbClr val="FFFFCC"/>
            </a:solidFill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77" name="Google Shape;277;p7"/>
            <p:cNvSpPr/>
            <p:nvPr/>
          </p:nvSpPr>
          <p:spPr>
            <a:xfrm>
              <a:off x="6637355" y="2486027"/>
              <a:ext cx="762000" cy="1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LineItem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78" name="Google Shape;278;p7"/>
            <p:cNvSpPr/>
            <p:nvPr/>
          </p:nvSpPr>
          <p:spPr>
            <a:xfrm>
              <a:off x="6289675" y="2689226"/>
              <a:ext cx="1438275" cy="606425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79" name="Google Shape;279;p7"/>
            <p:cNvSpPr/>
            <p:nvPr/>
          </p:nvSpPr>
          <p:spPr>
            <a:xfrm>
              <a:off x="6289675" y="3125788"/>
              <a:ext cx="1438275" cy="169863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80" name="Google Shape;280;p7"/>
            <p:cNvSpPr/>
            <p:nvPr/>
          </p:nvSpPr>
          <p:spPr>
            <a:xfrm>
              <a:off x="6361113" y="2711451"/>
              <a:ext cx="1227137" cy="182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- quantity : Integer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81" name="Google Shape;281;p7"/>
            <p:cNvSpPr/>
            <p:nvPr/>
          </p:nvSpPr>
          <p:spPr>
            <a:xfrm>
              <a:off x="6361113" y="2890838"/>
              <a:ext cx="1209675" cy="182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- number : Integer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82" name="Google Shape;282;p7"/>
            <p:cNvSpPr/>
            <p:nvPr/>
          </p:nvSpPr>
          <p:spPr>
            <a:xfrm>
              <a:off x="5995988" y="2981326"/>
              <a:ext cx="228600" cy="182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1..*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83" name="Google Shape;283;p7"/>
            <p:cNvSpPr/>
            <p:nvPr/>
          </p:nvSpPr>
          <p:spPr>
            <a:xfrm>
              <a:off x="5562600" y="2644776"/>
              <a:ext cx="696912" cy="182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+lineItems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84" name="Google Shape;284;p7"/>
            <p:cNvSpPr/>
            <p:nvPr/>
          </p:nvSpPr>
          <p:spPr>
            <a:xfrm>
              <a:off x="3744913" y="2543176"/>
              <a:ext cx="1352550" cy="661988"/>
            </a:xfrm>
            <a:prstGeom prst="rect">
              <a:avLst/>
            </a:prstGeom>
            <a:solidFill>
              <a:srgbClr val="FFFFCC"/>
            </a:solidFill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85" name="Google Shape;285;p7"/>
            <p:cNvSpPr/>
            <p:nvPr/>
          </p:nvSpPr>
          <p:spPr>
            <a:xfrm>
              <a:off x="4235450" y="2576502"/>
              <a:ext cx="591000" cy="1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Order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86" name="Google Shape;286;p7"/>
            <p:cNvSpPr/>
            <p:nvPr/>
          </p:nvSpPr>
          <p:spPr>
            <a:xfrm>
              <a:off x="3744913" y="2778126"/>
              <a:ext cx="1352550" cy="427038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87" name="Google Shape;287;p7"/>
            <p:cNvSpPr/>
            <p:nvPr/>
          </p:nvSpPr>
          <p:spPr>
            <a:xfrm>
              <a:off x="3744913" y="3048001"/>
              <a:ext cx="1352550" cy="157163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88" name="Google Shape;288;p7"/>
            <p:cNvSpPr/>
            <p:nvPr/>
          </p:nvSpPr>
          <p:spPr>
            <a:xfrm>
              <a:off x="3790950" y="2801938"/>
              <a:ext cx="1362075" cy="182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- number : Integer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289" name="Google Shape;289;p7"/>
            <p:cNvCxnSpPr/>
            <p:nvPr/>
          </p:nvCxnSpPr>
          <p:spPr>
            <a:xfrm rot="10800000">
              <a:off x="5097463" y="2870201"/>
              <a:ext cx="1185862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0" name="Google Shape;290;p7"/>
            <p:cNvSpPr/>
            <p:nvPr/>
          </p:nvSpPr>
          <p:spPr>
            <a:xfrm>
              <a:off x="5106988" y="2824163"/>
              <a:ext cx="190500" cy="101600"/>
            </a:xfrm>
            <a:custGeom>
              <a:rect b="b" l="l" r="r" t="t"/>
              <a:pathLst>
                <a:path extrusionOk="0" h="64" w="120">
                  <a:moveTo>
                    <a:pt x="0" y="28"/>
                  </a:moveTo>
                  <a:lnTo>
                    <a:pt x="57" y="64"/>
                  </a:lnTo>
                  <a:lnTo>
                    <a:pt x="120" y="28"/>
                  </a:lnTo>
                  <a:lnTo>
                    <a:pt x="57" y="0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969696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91" name="Google Shape;291;p7"/>
            <p:cNvSpPr/>
            <p:nvPr/>
          </p:nvSpPr>
          <p:spPr>
            <a:xfrm>
              <a:off x="5118100" y="2913063"/>
              <a:ext cx="442912" cy="182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+order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92" name="Google Shape;292;p7"/>
            <p:cNvSpPr/>
            <p:nvPr/>
          </p:nvSpPr>
          <p:spPr>
            <a:xfrm>
              <a:off x="6259513" y="3565526"/>
              <a:ext cx="1498600" cy="1022350"/>
            </a:xfrm>
            <a:prstGeom prst="rect">
              <a:avLst/>
            </a:prstGeom>
            <a:solidFill>
              <a:srgbClr val="FFFFCC"/>
            </a:solidFill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93" name="Google Shape;293;p7"/>
            <p:cNvSpPr/>
            <p:nvPr/>
          </p:nvSpPr>
          <p:spPr>
            <a:xfrm>
              <a:off x="6697679" y="3609977"/>
              <a:ext cx="696900" cy="1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Product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94" name="Google Shape;294;p7"/>
            <p:cNvSpPr/>
            <p:nvPr/>
          </p:nvSpPr>
          <p:spPr>
            <a:xfrm>
              <a:off x="6259513" y="3802063"/>
              <a:ext cx="1498600" cy="785813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95" name="Google Shape;295;p7"/>
            <p:cNvSpPr/>
            <p:nvPr/>
          </p:nvSpPr>
          <p:spPr>
            <a:xfrm>
              <a:off x="6259513" y="4418013"/>
              <a:ext cx="1498600" cy="169863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96" name="Google Shape;296;p7"/>
            <p:cNvSpPr/>
            <p:nvPr/>
          </p:nvSpPr>
          <p:spPr>
            <a:xfrm>
              <a:off x="6318250" y="3824288"/>
              <a:ext cx="1209675" cy="182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- number : Integer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97" name="Google Shape;297;p7"/>
            <p:cNvSpPr/>
            <p:nvPr/>
          </p:nvSpPr>
          <p:spPr>
            <a:xfrm>
              <a:off x="6318250" y="4003676"/>
              <a:ext cx="1352550" cy="182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- description : String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98" name="Google Shape;298;p7"/>
            <p:cNvSpPr/>
            <p:nvPr/>
          </p:nvSpPr>
          <p:spPr>
            <a:xfrm>
              <a:off x="6318250" y="4183052"/>
              <a:ext cx="1562100" cy="18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- unitPrice : Double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99" name="Google Shape;299;p7"/>
            <p:cNvSpPr/>
            <p:nvPr/>
          </p:nvSpPr>
          <p:spPr>
            <a:xfrm>
              <a:off x="7031038" y="3390901"/>
              <a:ext cx="84137" cy="182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1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300" name="Google Shape;300;p7"/>
            <p:cNvCxnSpPr/>
            <p:nvPr/>
          </p:nvCxnSpPr>
          <p:spPr>
            <a:xfrm flipH="1" rot="10800000">
              <a:off x="6969125" y="3295651"/>
              <a:ext cx="1587" cy="27146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1" name="Google Shape;301;p7"/>
            <p:cNvSpPr/>
            <p:nvPr/>
          </p:nvSpPr>
          <p:spPr>
            <a:xfrm>
              <a:off x="5378450" y="5149851"/>
              <a:ext cx="1343025" cy="842963"/>
            </a:xfrm>
            <a:prstGeom prst="rect">
              <a:avLst/>
            </a:prstGeom>
            <a:solidFill>
              <a:srgbClr val="FFFFCC"/>
            </a:solidFill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02" name="Google Shape;302;p7"/>
            <p:cNvSpPr/>
            <p:nvPr/>
          </p:nvSpPr>
          <p:spPr>
            <a:xfrm>
              <a:off x="5448300" y="5194301"/>
              <a:ext cx="1166812" cy="182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Software Product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5378450" y="5384801"/>
              <a:ext cx="1344612" cy="608013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5378450" y="5654676"/>
              <a:ext cx="1343025" cy="338138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5449888" y="5408613"/>
              <a:ext cx="1190625" cy="182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- version : Double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06" name="Google Shape;306;p7"/>
            <p:cNvSpPr/>
            <p:nvPr/>
          </p:nvSpPr>
          <p:spPr>
            <a:xfrm>
              <a:off x="7113588" y="5143501"/>
              <a:ext cx="1379537" cy="868363"/>
            </a:xfrm>
            <a:prstGeom prst="rect">
              <a:avLst/>
            </a:prstGeom>
            <a:solidFill>
              <a:srgbClr val="FFFFCC"/>
            </a:solidFill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07" name="Google Shape;307;p7"/>
            <p:cNvSpPr/>
            <p:nvPr/>
          </p:nvSpPr>
          <p:spPr>
            <a:xfrm>
              <a:off x="7192963" y="5189538"/>
              <a:ext cx="1223962" cy="182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Hardware Product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7113588" y="5380038"/>
              <a:ext cx="1379537" cy="631825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7112000" y="5649913"/>
              <a:ext cx="1381125" cy="361950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7173913" y="5402263"/>
              <a:ext cx="1260475" cy="1825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- assembly : String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311" name="Google Shape;311;p7"/>
            <p:cNvCxnSpPr/>
            <p:nvPr/>
          </p:nvCxnSpPr>
          <p:spPr>
            <a:xfrm flipH="1" rot="10800000">
              <a:off x="6329363" y="4767263"/>
              <a:ext cx="277812" cy="38258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2" name="Google Shape;312;p7"/>
            <p:cNvSpPr/>
            <p:nvPr/>
          </p:nvSpPr>
          <p:spPr>
            <a:xfrm>
              <a:off x="6545263" y="4587876"/>
              <a:ext cx="192087" cy="225425"/>
            </a:xfrm>
            <a:custGeom>
              <a:rect b="b" l="l" r="r" t="t"/>
              <a:pathLst>
                <a:path extrusionOk="0" h="142" w="121">
                  <a:moveTo>
                    <a:pt x="121" y="0"/>
                  </a:moveTo>
                  <a:lnTo>
                    <a:pt x="85" y="142"/>
                  </a:lnTo>
                  <a:lnTo>
                    <a:pt x="0" y="85"/>
                  </a:lnTo>
                  <a:lnTo>
                    <a:pt x="121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313" name="Google Shape;313;p7"/>
            <p:cNvCxnSpPr/>
            <p:nvPr/>
          </p:nvCxnSpPr>
          <p:spPr>
            <a:xfrm rot="10800000">
              <a:off x="7361238" y="4775201"/>
              <a:ext cx="258762" cy="36671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4" name="Google Shape;314;p7"/>
            <p:cNvSpPr/>
            <p:nvPr/>
          </p:nvSpPr>
          <p:spPr>
            <a:xfrm>
              <a:off x="7245350" y="4587876"/>
              <a:ext cx="179387" cy="236538"/>
            </a:xfrm>
            <a:custGeom>
              <a:rect b="b" l="l" r="r" t="t"/>
              <a:pathLst>
                <a:path extrusionOk="0" h="149" w="113">
                  <a:moveTo>
                    <a:pt x="0" y="0"/>
                  </a:moveTo>
                  <a:lnTo>
                    <a:pt x="113" y="92"/>
                  </a:lnTo>
                  <a:lnTo>
                    <a:pt x="28" y="14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"/>
          <p:cNvSpPr txBox="1"/>
          <p:nvPr>
            <p:ph type="title"/>
          </p:nvPr>
        </p:nvSpPr>
        <p:spPr>
          <a:xfrm>
            <a:off x="457200" y="704088"/>
            <a:ext cx="8229600" cy="5913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/>
              <a:t>Các Framework Bền Vững</a:t>
            </a:r>
            <a:endParaRPr sz="3600"/>
          </a:p>
        </p:txBody>
      </p:sp>
      <p:sp>
        <p:nvSpPr>
          <p:cNvPr id="320" name="Google Shape;320;p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1" name="Google Shape;321;p8"/>
          <p:cNvSpPr txBox="1"/>
          <p:nvPr>
            <p:ph idx="1" type="body"/>
          </p:nvPr>
        </p:nvSpPr>
        <p:spPr>
          <a:xfrm>
            <a:off x="247650" y="1598625"/>
            <a:ext cx="5919600" cy="51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660"/>
              <a:buChar char="⚫"/>
            </a:pPr>
            <a:r>
              <a:rPr lang="en-US" sz="2800"/>
              <a:t>Thách thức: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Những thay đổi không phá vỡ mô hình</a:t>
            </a:r>
            <a:endParaRPr/>
          </a:p>
          <a:p>
            <a:pPr indent="-274320" lvl="0" marL="274320" rtl="0" algn="l">
              <a:lnSpc>
                <a:spcPct val="77000"/>
              </a:lnSpc>
              <a:spcBef>
                <a:spcPts val="56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Giải pháp: Framework Đối tượng – Quan hệ (</a:t>
            </a:r>
            <a:r>
              <a:rPr lang="en-US" sz="2800"/>
              <a:t>object-relational framework), trong đó</a:t>
            </a:r>
            <a:endParaRPr sz="2800"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Đóng gói lưu trữ dữ liệu vật lý</a:t>
            </a:r>
            <a:endParaRPr sz="2400"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Cung cấp dịch vụ dịch đối tượng</a:t>
            </a:r>
            <a:endParaRPr sz="2400"/>
          </a:p>
          <a:p>
            <a:pPr indent="-274320" lvl="0" marL="274320" rtl="0" algn="l">
              <a:lnSpc>
                <a:spcPct val="77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Tầm quan trọng của framework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30% thời gian phát triển tiêu tốn vào việc truy cập một RDBMS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Bảo </a:t>
            </a:r>
            <a:r>
              <a:rPr lang="en-US"/>
              <a:t>trì </a:t>
            </a:r>
            <a:r>
              <a:rPr lang="en-US" sz="2400"/>
              <a:t>có thể chiếm 60% tổng chi phí</a:t>
            </a:r>
            <a:endParaRPr sz="2400"/>
          </a:p>
        </p:txBody>
      </p:sp>
      <p:sp>
        <p:nvSpPr>
          <p:cNvPr id="322" name="Google Shape;322;p8"/>
          <p:cNvSpPr txBox="1"/>
          <p:nvPr/>
        </p:nvSpPr>
        <p:spPr>
          <a:xfrm>
            <a:off x="7759700" y="1758950"/>
            <a:ext cx="1174750" cy="841375"/>
          </a:xfrm>
          <a:prstGeom prst="rect">
            <a:avLst/>
          </a:prstGeom>
          <a:noFill/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2"/>
                </a:solidFill>
                <a:latin typeface="Constantia"/>
                <a:ea typeface="Constantia"/>
                <a:cs typeface="Constantia"/>
                <a:sym typeface="Constantia"/>
              </a:rPr>
              <a:t>Business Object Model</a:t>
            </a:r>
            <a:endParaRPr/>
          </a:p>
        </p:txBody>
      </p:sp>
      <p:sp>
        <p:nvSpPr>
          <p:cNvPr id="323" name="Google Shape;323;p8"/>
          <p:cNvSpPr txBox="1"/>
          <p:nvPr/>
        </p:nvSpPr>
        <p:spPr>
          <a:xfrm>
            <a:off x="7759700" y="4476750"/>
            <a:ext cx="13842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accent2"/>
                </a:solidFill>
                <a:latin typeface="Constantia"/>
                <a:ea typeface="Constantia"/>
                <a:cs typeface="Constantia"/>
                <a:sym typeface="Constantia"/>
              </a:rPr>
              <a:t>Relational Database</a:t>
            </a:r>
            <a:endParaRPr/>
          </a:p>
        </p:txBody>
      </p:sp>
      <p:sp>
        <p:nvSpPr>
          <p:cNvPr id="324" name="Google Shape;324;p8"/>
          <p:cNvSpPr txBox="1"/>
          <p:nvPr/>
        </p:nvSpPr>
        <p:spPr>
          <a:xfrm>
            <a:off x="7038975" y="3409950"/>
            <a:ext cx="1933575" cy="655638"/>
          </a:xfrm>
          <a:prstGeom prst="rect">
            <a:avLst/>
          </a:prstGeom>
          <a:noFill/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 Narrow"/>
              <a:buChar char="•"/>
            </a:pPr>
            <a:r>
              <a:rPr b="1" lang="en-US" sz="1200">
                <a:solidFill>
                  <a:schemeClr val="accent2"/>
                </a:solidFill>
                <a:latin typeface="Arial Narrow"/>
                <a:ea typeface="Arial Narrow"/>
                <a:cs typeface="Arial Narrow"/>
                <a:sym typeface="Arial Narrow"/>
              </a:rPr>
              <a:t>Compact interfaces</a:t>
            </a:r>
            <a:endParaRPr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 Narrow"/>
              <a:buChar char="•"/>
            </a:pPr>
            <a:r>
              <a:rPr b="1" lang="en-US" sz="1200">
                <a:solidFill>
                  <a:schemeClr val="accent2"/>
                </a:solidFill>
                <a:latin typeface="Arial Narrow"/>
                <a:ea typeface="Arial Narrow"/>
                <a:cs typeface="Arial Narrow"/>
                <a:sym typeface="Arial Narrow"/>
              </a:rPr>
              <a:t>Object-relational translation</a:t>
            </a:r>
            <a:endParaRPr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 Narrow"/>
              <a:buChar char="•"/>
            </a:pPr>
            <a:r>
              <a:rPr b="1" lang="en-US" sz="1200">
                <a:solidFill>
                  <a:schemeClr val="accent2"/>
                </a:solidFill>
                <a:latin typeface="Arial Narrow"/>
                <a:ea typeface="Arial Narrow"/>
                <a:cs typeface="Arial Narrow"/>
                <a:sym typeface="Arial Narrow"/>
              </a:rPr>
              <a:t>Encapsulates data store</a:t>
            </a:r>
            <a:endParaRPr/>
          </a:p>
        </p:txBody>
      </p:sp>
      <p:grpSp>
        <p:nvGrpSpPr>
          <p:cNvPr id="325" name="Google Shape;325;p8"/>
          <p:cNvGrpSpPr/>
          <p:nvPr/>
        </p:nvGrpSpPr>
        <p:grpSpPr>
          <a:xfrm>
            <a:off x="6254750" y="1695450"/>
            <a:ext cx="1511300" cy="3835400"/>
            <a:chOff x="3940" y="872"/>
            <a:chExt cx="952" cy="2416"/>
          </a:xfrm>
        </p:grpSpPr>
        <p:cxnSp>
          <p:nvCxnSpPr>
            <p:cNvPr id="326" name="Google Shape;326;p8"/>
            <p:cNvCxnSpPr/>
            <p:nvPr/>
          </p:nvCxnSpPr>
          <p:spPr>
            <a:xfrm>
              <a:off x="4345" y="1208"/>
              <a:ext cx="0" cy="187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8"/>
            <p:cNvCxnSpPr/>
            <p:nvPr/>
          </p:nvCxnSpPr>
          <p:spPr>
            <a:xfrm>
              <a:off x="4732" y="1209"/>
              <a:ext cx="0" cy="169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8"/>
            <p:cNvCxnSpPr/>
            <p:nvPr/>
          </p:nvCxnSpPr>
          <p:spPr>
            <a:xfrm>
              <a:off x="4524" y="1028"/>
              <a:ext cx="0" cy="18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" name="Google Shape;329;p8"/>
            <p:cNvCxnSpPr/>
            <p:nvPr/>
          </p:nvCxnSpPr>
          <p:spPr>
            <a:xfrm>
              <a:off x="4194" y="1024"/>
              <a:ext cx="220" cy="1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0" name="Google Shape;330;p8"/>
            <p:cNvSpPr/>
            <p:nvPr/>
          </p:nvSpPr>
          <p:spPr>
            <a:xfrm>
              <a:off x="3956" y="960"/>
              <a:ext cx="288" cy="200"/>
            </a:xfrm>
            <a:prstGeom prst="rect">
              <a:avLst/>
            </a:prstGeom>
            <a:solidFill>
              <a:srgbClr val="FFFFCC"/>
            </a:solidFill>
            <a:ln cap="flat" cmpd="sng" w="9525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31" name="Google Shape;331;p8"/>
            <p:cNvSpPr/>
            <p:nvPr/>
          </p:nvSpPr>
          <p:spPr>
            <a:xfrm>
              <a:off x="4372" y="872"/>
              <a:ext cx="288" cy="200"/>
            </a:xfrm>
            <a:prstGeom prst="rect">
              <a:avLst/>
            </a:prstGeom>
            <a:solidFill>
              <a:srgbClr val="FFFFCC"/>
            </a:solidFill>
            <a:ln cap="flat" cmpd="sng" w="9525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32" name="Google Shape;332;p8"/>
            <p:cNvSpPr/>
            <p:nvPr/>
          </p:nvSpPr>
          <p:spPr>
            <a:xfrm>
              <a:off x="4588" y="1352"/>
              <a:ext cx="288" cy="200"/>
            </a:xfrm>
            <a:prstGeom prst="rect">
              <a:avLst/>
            </a:prstGeom>
            <a:solidFill>
              <a:srgbClr val="FFFFCC"/>
            </a:solidFill>
            <a:ln cap="flat" cmpd="sng" w="9525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33" name="Google Shape;333;p8"/>
            <p:cNvSpPr/>
            <p:nvPr/>
          </p:nvSpPr>
          <p:spPr>
            <a:xfrm>
              <a:off x="4212" y="1352"/>
              <a:ext cx="288" cy="200"/>
            </a:xfrm>
            <a:prstGeom prst="rect">
              <a:avLst/>
            </a:prstGeom>
            <a:solidFill>
              <a:srgbClr val="FFFFCC"/>
            </a:solidFill>
            <a:ln cap="flat" cmpd="sng" w="9525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334" name="Google Shape;334;p8"/>
            <p:cNvCxnSpPr/>
            <p:nvPr/>
          </p:nvCxnSpPr>
          <p:spPr>
            <a:xfrm>
              <a:off x="4337" y="1200"/>
              <a:ext cx="405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5" name="Google Shape;335;p8"/>
            <p:cNvSpPr/>
            <p:nvPr/>
          </p:nvSpPr>
          <p:spPr>
            <a:xfrm>
              <a:off x="3944" y="1792"/>
              <a:ext cx="529" cy="736"/>
            </a:xfrm>
            <a:prstGeom prst="ellipse">
              <a:avLst/>
            </a:prstGeom>
            <a:solidFill>
              <a:srgbClr val="9999FF"/>
            </a:solidFill>
            <a:ln>
              <a:noFill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336" name="Google Shape;336;p8"/>
            <p:cNvCxnSpPr/>
            <p:nvPr/>
          </p:nvCxnSpPr>
          <p:spPr>
            <a:xfrm>
              <a:off x="3962" y="1816"/>
              <a:ext cx="488" cy="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7" name="Google Shape;337;p8"/>
            <p:cNvCxnSpPr/>
            <p:nvPr/>
          </p:nvCxnSpPr>
          <p:spPr>
            <a:xfrm>
              <a:off x="3970" y="2504"/>
              <a:ext cx="488" cy="0"/>
            </a:xfrm>
            <a:prstGeom prst="straightConnector1">
              <a:avLst/>
            </a:prstGeom>
            <a:noFill/>
            <a:ln cap="flat" cmpd="sng" w="762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38" name="Google Shape;338;p8"/>
            <p:cNvGrpSpPr/>
            <p:nvPr/>
          </p:nvGrpSpPr>
          <p:grpSpPr>
            <a:xfrm>
              <a:off x="4050" y="1961"/>
              <a:ext cx="384" cy="364"/>
              <a:chOff x="4166" y="2935"/>
              <a:chExt cx="882" cy="891"/>
            </a:xfrm>
          </p:grpSpPr>
          <p:grpSp>
            <p:nvGrpSpPr>
              <p:cNvPr id="339" name="Google Shape;339;p8"/>
              <p:cNvGrpSpPr/>
              <p:nvPr/>
            </p:nvGrpSpPr>
            <p:grpSpPr>
              <a:xfrm>
                <a:off x="4419" y="2980"/>
                <a:ext cx="629" cy="599"/>
                <a:chOff x="4419" y="2980"/>
                <a:chExt cx="629" cy="599"/>
              </a:xfrm>
            </p:grpSpPr>
            <p:sp>
              <p:nvSpPr>
                <p:cNvPr id="340" name="Google Shape;340;p8"/>
                <p:cNvSpPr/>
                <p:nvPr/>
              </p:nvSpPr>
              <p:spPr>
                <a:xfrm rot="-10405104">
                  <a:off x="4448" y="3011"/>
                  <a:ext cx="571" cy="537"/>
                </a:xfrm>
                <a:custGeom>
                  <a:rect b="b" l="l" r="r" t="t"/>
                  <a:pathLst>
                    <a:path extrusionOk="0" h="1074" w="1143">
                      <a:moveTo>
                        <a:pt x="628" y="1074"/>
                      </a:moveTo>
                      <a:lnTo>
                        <a:pt x="622" y="1064"/>
                      </a:lnTo>
                      <a:lnTo>
                        <a:pt x="619" y="1055"/>
                      </a:lnTo>
                      <a:lnTo>
                        <a:pt x="617" y="1044"/>
                      </a:lnTo>
                      <a:lnTo>
                        <a:pt x="614" y="1033"/>
                      </a:lnTo>
                      <a:lnTo>
                        <a:pt x="606" y="1020"/>
                      </a:lnTo>
                      <a:lnTo>
                        <a:pt x="597" y="1012"/>
                      </a:lnTo>
                      <a:lnTo>
                        <a:pt x="587" y="1007"/>
                      </a:lnTo>
                      <a:lnTo>
                        <a:pt x="576" y="1007"/>
                      </a:lnTo>
                      <a:lnTo>
                        <a:pt x="565" y="1010"/>
                      </a:lnTo>
                      <a:lnTo>
                        <a:pt x="554" y="1016"/>
                      </a:lnTo>
                      <a:lnTo>
                        <a:pt x="545" y="1026"/>
                      </a:lnTo>
                      <a:lnTo>
                        <a:pt x="537" y="1038"/>
                      </a:lnTo>
                      <a:lnTo>
                        <a:pt x="536" y="1046"/>
                      </a:lnTo>
                      <a:lnTo>
                        <a:pt x="535" y="1056"/>
                      </a:lnTo>
                      <a:lnTo>
                        <a:pt x="533" y="1064"/>
                      </a:lnTo>
                      <a:lnTo>
                        <a:pt x="528" y="1069"/>
                      </a:lnTo>
                      <a:lnTo>
                        <a:pt x="521" y="1069"/>
                      </a:lnTo>
                      <a:lnTo>
                        <a:pt x="514" y="1068"/>
                      </a:lnTo>
                      <a:lnTo>
                        <a:pt x="505" y="1067"/>
                      </a:lnTo>
                      <a:lnTo>
                        <a:pt x="496" y="1065"/>
                      </a:lnTo>
                      <a:lnTo>
                        <a:pt x="488" y="1063"/>
                      </a:lnTo>
                      <a:lnTo>
                        <a:pt x="480" y="1060"/>
                      </a:lnTo>
                      <a:lnTo>
                        <a:pt x="473" y="1058"/>
                      </a:lnTo>
                      <a:lnTo>
                        <a:pt x="467" y="1056"/>
                      </a:lnTo>
                      <a:lnTo>
                        <a:pt x="462" y="1045"/>
                      </a:lnTo>
                      <a:lnTo>
                        <a:pt x="459" y="1031"/>
                      </a:lnTo>
                      <a:lnTo>
                        <a:pt x="457" y="1018"/>
                      </a:lnTo>
                      <a:lnTo>
                        <a:pt x="455" y="1005"/>
                      </a:lnTo>
                      <a:lnTo>
                        <a:pt x="451" y="998"/>
                      </a:lnTo>
                      <a:lnTo>
                        <a:pt x="447" y="993"/>
                      </a:lnTo>
                      <a:lnTo>
                        <a:pt x="443" y="990"/>
                      </a:lnTo>
                      <a:lnTo>
                        <a:pt x="438" y="988"/>
                      </a:lnTo>
                      <a:lnTo>
                        <a:pt x="432" y="987"/>
                      </a:lnTo>
                      <a:lnTo>
                        <a:pt x="427" y="985"/>
                      </a:lnTo>
                      <a:lnTo>
                        <a:pt x="421" y="985"/>
                      </a:lnTo>
                      <a:lnTo>
                        <a:pt x="413" y="984"/>
                      </a:lnTo>
                      <a:lnTo>
                        <a:pt x="407" y="989"/>
                      </a:lnTo>
                      <a:lnTo>
                        <a:pt x="401" y="993"/>
                      </a:lnTo>
                      <a:lnTo>
                        <a:pt x="397" y="997"/>
                      </a:lnTo>
                      <a:lnTo>
                        <a:pt x="393" y="1000"/>
                      </a:lnTo>
                      <a:lnTo>
                        <a:pt x="389" y="1005"/>
                      </a:lnTo>
                      <a:lnTo>
                        <a:pt x="385" y="1010"/>
                      </a:lnTo>
                      <a:lnTo>
                        <a:pt x="382" y="1014"/>
                      </a:lnTo>
                      <a:lnTo>
                        <a:pt x="377" y="1020"/>
                      </a:lnTo>
                      <a:lnTo>
                        <a:pt x="371" y="1020"/>
                      </a:lnTo>
                      <a:lnTo>
                        <a:pt x="363" y="1019"/>
                      </a:lnTo>
                      <a:lnTo>
                        <a:pt x="354" y="1015"/>
                      </a:lnTo>
                      <a:lnTo>
                        <a:pt x="344" y="1012"/>
                      </a:lnTo>
                      <a:lnTo>
                        <a:pt x="334" y="1007"/>
                      </a:lnTo>
                      <a:lnTo>
                        <a:pt x="325" y="1004"/>
                      </a:lnTo>
                      <a:lnTo>
                        <a:pt x="319" y="999"/>
                      </a:lnTo>
                      <a:lnTo>
                        <a:pt x="315" y="996"/>
                      </a:lnTo>
                      <a:lnTo>
                        <a:pt x="318" y="985"/>
                      </a:lnTo>
                      <a:lnTo>
                        <a:pt x="321" y="978"/>
                      </a:lnTo>
                      <a:lnTo>
                        <a:pt x="321" y="970"/>
                      </a:lnTo>
                      <a:lnTo>
                        <a:pt x="322" y="959"/>
                      </a:lnTo>
                      <a:lnTo>
                        <a:pt x="318" y="947"/>
                      </a:lnTo>
                      <a:lnTo>
                        <a:pt x="315" y="940"/>
                      </a:lnTo>
                      <a:lnTo>
                        <a:pt x="308" y="937"/>
                      </a:lnTo>
                      <a:lnTo>
                        <a:pt x="298" y="935"/>
                      </a:lnTo>
                      <a:lnTo>
                        <a:pt x="288" y="937"/>
                      </a:lnTo>
                      <a:lnTo>
                        <a:pt x="278" y="942"/>
                      </a:lnTo>
                      <a:lnTo>
                        <a:pt x="266" y="949"/>
                      </a:lnTo>
                      <a:lnTo>
                        <a:pt x="255" y="954"/>
                      </a:lnTo>
                      <a:lnTo>
                        <a:pt x="245" y="961"/>
                      </a:lnTo>
                      <a:lnTo>
                        <a:pt x="235" y="967"/>
                      </a:lnTo>
                      <a:lnTo>
                        <a:pt x="228" y="970"/>
                      </a:lnTo>
                      <a:lnTo>
                        <a:pt x="225" y="972"/>
                      </a:lnTo>
                      <a:lnTo>
                        <a:pt x="219" y="957"/>
                      </a:lnTo>
                      <a:lnTo>
                        <a:pt x="215" y="947"/>
                      </a:lnTo>
                      <a:lnTo>
                        <a:pt x="211" y="940"/>
                      </a:lnTo>
                      <a:lnTo>
                        <a:pt x="205" y="931"/>
                      </a:lnTo>
                      <a:lnTo>
                        <a:pt x="207" y="921"/>
                      </a:lnTo>
                      <a:lnTo>
                        <a:pt x="211" y="914"/>
                      </a:lnTo>
                      <a:lnTo>
                        <a:pt x="218" y="912"/>
                      </a:lnTo>
                      <a:lnTo>
                        <a:pt x="228" y="912"/>
                      </a:lnTo>
                      <a:lnTo>
                        <a:pt x="236" y="901"/>
                      </a:lnTo>
                      <a:lnTo>
                        <a:pt x="242" y="891"/>
                      </a:lnTo>
                      <a:lnTo>
                        <a:pt x="245" y="884"/>
                      </a:lnTo>
                      <a:lnTo>
                        <a:pt x="243" y="876"/>
                      </a:lnTo>
                      <a:lnTo>
                        <a:pt x="240" y="870"/>
                      </a:lnTo>
                      <a:lnTo>
                        <a:pt x="234" y="864"/>
                      </a:lnTo>
                      <a:lnTo>
                        <a:pt x="224" y="860"/>
                      </a:lnTo>
                      <a:lnTo>
                        <a:pt x="212" y="855"/>
                      </a:lnTo>
                      <a:lnTo>
                        <a:pt x="198" y="855"/>
                      </a:lnTo>
                      <a:lnTo>
                        <a:pt x="187" y="857"/>
                      </a:lnTo>
                      <a:lnTo>
                        <a:pt x="177" y="861"/>
                      </a:lnTo>
                      <a:lnTo>
                        <a:pt x="167" y="866"/>
                      </a:lnTo>
                      <a:lnTo>
                        <a:pt x="158" y="869"/>
                      </a:lnTo>
                      <a:lnTo>
                        <a:pt x="149" y="874"/>
                      </a:lnTo>
                      <a:lnTo>
                        <a:pt x="140" y="876"/>
                      </a:lnTo>
                      <a:lnTo>
                        <a:pt x="131" y="877"/>
                      </a:lnTo>
                      <a:lnTo>
                        <a:pt x="124" y="864"/>
                      </a:lnTo>
                      <a:lnTo>
                        <a:pt x="118" y="854"/>
                      </a:lnTo>
                      <a:lnTo>
                        <a:pt x="111" y="843"/>
                      </a:lnTo>
                      <a:lnTo>
                        <a:pt x="101" y="825"/>
                      </a:lnTo>
                      <a:lnTo>
                        <a:pt x="102" y="819"/>
                      </a:lnTo>
                      <a:lnTo>
                        <a:pt x="106" y="814"/>
                      </a:lnTo>
                      <a:lnTo>
                        <a:pt x="112" y="809"/>
                      </a:lnTo>
                      <a:lnTo>
                        <a:pt x="119" y="804"/>
                      </a:lnTo>
                      <a:lnTo>
                        <a:pt x="126" y="801"/>
                      </a:lnTo>
                      <a:lnTo>
                        <a:pt x="134" y="798"/>
                      </a:lnTo>
                      <a:lnTo>
                        <a:pt x="142" y="793"/>
                      </a:lnTo>
                      <a:lnTo>
                        <a:pt x="148" y="788"/>
                      </a:lnTo>
                      <a:lnTo>
                        <a:pt x="150" y="781"/>
                      </a:lnTo>
                      <a:lnTo>
                        <a:pt x="152" y="777"/>
                      </a:lnTo>
                      <a:lnTo>
                        <a:pt x="154" y="773"/>
                      </a:lnTo>
                      <a:lnTo>
                        <a:pt x="155" y="768"/>
                      </a:lnTo>
                      <a:lnTo>
                        <a:pt x="144" y="751"/>
                      </a:lnTo>
                      <a:lnTo>
                        <a:pt x="134" y="739"/>
                      </a:lnTo>
                      <a:lnTo>
                        <a:pt x="127" y="730"/>
                      </a:lnTo>
                      <a:lnTo>
                        <a:pt x="125" y="719"/>
                      </a:lnTo>
                      <a:lnTo>
                        <a:pt x="117" y="717"/>
                      </a:lnTo>
                      <a:lnTo>
                        <a:pt x="107" y="717"/>
                      </a:lnTo>
                      <a:lnTo>
                        <a:pt x="96" y="717"/>
                      </a:lnTo>
                      <a:lnTo>
                        <a:pt x="84" y="718"/>
                      </a:lnTo>
                      <a:lnTo>
                        <a:pt x="72" y="720"/>
                      </a:lnTo>
                      <a:lnTo>
                        <a:pt x="61" y="722"/>
                      </a:lnTo>
                      <a:lnTo>
                        <a:pt x="51" y="723"/>
                      </a:lnTo>
                      <a:lnTo>
                        <a:pt x="44" y="723"/>
                      </a:lnTo>
                      <a:lnTo>
                        <a:pt x="38" y="710"/>
                      </a:lnTo>
                      <a:lnTo>
                        <a:pt x="34" y="698"/>
                      </a:lnTo>
                      <a:lnTo>
                        <a:pt x="30" y="686"/>
                      </a:lnTo>
                      <a:lnTo>
                        <a:pt x="29" y="671"/>
                      </a:lnTo>
                      <a:lnTo>
                        <a:pt x="39" y="670"/>
                      </a:lnTo>
                      <a:lnTo>
                        <a:pt x="49" y="667"/>
                      </a:lnTo>
                      <a:lnTo>
                        <a:pt x="57" y="665"/>
                      </a:lnTo>
                      <a:lnTo>
                        <a:pt x="65" y="663"/>
                      </a:lnTo>
                      <a:lnTo>
                        <a:pt x="73" y="659"/>
                      </a:lnTo>
                      <a:lnTo>
                        <a:pt x="81" y="655"/>
                      </a:lnTo>
                      <a:lnTo>
                        <a:pt x="89" y="651"/>
                      </a:lnTo>
                      <a:lnTo>
                        <a:pt x="97" y="645"/>
                      </a:lnTo>
                      <a:lnTo>
                        <a:pt x="96" y="634"/>
                      </a:lnTo>
                      <a:lnTo>
                        <a:pt x="94" y="625"/>
                      </a:lnTo>
                      <a:lnTo>
                        <a:pt x="92" y="617"/>
                      </a:lnTo>
                      <a:lnTo>
                        <a:pt x="90" y="610"/>
                      </a:lnTo>
                      <a:lnTo>
                        <a:pt x="86" y="604"/>
                      </a:lnTo>
                      <a:lnTo>
                        <a:pt x="81" y="598"/>
                      </a:lnTo>
                      <a:lnTo>
                        <a:pt x="73" y="591"/>
                      </a:lnTo>
                      <a:lnTo>
                        <a:pt x="63" y="584"/>
                      </a:lnTo>
                      <a:lnTo>
                        <a:pt x="58" y="582"/>
                      </a:lnTo>
                      <a:lnTo>
                        <a:pt x="51" y="580"/>
                      </a:lnTo>
                      <a:lnTo>
                        <a:pt x="43" y="576"/>
                      </a:lnTo>
                      <a:lnTo>
                        <a:pt x="33" y="573"/>
                      </a:lnTo>
                      <a:lnTo>
                        <a:pt x="23" y="571"/>
                      </a:lnTo>
                      <a:lnTo>
                        <a:pt x="15" y="568"/>
                      </a:lnTo>
                      <a:lnTo>
                        <a:pt x="8" y="566"/>
                      </a:lnTo>
                      <a:lnTo>
                        <a:pt x="5" y="566"/>
                      </a:lnTo>
                      <a:lnTo>
                        <a:pt x="4" y="552"/>
                      </a:lnTo>
                      <a:lnTo>
                        <a:pt x="3" y="539"/>
                      </a:lnTo>
                      <a:lnTo>
                        <a:pt x="1" y="526"/>
                      </a:lnTo>
                      <a:lnTo>
                        <a:pt x="0" y="513"/>
                      </a:lnTo>
                      <a:lnTo>
                        <a:pt x="8" y="513"/>
                      </a:lnTo>
                      <a:lnTo>
                        <a:pt x="15" y="514"/>
                      </a:lnTo>
                      <a:lnTo>
                        <a:pt x="23" y="515"/>
                      </a:lnTo>
                      <a:lnTo>
                        <a:pt x="31" y="515"/>
                      </a:lnTo>
                      <a:lnTo>
                        <a:pt x="39" y="516"/>
                      </a:lnTo>
                      <a:lnTo>
                        <a:pt x="48" y="516"/>
                      </a:lnTo>
                      <a:lnTo>
                        <a:pt x="54" y="514"/>
                      </a:lnTo>
                      <a:lnTo>
                        <a:pt x="61" y="512"/>
                      </a:lnTo>
                      <a:lnTo>
                        <a:pt x="68" y="504"/>
                      </a:lnTo>
                      <a:lnTo>
                        <a:pt x="75" y="498"/>
                      </a:lnTo>
                      <a:lnTo>
                        <a:pt x="80" y="492"/>
                      </a:lnTo>
                      <a:lnTo>
                        <a:pt x="84" y="488"/>
                      </a:lnTo>
                      <a:lnTo>
                        <a:pt x="88" y="483"/>
                      </a:lnTo>
                      <a:lnTo>
                        <a:pt x="88" y="476"/>
                      </a:lnTo>
                      <a:lnTo>
                        <a:pt x="88" y="469"/>
                      </a:lnTo>
                      <a:lnTo>
                        <a:pt x="84" y="460"/>
                      </a:lnTo>
                      <a:lnTo>
                        <a:pt x="78" y="453"/>
                      </a:lnTo>
                      <a:lnTo>
                        <a:pt x="68" y="446"/>
                      </a:lnTo>
                      <a:lnTo>
                        <a:pt x="59" y="438"/>
                      </a:lnTo>
                      <a:lnTo>
                        <a:pt x="50" y="431"/>
                      </a:lnTo>
                      <a:lnTo>
                        <a:pt x="41" y="424"/>
                      </a:lnTo>
                      <a:lnTo>
                        <a:pt x="33" y="417"/>
                      </a:lnTo>
                      <a:lnTo>
                        <a:pt x="27" y="410"/>
                      </a:lnTo>
                      <a:lnTo>
                        <a:pt x="23" y="405"/>
                      </a:lnTo>
                      <a:lnTo>
                        <a:pt x="30" y="394"/>
                      </a:lnTo>
                      <a:lnTo>
                        <a:pt x="34" y="380"/>
                      </a:lnTo>
                      <a:lnTo>
                        <a:pt x="35" y="366"/>
                      </a:lnTo>
                      <a:lnTo>
                        <a:pt x="35" y="354"/>
                      </a:lnTo>
                      <a:lnTo>
                        <a:pt x="45" y="357"/>
                      </a:lnTo>
                      <a:lnTo>
                        <a:pt x="56" y="360"/>
                      </a:lnTo>
                      <a:lnTo>
                        <a:pt x="65" y="361"/>
                      </a:lnTo>
                      <a:lnTo>
                        <a:pt x="73" y="362"/>
                      </a:lnTo>
                      <a:lnTo>
                        <a:pt x="82" y="362"/>
                      </a:lnTo>
                      <a:lnTo>
                        <a:pt x="91" y="362"/>
                      </a:lnTo>
                      <a:lnTo>
                        <a:pt x="101" y="362"/>
                      </a:lnTo>
                      <a:lnTo>
                        <a:pt x="112" y="361"/>
                      </a:lnTo>
                      <a:lnTo>
                        <a:pt x="128" y="352"/>
                      </a:lnTo>
                      <a:lnTo>
                        <a:pt x="139" y="336"/>
                      </a:lnTo>
                      <a:lnTo>
                        <a:pt x="143" y="316"/>
                      </a:lnTo>
                      <a:lnTo>
                        <a:pt x="144" y="298"/>
                      </a:lnTo>
                      <a:lnTo>
                        <a:pt x="140" y="292"/>
                      </a:lnTo>
                      <a:lnTo>
                        <a:pt x="134" y="287"/>
                      </a:lnTo>
                      <a:lnTo>
                        <a:pt x="129" y="281"/>
                      </a:lnTo>
                      <a:lnTo>
                        <a:pt x="124" y="277"/>
                      </a:lnTo>
                      <a:lnTo>
                        <a:pt x="119" y="271"/>
                      </a:lnTo>
                      <a:lnTo>
                        <a:pt x="113" y="266"/>
                      </a:lnTo>
                      <a:lnTo>
                        <a:pt x="109" y="261"/>
                      </a:lnTo>
                      <a:lnTo>
                        <a:pt x="103" y="255"/>
                      </a:lnTo>
                      <a:lnTo>
                        <a:pt x="103" y="238"/>
                      </a:lnTo>
                      <a:lnTo>
                        <a:pt x="105" y="213"/>
                      </a:lnTo>
                      <a:lnTo>
                        <a:pt x="112" y="193"/>
                      </a:lnTo>
                      <a:lnTo>
                        <a:pt x="120" y="183"/>
                      </a:lnTo>
                      <a:lnTo>
                        <a:pt x="124" y="189"/>
                      </a:lnTo>
                      <a:lnTo>
                        <a:pt x="126" y="192"/>
                      </a:lnTo>
                      <a:lnTo>
                        <a:pt x="128" y="194"/>
                      </a:lnTo>
                      <a:lnTo>
                        <a:pt x="131" y="196"/>
                      </a:lnTo>
                      <a:lnTo>
                        <a:pt x="135" y="198"/>
                      </a:lnTo>
                      <a:lnTo>
                        <a:pt x="140" y="202"/>
                      </a:lnTo>
                      <a:lnTo>
                        <a:pt x="144" y="204"/>
                      </a:lnTo>
                      <a:lnTo>
                        <a:pt x="149" y="207"/>
                      </a:lnTo>
                      <a:lnTo>
                        <a:pt x="154" y="209"/>
                      </a:lnTo>
                      <a:lnTo>
                        <a:pt x="159" y="211"/>
                      </a:lnTo>
                      <a:lnTo>
                        <a:pt x="164" y="212"/>
                      </a:lnTo>
                      <a:lnTo>
                        <a:pt x="170" y="212"/>
                      </a:lnTo>
                      <a:lnTo>
                        <a:pt x="178" y="207"/>
                      </a:lnTo>
                      <a:lnTo>
                        <a:pt x="188" y="203"/>
                      </a:lnTo>
                      <a:lnTo>
                        <a:pt x="200" y="200"/>
                      </a:lnTo>
                      <a:lnTo>
                        <a:pt x="212" y="197"/>
                      </a:lnTo>
                      <a:lnTo>
                        <a:pt x="223" y="194"/>
                      </a:lnTo>
                      <a:lnTo>
                        <a:pt x="233" y="188"/>
                      </a:lnTo>
                      <a:lnTo>
                        <a:pt x="240" y="180"/>
                      </a:lnTo>
                      <a:lnTo>
                        <a:pt x="245" y="167"/>
                      </a:lnTo>
                      <a:lnTo>
                        <a:pt x="238" y="149"/>
                      </a:lnTo>
                      <a:lnTo>
                        <a:pt x="233" y="133"/>
                      </a:lnTo>
                      <a:lnTo>
                        <a:pt x="228" y="117"/>
                      </a:lnTo>
                      <a:lnTo>
                        <a:pt x="224" y="98"/>
                      </a:lnTo>
                      <a:lnTo>
                        <a:pt x="231" y="96"/>
                      </a:lnTo>
                      <a:lnTo>
                        <a:pt x="240" y="92"/>
                      </a:lnTo>
                      <a:lnTo>
                        <a:pt x="249" y="87"/>
                      </a:lnTo>
                      <a:lnTo>
                        <a:pt x="258" y="82"/>
                      </a:lnTo>
                      <a:lnTo>
                        <a:pt x="269" y="76"/>
                      </a:lnTo>
                      <a:lnTo>
                        <a:pt x="278" y="73"/>
                      </a:lnTo>
                      <a:lnTo>
                        <a:pt x="287" y="69"/>
                      </a:lnTo>
                      <a:lnTo>
                        <a:pt x="295" y="68"/>
                      </a:lnTo>
                      <a:lnTo>
                        <a:pt x="301" y="77"/>
                      </a:lnTo>
                      <a:lnTo>
                        <a:pt x="307" y="86"/>
                      </a:lnTo>
                      <a:lnTo>
                        <a:pt x="313" y="91"/>
                      </a:lnTo>
                      <a:lnTo>
                        <a:pt x="318" y="97"/>
                      </a:lnTo>
                      <a:lnTo>
                        <a:pt x="324" y="102"/>
                      </a:lnTo>
                      <a:lnTo>
                        <a:pt x="332" y="106"/>
                      </a:lnTo>
                      <a:lnTo>
                        <a:pt x="340" y="111"/>
                      </a:lnTo>
                      <a:lnTo>
                        <a:pt x="349" y="117"/>
                      </a:lnTo>
                      <a:lnTo>
                        <a:pt x="356" y="116"/>
                      </a:lnTo>
                      <a:lnTo>
                        <a:pt x="362" y="112"/>
                      </a:lnTo>
                      <a:lnTo>
                        <a:pt x="367" y="107"/>
                      </a:lnTo>
                      <a:lnTo>
                        <a:pt x="371" y="102"/>
                      </a:lnTo>
                      <a:lnTo>
                        <a:pt x="376" y="96"/>
                      </a:lnTo>
                      <a:lnTo>
                        <a:pt x="380" y="90"/>
                      </a:lnTo>
                      <a:lnTo>
                        <a:pt x="386" y="86"/>
                      </a:lnTo>
                      <a:lnTo>
                        <a:pt x="392" y="81"/>
                      </a:lnTo>
                      <a:lnTo>
                        <a:pt x="392" y="69"/>
                      </a:lnTo>
                      <a:lnTo>
                        <a:pt x="390" y="59"/>
                      </a:lnTo>
                      <a:lnTo>
                        <a:pt x="389" y="48"/>
                      </a:lnTo>
                      <a:lnTo>
                        <a:pt x="387" y="37"/>
                      </a:lnTo>
                      <a:lnTo>
                        <a:pt x="397" y="37"/>
                      </a:lnTo>
                      <a:lnTo>
                        <a:pt x="404" y="36"/>
                      </a:lnTo>
                      <a:lnTo>
                        <a:pt x="410" y="35"/>
                      </a:lnTo>
                      <a:lnTo>
                        <a:pt x="417" y="31"/>
                      </a:lnTo>
                      <a:lnTo>
                        <a:pt x="423" y="29"/>
                      </a:lnTo>
                      <a:lnTo>
                        <a:pt x="429" y="28"/>
                      </a:lnTo>
                      <a:lnTo>
                        <a:pt x="435" y="27"/>
                      </a:lnTo>
                      <a:lnTo>
                        <a:pt x="442" y="27"/>
                      </a:lnTo>
                      <a:lnTo>
                        <a:pt x="446" y="33"/>
                      </a:lnTo>
                      <a:lnTo>
                        <a:pt x="450" y="38"/>
                      </a:lnTo>
                      <a:lnTo>
                        <a:pt x="454" y="43"/>
                      </a:lnTo>
                      <a:lnTo>
                        <a:pt x="458" y="48"/>
                      </a:lnTo>
                      <a:lnTo>
                        <a:pt x="462" y="51"/>
                      </a:lnTo>
                      <a:lnTo>
                        <a:pt x="467" y="56"/>
                      </a:lnTo>
                      <a:lnTo>
                        <a:pt x="473" y="59"/>
                      </a:lnTo>
                      <a:lnTo>
                        <a:pt x="478" y="64"/>
                      </a:lnTo>
                      <a:lnTo>
                        <a:pt x="486" y="65"/>
                      </a:lnTo>
                      <a:lnTo>
                        <a:pt x="493" y="67"/>
                      </a:lnTo>
                      <a:lnTo>
                        <a:pt x="501" y="68"/>
                      </a:lnTo>
                      <a:lnTo>
                        <a:pt x="510" y="68"/>
                      </a:lnTo>
                      <a:lnTo>
                        <a:pt x="518" y="68"/>
                      </a:lnTo>
                      <a:lnTo>
                        <a:pt x="526" y="66"/>
                      </a:lnTo>
                      <a:lnTo>
                        <a:pt x="533" y="64"/>
                      </a:lnTo>
                      <a:lnTo>
                        <a:pt x="539" y="59"/>
                      </a:lnTo>
                      <a:lnTo>
                        <a:pt x="545" y="43"/>
                      </a:lnTo>
                      <a:lnTo>
                        <a:pt x="546" y="30"/>
                      </a:lnTo>
                      <a:lnTo>
                        <a:pt x="545" y="19"/>
                      </a:lnTo>
                      <a:lnTo>
                        <a:pt x="545" y="0"/>
                      </a:lnTo>
                      <a:lnTo>
                        <a:pt x="554" y="0"/>
                      </a:lnTo>
                      <a:lnTo>
                        <a:pt x="564" y="0"/>
                      </a:lnTo>
                      <a:lnTo>
                        <a:pt x="573" y="1"/>
                      </a:lnTo>
                      <a:lnTo>
                        <a:pt x="582" y="1"/>
                      </a:lnTo>
                      <a:lnTo>
                        <a:pt x="591" y="3"/>
                      </a:lnTo>
                      <a:lnTo>
                        <a:pt x="601" y="3"/>
                      </a:lnTo>
                      <a:lnTo>
                        <a:pt x="610" y="4"/>
                      </a:lnTo>
                      <a:lnTo>
                        <a:pt x="619" y="4"/>
                      </a:lnTo>
                      <a:lnTo>
                        <a:pt x="620" y="10"/>
                      </a:lnTo>
                      <a:lnTo>
                        <a:pt x="621" y="14"/>
                      </a:lnTo>
                      <a:lnTo>
                        <a:pt x="620" y="19"/>
                      </a:lnTo>
                      <a:lnTo>
                        <a:pt x="619" y="28"/>
                      </a:lnTo>
                      <a:lnTo>
                        <a:pt x="625" y="35"/>
                      </a:lnTo>
                      <a:lnTo>
                        <a:pt x="634" y="45"/>
                      </a:lnTo>
                      <a:lnTo>
                        <a:pt x="645" y="57"/>
                      </a:lnTo>
                      <a:lnTo>
                        <a:pt x="658" y="67"/>
                      </a:lnTo>
                      <a:lnTo>
                        <a:pt x="671" y="76"/>
                      </a:lnTo>
                      <a:lnTo>
                        <a:pt x="681" y="80"/>
                      </a:lnTo>
                      <a:lnTo>
                        <a:pt x="690" y="79"/>
                      </a:lnTo>
                      <a:lnTo>
                        <a:pt x="695" y="69"/>
                      </a:lnTo>
                      <a:lnTo>
                        <a:pt x="705" y="57"/>
                      </a:lnTo>
                      <a:lnTo>
                        <a:pt x="712" y="44"/>
                      </a:lnTo>
                      <a:lnTo>
                        <a:pt x="718" y="30"/>
                      </a:lnTo>
                      <a:lnTo>
                        <a:pt x="723" y="15"/>
                      </a:lnTo>
                      <a:lnTo>
                        <a:pt x="726" y="15"/>
                      </a:lnTo>
                      <a:lnTo>
                        <a:pt x="731" y="15"/>
                      </a:lnTo>
                      <a:lnTo>
                        <a:pt x="736" y="16"/>
                      </a:lnTo>
                      <a:lnTo>
                        <a:pt x="742" y="16"/>
                      </a:lnTo>
                      <a:lnTo>
                        <a:pt x="748" y="18"/>
                      </a:lnTo>
                      <a:lnTo>
                        <a:pt x="753" y="19"/>
                      </a:lnTo>
                      <a:lnTo>
                        <a:pt x="757" y="21"/>
                      </a:lnTo>
                      <a:lnTo>
                        <a:pt x="760" y="22"/>
                      </a:lnTo>
                      <a:lnTo>
                        <a:pt x="756" y="35"/>
                      </a:lnTo>
                      <a:lnTo>
                        <a:pt x="754" y="46"/>
                      </a:lnTo>
                      <a:lnTo>
                        <a:pt x="751" y="58"/>
                      </a:lnTo>
                      <a:lnTo>
                        <a:pt x="750" y="72"/>
                      </a:lnTo>
                      <a:lnTo>
                        <a:pt x="756" y="80"/>
                      </a:lnTo>
                      <a:lnTo>
                        <a:pt x="761" y="86"/>
                      </a:lnTo>
                      <a:lnTo>
                        <a:pt x="766" y="91"/>
                      </a:lnTo>
                      <a:lnTo>
                        <a:pt x="774" y="97"/>
                      </a:lnTo>
                      <a:lnTo>
                        <a:pt x="789" y="97"/>
                      </a:lnTo>
                      <a:lnTo>
                        <a:pt x="793" y="94"/>
                      </a:lnTo>
                      <a:lnTo>
                        <a:pt x="791" y="88"/>
                      </a:lnTo>
                      <a:lnTo>
                        <a:pt x="791" y="80"/>
                      </a:lnTo>
                      <a:lnTo>
                        <a:pt x="796" y="76"/>
                      </a:lnTo>
                      <a:lnTo>
                        <a:pt x="801" y="73"/>
                      </a:lnTo>
                      <a:lnTo>
                        <a:pt x="806" y="69"/>
                      </a:lnTo>
                      <a:lnTo>
                        <a:pt x="810" y="66"/>
                      </a:lnTo>
                      <a:lnTo>
                        <a:pt x="814" y="63"/>
                      </a:lnTo>
                      <a:lnTo>
                        <a:pt x="817" y="59"/>
                      </a:lnTo>
                      <a:lnTo>
                        <a:pt x="822" y="56"/>
                      </a:lnTo>
                      <a:lnTo>
                        <a:pt x="826" y="52"/>
                      </a:lnTo>
                      <a:lnTo>
                        <a:pt x="834" y="52"/>
                      </a:lnTo>
                      <a:lnTo>
                        <a:pt x="842" y="54"/>
                      </a:lnTo>
                      <a:lnTo>
                        <a:pt x="849" y="57"/>
                      </a:lnTo>
                      <a:lnTo>
                        <a:pt x="856" y="60"/>
                      </a:lnTo>
                      <a:lnTo>
                        <a:pt x="861" y="65"/>
                      </a:lnTo>
                      <a:lnTo>
                        <a:pt x="865" y="71"/>
                      </a:lnTo>
                      <a:lnTo>
                        <a:pt x="867" y="77"/>
                      </a:lnTo>
                      <a:lnTo>
                        <a:pt x="867" y="86"/>
                      </a:lnTo>
                      <a:lnTo>
                        <a:pt x="862" y="98"/>
                      </a:lnTo>
                      <a:lnTo>
                        <a:pt x="857" y="109"/>
                      </a:lnTo>
                      <a:lnTo>
                        <a:pt x="855" y="119"/>
                      </a:lnTo>
                      <a:lnTo>
                        <a:pt x="854" y="132"/>
                      </a:lnTo>
                      <a:lnTo>
                        <a:pt x="859" y="139"/>
                      </a:lnTo>
                      <a:lnTo>
                        <a:pt x="862" y="145"/>
                      </a:lnTo>
                      <a:lnTo>
                        <a:pt x="867" y="152"/>
                      </a:lnTo>
                      <a:lnTo>
                        <a:pt x="871" y="160"/>
                      </a:lnTo>
                      <a:lnTo>
                        <a:pt x="879" y="165"/>
                      </a:lnTo>
                      <a:lnTo>
                        <a:pt x="885" y="170"/>
                      </a:lnTo>
                      <a:lnTo>
                        <a:pt x="891" y="173"/>
                      </a:lnTo>
                      <a:lnTo>
                        <a:pt x="897" y="175"/>
                      </a:lnTo>
                      <a:lnTo>
                        <a:pt x="901" y="177"/>
                      </a:lnTo>
                      <a:lnTo>
                        <a:pt x="907" y="179"/>
                      </a:lnTo>
                      <a:lnTo>
                        <a:pt x="914" y="180"/>
                      </a:lnTo>
                      <a:lnTo>
                        <a:pt x="922" y="181"/>
                      </a:lnTo>
                      <a:lnTo>
                        <a:pt x="929" y="173"/>
                      </a:lnTo>
                      <a:lnTo>
                        <a:pt x="933" y="166"/>
                      </a:lnTo>
                      <a:lnTo>
                        <a:pt x="939" y="160"/>
                      </a:lnTo>
                      <a:lnTo>
                        <a:pt x="944" y="155"/>
                      </a:lnTo>
                      <a:lnTo>
                        <a:pt x="950" y="150"/>
                      </a:lnTo>
                      <a:lnTo>
                        <a:pt x="958" y="148"/>
                      </a:lnTo>
                      <a:lnTo>
                        <a:pt x="966" y="144"/>
                      </a:lnTo>
                      <a:lnTo>
                        <a:pt x="976" y="143"/>
                      </a:lnTo>
                      <a:lnTo>
                        <a:pt x="985" y="152"/>
                      </a:lnTo>
                      <a:lnTo>
                        <a:pt x="993" y="159"/>
                      </a:lnTo>
                      <a:lnTo>
                        <a:pt x="998" y="167"/>
                      </a:lnTo>
                      <a:lnTo>
                        <a:pt x="999" y="179"/>
                      </a:lnTo>
                      <a:lnTo>
                        <a:pt x="995" y="194"/>
                      </a:lnTo>
                      <a:lnTo>
                        <a:pt x="989" y="208"/>
                      </a:lnTo>
                      <a:lnTo>
                        <a:pt x="984" y="222"/>
                      </a:lnTo>
                      <a:lnTo>
                        <a:pt x="982" y="236"/>
                      </a:lnTo>
                      <a:lnTo>
                        <a:pt x="985" y="242"/>
                      </a:lnTo>
                      <a:lnTo>
                        <a:pt x="991" y="247"/>
                      </a:lnTo>
                      <a:lnTo>
                        <a:pt x="998" y="251"/>
                      </a:lnTo>
                      <a:lnTo>
                        <a:pt x="1005" y="256"/>
                      </a:lnTo>
                      <a:lnTo>
                        <a:pt x="1013" y="260"/>
                      </a:lnTo>
                      <a:lnTo>
                        <a:pt x="1020" y="263"/>
                      </a:lnTo>
                      <a:lnTo>
                        <a:pt x="1028" y="266"/>
                      </a:lnTo>
                      <a:lnTo>
                        <a:pt x="1035" y="269"/>
                      </a:lnTo>
                      <a:lnTo>
                        <a:pt x="1043" y="269"/>
                      </a:lnTo>
                      <a:lnTo>
                        <a:pt x="1051" y="269"/>
                      </a:lnTo>
                      <a:lnTo>
                        <a:pt x="1059" y="266"/>
                      </a:lnTo>
                      <a:lnTo>
                        <a:pt x="1066" y="262"/>
                      </a:lnTo>
                      <a:lnTo>
                        <a:pt x="1068" y="253"/>
                      </a:lnTo>
                      <a:lnTo>
                        <a:pt x="1073" y="246"/>
                      </a:lnTo>
                      <a:lnTo>
                        <a:pt x="1081" y="241"/>
                      </a:lnTo>
                      <a:lnTo>
                        <a:pt x="1091" y="239"/>
                      </a:lnTo>
                      <a:lnTo>
                        <a:pt x="1095" y="251"/>
                      </a:lnTo>
                      <a:lnTo>
                        <a:pt x="1099" y="263"/>
                      </a:lnTo>
                      <a:lnTo>
                        <a:pt x="1104" y="274"/>
                      </a:lnTo>
                      <a:lnTo>
                        <a:pt x="1109" y="287"/>
                      </a:lnTo>
                      <a:lnTo>
                        <a:pt x="1110" y="294"/>
                      </a:lnTo>
                      <a:lnTo>
                        <a:pt x="1111" y="301"/>
                      </a:lnTo>
                      <a:lnTo>
                        <a:pt x="1111" y="308"/>
                      </a:lnTo>
                      <a:lnTo>
                        <a:pt x="1112" y="315"/>
                      </a:lnTo>
                      <a:lnTo>
                        <a:pt x="1105" y="319"/>
                      </a:lnTo>
                      <a:lnTo>
                        <a:pt x="1098" y="324"/>
                      </a:lnTo>
                      <a:lnTo>
                        <a:pt x="1091" y="327"/>
                      </a:lnTo>
                      <a:lnTo>
                        <a:pt x="1086" y="331"/>
                      </a:lnTo>
                      <a:lnTo>
                        <a:pt x="1080" y="334"/>
                      </a:lnTo>
                      <a:lnTo>
                        <a:pt x="1074" y="339"/>
                      </a:lnTo>
                      <a:lnTo>
                        <a:pt x="1067" y="345"/>
                      </a:lnTo>
                      <a:lnTo>
                        <a:pt x="1061" y="352"/>
                      </a:lnTo>
                      <a:lnTo>
                        <a:pt x="1060" y="364"/>
                      </a:lnTo>
                      <a:lnTo>
                        <a:pt x="1062" y="377"/>
                      </a:lnTo>
                      <a:lnTo>
                        <a:pt x="1067" y="389"/>
                      </a:lnTo>
                      <a:lnTo>
                        <a:pt x="1076" y="399"/>
                      </a:lnTo>
                      <a:lnTo>
                        <a:pt x="1083" y="400"/>
                      </a:lnTo>
                      <a:lnTo>
                        <a:pt x="1091" y="401"/>
                      </a:lnTo>
                      <a:lnTo>
                        <a:pt x="1099" y="404"/>
                      </a:lnTo>
                      <a:lnTo>
                        <a:pt x="1107" y="405"/>
                      </a:lnTo>
                      <a:lnTo>
                        <a:pt x="1115" y="407"/>
                      </a:lnTo>
                      <a:lnTo>
                        <a:pt x="1122" y="410"/>
                      </a:lnTo>
                      <a:lnTo>
                        <a:pt x="1127" y="415"/>
                      </a:lnTo>
                      <a:lnTo>
                        <a:pt x="1130" y="420"/>
                      </a:lnTo>
                      <a:lnTo>
                        <a:pt x="1129" y="435"/>
                      </a:lnTo>
                      <a:lnTo>
                        <a:pt x="1129" y="448"/>
                      </a:lnTo>
                      <a:lnTo>
                        <a:pt x="1129" y="463"/>
                      </a:lnTo>
                      <a:lnTo>
                        <a:pt x="1128" y="478"/>
                      </a:lnTo>
                      <a:lnTo>
                        <a:pt x="1125" y="484"/>
                      </a:lnTo>
                      <a:lnTo>
                        <a:pt x="1120" y="488"/>
                      </a:lnTo>
                      <a:lnTo>
                        <a:pt x="1114" y="491"/>
                      </a:lnTo>
                      <a:lnTo>
                        <a:pt x="1109" y="495"/>
                      </a:lnTo>
                      <a:lnTo>
                        <a:pt x="1102" y="497"/>
                      </a:lnTo>
                      <a:lnTo>
                        <a:pt x="1094" y="499"/>
                      </a:lnTo>
                      <a:lnTo>
                        <a:pt x="1088" y="500"/>
                      </a:lnTo>
                      <a:lnTo>
                        <a:pt x="1081" y="503"/>
                      </a:lnTo>
                      <a:lnTo>
                        <a:pt x="1080" y="515"/>
                      </a:lnTo>
                      <a:lnTo>
                        <a:pt x="1079" y="530"/>
                      </a:lnTo>
                      <a:lnTo>
                        <a:pt x="1079" y="545"/>
                      </a:lnTo>
                      <a:lnTo>
                        <a:pt x="1082" y="557"/>
                      </a:lnTo>
                      <a:lnTo>
                        <a:pt x="1090" y="560"/>
                      </a:lnTo>
                      <a:lnTo>
                        <a:pt x="1098" y="564"/>
                      </a:lnTo>
                      <a:lnTo>
                        <a:pt x="1105" y="567"/>
                      </a:lnTo>
                      <a:lnTo>
                        <a:pt x="1112" y="571"/>
                      </a:lnTo>
                      <a:lnTo>
                        <a:pt x="1119" y="575"/>
                      </a:lnTo>
                      <a:lnTo>
                        <a:pt x="1127" y="580"/>
                      </a:lnTo>
                      <a:lnTo>
                        <a:pt x="1134" y="584"/>
                      </a:lnTo>
                      <a:lnTo>
                        <a:pt x="1141" y="589"/>
                      </a:lnTo>
                      <a:lnTo>
                        <a:pt x="1143" y="603"/>
                      </a:lnTo>
                      <a:lnTo>
                        <a:pt x="1142" y="617"/>
                      </a:lnTo>
                      <a:lnTo>
                        <a:pt x="1140" y="632"/>
                      </a:lnTo>
                      <a:lnTo>
                        <a:pt x="1137" y="645"/>
                      </a:lnTo>
                      <a:lnTo>
                        <a:pt x="1128" y="650"/>
                      </a:lnTo>
                      <a:lnTo>
                        <a:pt x="1118" y="654"/>
                      </a:lnTo>
                      <a:lnTo>
                        <a:pt x="1107" y="656"/>
                      </a:lnTo>
                      <a:lnTo>
                        <a:pt x="1096" y="657"/>
                      </a:lnTo>
                      <a:lnTo>
                        <a:pt x="1086" y="658"/>
                      </a:lnTo>
                      <a:lnTo>
                        <a:pt x="1074" y="660"/>
                      </a:lnTo>
                      <a:lnTo>
                        <a:pt x="1064" y="664"/>
                      </a:lnTo>
                      <a:lnTo>
                        <a:pt x="1053" y="669"/>
                      </a:lnTo>
                      <a:lnTo>
                        <a:pt x="1046" y="680"/>
                      </a:lnTo>
                      <a:lnTo>
                        <a:pt x="1039" y="690"/>
                      </a:lnTo>
                      <a:lnTo>
                        <a:pt x="1035" y="701"/>
                      </a:lnTo>
                      <a:lnTo>
                        <a:pt x="1033" y="713"/>
                      </a:lnTo>
                      <a:lnTo>
                        <a:pt x="1037" y="723"/>
                      </a:lnTo>
                      <a:lnTo>
                        <a:pt x="1042" y="733"/>
                      </a:lnTo>
                      <a:lnTo>
                        <a:pt x="1048" y="743"/>
                      </a:lnTo>
                      <a:lnTo>
                        <a:pt x="1053" y="755"/>
                      </a:lnTo>
                      <a:lnTo>
                        <a:pt x="1058" y="765"/>
                      </a:lnTo>
                      <a:lnTo>
                        <a:pt x="1062" y="776"/>
                      </a:lnTo>
                      <a:lnTo>
                        <a:pt x="1066" y="786"/>
                      </a:lnTo>
                      <a:lnTo>
                        <a:pt x="1068" y="796"/>
                      </a:lnTo>
                      <a:lnTo>
                        <a:pt x="1064" y="808"/>
                      </a:lnTo>
                      <a:lnTo>
                        <a:pt x="1057" y="822"/>
                      </a:lnTo>
                      <a:lnTo>
                        <a:pt x="1049" y="834"/>
                      </a:lnTo>
                      <a:lnTo>
                        <a:pt x="1042" y="844"/>
                      </a:lnTo>
                      <a:lnTo>
                        <a:pt x="1036" y="844"/>
                      </a:lnTo>
                      <a:lnTo>
                        <a:pt x="1030" y="843"/>
                      </a:lnTo>
                      <a:lnTo>
                        <a:pt x="1024" y="841"/>
                      </a:lnTo>
                      <a:lnTo>
                        <a:pt x="1020" y="840"/>
                      </a:lnTo>
                      <a:lnTo>
                        <a:pt x="1014" y="839"/>
                      </a:lnTo>
                      <a:lnTo>
                        <a:pt x="1008" y="838"/>
                      </a:lnTo>
                      <a:lnTo>
                        <a:pt x="1003" y="838"/>
                      </a:lnTo>
                      <a:lnTo>
                        <a:pt x="996" y="837"/>
                      </a:lnTo>
                      <a:lnTo>
                        <a:pt x="984" y="840"/>
                      </a:lnTo>
                      <a:lnTo>
                        <a:pt x="976" y="844"/>
                      </a:lnTo>
                      <a:lnTo>
                        <a:pt x="970" y="847"/>
                      </a:lnTo>
                      <a:lnTo>
                        <a:pt x="966" y="852"/>
                      </a:lnTo>
                      <a:lnTo>
                        <a:pt x="961" y="856"/>
                      </a:lnTo>
                      <a:lnTo>
                        <a:pt x="959" y="863"/>
                      </a:lnTo>
                      <a:lnTo>
                        <a:pt x="955" y="871"/>
                      </a:lnTo>
                      <a:lnTo>
                        <a:pt x="952" y="882"/>
                      </a:lnTo>
                      <a:lnTo>
                        <a:pt x="958" y="901"/>
                      </a:lnTo>
                      <a:lnTo>
                        <a:pt x="968" y="920"/>
                      </a:lnTo>
                      <a:lnTo>
                        <a:pt x="976" y="938"/>
                      </a:lnTo>
                      <a:lnTo>
                        <a:pt x="980" y="959"/>
                      </a:lnTo>
                      <a:lnTo>
                        <a:pt x="973" y="966"/>
                      </a:lnTo>
                      <a:lnTo>
                        <a:pt x="963" y="975"/>
                      </a:lnTo>
                      <a:lnTo>
                        <a:pt x="955" y="982"/>
                      </a:lnTo>
                      <a:lnTo>
                        <a:pt x="947" y="984"/>
                      </a:lnTo>
                      <a:lnTo>
                        <a:pt x="942" y="978"/>
                      </a:lnTo>
                      <a:lnTo>
                        <a:pt x="936" y="974"/>
                      </a:lnTo>
                      <a:lnTo>
                        <a:pt x="930" y="969"/>
                      </a:lnTo>
                      <a:lnTo>
                        <a:pt x="924" y="966"/>
                      </a:lnTo>
                      <a:lnTo>
                        <a:pt x="917" y="962"/>
                      </a:lnTo>
                      <a:lnTo>
                        <a:pt x="912" y="959"/>
                      </a:lnTo>
                      <a:lnTo>
                        <a:pt x="904" y="955"/>
                      </a:lnTo>
                      <a:lnTo>
                        <a:pt x="897" y="952"/>
                      </a:lnTo>
                      <a:lnTo>
                        <a:pt x="886" y="952"/>
                      </a:lnTo>
                      <a:lnTo>
                        <a:pt x="878" y="952"/>
                      </a:lnTo>
                      <a:lnTo>
                        <a:pt x="871" y="952"/>
                      </a:lnTo>
                      <a:lnTo>
                        <a:pt x="864" y="954"/>
                      </a:lnTo>
                      <a:lnTo>
                        <a:pt x="859" y="958"/>
                      </a:lnTo>
                      <a:lnTo>
                        <a:pt x="854" y="962"/>
                      </a:lnTo>
                      <a:lnTo>
                        <a:pt x="848" y="969"/>
                      </a:lnTo>
                      <a:lnTo>
                        <a:pt x="844" y="980"/>
                      </a:lnTo>
                      <a:lnTo>
                        <a:pt x="845" y="995"/>
                      </a:lnTo>
                      <a:lnTo>
                        <a:pt x="847" y="1008"/>
                      </a:lnTo>
                      <a:lnTo>
                        <a:pt x="849" y="1021"/>
                      </a:lnTo>
                      <a:lnTo>
                        <a:pt x="851" y="1035"/>
                      </a:lnTo>
                      <a:lnTo>
                        <a:pt x="846" y="1038"/>
                      </a:lnTo>
                      <a:lnTo>
                        <a:pt x="841" y="1042"/>
                      </a:lnTo>
                      <a:lnTo>
                        <a:pt x="836" y="1045"/>
                      </a:lnTo>
                      <a:lnTo>
                        <a:pt x="831" y="1048"/>
                      </a:lnTo>
                      <a:lnTo>
                        <a:pt x="825" y="1051"/>
                      </a:lnTo>
                      <a:lnTo>
                        <a:pt x="821" y="1053"/>
                      </a:lnTo>
                      <a:lnTo>
                        <a:pt x="815" y="1057"/>
                      </a:lnTo>
                      <a:lnTo>
                        <a:pt x="810" y="1060"/>
                      </a:lnTo>
                      <a:lnTo>
                        <a:pt x="800" y="1056"/>
                      </a:lnTo>
                      <a:lnTo>
                        <a:pt x="792" y="1048"/>
                      </a:lnTo>
                      <a:lnTo>
                        <a:pt x="786" y="1040"/>
                      </a:lnTo>
                      <a:lnTo>
                        <a:pt x="781" y="1029"/>
                      </a:lnTo>
                      <a:lnTo>
                        <a:pt x="777" y="1020"/>
                      </a:lnTo>
                      <a:lnTo>
                        <a:pt x="772" y="1011"/>
                      </a:lnTo>
                      <a:lnTo>
                        <a:pt x="765" y="1002"/>
                      </a:lnTo>
                      <a:lnTo>
                        <a:pt x="756" y="995"/>
                      </a:lnTo>
                      <a:lnTo>
                        <a:pt x="755" y="995"/>
                      </a:lnTo>
                      <a:lnTo>
                        <a:pt x="753" y="993"/>
                      </a:lnTo>
                      <a:lnTo>
                        <a:pt x="751" y="993"/>
                      </a:lnTo>
                      <a:lnTo>
                        <a:pt x="749" y="993"/>
                      </a:lnTo>
                      <a:lnTo>
                        <a:pt x="741" y="996"/>
                      </a:lnTo>
                      <a:lnTo>
                        <a:pt x="733" y="998"/>
                      </a:lnTo>
                      <a:lnTo>
                        <a:pt x="727" y="1000"/>
                      </a:lnTo>
                      <a:lnTo>
                        <a:pt x="720" y="1003"/>
                      </a:lnTo>
                      <a:lnTo>
                        <a:pt x="715" y="1005"/>
                      </a:lnTo>
                      <a:lnTo>
                        <a:pt x="710" y="1010"/>
                      </a:lnTo>
                      <a:lnTo>
                        <a:pt x="704" y="1015"/>
                      </a:lnTo>
                      <a:lnTo>
                        <a:pt x="700" y="1022"/>
                      </a:lnTo>
                      <a:lnTo>
                        <a:pt x="698" y="1031"/>
                      </a:lnTo>
                      <a:lnTo>
                        <a:pt x="697" y="1041"/>
                      </a:lnTo>
                      <a:lnTo>
                        <a:pt x="695" y="1050"/>
                      </a:lnTo>
                      <a:lnTo>
                        <a:pt x="694" y="1060"/>
                      </a:lnTo>
                      <a:lnTo>
                        <a:pt x="686" y="1063"/>
                      </a:lnTo>
                      <a:lnTo>
                        <a:pt x="678" y="1066"/>
                      </a:lnTo>
                      <a:lnTo>
                        <a:pt x="670" y="1068"/>
                      </a:lnTo>
                      <a:lnTo>
                        <a:pt x="662" y="1071"/>
                      </a:lnTo>
                      <a:lnTo>
                        <a:pt x="654" y="1072"/>
                      </a:lnTo>
                      <a:lnTo>
                        <a:pt x="645" y="1073"/>
                      </a:lnTo>
                      <a:lnTo>
                        <a:pt x="637" y="1074"/>
                      </a:lnTo>
                      <a:lnTo>
                        <a:pt x="628" y="107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341" name="Google Shape;341;p8"/>
                <p:cNvSpPr/>
                <p:nvPr/>
              </p:nvSpPr>
              <p:spPr>
                <a:xfrm rot="-10405104">
                  <a:off x="4637" y="3119"/>
                  <a:ext cx="146" cy="98"/>
                </a:xfrm>
                <a:custGeom>
                  <a:rect b="b" l="l" r="r" t="t"/>
                  <a:pathLst>
                    <a:path extrusionOk="0" h="197" w="293">
                      <a:moveTo>
                        <a:pt x="45" y="194"/>
                      </a:moveTo>
                      <a:lnTo>
                        <a:pt x="39" y="191"/>
                      </a:lnTo>
                      <a:lnTo>
                        <a:pt x="34" y="189"/>
                      </a:lnTo>
                      <a:lnTo>
                        <a:pt x="27" y="187"/>
                      </a:lnTo>
                      <a:lnTo>
                        <a:pt x="21" y="185"/>
                      </a:lnTo>
                      <a:lnTo>
                        <a:pt x="15" y="182"/>
                      </a:lnTo>
                      <a:lnTo>
                        <a:pt x="9" y="179"/>
                      </a:lnTo>
                      <a:lnTo>
                        <a:pt x="5" y="175"/>
                      </a:lnTo>
                      <a:lnTo>
                        <a:pt x="0" y="171"/>
                      </a:lnTo>
                      <a:lnTo>
                        <a:pt x="1" y="151"/>
                      </a:lnTo>
                      <a:lnTo>
                        <a:pt x="6" y="132"/>
                      </a:lnTo>
                      <a:lnTo>
                        <a:pt x="11" y="113"/>
                      </a:lnTo>
                      <a:lnTo>
                        <a:pt x="17" y="93"/>
                      </a:lnTo>
                      <a:lnTo>
                        <a:pt x="25" y="74"/>
                      </a:lnTo>
                      <a:lnTo>
                        <a:pt x="32" y="55"/>
                      </a:lnTo>
                      <a:lnTo>
                        <a:pt x="38" y="36"/>
                      </a:lnTo>
                      <a:lnTo>
                        <a:pt x="44" y="16"/>
                      </a:lnTo>
                      <a:lnTo>
                        <a:pt x="55" y="14"/>
                      </a:lnTo>
                      <a:lnTo>
                        <a:pt x="74" y="11"/>
                      </a:lnTo>
                      <a:lnTo>
                        <a:pt x="97" y="8"/>
                      </a:lnTo>
                      <a:lnTo>
                        <a:pt x="123" y="5"/>
                      </a:lnTo>
                      <a:lnTo>
                        <a:pt x="149" y="2"/>
                      </a:lnTo>
                      <a:lnTo>
                        <a:pt x="173" y="1"/>
                      </a:lnTo>
                      <a:lnTo>
                        <a:pt x="193" y="0"/>
                      </a:lnTo>
                      <a:lnTo>
                        <a:pt x="205" y="0"/>
                      </a:lnTo>
                      <a:lnTo>
                        <a:pt x="217" y="11"/>
                      </a:lnTo>
                      <a:lnTo>
                        <a:pt x="231" y="23"/>
                      </a:lnTo>
                      <a:lnTo>
                        <a:pt x="244" y="40"/>
                      </a:lnTo>
                      <a:lnTo>
                        <a:pt x="258" y="58"/>
                      </a:lnTo>
                      <a:lnTo>
                        <a:pt x="270" y="76"/>
                      </a:lnTo>
                      <a:lnTo>
                        <a:pt x="281" y="95"/>
                      </a:lnTo>
                      <a:lnTo>
                        <a:pt x="288" y="112"/>
                      </a:lnTo>
                      <a:lnTo>
                        <a:pt x="293" y="127"/>
                      </a:lnTo>
                      <a:lnTo>
                        <a:pt x="280" y="135"/>
                      </a:lnTo>
                      <a:lnTo>
                        <a:pt x="266" y="144"/>
                      </a:lnTo>
                      <a:lnTo>
                        <a:pt x="252" y="151"/>
                      </a:lnTo>
                      <a:lnTo>
                        <a:pt x="237" y="159"/>
                      </a:lnTo>
                      <a:lnTo>
                        <a:pt x="222" y="166"/>
                      </a:lnTo>
                      <a:lnTo>
                        <a:pt x="206" y="172"/>
                      </a:lnTo>
                      <a:lnTo>
                        <a:pt x="190" y="178"/>
                      </a:lnTo>
                      <a:lnTo>
                        <a:pt x="174" y="183"/>
                      </a:lnTo>
                      <a:lnTo>
                        <a:pt x="158" y="188"/>
                      </a:lnTo>
                      <a:lnTo>
                        <a:pt x="142" y="191"/>
                      </a:lnTo>
                      <a:lnTo>
                        <a:pt x="125" y="194"/>
                      </a:lnTo>
                      <a:lnTo>
                        <a:pt x="108" y="196"/>
                      </a:lnTo>
                      <a:lnTo>
                        <a:pt x="92" y="197"/>
                      </a:lnTo>
                      <a:lnTo>
                        <a:pt x="76" y="197"/>
                      </a:lnTo>
                      <a:lnTo>
                        <a:pt x="60" y="196"/>
                      </a:lnTo>
                      <a:lnTo>
                        <a:pt x="45" y="19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342" name="Google Shape;342;p8"/>
                <p:cNvSpPr/>
                <p:nvPr/>
              </p:nvSpPr>
              <p:spPr>
                <a:xfrm rot="-10405104">
                  <a:off x="4649" y="3132"/>
                  <a:ext cx="124" cy="78"/>
                </a:xfrm>
                <a:custGeom>
                  <a:rect b="b" l="l" r="r" t="t"/>
                  <a:pathLst>
                    <a:path extrusionOk="0" h="156" w="246">
                      <a:moveTo>
                        <a:pt x="2" y="149"/>
                      </a:moveTo>
                      <a:lnTo>
                        <a:pt x="1" y="146"/>
                      </a:lnTo>
                      <a:lnTo>
                        <a:pt x="0" y="144"/>
                      </a:lnTo>
                      <a:lnTo>
                        <a:pt x="0" y="142"/>
                      </a:lnTo>
                      <a:lnTo>
                        <a:pt x="0" y="138"/>
                      </a:lnTo>
                      <a:lnTo>
                        <a:pt x="6" y="122"/>
                      </a:lnTo>
                      <a:lnTo>
                        <a:pt x="10" y="107"/>
                      </a:lnTo>
                      <a:lnTo>
                        <a:pt x="16" y="92"/>
                      </a:lnTo>
                      <a:lnTo>
                        <a:pt x="19" y="77"/>
                      </a:lnTo>
                      <a:lnTo>
                        <a:pt x="24" y="62"/>
                      </a:lnTo>
                      <a:lnTo>
                        <a:pt x="28" y="47"/>
                      </a:lnTo>
                      <a:lnTo>
                        <a:pt x="32" y="30"/>
                      </a:lnTo>
                      <a:lnTo>
                        <a:pt x="36" y="13"/>
                      </a:lnTo>
                      <a:lnTo>
                        <a:pt x="62" y="15"/>
                      </a:lnTo>
                      <a:lnTo>
                        <a:pt x="85" y="15"/>
                      </a:lnTo>
                      <a:lnTo>
                        <a:pt x="102" y="14"/>
                      </a:lnTo>
                      <a:lnTo>
                        <a:pt x="119" y="11"/>
                      </a:lnTo>
                      <a:lnTo>
                        <a:pt x="134" y="7"/>
                      </a:lnTo>
                      <a:lnTo>
                        <a:pt x="148" y="4"/>
                      </a:lnTo>
                      <a:lnTo>
                        <a:pt x="166" y="1"/>
                      </a:lnTo>
                      <a:lnTo>
                        <a:pt x="184" y="0"/>
                      </a:lnTo>
                      <a:lnTo>
                        <a:pt x="189" y="5"/>
                      </a:lnTo>
                      <a:lnTo>
                        <a:pt x="193" y="11"/>
                      </a:lnTo>
                      <a:lnTo>
                        <a:pt x="197" y="15"/>
                      </a:lnTo>
                      <a:lnTo>
                        <a:pt x="201" y="21"/>
                      </a:lnTo>
                      <a:lnTo>
                        <a:pt x="206" y="30"/>
                      </a:lnTo>
                      <a:lnTo>
                        <a:pt x="212" y="40"/>
                      </a:lnTo>
                      <a:lnTo>
                        <a:pt x="218" y="52"/>
                      </a:lnTo>
                      <a:lnTo>
                        <a:pt x="225" y="64"/>
                      </a:lnTo>
                      <a:lnTo>
                        <a:pt x="230" y="75"/>
                      </a:lnTo>
                      <a:lnTo>
                        <a:pt x="237" y="87"/>
                      </a:lnTo>
                      <a:lnTo>
                        <a:pt x="242" y="98"/>
                      </a:lnTo>
                      <a:lnTo>
                        <a:pt x="246" y="107"/>
                      </a:lnTo>
                      <a:lnTo>
                        <a:pt x="245" y="108"/>
                      </a:lnTo>
                      <a:lnTo>
                        <a:pt x="243" y="110"/>
                      </a:lnTo>
                      <a:lnTo>
                        <a:pt x="238" y="112"/>
                      </a:lnTo>
                      <a:lnTo>
                        <a:pt x="228" y="115"/>
                      </a:lnTo>
                      <a:lnTo>
                        <a:pt x="219" y="123"/>
                      </a:lnTo>
                      <a:lnTo>
                        <a:pt x="207" y="130"/>
                      </a:lnTo>
                      <a:lnTo>
                        <a:pt x="195" y="136"/>
                      </a:lnTo>
                      <a:lnTo>
                        <a:pt x="180" y="142"/>
                      </a:lnTo>
                      <a:lnTo>
                        <a:pt x="165" y="146"/>
                      </a:lnTo>
                      <a:lnTo>
                        <a:pt x="148" y="150"/>
                      </a:lnTo>
                      <a:lnTo>
                        <a:pt x="132" y="152"/>
                      </a:lnTo>
                      <a:lnTo>
                        <a:pt x="116" y="155"/>
                      </a:lnTo>
                      <a:lnTo>
                        <a:pt x="99" y="156"/>
                      </a:lnTo>
                      <a:lnTo>
                        <a:pt x="83" y="156"/>
                      </a:lnTo>
                      <a:lnTo>
                        <a:pt x="67" y="156"/>
                      </a:lnTo>
                      <a:lnTo>
                        <a:pt x="52" y="156"/>
                      </a:lnTo>
                      <a:lnTo>
                        <a:pt x="37" y="155"/>
                      </a:lnTo>
                      <a:lnTo>
                        <a:pt x="24" y="153"/>
                      </a:lnTo>
                      <a:lnTo>
                        <a:pt x="13" y="151"/>
                      </a:lnTo>
                      <a:lnTo>
                        <a:pt x="2" y="14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343" name="Google Shape;343;p8"/>
                <p:cNvSpPr/>
                <p:nvPr/>
              </p:nvSpPr>
              <p:spPr>
                <a:xfrm rot="-10405104">
                  <a:off x="4785" y="3196"/>
                  <a:ext cx="122" cy="232"/>
                </a:xfrm>
                <a:custGeom>
                  <a:rect b="b" l="l" r="r" t="t"/>
                  <a:pathLst>
                    <a:path extrusionOk="0" h="463" w="244">
                      <a:moveTo>
                        <a:pt x="91" y="460"/>
                      </a:moveTo>
                      <a:lnTo>
                        <a:pt x="53" y="416"/>
                      </a:lnTo>
                      <a:lnTo>
                        <a:pt x="25" y="368"/>
                      </a:lnTo>
                      <a:lnTo>
                        <a:pt x="8" y="313"/>
                      </a:lnTo>
                      <a:lnTo>
                        <a:pt x="0" y="258"/>
                      </a:lnTo>
                      <a:lnTo>
                        <a:pt x="1" y="201"/>
                      </a:lnTo>
                      <a:lnTo>
                        <a:pt x="11" y="144"/>
                      </a:lnTo>
                      <a:lnTo>
                        <a:pt x="28" y="90"/>
                      </a:lnTo>
                      <a:lnTo>
                        <a:pt x="53" y="39"/>
                      </a:lnTo>
                      <a:lnTo>
                        <a:pt x="66" y="20"/>
                      </a:lnTo>
                      <a:lnTo>
                        <a:pt x="76" y="3"/>
                      </a:lnTo>
                      <a:lnTo>
                        <a:pt x="80" y="0"/>
                      </a:lnTo>
                      <a:lnTo>
                        <a:pt x="82" y="16"/>
                      </a:lnTo>
                      <a:lnTo>
                        <a:pt x="97" y="32"/>
                      </a:lnTo>
                      <a:lnTo>
                        <a:pt x="112" y="50"/>
                      </a:lnTo>
                      <a:lnTo>
                        <a:pt x="130" y="67"/>
                      </a:lnTo>
                      <a:lnTo>
                        <a:pt x="147" y="83"/>
                      </a:lnTo>
                      <a:lnTo>
                        <a:pt x="164" y="99"/>
                      </a:lnTo>
                      <a:lnTo>
                        <a:pt x="183" y="114"/>
                      </a:lnTo>
                      <a:lnTo>
                        <a:pt x="201" y="127"/>
                      </a:lnTo>
                      <a:lnTo>
                        <a:pt x="220" y="138"/>
                      </a:lnTo>
                      <a:lnTo>
                        <a:pt x="223" y="144"/>
                      </a:lnTo>
                      <a:lnTo>
                        <a:pt x="225" y="148"/>
                      </a:lnTo>
                      <a:lnTo>
                        <a:pt x="228" y="152"/>
                      </a:lnTo>
                      <a:lnTo>
                        <a:pt x="231" y="159"/>
                      </a:lnTo>
                      <a:lnTo>
                        <a:pt x="226" y="161"/>
                      </a:lnTo>
                      <a:lnTo>
                        <a:pt x="224" y="164"/>
                      </a:lnTo>
                      <a:lnTo>
                        <a:pt x="222" y="167"/>
                      </a:lnTo>
                      <a:lnTo>
                        <a:pt x="220" y="172"/>
                      </a:lnTo>
                      <a:lnTo>
                        <a:pt x="214" y="195"/>
                      </a:lnTo>
                      <a:lnTo>
                        <a:pt x="210" y="219"/>
                      </a:lnTo>
                      <a:lnTo>
                        <a:pt x="208" y="243"/>
                      </a:lnTo>
                      <a:lnTo>
                        <a:pt x="208" y="268"/>
                      </a:lnTo>
                      <a:lnTo>
                        <a:pt x="211" y="293"/>
                      </a:lnTo>
                      <a:lnTo>
                        <a:pt x="217" y="316"/>
                      </a:lnTo>
                      <a:lnTo>
                        <a:pt x="229" y="336"/>
                      </a:lnTo>
                      <a:lnTo>
                        <a:pt x="244" y="356"/>
                      </a:lnTo>
                      <a:lnTo>
                        <a:pt x="235" y="369"/>
                      </a:lnTo>
                      <a:lnTo>
                        <a:pt x="220" y="386"/>
                      </a:lnTo>
                      <a:lnTo>
                        <a:pt x="199" y="406"/>
                      </a:lnTo>
                      <a:lnTo>
                        <a:pt x="176" y="426"/>
                      </a:lnTo>
                      <a:lnTo>
                        <a:pt x="150" y="444"/>
                      </a:lnTo>
                      <a:lnTo>
                        <a:pt x="127" y="456"/>
                      </a:lnTo>
                      <a:lnTo>
                        <a:pt x="107" y="463"/>
                      </a:lnTo>
                      <a:lnTo>
                        <a:pt x="91" y="46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344" name="Google Shape;344;p8"/>
                <p:cNvSpPr/>
                <p:nvPr/>
              </p:nvSpPr>
              <p:spPr>
                <a:xfrm rot="-10405104">
                  <a:off x="4798" y="3205"/>
                  <a:ext cx="100" cy="205"/>
                </a:xfrm>
                <a:custGeom>
                  <a:rect b="b" l="l" r="r" t="t"/>
                  <a:pathLst>
                    <a:path extrusionOk="0" h="411" w="199">
                      <a:moveTo>
                        <a:pt x="91" y="411"/>
                      </a:moveTo>
                      <a:lnTo>
                        <a:pt x="84" y="400"/>
                      </a:lnTo>
                      <a:lnTo>
                        <a:pt x="79" y="394"/>
                      </a:lnTo>
                      <a:lnTo>
                        <a:pt x="76" y="391"/>
                      </a:lnTo>
                      <a:lnTo>
                        <a:pt x="71" y="386"/>
                      </a:lnTo>
                      <a:lnTo>
                        <a:pt x="40" y="335"/>
                      </a:lnTo>
                      <a:lnTo>
                        <a:pt x="18" y="286"/>
                      </a:lnTo>
                      <a:lnTo>
                        <a:pt x="6" y="242"/>
                      </a:lnTo>
                      <a:lnTo>
                        <a:pt x="0" y="200"/>
                      </a:lnTo>
                      <a:lnTo>
                        <a:pt x="1" y="157"/>
                      </a:lnTo>
                      <a:lnTo>
                        <a:pt x="9" y="112"/>
                      </a:lnTo>
                      <a:lnTo>
                        <a:pt x="23" y="64"/>
                      </a:lnTo>
                      <a:lnTo>
                        <a:pt x="41" y="11"/>
                      </a:lnTo>
                      <a:lnTo>
                        <a:pt x="46" y="5"/>
                      </a:lnTo>
                      <a:lnTo>
                        <a:pt x="50" y="2"/>
                      </a:lnTo>
                      <a:lnTo>
                        <a:pt x="55" y="0"/>
                      </a:lnTo>
                      <a:lnTo>
                        <a:pt x="63" y="4"/>
                      </a:lnTo>
                      <a:lnTo>
                        <a:pt x="74" y="21"/>
                      </a:lnTo>
                      <a:lnTo>
                        <a:pt x="90" y="38"/>
                      </a:lnTo>
                      <a:lnTo>
                        <a:pt x="109" y="55"/>
                      </a:lnTo>
                      <a:lnTo>
                        <a:pt x="130" y="70"/>
                      </a:lnTo>
                      <a:lnTo>
                        <a:pt x="151" y="86"/>
                      </a:lnTo>
                      <a:lnTo>
                        <a:pt x="168" y="100"/>
                      </a:lnTo>
                      <a:lnTo>
                        <a:pt x="181" y="113"/>
                      </a:lnTo>
                      <a:lnTo>
                        <a:pt x="188" y="126"/>
                      </a:lnTo>
                      <a:lnTo>
                        <a:pt x="177" y="173"/>
                      </a:lnTo>
                      <a:lnTo>
                        <a:pt x="174" y="219"/>
                      </a:lnTo>
                      <a:lnTo>
                        <a:pt x="178" y="263"/>
                      </a:lnTo>
                      <a:lnTo>
                        <a:pt x="192" y="309"/>
                      </a:lnTo>
                      <a:lnTo>
                        <a:pt x="194" y="314"/>
                      </a:lnTo>
                      <a:lnTo>
                        <a:pt x="197" y="317"/>
                      </a:lnTo>
                      <a:lnTo>
                        <a:pt x="198" y="321"/>
                      </a:lnTo>
                      <a:lnTo>
                        <a:pt x="199" y="325"/>
                      </a:lnTo>
                      <a:lnTo>
                        <a:pt x="189" y="336"/>
                      </a:lnTo>
                      <a:lnTo>
                        <a:pt x="177" y="348"/>
                      </a:lnTo>
                      <a:lnTo>
                        <a:pt x="163" y="361"/>
                      </a:lnTo>
                      <a:lnTo>
                        <a:pt x="148" y="374"/>
                      </a:lnTo>
                      <a:lnTo>
                        <a:pt x="133" y="385"/>
                      </a:lnTo>
                      <a:lnTo>
                        <a:pt x="118" y="397"/>
                      </a:lnTo>
                      <a:lnTo>
                        <a:pt x="105" y="405"/>
                      </a:lnTo>
                      <a:lnTo>
                        <a:pt x="91" y="411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345" name="Google Shape;345;p8"/>
                <p:cNvSpPr/>
                <p:nvPr/>
              </p:nvSpPr>
              <p:spPr>
                <a:xfrm rot="-10405104">
                  <a:off x="4555" y="3201"/>
                  <a:ext cx="91" cy="153"/>
                </a:xfrm>
                <a:custGeom>
                  <a:rect b="b" l="l" r="r" t="t"/>
                  <a:pathLst>
                    <a:path extrusionOk="0" h="306" w="182">
                      <a:moveTo>
                        <a:pt x="138" y="306"/>
                      </a:moveTo>
                      <a:lnTo>
                        <a:pt x="126" y="299"/>
                      </a:lnTo>
                      <a:lnTo>
                        <a:pt x="116" y="292"/>
                      </a:lnTo>
                      <a:lnTo>
                        <a:pt x="106" y="284"/>
                      </a:lnTo>
                      <a:lnTo>
                        <a:pt x="96" y="277"/>
                      </a:lnTo>
                      <a:lnTo>
                        <a:pt x="86" y="269"/>
                      </a:lnTo>
                      <a:lnTo>
                        <a:pt x="77" y="261"/>
                      </a:lnTo>
                      <a:lnTo>
                        <a:pt x="66" y="253"/>
                      </a:lnTo>
                      <a:lnTo>
                        <a:pt x="56" y="246"/>
                      </a:lnTo>
                      <a:lnTo>
                        <a:pt x="44" y="240"/>
                      </a:lnTo>
                      <a:lnTo>
                        <a:pt x="36" y="236"/>
                      </a:lnTo>
                      <a:lnTo>
                        <a:pt x="29" y="232"/>
                      </a:lnTo>
                      <a:lnTo>
                        <a:pt x="25" y="230"/>
                      </a:lnTo>
                      <a:lnTo>
                        <a:pt x="23" y="229"/>
                      </a:lnTo>
                      <a:lnTo>
                        <a:pt x="20" y="228"/>
                      </a:lnTo>
                      <a:lnTo>
                        <a:pt x="18" y="225"/>
                      </a:lnTo>
                      <a:lnTo>
                        <a:pt x="17" y="224"/>
                      </a:lnTo>
                      <a:lnTo>
                        <a:pt x="12" y="189"/>
                      </a:lnTo>
                      <a:lnTo>
                        <a:pt x="10" y="151"/>
                      </a:lnTo>
                      <a:lnTo>
                        <a:pt x="6" y="113"/>
                      </a:lnTo>
                      <a:lnTo>
                        <a:pt x="0" y="72"/>
                      </a:lnTo>
                      <a:lnTo>
                        <a:pt x="16" y="69"/>
                      </a:lnTo>
                      <a:lnTo>
                        <a:pt x="33" y="62"/>
                      </a:lnTo>
                      <a:lnTo>
                        <a:pt x="50" y="50"/>
                      </a:lnTo>
                      <a:lnTo>
                        <a:pt x="68" y="38"/>
                      </a:lnTo>
                      <a:lnTo>
                        <a:pt x="86" y="25"/>
                      </a:lnTo>
                      <a:lnTo>
                        <a:pt x="104" y="13"/>
                      </a:lnTo>
                      <a:lnTo>
                        <a:pt x="124" y="4"/>
                      </a:lnTo>
                      <a:lnTo>
                        <a:pt x="144" y="0"/>
                      </a:lnTo>
                      <a:lnTo>
                        <a:pt x="146" y="0"/>
                      </a:lnTo>
                      <a:lnTo>
                        <a:pt x="148" y="1"/>
                      </a:lnTo>
                      <a:lnTo>
                        <a:pt x="150" y="1"/>
                      </a:lnTo>
                      <a:lnTo>
                        <a:pt x="153" y="2"/>
                      </a:lnTo>
                      <a:lnTo>
                        <a:pt x="157" y="8"/>
                      </a:lnTo>
                      <a:lnTo>
                        <a:pt x="165" y="32"/>
                      </a:lnTo>
                      <a:lnTo>
                        <a:pt x="173" y="69"/>
                      </a:lnTo>
                      <a:lnTo>
                        <a:pt x="180" y="114"/>
                      </a:lnTo>
                      <a:lnTo>
                        <a:pt x="182" y="166"/>
                      </a:lnTo>
                      <a:lnTo>
                        <a:pt x="177" y="216"/>
                      </a:lnTo>
                      <a:lnTo>
                        <a:pt x="163" y="265"/>
                      </a:lnTo>
                      <a:lnTo>
                        <a:pt x="138" y="30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346" name="Google Shape;346;p8"/>
                <p:cNvSpPr/>
                <p:nvPr/>
              </p:nvSpPr>
              <p:spPr>
                <a:xfrm rot="-10405104">
                  <a:off x="4563" y="3213"/>
                  <a:ext cx="71" cy="131"/>
                </a:xfrm>
                <a:custGeom>
                  <a:rect b="b" l="l" r="r" t="t"/>
                  <a:pathLst>
                    <a:path extrusionOk="0" h="263" w="143">
                      <a:moveTo>
                        <a:pt x="55" y="223"/>
                      </a:moveTo>
                      <a:lnTo>
                        <a:pt x="47" y="219"/>
                      </a:lnTo>
                      <a:lnTo>
                        <a:pt x="41" y="217"/>
                      </a:lnTo>
                      <a:lnTo>
                        <a:pt x="35" y="213"/>
                      </a:lnTo>
                      <a:lnTo>
                        <a:pt x="31" y="211"/>
                      </a:lnTo>
                      <a:lnTo>
                        <a:pt x="26" y="209"/>
                      </a:lnTo>
                      <a:lnTo>
                        <a:pt x="20" y="205"/>
                      </a:lnTo>
                      <a:lnTo>
                        <a:pt x="15" y="202"/>
                      </a:lnTo>
                      <a:lnTo>
                        <a:pt x="8" y="198"/>
                      </a:lnTo>
                      <a:lnTo>
                        <a:pt x="9" y="163"/>
                      </a:lnTo>
                      <a:lnTo>
                        <a:pt x="10" y="130"/>
                      </a:lnTo>
                      <a:lnTo>
                        <a:pt x="7" y="98"/>
                      </a:lnTo>
                      <a:lnTo>
                        <a:pt x="0" y="64"/>
                      </a:lnTo>
                      <a:lnTo>
                        <a:pt x="11" y="62"/>
                      </a:lnTo>
                      <a:lnTo>
                        <a:pt x="22" y="58"/>
                      </a:lnTo>
                      <a:lnTo>
                        <a:pt x="33" y="52"/>
                      </a:lnTo>
                      <a:lnTo>
                        <a:pt x="45" y="45"/>
                      </a:lnTo>
                      <a:lnTo>
                        <a:pt x="55" y="37"/>
                      </a:lnTo>
                      <a:lnTo>
                        <a:pt x="67" y="29"/>
                      </a:lnTo>
                      <a:lnTo>
                        <a:pt x="76" y="21"/>
                      </a:lnTo>
                      <a:lnTo>
                        <a:pt x="85" y="14"/>
                      </a:lnTo>
                      <a:lnTo>
                        <a:pt x="96" y="9"/>
                      </a:lnTo>
                      <a:lnTo>
                        <a:pt x="105" y="6"/>
                      </a:lnTo>
                      <a:lnTo>
                        <a:pt x="111" y="4"/>
                      </a:lnTo>
                      <a:lnTo>
                        <a:pt x="116" y="1"/>
                      </a:lnTo>
                      <a:lnTo>
                        <a:pt x="120" y="1"/>
                      </a:lnTo>
                      <a:lnTo>
                        <a:pt x="122" y="0"/>
                      </a:lnTo>
                      <a:lnTo>
                        <a:pt x="123" y="0"/>
                      </a:lnTo>
                      <a:lnTo>
                        <a:pt x="125" y="0"/>
                      </a:lnTo>
                      <a:lnTo>
                        <a:pt x="126" y="2"/>
                      </a:lnTo>
                      <a:lnTo>
                        <a:pt x="129" y="7"/>
                      </a:lnTo>
                      <a:lnTo>
                        <a:pt x="132" y="17"/>
                      </a:lnTo>
                      <a:lnTo>
                        <a:pt x="139" y="39"/>
                      </a:lnTo>
                      <a:lnTo>
                        <a:pt x="143" y="73"/>
                      </a:lnTo>
                      <a:lnTo>
                        <a:pt x="143" y="103"/>
                      </a:lnTo>
                      <a:lnTo>
                        <a:pt x="140" y="130"/>
                      </a:lnTo>
                      <a:lnTo>
                        <a:pt x="137" y="156"/>
                      </a:lnTo>
                      <a:lnTo>
                        <a:pt x="132" y="180"/>
                      </a:lnTo>
                      <a:lnTo>
                        <a:pt x="126" y="205"/>
                      </a:lnTo>
                      <a:lnTo>
                        <a:pt x="122" y="233"/>
                      </a:lnTo>
                      <a:lnTo>
                        <a:pt x="117" y="263"/>
                      </a:lnTo>
                      <a:lnTo>
                        <a:pt x="111" y="262"/>
                      </a:lnTo>
                      <a:lnTo>
                        <a:pt x="102" y="257"/>
                      </a:lnTo>
                      <a:lnTo>
                        <a:pt x="92" y="250"/>
                      </a:lnTo>
                      <a:lnTo>
                        <a:pt x="82" y="243"/>
                      </a:lnTo>
                      <a:lnTo>
                        <a:pt x="72" y="236"/>
                      </a:lnTo>
                      <a:lnTo>
                        <a:pt x="63" y="229"/>
                      </a:lnTo>
                      <a:lnTo>
                        <a:pt x="57" y="225"/>
                      </a:lnTo>
                      <a:lnTo>
                        <a:pt x="55" y="223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347" name="Google Shape;347;p8"/>
                <p:cNvSpPr/>
                <p:nvPr/>
              </p:nvSpPr>
              <p:spPr>
                <a:xfrm rot="-10405104">
                  <a:off x="4680" y="3239"/>
                  <a:ext cx="71" cy="81"/>
                </a:xfrm>
                <a:custGeom>
                  <a:rect b="b" l="l" r="r" t="t"/>
                  <a:pathLst>
                    <a:path extrusionOk="0" h="161" w="143">
                      <a:moveTo>
                        <a:pt x="62" y="161"/>
                      </a:moveTo>
                      <a:lnTo>
                        <a:pt x="43" y="150"/>
                      </a:lnTo>
                      <a:lnTo>
                        <a:pt x="28" y="139"/>
                      </a:lnTo>
                      <a:lnTo>
                        <a:pt x="15" y="128"/>
                      </a:lnTo>
                      <a:lnTo>
                        <a:pt x="7" y="116"/>
                      </a:lnTo>
                      <a:lnTo>
                        <a:pt x="2" y="103"/>
                      </a:lnTo>
                      <a:lnTo>
                        <a:pt x="0" y="88"/>
                      </a:lnTo>
                      <a:lnTo>
                        <a:pt x="3" y="69"/>
                      </a:lnTo>
                      <a:lnTo>
                        <a:pt x="9" y="47"/>
                      </a:lnTo>
                      <a:lnTo>
                        <a:pt x="20" y="29"/>
                      </a:lnTo>
                      <a:lnTo>
                        <a:pt x="28" y="15"/>
                      </a:lnTo>
                      <a:lnTo>
                        <a:pt x="35" y="6"/>
                      </a:lnTo>
                      <a:lnTo>
                        <a:pt x="41" y="1"/>
                      </a:lnTo>
                      <a:lnTo>
                        <a:pt x="50" y="0"/>
                      </a:lnTo>
                      <a:lnTo>
                        <a:pt x="62" y="2"/>
                      </a:lnTo>
                      <a:lnTo>
                        <a:pt x="78" y="7"/>
                      </a:lnTo>
                      <a:lnTo>
                        <a:pt x="101" y="15"/>
                      </a:lnTo>
                      <a:lnTo>
                        <a:pt x="121" y="31"/>
                      </a:lnTo>
                      <a:lnTo>
                        <a:pt x="134" y="50"/>
                      </a:lnTo>
                      <a:lnTo>
                        <a:pt x="141" y="69"/>
                      </a:lnTo>
                      <a:lnTo>
                        <a:pt x="143" y="90"/>
                      </a:lnTo>
                      <a:lnTo>
                        <a:pt x="138" y="110"/>
                      </a:lnTo>
                      <a:lnTo>
                        <a:pt x="129" y="128"/>
                      </a:lnTo>
                      <a:lnTo>
                        <a:pt x="114" y="143"/>
                      </a:lnTo>
                      <a:lnTo>
                        <a:pt x="93" y="154"/>
                      </a:lnTo>
                      <a:lnTo>
                        <a:pt x="85" y="156"/>
                      </a:lnTo>
                      <a:lnTo>
                        <a:pt x="78" y="158"/>
                      </a:lnTo>
                      <a:lnTo>
                        <a:pt x="70" y="159"/>
                      </a:lnTo>
                      <a:lnTo>
                        <a:pt x="62" y="1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348" name="Google Shape;348;p8"/>
                <p:cNvSpPr/>
                <p:nvPr/>
              </p:nvSpPr>
              <p:spPr>
                <a:xfrm rot="-10405104">
                  <a:off x="4697" y="3256"/>
                  <a:ext cx="42" cy="57"/>
                </a:xfrm>
                <a:custGeom>
                  <a:rect b="b" l="l" r="r" t="t"/>
                  <a:pathLst>
                    <a:path extrusionOk="0" h="115" w="84">
                      <a:moveTo>
                        <a:pt x="41" y="115"/>
                      </a:moveTo>
                      <a:lnTo>
                        <a:pt x="26" y="112"/>
                      </a:lnTo>
                      <a:lnTo>
                        <a:pt x="15" y="110"/>
                      </a:lnTo>
                      <a:lnTo>
                        <a:pt x="8" y="106"/>
                      </a:lnTo>
                      <a:lnTo>
                        <a:pt x="4" y="103"/>
                      </a:lnTo>
                      <a:lnTo>
                        <a:pt x="2" y="97"/>
                      </a:lnTo>
                      <a:lnTo>
                        <a:pt x="0" y="89"/>
                      </a:lnTo>
                      <a:lnTo>
                        <a:pt x="0" y="77"/>
                      </a:lnTo>
                      <a:lnTo>
                        <a:pt x="2" y="62"/>
                      </a:lnTo>
                      <a:lnTo>
                        <a:pt x="7" y="48"/>
                      </a:lnTo>
                      <a:lnTo>
                        <a:pt x="14" y="33"/>
                      </a:lnTo>
                      <a:lnTo>
                        <a:pt x="25" y="18"/>
                      </a:lnTo>
                      <a:lnTo>
                        <a:pt x="36" y="7"/>
                      </a:lnTo>
                      <a:lnTo>
                        <a:pt x="48" y="0"/>
                      </a:lnTo>
                      <a:lnTo>
                        <a:pt x="60" y="1"/>
                      </a:lnTo>
                      <a:lnTo>
                        <a:pt x="73" y="9"/>
                      </a:lnTo>
                      <a:lnTo>
                        <a:pt x="84" y="30"/>
                      </a:lnTo>
                      <a:lnTo>
                        <a:pt x="84" y="42"/>
                      </a:lnTo>
                      <a:lnTo>
                        <a:pt x="82" y="55"/>
                      </a:lnTo>
                      <a:lnTo>
                        <a:pt x="80" y="68"/>
                      </a:lnTo>
                      <a:lnTo>
                        <a:pt x="75" y="82"/>
                      </a:lnTo>
                      <a:lnTo>
                        <a:pt x="69" y="93"/>
                      </a:lnTo>
                      <a:lnTo>
                        <a:pt x="61" y="104"/>
                      </a:lnTo>
                      <a:lnTo>
                        <a:pt x="52" y="112"/>
                      </a:lnTo>
                      <a:lnTo>
                        <a:pt x="41" y="115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349" name="Google Shape;349;p8"/>
                <p:cNvSpPr/>
                <p:nvPr/>
              </p:nvSpPr>
              <p:spPr>
                <a:xfrm rot="-10405104">
                  <a:off x="4583" y="3355"/>
                  <a:ext cx="181" cy="114"/>
                </a:xfrm>
                <a:custGeom>
                  <a:rect b="b" l="l" r="r" t="t"/>
                  <a:pathLst>
                    <a:path extrusionOk="0" h="228" w="362">
                      <a:moveTo>
                        <a:pt x="218" y="228"/>
                      </a:moveTo>
                      <a:lnTo>
                        <a:pt x="192" y="214"/>
                      </a:lnTo>
                      <a:lnTo>
                        <a:pt x="171" y="205"/>
                      </a:lnTo>
                      <a:lnTo>
                        <a:pt x="155" y="200"/>
                      </a:lnTo>
                      <a:lnTo>
                        <a:pt x="141" y="198"/>
                      </a:lnTo>
                      <a:lnTo>
                        <a:pt x="126" y="198"/>
                      </a:lnTo>
                      <a:lnTo>
                        <a:pt x="110" y="200"/>
                      </a:lnTo>
                      <a:lnTo>
                        <a:pt x="89" y="204"/>
                      </a:lnTo>
                      <a:lnTo>
                        <a:pt x="61" y="206"/>
                      </a:lnTo>
                      <a:lnTo>
                        <a:pt x="57" y="200"/>
                      </a:lnTo>
                      <a:lnTo>
                        <a:pt x="53" y="197"/>
                      </a:lnTo>
                      <a:lnTo>
                        <a:pt x="51" y="192"/>
                      </a:lnTo>
                      <a:lnTo>
                        <a:pt x="51" y="185"/>
                      </a:lnTo>
                      <a:lnTo>
                        <a:pt x="44" y="166"/>
                      </a:lnTo>
                      <a:lnTo>
                        <a:pt x="34" y="142"/>
                      </a:lnTo>
                      <a:lnTo>
                        <a:pt x="23" y="116"/>
                      </a:lnTo>
                      <a:lnTo>
                        <a:pt x="13" y="90"/>
                      </a:lnTo>
                      <a:lnTo>
                        <a:pt x="5" y="63"/>
                      </a:lnTo>
                      <a:lnTo>
                        <a:pt x="0" y="40"/>
                      </a:lnTo>
                      <a:lnTo>
                        <a:pt x="0" y="22"/>
                      </a:lnTo>
                      <a:lnTo>
                        <a:pt x="6" y="8"/>
                      </a:lnTo>
                      <a:lnTo>
                        <a:pt x="28" y="6"/>
                      </a:lnTo>
                      <a:lnTo>
                        <a:pt x="51" y="3"/>
                      </a:lnTo>
                      <a:lnTo>
                        <a:pt x="75" y="2"/>
                      </a:lnTo>
                      <a:lnTo>
                        <a:pt x="99" y="1"/>
                      </a:lnTo>
                      <a:lnTo>
                        <a:pt x="125" y="0"/>
                      </a:lnTo>
                      <a:lnTo>
                        <a:pt x="149" y="1"/>
                      </a:lnTo>
                      <a:lnTo>
                        <a:pt x="173" y="3"/>
                      </a:lnTo>
                      <a:lnTo>
                        <a:pt x="199" y="7"/>
                      </a:lnTo>
                      <a:lnTo>
                        <a:pt x="222" y="11"/>
                      </a:lnTo>
                      <a:lnTo>
                        <a:pt x="246" y="17"/>
                      </a:lnTo>
                      <a:lnTo>
                        <a:pt x="268" y="25"/>
                      </a:lnTo>
                      <a:lnTo>
                        <a:pt x="290" y="36"/>
                      </a:lnTo>
                      <a:lnTo>
                        <a:pt x="310" y="48"/>
                      </a:lnTo>
                      <a:lnTo>
                        <a:pt x="329" y="62"/>
                      </a:lnTo>
                      <a:lnTo>
                        <a:pt x="346" y="79"/>
                      </a:lnTo>
                      <a:lnTo>
                        <a:pt x="362" y="99"/>
                      </a:lnTo>
                      <a:lnTo>
                        <a:pt x="359" y="112"/>
                      </a:lnTo>
                      <a:lnTo>
                        <a:pt x="351" y="123"/>
                      </a:lnTo>
                      <a:lnTo>
                        <a:pt x="339" y="134"/>
                      </a:lnTo>
                      <a:lnTo>
                        <a:pt x="329" y="143"/>
                      </a:lnTo>
                      <a:lnTo>
                        <a:pt x="318" y="152"/>
                      </a:lnTo>
                      <a:lnTo>
                        <a:pt x="306" y="164"/>
                      </a:lnTo>
                      <a:lnTo>
                        <a:pt x="291" y="177"/>
                      </a:lnTo>
                      <a:lnTo>
                        <a:pt x="275" y="191"/>
                      </a:lnTo>
                      <a:lnTo>
                        <a:pt x="258" y="204"/>
                      </a:lnTo>
                      <a:lnTo>
                        <a:pt x="243" y="215"/>
                      </a:lnTo>
                      <a:lnTo>
                        <a:pt x="230" y="225"/>
                      </a:lnTo>
                      <a:lnTo>
                        <a:pt x="218" y="2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350" name="Google Shape;350;p8"/>
                <p:cNvSpPr/>
                <p:nvPr/>
              </p:nvSpPr>
              <p:spPr>
                <a:xfrm rot="-10405104">
                  <a:off x="4596" y="3367"/>
                  <a:ext cx="162" cy="95"/>
                </a:xfrm>
                <a:custGeom>
                  <a:rect b="b" l="l" r="r" t="t"/>
                  <a:pathLst>
                    <a:path extrusionOk="0" h="190" w="324">
                      <a:moveTo>
                        <a:pt x="192" y="190"/>
                      </a:moveTo>
                      <a:lnTo>
                        <a:pt x="170" y="178"/>
                      </a:lnTo>
                      <a:lnTo>
                        <a:pt x="151" y="169"/>
                      </a:lnTo>
                      <a:lnTo>
                        <a:pt x="137" y="165"/>
                      </a:lnTo>
                      <a:lnTo>
                        <a:pt x="124" y="161"/>
                      </a:lnTo>
                      <a:lnTo>
                        <a:pt x="111" y="161"/>
                      </a:lnTo>
                      <a:lnTo>
                        <a:pt x="95" y="162"/>
                      </a:lnTo>
                      <a:lnTo>
                        <a:pt x="76" y="165"/>
                      </a:lnTo>
                      <a:lnTo>
                        <a:pt x="52" y="167"/>
                      </a:lnTo>
                      <a:lnTo>
                        <a:pt x="37" y="128"/>
                      </a:lnTo>
                      <a:lnTo>
                        <a:pt x="23" y="96"/>
                      </a:lnTo>
                      <a:lnTo>
                        <a:pt x="14" y="71"/>
                      </a:lnTo>
                      <a:lnTo>
                        <a:pt x="7" y="53"/>
                      </a:lnTo>
                      <a:lnTo>
                        <a:pt x="3" y="40"/>
                      </a:lnTo>
                      <a:lnTo>
                        <a:pt x="0" y="30"/>
                      </a:lnTo>
                      <a:lnTo>
                        <a:pt x="2" y="24"/>
                      </a:lnTo>
                      <a:lnTo>
                        <a:pt x="6" y="18"/>
                      </a:lnTo>
                      <a:lnTo>
                        <a:pt x="7" y="16"/>
                      </a:lnTo>
                      <a:lnTo>
                        <a:pt x="7" y="13"/>
                      </a:lnTo>
                      <a:lnTo>
                        <a:pt x="8" y="10"/>
                      </a:lnTo>
                      <a:lnTo>
                        <a:pt x="8" y="8"/>
                      </a:lnTo>
                      <a:lnTo>
                        <a:pt x="29" y="6"/>
                      </a:lnTo>
                      <a:lnTo>
                        <a:pt x="49" y="3"/>
                      </a:lnTo>
                      <a:lnTo>
                        <a:pt x="70" y="2"/>
                      </a:lnTo>
                      <a:lnTo>
                        <a:pt x="89" y="1"/>
                      </a:lnTo>
                      <a:lnTo>
                        <a:pt x="110" y="0"/>
                      </a:lnTo>
                      <a:lnTo>
                        <a:pt x="129" y="0"/>
                      </a:lnTo>
                      <a:lnTo>
                        <a:pt x="149" y="1"/>
                      </a:lnTo>
                      <a:lnTo>
                        <a:pt x="169" y="3"/>
                      </a:lnTo>
                      <a:lnTo>
                        <a:pt x="188" y="7"/>
                      </a:lnTo>
                      <a:lnTo>
                        <a:pt x="208" y="11"/>
                      </a:lnTo>
                      <a:lnTo>
                        <a:pt x="227" y="18"/>
                      </a:lnTo>
                      <a:lnTo>
                        <a:pt x="246" y="26"/>
                      </a:lnTo>
                      <a:lnTo>
                        <a:pt x="265" y="37"/>
                      </a:lnTo>
                      <a:lnTo>
                        <a:pt x="284" y="49"/>
                      </a:lnTo>
                      <a:lnTo>
                        <a:pt x="302" y="64"/>
                      </a:lnTo>
                      <a:lnTo>
                        <a:pt x="321" y="82"/>
                      </a:lnTo>
                      <a:lnTo>
                        <a:pt x="324" y="94"/>
                      </a:lnTo>
                      <a:lnTo>
                        <a:pt x="317" y="107"/>
                      </a:lnTo>
                      <a:lnTo>
                        <a:pt x="303" y="121"/>
                      </a:lnTo>
                      <a:lnTo>
                        <a:pt x="284" y="134"/>
                      </a:lnTo>
                      <a:lnTo>
                        <a:pt x="262" y="145"/>
                      </a:lnTo>
                      <a:lnTo>
                        <a:pt x="242" y="157"/>
                      </a:lnTo>
                      <a:lnTo>
                        <a:pt x="225" y="167"/>
                      </a:lnTo>
                      <a:lnTo>
                        <a:pt x="215" y="175"/>
                      </a:lnTo>
                      <a:lnTo>
                        <a:pt x="203" y="184"/>
                      </a:lnTo>
                      <a:lnTo>
                        <a:pt x="197" y="188"/>
                      </a:lnTo>
                      <a:lnTo>
                        <a:pt x="194" y="190"/>
                      </a:lnTo>
                      <a:lnTo>
                        <a:pt x="192" y="19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</p:grpSp>
          <p:sp>
            <p:nvSpPr>
              <p:cNvPr id="351" name="Google Shape;351;p8"/>
              <p:cNvSpPr/>
              <p:nvPr/>
            </p:nvSpPr>
            <p:spPr>
              <a:xfrm rot="-10405104">
                <a:off x="4202" y="3394"/>
                <a:ext cx="407" cy="410"/>
              </a:xfrm>
              <a:custGeom>
                <a:rect b="b" l="l" r="r" t="t"/>
                <a:pathLst>
                  <a:path extrusionOk="0" h="820" w="814">
                    <a:moveTo>
                      <a:pt x="407" y="820"/>
                    </a:moveTo>
                    <a:lnTo>
                      <a:pt x="402" y="807"/>
                    </a:lnTo>
                    <a:lnTo>
                      <a:pt x="404" y="802"/>
                    </a:lnTo>
                    <a:lnTo>
                      <a:pt x="406" y="797"/>
                    </a:lnTo>
                    <a:lnTo>
                      <a:pt x="406" y="786"/>
                    </a:lnTo>
                    <a:lnTo>
                      <a:pt x="402" y="777"/>
                    </a:lnTo>
                    <a:lnTo>
                      <a:pt x="398" y="773"/>
                    </a:lnTo>
                    <a:lnTo>
                      <a:pt x="393" y="769"/>
                    </a:lnTo>
                    <a:lnTo>
                      <a:pt x="387" y="767"/>
                    </a:lnTo>
                    <a:lnTo>
                      <a:pt x="381" y="766"/>
                    </a:lnTo>
                    <a:lnTo>
                      <a:pt x="374" y="766"/>
                    </a:lnTo>
                    <a:lnTo>
                      <a:pt x="366" y="765"/>
                    </a:lnTo>
                    <a:lnTo>
                      <a:pt x="356" y="765"/>
                    </a:lnTo>
                    <a:lnTo>
                      <a:pt x="349" y="767"/>
                    </a:lnTo>
                    <a:lnTo>
                      <a:pt x="344" y="769"/>
                    </a:lnTo>
                    <a:lnTo>
                      <a:pt x="337" y="773"/>
                    </a:lnTo>
                    <a:lnTo>
                      <a:pt x="331" y="775"/>
                    </a:lnTo>
                    <a:lnTo>
                      <a:pt x="325" y="782"/>
                    </a:lnTo>
                    <a:lnTo>
                      <a:pt x="319" y="787"/>
                    </a:lnTo>
                    <a:lnTo>
                      <a:pt x="314" y="792"/>
                    </a:lnTo>
                    <a:lnTo>
                      <a:pt x="308" y="798"/>
                    </a:lnTo>
                    <a:lnTo>
                      <a:pt x="303" y="798"/>
                    </a:lnTo>
                    <a:lnTo>
                      <a:pt x="299" y="797"/>
                    </a:lnTo>
                    <a:lnTo>
                      <a:pt x="294" y="797"/>
                    </a:lnTo>
                    <a:lnTo>
                      <a:pt x="290" y="796"/>
                    </a:lnTo>
                    <a:lnTo>
                      <a:pt x="284" y="795"/>
                    </a:lnTo>
                    <a:lnTo>
                      <a:pt x="279" y="794"/>
                    </a:lnTo>
                    <a:lnTo>
                      <a:pt x="276" y="791"/>
                    </a:lnTo>
                    <a:lnTo>
                      <a:pt x="271" y="789"/>
                    </a:lnTo>
                    <a:lnTo>
                      <a:pt x="271" y="771"/>
                    </a:lnTo>
                    <a:lnTo>
                      <a:pt x="271" y="757"/>
                    </a:lnTo>
                    <a:lnTo>
                      <a:pt x="270" y="743"/>
                    </a:lnTo>
                    <a:lnTo>
                      <a:pt x="268" y="723"/>
                    </a:lnTo>
                    <a:lnTo>
                      <a:pt x="264" y="715"/>
                    </a:lnTo>
                    <a:lnTo>
                      <a:pt x="262" y="709"/>
                    </a:lnTo>
                    <a:lnTo>
                      <a:pt x="258" y="706"/>
                    </a:lnTo>
                    <a:lnTo>
                      <a:pt x="255" y="704"/>
                    </a:lnTo>
                    <a:lnTo>
                      <a:pt x="250" y="701"/>
                    </a:lnTo>
                    <a:lnTo>
                      <a:pt x="243" y="701"/>
                    </a:lnTo>
                    <a:lnTo>
                      <a:pt x="237" y="701"/>
                    </a:lnTo>
                    <a:lnTo>
                      <a:pt x="227" y="701"/>
                    </a:lnTo>
                    <a:lnTo>
                      <a:pt x="222" y="704"/>
                    </a:lnTo>
                    <a:lnTo>
                      <a:pt x="216" y="706"/>
                    </a:lnTo>
                    <a:lnTo>
                      <a:pt x="208" y="709"/>
                    </a:lnTo>
                    <a:lnTo>
                      <a:pt x="201" y="714"/>
                    </a:lnTo>
                    <a:lnTo>
                      <a:pt x="194" y="718"/>
                    </a:lnTo>
                    <a:lnTo>
                      <a:pt x="187" y="720"/>
                    </a:lnTo>
                    <a:lnTo>
                      <a:pt x="182" y="722"/>
                    </a:lnTo>
                    <a:lnTo>
                      <a:pt x="179" y="723"/>
                    </a:lnTo>
                    <a:lnTo>
                      <a:pt x="171" y="718"/>
                    </a:lnTo>
                    <a:lnTo>
                      <a:pt x="164" y="711"/>
                    </a:lnTo>
                    <a:lnTo>
                      <a:pt x="156" y="704"/>
                    </a:lnTo>
                    <a:lnTo>
                      <a:pt x="148" y="697"/>
                    </a:lnTo>
                    <a:lnTo>
                      <a:pt x="149" y="690"/>
                    </a:lnTo>
                    <a:lnTo>
                      <a:pt x="152" y="684"/>
                    </a:lnTo>
                    <a:lnTo>
                      <a:pt x="157" y="680"/>
                    </a:lnTo>
                    <a:lnTo>
                      <a:pt x="161" y="673"/>
                    </a:lnTo>
                    <a:lnTo>
                      <a:pt x="161" y="665"/>
                    </a:lnTo>
                    <a:lnTo>
                      <a:pt x="159" y="659"/>
                    </a:lnTo>
                    <a:lnTo>
                      <a:pt x="157" y="655"/>
                    </a:lnTo>
                    <a:lnTo>
                      <a:pt x="150" y="653"/>
                    </a:lnTo>
                    <a:lnTo>
                      <a:pt x="144" y="645"/>
                    </a:lnTo>
                    <a:lnTo>
                      <a:pt x="140" y="637"/>
                    </a:lnTo>
                    <a:lnTo>
                      <a:pt x="136" y="629"/>
                    </a:lnTo>
                    <a:lnTo>
                      <a:pt x="132" y="622"/>
                    </a:lnTo>
                    <a:lnTo>
                      <a:pt x="126" y="616"/>
                    </a:lnTo>
                    <a:lnTo>
                      <a:pt x="119" y="612"/>
                    </a:lnTo>
                    <a:lnTo>
                      <a:pt x="109" y="609"/>
                    </a:lnTo>
                    <a:lnTo>
                      <a:pt x="96" y="608"/>
                    </a:lnTo>
                    <a:lnTo>
                      <a:pt x="89" y="612"/>
                    </a:lnTo>
                    <a:lnTo>
                      <a:pt x="83" y="614"/>
                    </a:lnTo>
                    <a:lnTo>
                      <a:pt x="78" y="614"/>
                    </a:lnTo>
                    <a:lnTo>
                      <a:pt x="70" y="615"/>
                    </a:lnTo>
                    <a:lnTo>
                      <a:pt x="65" y="612"/>
                    </a:lnTo>
                    <a:lnTo>
                      <a:pt x="61" y="608"/>
                    </a:lnTo>
                    <a:lnTo>
                      <a:pt x="59" y="605"/>
                    </a:lnTo>
                    <a:lnTo>
                      <a:pt x="58" y="599"/>
                    </a:lnTo>
                    <a:lnTo>
                      <a:pt x="64" y="591"/>
                    </a:lnTo>
                    <a:lnTo>
                      <a:pt x="70" y="583"/>
                    </a:lnTo>
                    <a:lnTo>
                      <a:pt x="75" y="576"/>
                    </a:lnTo>
                    <a:lnTo>
                      <a:pt x="81" y="568"/>
                    </a:lnTo>
                    <a:lnTo>
                      <a:pt x="80" y="560"/>
                    </a:lnTo>
                    <a:lnTo>
                      <a:pt x="79" y="553"/>
                    </a:lnTo>
                    <a:lnTo>
                      <a:pt x="75" y="547"/>
                    </a:lnTo>
                    <a:lnTo>
                      <a:pt x="72" y="541"/>
                    </a:lnTo>
                    <a:lnTo>
                      <a:pt x="66" y="537"/>
                    </a:lnTo>
                    <a:lnTo>
                      <a:pt x="60" y="532"/>
                    </a:lnTo>
                    <a:lnTo>
                      <a:pt x="53" y="530"/>
                    </a:lnTo>
                    <a:lnTo>
                      <a:pt x="45" y="527"/>
                    </a:lnTo>
                    <a:lnTo>
                      <a:pt x="41" y="527"/>
                    </a:lnTo>
                    <a:lnTo>
                      <a:pt x="37" y="527"/>
                    </a:lnTo>
                    <a:lnTo>
                      <a:pt x="33" y="527"/>
                    </a:lnTo>
                    <a:lnTo>
                      <a:pt x="28" y="527"/>
                    </a:lnTo>
                    <a:lnTo>
                      <a:pt x="23" y="527"/>
                    </a:lnTo>
                    <a:lnTo>
                      <a:pt x="20" y="527"/>
                    </a:lnTo>
                    <a:lnTo>
                      <a:pt x="15" y="529"/>
                    </a:lnTo>
                    <a:lnTo>
                      <a:pt x="11" y="529"/>
                    </a:lnTo>
                    <a:lnTo>
                      <a:pt x="10" y="516"/>
                    </a:lnTo>
                    <a:lnTo>
                      <a:pt x="7" y="503"/>
                    </a:lnTo>
                    <a:lnTo>
                      <a:pt x="4" y="491"/>
                    </a:lnTo>
                    <a:lnTo>
                      <a:pt x="0" y="478"/>
                    </a:lnTo>
                    <a:lnTo>
                      <a:pt x="11" y="477"/>
                    </a:lnTo>
                    <a:lnTo>
                      <a:pt x="20" y="476"/>
                    </a:lnTo>
                    <a:lnTo>
                      <a:pt x="27" y="474"/>
                    </a:lnTo>
                    <a:lnTo>
                      <a:pt x="34" y="472"/>
                    </a:lnTo>
                    <a:lnTo>
                      <a:pt x="40" y="468"/>
                    </a:lnTo>
                    <a:lnTo>
                      <a:pt x="46" y="463"/>
                    </a:lnTo>
                    <a:lnTo>
                      <a:pt x="52" y="457"/>
                    </a:lnTo>
                    <a:lnTo>
                      <a:pt x="59" y="449"/>
                    </a:lnTo>
                    <a:lnTo>
                      <a:pt x="60" y="431"/>
                    </a:lnTo>
                    <a:lnTo>
                      <a:pt x="60" y="417"/>
                    </a:lnTo>
                    <a:lnTo>
                      <a:pt x="56" y="403"/>
                    </a:lnTo>
                    <a:lnTo>
                      <a:pt x="45" y="388"/>
                    </a:lnTo>
                    <a:lnTo>
                      <a:pt x="38" y="382"/>
                    </a:lnTo>
                    <a:lnTo>
                      <a:pt x="31" y="378"/>
                    </a:lnTo>
                    <a:lnTo>
                      <a:pt x="25" y="373"/>
                    </a:lnTo>
                    <a:lnTo>
                      <a:pt x="15" y="371"/>
                    </a:lnTo>
                    <a:lnTo>
                      <a:pt x="13" y="363"/>
                    </a:lnTo>
                    <a:lnTo>
                      <a:pt x="12" y="357"/>
                    </a:lnTo>
                    <a:lnTo>
                      <a:pt x="11" y="350"/>
                    </a:lnTo>
                    <a:lnTo>
                      <a:pt x="11" y="342"/>
                    </a:lnTo>
                    <a:lnTo>
                      <a:pt x="18" y="344"/>
                    </a:lnTo>
                    <a:lnTo>
                      <a:pt x="22" y="347"/>
                    </a:lnTo>
                    <a:lnTo>
                      <a:pt x="28" y="349"/>
                    </a:lnTo>
                    <a:lnTo>
                      <a:pt x="33" y="350"/>
                    </a:lnTo>
                    <a:lnTo>
                      <a:pt x="37" y="351"/>
                    </a:lnTo>
                    <a:lnTo>
                      <a:pt x="43" y="351"/>
                    </a:lnTo>
                    <a:lnTo>
                      <a:pt x="49" y="350"/>
                    </a:lnTo>
                    <a:lnTo>
                      <a:pt x="57" y="349"/>
                    </a:lnTo>
                    <a:lnTo>
                      <a:pt x="64" y="340"/>
                    </a:lnTo>
                    <a:lnTo>
                      <a:pt x="71" y="326"/>
                    </a:lnTo>
                    <a:lnTo>
                      <a:pt x="72" y="313"/>
                    </a:lnTo>
                    <a:lnTo>
                      <a:pt x="65" y="304"/>
                    </a:lnTo>
                    <a:lnTo>
                      <a:pt x="58" y="297"/>
                    </a:lnTo>
                    <a:lnTo>
                      <a:pt x="51" y="290"/>
                    </a:lnTo>
                    <a:lnTo>
                      <a:pt x="43" y="284"/>
                    </a:lnTo>
                    <a:lnTo>
                      <a:pt x="35" y="279"/>
                    </a:lnTo>
                    <a:lnTo>
                      <a:pt x="33" y="269"/>
                    </a:lnTo>
                    <a:lnTo>
                      <a:pt x="34" y="260"/>
                    </a:lnTo>
                    <a:lnTo>
                      <a:pt x="37" y="249"/>
                    </a:lnTo>
                    <a:lnTo>
                      <a:pt x="40" y="238"/>
                    </a:lnTo>
                    <a:lnTo>
                      <a:pt x="44" y="238"/>
                    </a:lnTo>
                    <a:lnTo>
                      <a:pt x="48" y="238"/>
                    </a:lnTo>
                    <a:lnTo>
                      <a:pt x="52" y="238"/>
                    </a:lnTo>
                    <a:lnTo>
                      <a:pt x="57" y="239"/>
                    </a:lnTo>
                    <a:lnTo>
                      <a:pt x="63" y="242"/>
                    </a:lnTo>
                    <a:lnTo>
                      <a:pt x="68" y="244"/>
                    </a:lnTo>
                    <a:lnTo>
                      <a:pt x="76" y="246"/>
                    </a:lnTo>
                    <a:lnTo>
                      <a:pt x="84" y="249"/>
                    </a:lnTo>
                    <a:lnTo>
                      <a:pt x="93" y="250"/>
                    </a:lnTo>
                    <a:lnTo>
                      <a:pt x="99" y="250"/>
                    </a:lnTo>
                    <a:lnTo>
                      <a:pt x="106" y="247"/>
                    </a:lnTo>
                    <a:lnTo>
                      <a:pt x="111" y="244"/>
                    </a:lnTo>
                    <a:lnTo>
                      <a:pt x="125" y="237"/>
                    </a:lnTo>
                    <a:lnTo>
                      <a:pt x="133" y="226"/>
                    </a:lnTo>
                    <a:lnTo>
                      <a:pt x="133" y="212"/>
                    </a:lnTo>
                    <a:lnTo>
                      <a:pt x="126" y="196"/>
                    </a:lnTo>
                    <a:lnTo>
                      <a:pt x="121" y="193"/>
                    </a:lnTo>
                    <a:lnTo>
                      <a:pt x="117" y="190"/>
                    </a:lnTo>
                    <a:lnTo>
                      <a:pt x="111" y="186"/>
                    </a:lnTo>
                    <a:lnTo>
                      <a:pt x="105" y="183"/>
                    </a:lnTo>
                    <a:lnTo>
                      <a:pt x="101" y="178"/>
                    </a:lnTo>
                    <a:lnTo>
                      <a:pt x="96" y="175"/>
                    </a:lnTo>
                    <a:lnTo>
                      <a:pt x="93" y="170"/>
                    </a:lnTo>
                    <a:lnTo>
                      <a:pt x="90" y="166"/>
                    </a:lnTo>
                    <a:lnTo>
                      <a:pt x="94" y="161"/>
                    </a:lnTo>
                    <a:lnTo>
                      <a:pt x="96" y="159"/>
                    </a:lnTo>
                    <a:lnTo>
                      <a:pt x="98" y="158"/>
                    </a:lnTo>
                    <a:lnTo>
                      <a:pt x="102" y="156"/>
                    </a:lnTo>
                    <a:lnTo>
                      <a:pt x="106" y="158"/>
                    </a:lnTo>
                    <a:lnTo>
                      <a:pt x="111" y="159"/>
                    </a:lnTo>
                    <a:lnTo>
                      <a:pt x="117" y="162"/>
                    </a:lnTo>
                    <a:lnTo>
                      <a:pt x="122" y="166"/>
                    </a:lnTo>
                    <a:lnTo>
                      <a:pt x="128" y="169"/>
                    </a:lnTo>
                    <a:lnTo>
                      <a:pt x="133" y="173"/>
                    </a:lnTo>
                    <a:lnTo>
                      <a:pt x="137" y="175"/>
                    </a:lnTo>
                    <a:lnTo>
                      <a:pt x="141" y="177"/>
                    </a:lnTo>
                    <a:lnTo>
                      <a:pt x="146" y="177"/>
                    </a:lnTo>
                    <a:lnTo>
                      <a:pt x="151" y="176"/>
                    </a:lnTo>
                    <a:lnTo>
                      <a:pt x="157" y="174"/>
                    </a:lnTo>
                    <a:lnTo>
                      <a:pt x="163" y="171"/>
                    </a:lnTo>
                    <a:lnTo>
                      <a:pt x="167" y="169"/>
                    </a:lnTo>
                    <a:lnTo>
                      <a:pt x="172" y="166"/>
                    </a:lnTo>
                    <a:lnTo>
                      <a:pt x="173" y="161"/>
                    </a:lnTo>
                    <a:lnTo>
                      <a:pt x="173" y="156"/>
                    </a:lnTo>
                    <a:lnTo>
                      <a:pt x="165" y="152"/>
                    </a:lnTo>
                    <a:lnTo>
                      <a:pt x="155" y="133"/>
                    </a:lnTo>
                    <a:lnTo>
                      <a:pt x="146" y="112"/>
                    </a:lnTo>
                    <a:lnTo>
                      <a:pt x="141" y="98"/>
                    </a:lnTo>
                    <a:lnTo>
                      <a:pt x="146" y="94"/>
                    </a:lnTo>
                    <a:lnTo>
                      <a:pt x="150" y="92"/>
                    </a:lnTo>
                    <a:lnTo>
                      <a:pt x="154" y="88"/>
                    </a:lnTo>
                    <a:lnTo>
                      <a:pt x="157" y="86"/>
                    </a:lnTo>
                    <a:lnTo>
                      <a:pt x="162" y="84"/>
                    </a:lnTo>
                    <a:lnTo>
                      <a:pt x="165" y="82"/>
                    </a:lnTo>
                    <a:lnTo>
                      <a:pt x="170" y="80"/>
                    </a:lnTo>
                    <a:lnTo>
                      <a:pt x="175" y="79"/>
                    </a:lnTo>
                    <a:lnTo>
                      <a:pt x="178" y="83"/>
                    </a:lnTo>
                    <a:lnTo>
                      <a:pt x="182" y="87"/>
                    </a:lnTo>
                    <a:lnTo>
                      <a:pt x="188" y="93"/>
                    </a:lnTo>
                    <a:lnTo>
                      <a:pt x="196" y="101"/>
                    </a:lnTo>
                    <a:lnTo>
                      <a:pt x="207" y="107"/>
                    </a:lnTo>
                    <a:lnTo>
                      <a:pt x="212" y="110"/>
                    </a:lnTo>
                    <a:lnTo>
                      <a:pt x="218" y="113"/>
                    </a:lnTo>
                    <a:lnTo>
                      <a:pt x="225" y="115"/>
                    </a:lnTo>
                    <a:lnTo>
                      <a:pt x="231" y="115"/>
                    </a:lnTo>
                    <a:lnTo>
                      <a:pt x="240" y="113"/>
                    </a:lnTo>
                    <a:lnTo>
                      <a:pt x="249" y="110"/>
                    </a:lnTo>
                    <a:lnTo>
                      <a:pt x="260" y="107"/>
                    </a:lnTo>
                    <a:lnTo>
                      <a:pt x="268" y="102"/>
                    </a:lnTo>
                    <a:lnTo>
                      <a:pt x="272" y="98"/>
                    </a:lnTo>
                    <a:lnTo>
                      <a:pt x="273" y="94"/>
                    </a:lnTo>
                    <a:lnTo>
                      <a:pt x="269" y="90"/>
                    </a:lnTo>
                    <a:lnTo>
                      <a:pt x="264" y="77"/>
                    </a:lnTo>
                    <a:lnTo>
                      <a:pt x="258" y="67"/>
                    </a:lnTo>
                    <a:lnTo>
                      <a:pt x="254" y="54"/>
                    </a:lnTo>
                    <a:lnTo>
                      <a:pt x="255" y="40"/>
                    </a:lnTo>
                    <a:lnTo>
                      <a:pt x="260" y="38"/>
                    </a:lnTo>
                    <a:lnTo>
                      <a:pt x="264" y="37"/>
                    </a:lnTo>
                    <a:lnTo>
                      <a:pt x="270" y="34"/>
                    </a:lnTo>
                    <a:lnTo>
                      <a:pt x="275" y="32"/>
                    </a:lnTo>
                    <a:lnTo>
                      <a:pt x="279" y="31"/>
                    </a:lnTo>
                    <a:lnTo>
                      <a:pt x="285" y="30"/>
                    </a:lnTo>
                    <a:lnTo>
                      <a:pt x="290" y="29"/>
                    </a:lnTo>
                    <a:lnTo>
                      <a:pt x="294" y="29"/>
                    </a:lnTo>
                    <a:lnTo>
                      <a:pt x="299" y="42"/>
                    </a:lnTo>
                    <a:lnTo>
                      <a:pt x="305" y="56"/>
                    </a:lnTo>
                    <a:lnTo>
                      <a:pt x="311" y="69"/>
                    </a:lnTo>
                    <a:lnTo>
                      <a:pt x="321" y="80"/>
                    </a:lnTo>
                    <a:lnTo>
                      <a:pt x="337" y="84"/>
                    </a:lnTo>
                    <a:lnTo>
                      <a:pt x="347" y="84"/>
                    </a:lnTo>
                    <a:lnTo>
                      <a:pt x="354" y="82"/>
                    </a:lnTo>
                    <a:lnTo>
                      <a:pt x="358" y="77"/>
                    </a:lnTo>
                    <a:lnTo>
                      <a:pt x="360" y="71"/>
                    </a:lnTo>
                    <a:lnTo>
                      <a:pt x="362" y="64"/>
                    </a:lnTo>
                    <a:lnTo>
                      <a:pt x="364" y="57"/>
                    </a:lnTo>
                    <a:lnTo>
                      <a:pt x="370" y="52"/>
                    </a:lnTo>
                    <a:lnTo>
                      <a:pt x="376" y="38"/>
                    </a:lnTo>
                    <a:lnTo>
                      <a:pt x="379" y="26"/>
                    </a:lnTo>
                    <a:lnTo>
                      <a:pt x="382" y="14"/>
                    </a:lnTo>
                    <a:lnTo>
                      <a:pt x="384" y="0"/>
                    </a:lnTo>
                    <a:lnTo>
                      <a:pt x="389" y="0"/>
                    </a:lnTo>
                    <a:lnTo>
                      <a:pt x="393" y="1"/>
                    </a:lnTo>
                    <a:lnTo>
                      <a:pt x="398" y="1"/>
                    </a:lnTo>
                    <a:lnTo>
                      <a:pt x="404" y="2"/>
                    </a:lnTo>
                    <a:lnTo>
                      <a:pt x="408" y="2"/>
                    </a:lnTo>
                    <a:lnTo>
                      <a:pt x="413" y="3"/>
                    </a:lnTo>
                    <a:lnTo>
                      <a:pt x="419" y="3"/>
                    </a:lnTo>
                    <a:lnTo>
                      <a:pt x="423" y="4"/>
                    </a:lnTo>
                    <a:lnTo>
                      <a:pt x="425" y="22"/>
                    </a:lnTo>
                    <a:lnTo>
                      <a:pt x="429" y="38"/>
                    </a:lnTo>
                    <a:lnTo>
                      <a:pt x="435" y="52"/>
                    </a:lnTo>
                    <a:lnTo>
                      <a:pt x="447" y="63"/>
                    </a:lnTo>
                    <a:lnTo>
                      <a:pt x="452" y="64"/>
                    </a:lnTo>
                    <a:lnTo>
                      <a:pt x="457" y="67"/>
                    </a:lnTo>
                    <a:lnTo>
                      <a:pt x="461" y="68"/>
                    </a:lnTo>
                    <a:lnTo>
                      <a:pt x="467" y="70"/>
                    </a:lnTo>
                    <a:lnTo>
                      <a:pt x="472" y="71"/>
                    </a:lnTo>
                    <a:lnTo>
                      <a:pt x="476" y="71"/>
                    </a:lnTo>
                    <a:lnTo>
                      <a:pt x="481" y="71"/>
                    </a:lnTo>
                    <a:lnTo>
                      <a:pt x="485" y="70"/>
                    </a:lnTo>
                    <a:lnTo>
                      <a:pt x="490" y="55"/>
                    </a:lnTo>
                    <a:lnTo>
                      <a:pt x="499" y="39"/>
                    </a:lnTo>
                    <a:lnTo>
                      <a:pt x="510" y="25"/>
                    </a:lnTo>
                    <a:lnTo>
                      <a:pt x="519" y="12"/>
                    </a:lnTo>
                    <a:lnTo>
                      <a:pt x="526" y="12"/>
                    </a:lnTo>
                    <a:lnTo>
                      <a:pt x="531" y="12"/>
                    </a:lnTo>
                    <a:lnTo>
                      <a:pt x="536" y="14"/>
                    </a:lnTo>
                    <a:lnTo>
                      <a:pt x="542" y="15"/>
                    </a:lnTo>
                    <a:lnTo>
                      <a:pt x="546" y="17"/>
                    </a:lnTo>
                    <a:lnTo>
                      <a:pt x="552" y="19"/>
                    </a:lnTo>
                    <a:lnTo>
                      <a:pt x="558" y="22"/>
                    </a:lnTo>
                    <a:lnTo>
                      <a:pt x="564" y="25"/>
                    </a:lnTo>
                    <a:lnTo>
                      <a:pt x="564" y="32"/>
                    </a:lnTo>
                    <a:lnTo>
                      <a:pt x="564" y="39"/>
                    </a:lnTo>
                    <a:lnTo>
                      <a:pt x="563" y="46"/>
                    </a:lnTo>
                    <a:lnTo>
                      <a:pt x="563" y="52"/>
                    </a:lnTo>
                    <a:lnTo>
                      <a:pt x="566" y="63"/>
                    </a:lnTo>
                    <a:lnTo>
                      <a:pt x="571" y="71"/>
                    </a:lnTo>
                    <a:lnTo>
                      <a:pt x="575" y="78"/>
                    </a:lnTo>
                    <a:lnTo>
                      <a:pt x="584" y="86"/>
                    </a:lnTo>
                    <a:lnTo>
                      <a:pt x="593" y="91"/>
                    </a:lnTo>
                    <a:lnTo>
                      <a:pt x="599" y="94"/>
                    </a:lnTo>
                    <a:lnTo>
                      <a:pt x="605" y="97"/>
                    </a:lnTo>
                    <a:lnTo>
                      <a:pt x="610" y="99"/>
                    </a:lnTo>
                    <a:lnTo>
                      <a:pt x="616" y="100"/>
                    </a:lnTo>
                    <a:lnTo>
                      <a:pt x="621" y="101"/>
                    </a:lnTo>
                    <a:lnTo>
                      <a:pt x="629" y="101"/>
                    </a:lnTo>
                    <a:lnTo>
                      <a:pt x="639" y="101"/>
                    </a:lnTo>
                    <a:lnTo>
                      <a:pt x="646" y="99"/>
                    </a:lnTo>
                    <a:lnTo>
                      <a:pt x="651" y="94"/>
                    </a:lnTo>
                    <a:lnTo>
                      <a:pt x="658" y="90"/>
                    </a:lnTo>
                    <a:lnTo>
                      <a:pt x="664" y="84"/>
                    </a:lnTo>
                    <a:lnTo>
                      <a:pt x="675" y="86"/>
                    </a:lnTo>
                    <a:lnTo>
                      <a:pt x="686" y="93"/>
                    </a:lnTo>
                    <a:lnTo>
                      <a:pt x="694" y="102"/>
                    </a:lnTo>
                    <a:lnTo>
                      <a:pt x="697" y="113"/>
                    </a:lnTo>
                    <a:lnTo>
                      <a:pt x="695" y="120"/>
                    </a:lnTo>
                    <a:lnTo>
                      <a:pt x="692" y="126"/>
                    </a:lnTo>
                    <a:lnTo>
                      <a:pt x="688" y="135"/>
                    </a:lnTo>
                    <a:lnTo>
                      <a:pt x="686" y="141"/>
                    </a:lnTo>
                    <a:lnTo>
                      <a:pt x="686" y="155"/>
                    </a:lnTo>
                    <a:lnTo>
                      <a:pt x="687" y="166"/>
                    </a:lnTo>
                    <a:lnTo>
                      <a:pt x="692" y="176"/>
                    </a:lnTo>
                    <a:lnTo>
                      <a:pt x="701" y="186"/>
                    </a:lnTo>
                    <a:lnTo>
                      <a:pt x="708" y="188"/>
                    </a:lnTo>
                    <a:lnTo>
                      <a:pt x="716" y="188"/>
                    </a:lnTo>
                    <a:lnTo>
                      <a:pt x="723" y="188"/>
                    </a:lnTo>
                    <a:lnTo>
                      <a:pt x="730" y="186"/>
                    </a:lnTo>
                    <a:lnTo>
                      <a:pt x="738" y="186"/>
                    </a:lnTo>
                    <a:lnTo>
                      <a:pt x="745" y="185"/>
                    </a:lnTo>
                    <a:lnTo>
                      <a:pt x="751" y="185"/>
                    </a:lnTo>
                    <a:lnTo>
                      <a:pt x="758" y="185"/>
                    </a:lnTo>
                    <a:lnTo>
                      <a:pt x="763" y="192"/>
                    </a:lnTo>
                    <a:lnTo>
                      <a:pt x="768" y="199"/>
                    </a:lnTo>
                    <a:lnTo>
                      <a:pt x="771" y="207"/>
                    </a:lnTo>
                    <a:lnTo>
                      <a:pt x="772" y="215"/>
                    </a:lnTo>
                    <a:lnTo>
                      <a:pt x="763" y="228"/>
                    </a:lnTo>
                    <a:lnTo>
                      <a:pt x="755" y="243"/>
                    </a:lnTo>
                    <a:lnTo>
                      <a:pt x="750" y="259"/>
                    </a:lnTo>
                    <a:lnTo>
                      <a:pt x="748" y="274"/>
                    </a:lnTo>
                    <a:lnTo>
                      <a:pt x="751" y="282"/>
                    </a:lnTo>
                    <a:lnTo>
                      <a:pt x="755" y="288"/>
                    </a:lnTo>
                    <a:lnTo>
                      <a:pt x="758" y="294"/>
                    </a:lnTo>
                    <a:lnTo>
                      <a:pt x="765" y="299"/>
                    </a:lnTo>
                    <a:lnTo>
                      <a:pt x="775" y="299"/>
                    </a:lnTo>
                    <a:lnTo>
                      <a:pt x="781" y="298"/>
                    </a:lnTo>
                    <a:lnTo>
                      <a:pt x="788" y="297"/>
                    </a:lnTo>
                    <a:lnTo>
                      <a:pt x="796" y="297"/>
                    </a:lnTo>
                    <a:lnTo>
                      <a:pt x="798" y="309"/>
                    </a:lnTo>
                    <a:lnTo>
                      <a:pt x="801" y="319"/>
                    </a:lnTo>
                    <a:lnTo>
                      <a:pt x="803" y="330"/>
                    </a:lnTo>
                    <a:lnTo>
                      <a:pt x="804" y="343"/>
                    </a:lnTo>
                    <a:lnTo>
                      <a:pt x="799" y="347"/>
                    </a:lnTo>
                    <a:lnTo>
                      <a:pt x="794" y="350"/>
                    </a:lnTo>
                    <a:lnTo>
                      <a:pt x="791" y="353"/>
                    </a:lnTo>
                    <a:lnTo>
                      <a:pt x="787" y="356"/>
                    </a:lnTo>
                    <a:lnTo>
                      <a:pt x="783" y="359"/>
                    </a:lnTo>
                    <a:lnTo>
                      <a:pt x="777" y="362"/>
                    </a:lnTo>
                    <a:lnTo>
                      <a:pt x="771" y="364"/>
                    </a:lnTo>
                    <a:lnTo>
                      <a:pt x="762" y="366"/>
                    </a:lnTo>
                    <a:lnTo>
                      <a:pt x="760" y="385"/>
                    </a:lnTo>
                    <a:lnTo>
                      <a:pt x="762" y="397"/>
                    </a:lnTo>
                    <a:lnTo>
                      <a:pt x="770" y="408"/>
                    </a:lnTo>
                    <a:lnTo>
                      <a:pt x="786" y="416"/>
                    </a:lnTo>
                    <a:lnTo>
                      <a:pt x="793" y="417"/>
                    </a:lnTo>
                    <a:lnTo>
                      <a:pt x="800" y="419"/>
                    </a:lnTo>
                    <a:lnTo>
                      <a:pt x="808" y="423"/>
                    </a:lnTo>
                    <a:lnTo>
                      <a:pt x="813" y="426"/>
                    </a:lnTo>
                    <a:lnTo>
                      <a:pt x="814" y="451"/>
                    </a:lnTo>
                    <a:lnTo>
                      <a:pt x="814" y="464"/>
                    </a:lnTo>
                    <a:lnTo>
                      <a:pt x="814" y="470"/>
                    </a:lnTo>
                    <a:lnTo>
                      <a:pt x="813" y="472"/>
                    </a:lnTo>
                    <a:lnTo>
                      <a:pt x="800" y="476"/>
                    </a:lnTo>
                    <a:lnTo>
                      <a:pt x="790" y="479"/>
                    </a:lnTo>
                    <a:lnTo>
                      <a:pt x="783" y="481"/>
                    </a:lnTo>
                    <a:lnTo>
                      <a:pt x="777" y="483"/>
                    </a:lnTo>
                    <a:lnTo>
                      <a:pt x="772" y="485"/>
                    </a:lnTo>
                    <a:lnTo>
                      <a:pt x="768" y="486"/>
                    </a:lnTo>
                    <a:lnTo>
                      <a:pt x="763" y="488"/>
                    </a:lnTo>
                    <a:lnTo>
                      <a:pt x="758" y="491"/>
                    </a:lnTo>
                    <a:lnTo>
                      <a:pt x="749" y="504"/>
                    </a:lnTo>
                    <a:lnTo>
                      <a:pt x="748" y="512"/>
                    </a:lnTo>
                    <a:lnTo>
                      <a:pt x="751" y="521"/>
                    </a:lnTo>
                    <a:lnTo>
                      <a:pt x="761" y="532"/>
                    </a:lnTo>
                    <a:lnTo>
                      <a:pt x="765" y="537"/>
                    </a:lnTo>
                    <a:lnTo>
                      <a:pt x="770" y="540"/>
                    </a:lnTo>
                    <a:lnTo>
                      <a:pt x="775" y="545"/>
                    </a:lnTo>
                    <a:lnTo>
                      <a:pt x="779" y="548"/>
                    </a:lnTo>
                    <a:lnTo>
                      <a:pt x="778" y="559"/>
                    </a:lnTo>
                    <a:lnTo>
                      <a:pt x="777" y="571"/>
                    </a:lnTo>
                    <a:lnTo>
                      <a:pt x="775" y="583"/>
                    </a:lnTo>
                    <a:lnTo>
                      <a:pt x="770" y="592"/>
                    </a:lnTo>
                    <a:lnTo>
                      <a:pt x="763" y="591"/>
                    </a:lnTo>
                    <a:lnTo>
                      <a:pt x="755" y="591"/>
                    </a:lnTo>
                    <a:lnTo>
                      <a:pt x="748" y="591"/>
                    </a:lnTo>
                    <a:lnTo>
                      <a:pt x="740" y="590"/>
                    </a:lnTo>
                    <a:lnTo>
                      <a:pt x="723" y="595"/>
                    </a:lnTo>
                    <a:lnTo>
                      <a:pt x="711" y="598"/>
                    </a:lnTo>
                    <a:lnTo>
                      <a:pt x="705" y="600"/>
                    </a:lnTo>
                    <a:lnTo>
                      <a:pt x="701" y="602"/>
                    </a:lnTo>
                    <a:lnTo>
                      <a:pt x="699" y="606"/>
                    </a:lnTo>
                    <a:lnTo>
                      <a:pt x="696" y="610"/>
                    </a:lnTo>
                    <a:lnTo>
                      <a:pt x="693" y="617"/>
                    </a:lnTo>
                    <a:lnTo>
                      <a:pt x="686" y="628"/>
                    </a:lnTo>
                    <a:lnTo>
                      <a:pt x="685" y="632"/>
                    </a:lnTo>
                    <a:lnTo>
                      <a:pt x="685" y="637"/>
                    </a:lnTo>
                    <a:lnTo>
                      <a:pt x="685" y="640"/>
                    </a:lnTo>
                    <a:lnTo>
                      <a:pt x="685" y="644"/>
                    </a:lnTo>
                    <a:lnTo>
                      <a:pt x="695" y="666"/>
                    </a:lnTo>
                    <a:lnTo>
                      <a:pt x="701" y="677"/>
                    </a:lnTo>
                    <a:lnTo>
                      <a:pt x="703" y="683"/>
                    </a:lnTo>
                    <a:lnTo>
                      <a:pt x="703" y="688"/>
                    </a:lnTo>
                    <a:lnTo>
                      <a:pt x="700" y="695"/>
                    </a:lnTo>
                    <a:lnTo>
                      <a:pt x="696" y="699"/>
                    </a:lnTo>
                    <a:lnTo>
                      <a:pt x="692" y="704"/>
                    </a:lnTo>
                    <a:lnTo>
                      <a:pt x="686" y="708"/>
                    </a:lnTo>
                    <a:lnTo>
                      <a:pt x="680" y="706"/>
                    </a:lnTo>
                    <a:lnTo>
                      <a:pt x="674" y="705"/>
                    </a:lnTo>
                    <a:lnTo>
                      <a:pt x="670" y="703"/>
                    </a:lnTo>
                    <a:lnTo>
                      <a:pt x="665" y="700"/>
                    </a:lnTo>
                    <a:lnTo>
                      <a:pt x="659" y="698"/>
                    </a:lnTo>
                    <a:lnTo>
                      <a:pt x="655" y="696"/>
                    </a:lnTo>
                    <a:lnTo>
                      <a:pt x="650" y="693"/>
                    </a:lnTo>
                    <a:lnTo>
                      <a:pt x="644" y="691"/>
                    </a:lnTo>
                    <a:lnTo>
                      <a:pt x="635" y="691"/>
                    </a:lnTo>
                    <a:lnTo>
                      <a:pt x="628" y="692"/>
                    </a:lnTo>
                    <a:lnTo>
                      <a:pt x="622" y="695"/>
                    </a:lnTo>
                    <a:lnTo>
                      <a:pt x="618" y="697"/>
                    </a:lnTo>
                    <a:lnTo>
                      <a:pt x="613" y="700"/>
                    </a:lnTo>
                    <a:lnTo>
                      <a:pt x="609" y="706"/>
                    </a:lnTo>
                    <a:lnTo>
                      <a:pt x="605" y="712"/>
                    </a:lnTo>
                    <a:lnTo>
                      <a:pt x="602" y="720"/>
                    </a:lnTo>
                    <a:lnTo>
                      <a:pt x="602" y="723"/>
                    </a:lnTo>
                    <a:lnTo>
                      <a:pt x="601" y="727"/>
                    </a:lnTo>
                    <a:lnTo>
                      <a:pt x="601" y="730"/>
                    </a:lnTo>
                    <a:lnTo>
                      <a:pt x="599" y="735"/>
                    </a:lnTo>
                    <a:lnTo>
                      <a:pt x="599" y="752"/>
                    </a:lnTo>
                    <a:lnTo>
                      <a:pt x="601" y="762"/>
                    </a:lnTo>
                    <a:lnTo>
                      <a:pt x="601" y="769"/>
                    </a:lnTo>
                    <a:lnTo>
                      <a:pt x="601" y="774"/>
                    </a:lnTo>
                    <a:lnTo>
                      <a:pt x="595" y="777"/>
                    </a:lnTo>
                    <a:lnTo>
                      <a:pt x="588" y="782"/>
                    </a:lnTo>
                    <a:lnTo>
                      <a:pt x="580" y="786"/>
                    </a:lnTo>
                    <a:lnTo>
                      <a:pt x="572" y="789"/>
                    </a:lnTo>
                    <a:lnTo>
                      <a:pt x="564" y="792"/>
                    </a:lnTo>
                    <a:lnTo>
                      <a:pt x="556" y="795"/>
                    </a:lnTo>
                    <a:lnTo>
                      <a:pt x="548" y="797"/>
                    </a:lnTo>
                    <a:lnTo>
                      <a:pt x="541" y="797"/>
                    </a:lnTo>
                    <a:lnTo>
                      <a:pt x="536" y="789"/>
                    </a:lnTo>
                    <a:lnTo>
                      <a:pt x="533" y="782"/>
                    </a:lnTo>
                    <a:lnTo>
                      <a:pt x="528" y="774"/>
                    </a:lnTo>
                    <a:lnTo>
                      <a:pt x="523" y="767"/>
                    </a:lnTo>
                    <a:lnTo>
                      <a:pt x="515" y="762"/>
                    </a:lnTo>
                    <a:lnTo>
                      <a:pt x="506" y="760"/>
                    </a:lnTo>
                    <a:lnTo>
                      <a:pt x="499" y="760"/>
                    </a:lnTo>
                    <a:lnTo>
                      <a:pt x="491" y="762"/>
                    </a:lnTo>
                    <a:lnTo>
                      <a:pt x="484" y="767"/>
                    </a:lnTo>
                    <a:lnTo>
                      <a:pt x="477" y="772"/>
                    </a:lnTo>
                    <a:lnTo>
                      <a:pt x="472" y="779"/>
                    </a:lnTo>
                    <a:lnTo>
                      <a:pt x="466" y="786"/>
                    </a:lnTo>
                    <a:lnTo>
                      <a:pt x="465" y="794"/>
                    </a:lnTo>
                    <a:lnTo>
                      <a:pt x="462" y="804"/>
                    </a:lnTo>
                    <a:lnTo>
                      <a:pt x="461" y="813"/>
                    </a:lnTo>
                    <a:lnTo>
                      <a:pt x="459" y="818"/>
                    </a:lnTo>
                    <a:lnTo>
                      <a:pt x="452" y="818"/>
                    </a:lnTo>
                    <a:lnTo>
                      <a:pt x="446" y="818"/>
                    </a:lnTo>
                    <a:lnTo>
                      <a:pt x="439" y="818"/>
                    </a:lnTo>
                    <a:lnTo>
                      <a:pt x="434" y="819"/>
                    </a:lnTo>
                    <a:lnTo>
                      <a:pt x="427" y="819"/>
                    </a:lnTo>
                    <a:lnTo>
                      <a:pt x="420" y="819"/>
                    </a:lnTo>
                    <a:lnTo>
                      <a:pt x="414" y="820"/>
                    </a:lnTo>
                    <a:lnTo>
                      <a:pt x="407" y="8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352" name="Google Shape;352;p8"/>
              <p:cNvSpPr/>
              <p:nvPr/>
            </p:nvSpPr>
            <p:spPr>
              <a:xfrm rot="-10405104">
                <a:off x="4417" y="3496"/>
                <a:ext cx="106" cy="83"/>
              </a:xfrm>
              <a:custGeom>
                <a:rect b="b" l="l" r="r" t="t"/>
                <a:pathLst>
                  <a:path extrusionOk="0" h="167" w="212">
                    <a:moveTo>
                      <a:pt x="0" y="41"/>
                    </a:moveTo>
                    <a:lnTo>
                      <a:pt x="4" y="38"/>
                    </a:lnTo>
                    <a:lnTo>
                      <a:pt x="6" y="35"/>
                    </a:lnTo>
                    <a:lnTo>
                      <a:pt x="7" y="33"/>
                    </a:lnTo>
                    <a:lnTo>
                      <a:pt x="8" y="30"/>
                    </a:lnTo>
                    <a:lnTo>
                      <a:pt x="21" y="25"/>
                    </a:lnTo>
                    <a:lnTo>
                      <a:pt x="34" y="23"/>
                    </a:lnTo>
                    <a:lnTo>
                      <a:pt x="47" y="21"/>
                    </a:lnTo>
                    <a:lnTo>
                      <a:pt x="61" y="18"/>
                    </a:lnTo>
                    <a:lnTo>
                      <a:pt x="74" y="17"/>
                    </a:lnTo>
                    <a:lnTo>
                      <a:pt x="88" y="14"/>
                    </a:lnTo>
                    <a:lnTo>
                      <a:pt x="99" y="9"/>
                    </a:lnTo>
                    <a:lnTo>
                      <a:pt x="111" y="1"/>
                    </a:lnTo>
                    <a:lnTo>
                      <a:pt x="115" y="1"/>
                    </a:lnTo>
                    <a:lnTo>
                      <a:pt x="119" y="0"/>
                    </a:lnTo>
                    <a:lnTo>
                      <a:pt x="122" y="0"/>
                    </a:lnTo>
                    <a:lnTo>
                      <a:pt x="127" y="0"/>
                    </a:lnTo>
                    <a:lnTo>
                      <a:pt x="135" y="4"/>
                    </a:lnTo>
                    <a:lnTo>
                      <a:pt x="144" y="8"/>
                    </a:lnTo>
                    <a:lnTo>
                      <a:pt x="152" y="12"/>
                    </a:lnTo>
                    <a:lnTo>
                      <a:pt x="161" y="17"/>
                    </a:lnTo>
                    <a:lnTo>
                      <a:pt x="170" y="21"/>
                    </a:lnTo>
                    <a:lnTo>
                      <a:pt x="179" y="25"/>
                    </a:lnTo>
                    <a:lnTo>
                      <a:pt x="187" y="30"/>
                    </a:lnTo>
                    <a:lnTo>
                      <a:pt x="196" y="34"/>
                    </a:lnTo>
                    <a:lnTo>
                      <a:pt x="211" y="52"/>
                    </a:lnTo>
                    <a:lnTo>
                      <a:pt x="212" y="87"/>
                    </a:lnTo>
                    <a:lnTo>
                      <a:pt x="209" y="127"/>
                    </a:lnTo>
                    <a:lnTo>
                      <a:pt x="205" y="156"/>
                    </a:lnTo>
                    <a:lnTo>
                      <a:pt x="202" y="159"/>
                    </a:lnTo>
                    <a:lnTo>
                      <a:pt x="199" y="161"/>
                    </a:lnTo>
                    <a:lnTo>
                      <a:pt x="196" y="162"/>
                    </a:lnTo>
                    <a:lnTo>
                      <a:pt x="194" y="165"/>
                    </a:lnTo>
                    <a:lnTo>
                      <a:pt x="182" y="167"/>
                    </a:lnTo>
                    <a:lnTo>
                      <a:pt x="168" y="167"/>
                    </a:lnTo>
                    <a:lnTo>
                      <a:pt x="155" y="166"/>
                    </a:lnTo>
                    <a:lnTo>
                      <a:pt x="138" y="162"/>
                    </a:lnTo>
                    <a:lnTo>
                      <a:pt x="122" y="158"/>
                    </a:lnTo>
                    <a:lnTo>
                      <a:pt x="106" y="152"/>
                    </a:lnTo>
                    <a:lnTo>
                      <a:pt x="90" y="144"/>
                    </a:lnTo>
                    <a:lnTo>
                      <a:pt x="75" y="136"/>
                    </a:lnTo>
                    <a:lnTo>
                      <a:pt x="60" y="127"/>
                    </a:lnTo>
                    <a:lnTo>
                      <a:pt x="46" y="116"/>
                    </a:lnTo>
                    <a:lnTo>
                      <a:pt x="34" y="105"/>
                    </a:lnTo>
                    <a:lnTo>
                      <a:pt x="22" y="93"/>
                    </a:lnTo>
                    <a:lnTo>
                      <a:pt x="13" y="80"/>
                    </a:lnTo>
                    <a:lnTo>
                      <a:pt x="6" y="68"/>
                    </a:lnTo>
                    <a:lnTo>
                      <a:pt x="1" y="54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353" name="Google Shape;353;p8"/>
              <p:cNvSpPr/>
              <p:nvPr/>
            </p:nvSpPr>
            <p:spPr>
              <a:xfrm rot="-10405104">
                <a:off x="4269" y="3484"/>
                <a:ext cx="104" cy="106"/>
              </a:xfrm>
              <a:custGeom>
                <a:rect b="b" l="l" r="r" t="t"/>
                <a:pathLst>
                  <a:path extrusionOk="0" h="212" w="208">
                    <a:moveTo>
                      <a:pt x="49" y="212"/>
                    </a:moveTo>
                    <a:lnTo>
                      <a:pt x="42" y="203"/>
                    </a:lnTo>
                    <a:lnTo>
                      <a:pt x="33" y="186"/>
                    </a:lnTo>
                    <a:lnTo>
                      <a:pt x="24" y="167"/>
                    </a:lnTo>
                    <a:lnTo>
                      <a:pt x="15" y="144"/>
                    </a:lnTo>
                    <a:lnTo>
                      <a:pt x="8" y="122"/>
                    </a:lnTo>
                    <a:lnTo>
                      <a:pt x="2" y="101"/>
                    </a:lnTo>
                    <a:lnTo>
                      <a:pt x="0" y="85"/>
                    </a:lnTo>
                    <a:lnTo>
                      <a:pt x="1" y="75"/>
                    </a:lnTo>
                    <a:lnTo>
                      <a:pt x="16" y="71"/>
                    </a:lnTo>
                    <a:lnTo>
                      <a:pt x="28" y="68"/>
                    </a:lnTo>
                    <a:lnTo>
                      <a:pt x="39" y="64"/>
                    </a:lnTo>
                    <a:lnTo>
                      <a:pt x="48" y="60"/>
                    </a:lnTo>
                    <a:lnTo>
                      <a:pt x="57" y="55"/>
                    </a:lnTo>
                    <a:lnTo>
                      <a:pt x="67" y="48"/>
                    </a:lnTo>
                    <a:lnTo>
                      <a:pt x="76" y="39"/>
                    </a:lnTo>
                    <a:lnTo>
                      <a:pt x="87" y="29"/>
                    </a:lnTo>
                    <a:lnTo>
                      <a:pt x="91" y="19"/>
                    </a:lnTo>
                    <a:lnTo>
                      <a:pt x="93" y="12"/>
                    </a:lnTo>
                    <a:lnTo>
                      <a:pt x="96" y="7"/>
                    </a:lnTo>
                    <a:lnTo>
                      <a:pt x="102" y="0"/>
                    </a:lnTo>
                    <a:lnTo>
                      <a:pt x="114" y="0"/>
                    </a:lnTo>
                    <a:lnTo>
                      <a:pt x="124" y="3"/>
                    </a:lnTo>
                    <a:lnTo>
                      <a:pt x="134" y="7"/>
                    </a:lnTo>
                    <a:lnTo>
                      <a:pt x="145" y="11"/>
                    </a:lnTo>
                    <a:lnTo>
                      <a:pt x="154" y="16"/>
                    </a:lnTo>
                    <a:lnTo>
                      <a:pt x="164" y="18"/>
                    </a:lnTo>
                    <a:lnTo>
                      <a:pt x="175" y="18"/>
                    </a:lnTo>
                    <a:lnTo>
                      <a:pt x="185" y="16"/>
                    </a:lnTo>
                    <a:lnTo>
                      <a:pt x="193" y="17"/>
                    </a:lnTo>
                    <a:lnTo>
                      <a:pt x="202" y="22"/>
                    </a:lnTo>
                    <a:lnTo>
                      <a:pt x="208" y="27"/>
                    </a:lnTo>
                    <a:lnTo>
                      <a:pt x="202" y="34"/>
                    </a:lnTo>
                    <a:lnTo>
                      <a:pt x="193" y="60"/>
                    </a:lnTo>
                    <a:lnTo>
                      <a:pt x="184" y="84"/>
                    </a:lnTo>
                    <a:lnTo>
                      <a:pt x="172" y="108"/>
                    </a:lnTo>
                    <a:lnTo>
                      <a:pt x="161" y="132"/>
                    </a:lnTo>
                    <a:lnTo>
                      <a:pt x="146" y="154"/>
                    </a:lnTo>
                    <a:lnTo>
                      <a:pt x="130" y="174"/>
                    </a:lnTo>
                    <a:lnTo>
                      <a:pt x="110" y="191"/>
                    </a:lnTo>
                    <a:lnTo>
                      <a:pt x="88" y="205"/>
                    </a:lnTo>
                    <a:lnTo>
                      <a:pt x="79" y="207"/>
                    </a:lnTo>
                    <a:lnTo>
                      <a:pt x="73" y="208"/>
                    </a:lnTo>
                    <a:lnTo>
                      <a:pt x="68" y="209"/>
                    </a:lnTo>
                    <a:lnTo>
                      <a:pt x="64" y="209"/>
                    </a:lnTo>
                    <a:lnTo>
                      <a:pt x="61" y="211"/>
                    </a:lnTo>
                    <a:lnTo>
                      <a:pt x="57" y="211"/>
                    </a:lnTo>
                    <a:lnTo>
                      <a:pt x="54" y="212"/>
                    </a:lnTo>
                    <a:lnTo>
                      <a:pt x="49" y="2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354" name="Google Shape;354;p8"/>
              <p:cNvSpPr/>
              <p:nvPr/>
            </p:nvSpPr>
            <p:spPr>
              <a:xfrm rot="-10405104">
                <a:off x="4424" y="3504"/>
                <a:ext cx="77" cy="66"/>
              </a:xfrm>
              <a:custGeom>
                <a:rect b="b" l="l" r="r" t="t"/>
                <a:pathLst>
                  <a:path extrusionOk="0" h="134" w="154">
                    <a:moveTo>
                      <a:pt x="23" y="89"/>
                    </a:moveTo>
                    <a:lnTo>
                      <a:pt x="17" y="82"/>
                    </a:lnTo>
                    <a:lnTo>
                      <a:pt x="11" y="74"/>
                    </a:lnTo>
                    <a:lnTo>
                      <a:pt x="5" y="67"/>
                    </a:lnTo>
                    <a:lnTo>
                      <a:pt x="0" y="60"/>
                    </a:lnTo>
                    <a:lnTo>
                      <a:pt x="0" y="47"/>
                    </a:lnTo>
                    <a:lnTo>
                      <a:pt x="4" y="37"/>
                    </a:lnTo>
                    <a:lnTo>
                      <a:pt x="11" y="30"/>
                    </a:lnTo>
                    <a:lnTo>
                      <a:pt x="22" y="23"/>
                    </a:lnTo>
                    <a:lnTo>
                      <a:pt x="33" y="17"/>
                    </a:lnTo>
                    <a:lnTo>
                      <a:pt x="48" y="13"/>
                    </a:lnTo>
                    <a:lnTo>
                      <a:pt x="65" y="7"/>
                    </a:lnTo>
                    <a:lnTo>
                      <a:pt x="84" y="0"/>
                    </a:lnTo>
                    <a:lnTo>
                      <a:pt x="93" y="0"/>
                    </a:lnTo>
                    <a:lnTo>
                      <a:pt x="103" y="4"/>
                    </a:lnTo>
                    <a:lnTo>
                      <a:pt x="116" y="9"/>
                    </a:lnTo>
                    <a:lnTo>
                      <a:pt x="130" y="17"/>
                    </a:lnTo>
                    <a:lnTo>
                      <a:pt x="140" y="24"/>
                    </a:lnTo>
                    <a:lnTo>
                      <a:pt x="149" y="31"/>
                    </a:lnTo>
                    <a:lnTo>
                      <a:pt x="154" y="37"/>
                    </a:lnTo>
                    <a:lnTo>
                      <a:pt x="154" y="38"/>
                    </a:lnTo>
                    <a:lnTo>
                      <a:pt x="153" y="58"/>
                    </a:lnTo>
                    <a:lnTo>
                      <a:pt x="152" y="89"/>
                    </a:lnTo>
                    <a:lnTo>
                      <a:pt x="149" y="118"/>
                    </a:lnTo>
                    <a:lnTo>
                      <a:pt x="145" y="134"/>
                    </a:lnTo>
                    <a:lnTo>
                      <a:pt x="129" y="128"/>
                    </a:lnTo>
                    <a:lnTo>
                      <a:pt x="115" y="124"/>
                    </a:lnTo>
                    <a:lnTo>
                      <a:pt x="102" y="122"/>
                    </a:lnTo>
                    <a:lnTo>
                      <a:pt x="89" y="120"/>
                    </a:lnTo>
                    <a:lnTo>
                      <a:pt x="77" y="116"/>
                    </a:lnTo>
                    <a:lnTo>
                      <a:pt x="62" y="112"/>
                    </a:lnTo>
                    <a:lnTo>
                      <a:pt x="45" y="103"/>
                    </a:lnTo>
                    <a:lnTo>
                      <a:pt x="23" y="89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355" name="Google Shape;355;p8"/>
              <p:cNvSpPr/>
              <p:nvPr/>
            </p:nvSpPr>
            <p:spPr>
              <a:xfrm rot="-10405104">
                <a:off x="4280" y="3491"/>
                <a:ext cx="84" cy="90"/>
              </a:xfrm>
              <a:custGeom>
                <a:rect b="b" l="l" r="r" t="t"/>
                <a:pathLst>
                  <a:path extrusionOk="0" h="180" w="167">
                    <a:moveTo>
                      <a:pt x="37" y="180"/>
                    </a:moveTo>
                    <a:lnTo>
                      <a:pt x="30" y="164"/>
                    </a:lnTo>
                    <a:lnTo>
                      <a:pt x="27" y="154"/>
                    </a:lnTo>
                    <a:lnTo>
                      <a:pt x="24" y="151"/>
                    </a:lnTo>
                    <a:lnTo>
                      <a:pt x="23" y="148"/>
                    </a:lnTo>
                    <a:lnTo>
                      <a:pt x="17" y="129"/>
                    </a:lnTo>
                    <a:lnTo>
                      <a:pt x="12" y="112"/>
                    </a:lnTo>
                    <a:lnTo>
                      <a:pt x="6" y="93"/>
                    </a:lnTo>
                    <a:lnTo>
                      <a:pt x="0" y="76"/>
                    </a:lnTo>
                    <a:lnTo>
                      <a:pt x="15" y="71"/>
                    </a:lnTo>
                    <a:lnTo>
                      <a:pt x="31" y="67"/>
                    </a:lnTo>
                    <a:lnTo>
                      <a:pt x="46" y="60"/>
                    </a:lnTo>
                    <a:lnTo>
                      <a:pt x="61" y="51"/>
                    </a:lnTo>
                    <a:lnTo>
                      <a:pt x="74" y="40"/>
                    </a:lnTo>
                    <a:lnTo>
                      <a:pt x="85" y="29"/>
                    </a:lnTo>
                    <a:lnTo>
                      <a:pt x="93" y="15"/>
                    </a:lnTo>
                    <a:lnTo>
                      <a:pt x="98" y="0"/>
                    </a:lnTo>
                    <a:lnTo>
                      <a:pt x="107" y="4"/>
                    </a:lnTo>
                    <a:lnTo>
                      <a:pt x="116" y="6"/>
                    </a:lnTo>
                    <a:lnTo>
                      <a:pt x="125" y="8"/>
                    </a:lnTo>
                    <a:lnTo>
                      <a:pt x="133" y="10"/>
                    </a:lnTo>
                    <a:lnTo>
                      <a:pt x="140" y="12"/>
                    </a:lnTo>
                    <a:lnTo>
                      <a:pt x="148" y="13"/>
                    </a:lnTo>
                    <a:lnTo>
                      <a:pt x="157" y="14"/>
                    </a:lnTo>
                    <a:lnTo>
                      <a:pt x="167" y="15"/>
                    </a:lnTo>
                    <a:lnTo>
                      <a:pt x="163" y="33"/>
                    </a:lnTo>
                    <a:lnTo>
                      <a:pt x="158" y="52"/>
                    </a:lnTo>
                    <a:lnTo>
                      <a:pt x="151" y="69"/>
                    </a:lnTo>
                    <a:lnTo>
                      <a:pt x="144" y="85"/>
                    </a:lnTo>
                    <a:lnTo>
                      <a:pt x="135" y="103"/>
                    </a:lnTo>
                    <a:lnTo>
                      <a:pt x="126" y="119"/>
                    </a:lnTo>
                    <a:lnTo>
                      <a:pt x="115" y="135"/>
                    </a:lnTo>
                    <a:lnTo>
                      <a:pt x="104" y="151"/>
                    </a:lnTo>
                    <a:lnTo>
                      <a:pt x="95" y="156"/>
                    </a:lnTo>
                    <a:lnTo>
                      <a:pt x="87" y="160"/>
                    </a:lnTo>
                    <a:lnTo>
                      <a:pt x="78" y="164"/>
                    </a:lnTo>
                    <a:lnTo>
                      <a:pt x="70" y="167"/>
                    </a:lnTo>
                    <a:lnTo>
                      <a:pt x="62" y="169"/>
                    </a:lnTo>
                    <a:lnTo>
                      <a:pt x="54" y="173"/>
                    </a:lnTo>
                    <a:lnTo>
                      <a:pt x="46" y="176"/>
                    </a:lnTo>
                    <a:lnTo>
                      <a:pt x="37" y="18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356" name="Google Shape;356;p8"/>
              <p:cNvSpPr/>
              <p:nvPr/>
            </p:nvSpPr>
            <p:spPr>
              <a:xfrm rot="-10405104">
                <a:off x="4365" y="3578"/>
                <a:ext cx="42" cy="53"/>
              </a:xfrm>
              <a:custGeom>
                <a:rect b="b" l="l" r="r" t="t"/>
                <a:pathLst>
                  <a:path extrusionOk="0" h="106" w="84">
                    <a:moveTo>
                      <a:pt x="12" y="101"/>
                    </a:moveTo>
                    <a:lnTo>
                      <a:pt x="10" y="99"/>
                    </a:lnTo>
                    <a:lnTo>
                      <a:pt x="9" y="95"/>
                    </a:lnTo>
                    <a:lnTo>
                      <a:pt x="7" y="93"/>
                    </a:lnTo>
                    <a:lnTo>
                      <a:pt x="4" y="90"/>
                    </a:lnTo>
                    <a:lnTo>
                      <a:pt x="0" y="66"/>
                    </a:lnTo>
                    <a:lnTo>
                      <a:pt x="0" y="41"/>
                    </a:lnTo>
                    <a:lnTo>
                      <a:pt x="7" y="17"/>
                    </a:lnTo>
                    <a:lnTo>
                      <a:pt x="24" y="0"/>
                    </a:lnTo>
                    <a:lnTo>
                      <a:pt x="45" y="1"/>
                    </a:lnTo>
                    <a:lnTo>
                      <a:pt x="60" y="4"/>
                    </a:lnTo>
                    <a:lnTo>
                      <a:pt x="72" y="10"/>
                    </a:lnTo>
                    <a:lnTo>
                      <a:pt x="79" y="18"/>
                    </a:lnTo>
                    <a:lnTo>
                      <a:pt x="84" y="28"/>
                    </a:lnTo>
                    <a:lnTo>
                      <a:pt x="84" y="43"/>
                    </a:lnTo>
                    <a:lnTo>
                      <a:pt x="82" y="60"/>
                    </a:lnTo>
                    <a:lnTo>
                      <a:pt x="76" y="80"/>
                    </a:lnTo>
                    <a:lnTo>
                      <a:pt x="69" y="88"/>
                    </a:lnTo>
                    <a:lnTo>
                      <a:pt x="63" y="94"/>
                    </a:lnTo>
                    <a:lnTo>
                      <a:pt x="56" y="100"/>
                    </a:lnTo>
                    <a:lnTo>
                      <a:pt x="49" y="103"/>
                    </a:lnTo>
                    <a:lnTo>
                      <a:pt x="41" y="106"/>
                    </a:lnTo>
                    <a:lnTo>
                      <a:pt x="33" y="106"/>
                    </a:lnTo>
                    <a:lnTo>
                      <a:pt x="24" y="104"/>
                    </a:lnTo>
                    <a:lnTo>
                      <a:pt x="12" y="10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357" name="Google Shape;357;p8"/>
              <p:cNvSpPr/>
              <p:nvPr/>
            </p:nvSpPr>
            <p:spPr>
              <a:xfrm rot="-10405104">
                <a:off x="4369" y="3590"/>
                <a:ext cx="33" cy="33"/>
              </a:xfrm>
              <a:custGeom>
                <a:rect b="b" l="l" r="r" t="t"/>
                <a:pathLst>
                  <a:path extrusionOk="0" h="64" w="64">
                    <a:moveTo>
                      <a:pt x="14" y="1"/>
                    </a:moveTo>
                    <a:lnTo>
                      <a:pt x="31" y="0"/>
                    </a:lnTo>
                    <a:lnTo>
                      <a:pt x="46" y="2"/>
                    </a:lnTo>
                    <a:lnTo>
                      <a:pt x="56" y="8"/>
                    </a:lnTo>
                    <a:lnTo>
                      <a:pt x="62" y="17"/>
                    </a:lnTo>
                    <a:lnTo>
                      <a:pt x="64" y="28"/>
                    </a:lnTo>
                    <a:lnTo>
                      <a:pt x="63" y="39"/>
                    </a:lnTo>
                    <a:lnTo>
                      <a:pt x="56" y="52"/>
                    </a:lnTo>
                    <a:lnTo>
                      <a:pt x="46" y="64"/>
                    </a:lnTo>
                    <a:lnTo>
                      <a:pt x="31" y="63"/>
                    </a:lnTo>
                    <a:lnTo>
                      <a:pt x="19" y="61"/>
                    </a:lnTo>
                    <a:lnTo>
                      <a:pt x="10" y="56"/>
                    </a:lnTo>
                    <a:lnTo>
                      <a:pt x="3" y="49"/>
                    </a:lnTo>
                    <a:lnTo>
                      <a:pt x="0" y="40"/>
                    </a:lnTo>
                    <a:lnTo>
                      <a:pt x="1" y="30"/>
                    </a:lnTo>
                    <a:lnTo>
                      <a:pt x="6" y="16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358" name="Google Shape;358;p8"/>
              <p:cNvSpPr/>
              <p:nvPr/>
            </p:nvSpPr>
            <p:spPr>
              <a:xfrm rot="-10405104">
                <a:off x="4399" y="3607"/>
                <a:ext cx="124" cy="124"/>
              </a:xfrm>
              <a:custGeom>
                <a:rect b="b" l="l" r="r" t="t"/>
                <a:pathLst>
                  <a:path extrusionOk="0" h="249" w="249">
                    <a:moveTo>
                      <a:pt x="0" y="228"/>
                    </a:moveTo>
                    <a:lnTo>
                      <a:pt x="1" y="198"/>
                    </a:lnTo>
                    <a:lnTo>
                      <a:pt x="5" y="172"/>
                    </a:lnTo>
                    <a:lnTo>
                      <a:pt x="10" y="147"/>
                    </a:lnTo>
                    <a:lnTo>
                      <a:pt x="20" y="127"/>
                    </a:lnTo>
                    <a:lnTo>
                      <a:pt x="31" y="107"/>
                    </a:lnTo>
                    <a:lnTo>
                      <a:pt x="47" y="87"/>
                    </a:lnTo>
                    <a:lnTo>
                      <a:pt x="66" y="68"/>
                    </a:lnTo>
                    <a:lnTo>
                      <a:pt x="89" y="48"/>
                    </a:lnTo>
                    <a:lnTo>
                      <a:pt x="96" y="44"/>
                    </a:lnTo>
                    <a:lnTo>
                      <a:pt x="101" y="40"/>
                    </a:lnTo>
                    <a:lnTo>
                      <a:pt x="106" y="38"/>
                    </a:lnTo>
                    <a:lnTo>
                      <a:pt x="112" y="34"/>
                    </a:lnTo>
                    <a:lnTo>
                      <a:pt x="120" y="31"/>
                    </a:lnTo>
                    <a:lnTo>
                      <a:pt x="129" y="26"/>
                    </a:lnTo>
                    <a:lnTo>
                      <a:pt x="142" y="21"/>
                    </a:lnTo>
                    <a:lnTo>
                      <a:pt x="159" y="13"/>
                    </a:lnTo>
                    <a:lnTo>
                      <a:pt x="167" y="10"/>
                    </a:lnTo>
                    <a:lnTo>
                      <a:pt x="176" y="8"/>
                    </a:lnTo>
                    <a:lnTo>
                      <a:pt x="184" y="5"/>
                    </a:lnTo>
                    <a:lnTo>
                      <a:pt x="194" y="2"/>
                    </a:lnTo>
                    <a:lnTo>
                      <a:pt x="203" y="1"/>
                    </a:lnTo>
                    <a:lnTo>
                      <a:pt x="212" y="0"/>
                    </a:lnTo>
                    <a:lnTo>
                      <a:pt x="220" y="0"/>
                    </a:lnTo>
                    <a:lnTo>
                      <a:pt x="229" y="2"/>
                    </a:lnTo>
                    <a:lnTo>
                      <a:pt x="234" y="28"/>
                    </a:lnTo>
                    <a:lnTo>
                      <a:pt x="239" y="53"/>
                    </a:lnTo>
                    <a:lnTo>
                      <a:pt x="243" y="79"/>
                    </a:lnTo>
                    <a:lnTo>
                      <a:pt x="249" y="105"/>
                    </a:lnTo>
                    <a:lnTo>
                      <a:pt x="226" y="116"/>
                    </a:lnTo>
                    <a:lnTo>
                      <a:pt x="203" y="132"/>
                    </a:lnTo>
                    <a:lnTo>
                      <a:pt x="181" y="151"/>
                    </a:lnTo>
                    <a:lnTo>
                      <a:pt x="161" y="172"/>
                    </a:lnTo>
                    <a:lnTo>
                      <a:pt x="145" y="191"/>
                    </a:lnTo>
                    <a:lnTo>
                      <a:pt x="133" y="210"/>
                    </a:lnTo>
                    <a:lnTo>
                      <a:pt x="124" y="223"/>
                    </a:lnTo>
                    <a:lnTo>
                      <a:pt x="122" y="233"/>
                    </a:lnTo>
                    <a:lnTo>
                      <a:pt x="108" y="233"/>
                    </a:lnTo>
                    <a:lnTo>
                      <a:pt x="93" y="234"/>
                    </a:lnTo>
                    <a:lnTo>
                      <a:pt x="81" y="235"/>
                    </a:lnTo>
                    <a:lnTo>
                      <a:pt x="67" y="237"/>
                    </a:lnTo>
                    <a:lnTo>
                      <a:pt x="53" y="238"/>
                    </a:lnTo>
                    <a:lnTo>
                      <a:pt x="39" y="242"/>
                    </a:lnTo>
                    <a:lnTo>
                      <a:pt x="25" y="245"/>
                    </a:lnTo>
                    <a:lnTo>
                      <a:pt x="10" y="249"/>
                    </a:lnTo>
                    <a:lnTo>
                      <a:pt x="5" y="246"/>
                    </a:lnTo>
                    <a:lnTo>
                      <a:pt x="1" y="242"/>
                    </a:lnTo>
                    <a:lnTo>
                      <a:pt x="0" y="235"/>
                    </a:lnTo>
                    <a:lnTo>
                      <a:pt x="0" y="2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359" name="Google Shape;359;p8"/>
              <p:cNvSpPr/>
              <p:nvPr/>
            </p:nvSpPr>
            <p:spPr>
              <a:xfrm rot="-10405104">
                <a:off x="4408" y="3618"/>
                <a:ext cx="110" cy="104"/>
              </a:xfrm>
              <a:custGeom>
                <a:rect b="b" l="l" r="r" t="t"/>
                <a:pathLst>
                  <a:path extrusionOk="0" h="209" w="222">
                    <a:moveTo>
                      <a:pt x="0" y="209"/>
                    </a:moveTo>
                    <a:lnTo>
                      <a:pt x="5" y="165"/>
                    </a:lnTo>
                    <a:lnTo>
                      <a:pt x="12" y="129"/>
                    </a:lnTo>
                    <a:lnTo>
                      <a:pt x="22" y="103"/>
                    </a:lnTo>
                    <a:lnTo>
                      <a:pt x="37" y="81"/>
                    </a:lnTo>
                    <a:lnTo>
                      <a:pt x="57" y="64"/>
                    </a:lnTo>
                    <a:lnTo>
                      <a:pt x="81" y="49"/>
                    </a:lnTo>
                    <a:lnTo>
                      <a:pt x="110" y="34"/>
                    </a:lnTo>
                    <a:lnTo>
                      <a:pt x="144" y="17"/>
                    </a:lnTo>
                    <a:lnTo>
                      <a:pt x="151" y="15"/>
                    </a:lnTo>
                    <a:lnTo>
                      <a:pt x="158" y="13"/>
                    </a:lnTo>
                    <a:lnTo>
                      <a:pt x="166" y="9"/>
                    </a:lnTo>
                    <a:lnTo>
                      <a:pt x="174" y="7"/>
                    </a:lnTo>
                    <a:lnTo>
                      <a:pt x="181" y="4"/>
                    </a:lnTo>
                    <a:lnTo>
                      <a:pt x="189" y="2"/>
                    </a:lnTo>
                    <a:lnTo>
                      <a:pt x="196" y="0"/>
                    </a:lnTo>
                    <a:lnTo>
                      <a:pt x="203" y="0"/>
                    </a:lnTo>
                    <a:lnTo>
                      <a:pt x="210" y="19"/>
                    </a:lnTo>
                    <a:lnTo>
                      <a:pt x="217" y="44"/>
                    </a:lnTo>
                    <a:lnTo>
                      <a:pt x="222" y="67"/>
                    </a:lnTo>
                    <a:lnTo>
                      <a:pt x="222" y="83"/>
                    </a:lnTo>
                    <a:lnTo>
                      <a:pt x="217" y="84"/>
                    </a:lnTo>
                    <a:lnTo>
                      <a:pt x="212" y="85"/>
                    </a:lnTo>
                    <a:lnTo>
                      <a:pt x="209" y="87"/>
                    </a:lnTo>
                    <a:lnTo>
                      <a:pt x="204" y="88"/>
                    </a:lnTo>
                    <a:lnTo>
                      <a:pt x="200" y="90"/>
                    </a:lnTo>
                    <a:lnTo>
                      <a:pt x="195" y="91"/>
                    </a:lnTo>
                    <a:lnTo>
                      <a:pt x="191" y="92"/>
                    </a:lnTo>
                    <a:lnTo>
                      <a:pt x="186" y="94"/>
                    </a:lnTo>
                    <a:lnTo>
                      <a:pt x="171" y="105"/>
                    </a:lnTo>
                    <a:lnTo>
                      <a:pt x="158" y="119"/>
                    </a:lnTo>
                    <a:lnTo>
                      <a:pt x="147" y="134"/>
                    </a:lnTo>
                    <a:lnTo>
                      <a:pt x="138" y="149"/>
                    </a:lnTo>
                    <a:lnTo>
                      <a:pt x="128" y="164"/>
                    </a:lnTo>
                    <a:lnTo>
                      <a:pt x="119" y="178"/>
                    </a:lnTo>
                    <a:lnTo>
                      <a:pt x="110" y="189"/>
                    </a:lnTo>
                    <a:lnTo>
                      <a:pt x="101" y="198"/>
                    </a:lnTo>
                    <a:lnTo>
                      <a:pt x="95" y="198"/>
                    </a:lnTo>
                    <a:lnTo>
                      <a:pt x="88" y="200"/>
                    </a:lnTo>
                    <a:lnTo>
                      <a:pt x="82" y="200"/>
                    </a:lnTo>
                    <a:lnTo>
                      <a:pt x="76" y="200"/>
                    </a:lnTo>
                    <a:lnTo>
                      <a:pt x="70" y="200"/>
                    </a:lnTo>
                    <a:lnTo>
                      <a:pt x="64" y="200"/>
                    </a:lnTo>
                    <a:lnTo>
                      <a:pt x="57" y="201"/>
                    </a:lnTo>
                    <a:lnTo>
                      <a:pt x="51" y="201"/>
                    </a:lnTo>
                    <a:lnTo>
                      <a:pt x="42" y="203"/>
                    </a:lnTo>
                    <a:lnTo>
                      <a:pt x="34" y="204"/>
                    </a:lnTo>
                    <a:lnTo>
                      <a:pt x="28" y="205"/>
                    </a:lnTo>
                    <a:lnTo>
                      <a:pt x="23" y="206"/>
                    </a:lnTo>
                    <a:lnTo>
                      <a:pt x="19" y="206"/>
                    </a:lnTo>
                    <a:lnTo>
                      <a:pt x="13" y="208"/>
                    </a:lnTo>
                    <a:lnTo>
                      <a:pt x="7" y="208"/>
                    </a:lnTo>
                    <a:lnTo>
                      <a:pt x="0" y="209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360" name="Google Shape;360;p8"/>
              <p:cNvSpPr/>
              <p:nvPr/>
            </p:nvSpPr>
            <p:spPr>
              <a:xfrm rot="-10405104">
                <a:off x="4251" y="3621"/>
                <a:ext cx="110" cy="95"/>
              </a:xfrm>
              <a:custGeom>
                <a:rect b="b" l="l" r="r" t="t"/>
                <a:pathLst>
                  <a:path extrusionOk="0" h="189" w="220">
                    <a:moveTo>
                      <a:pt x="106" y="184"/>
                    </a:moveTo>
                    <a:lnTo>
                      <a:pt x="96" y="160"/>
                    </a:lnTo>
                    <a:lnTo>
                      <a:pt x="86" y="144"/>
                    </a:lnTo>
                    <a:lnTo>
                      <a:pt x="73" y="134"/>
                    </a:lnTo>
                    <a:lnTo>
                      <a:pt x="60" y="128"/>
                    </a:lnTo>
                    <a:lnTo>
                      <a:pt x="45" y="123"/>
                    </a:lnTo>
                    <a:lnTo>
                      <a:pt x="30" y="119"/>
                    </a:lnTo>
                    <a:lnTo>
                      <a:pt x="15" y="112"/>
                    </a:lnTo>
                    <a:lnTo>
                      <a:pt x="0" y="103"/>
                    </a:lnTo>
                    <a:lnTo>
                      <a:pt x="1" y="79"/>
                    </a:lnTo>
                    <a:lnTo>
                      <a:pt x="3" y="59"/>
                    </a:lnTo>
                    <a:lnTo>
                      <a:pt x="7" y="37"/>
                    </a:lnTo>
                    <a:lnTo>
                      <a:pt x="11" y="14"/>
                    </a:lnTo>
                    <a:lnTo>
                      <a:pt x="26" y="5"/>
                    </a:lnTo>
                    <a:lnTo>
                      <a:pt x="42" y="0"/>
                    </a:lnTo>
                    <a:lnTo>
                      <a:pt x="60" y="0"/>
                    </a:lnTo>
                    <a:lnTo>
                      <a:pt x="78" y="5"/>
                    </a:lnTo>
                    <a:lnTo>
                      <a:pt x="95" y="13"/>
                    </a:lnTo>
                    <a:lnTo>
                      <a:pt x="113" y="23"/>
                    </a:lnTo>
                    <a:lnTo>
                      <a:pt x="130" y="36"/>
                    </a:lnTo>
                    <a:lnTo>
                      <a:pt x="146" y="51"/>
                    </a:lnTo>
                    <a:lnTo>
                      <a:pt x="162" y="66"/>
                    </a:lnTo>
                    <a:lnTo>
                      <a:pt x="175" y="82"/>
                    </a:lnTo>
                    <a:lnTo>
                      <a:pt x="187" y="97"/>
                    </a:lnTo>
                    <a:lnTo>
                      <a:pt x="197" y="112"/>
                    </a:lnTo>
                    <a:lnTo>
                      <a:pt x="205" y="124"/>
                    </a:lnTo>
                    <a:lnTo>
                      <a:pt x="209" y="135"/>
                    </a:lnTo>
                    <a:lnTo>
                      <a:pt x="210" y="143"/>
                    </a:lnTo>
                    <a:lnTo>
                      <a:pt x="208" y="147"/>
                    </a:lnTo>
                    <a:lnTo>
                      <a:pt x="210" y="157"/>
                    </a:lnTo>
                    <a:lnTo>
                      <a:pt x="215" y="166"/>
                    </a:lnTo>
                    <a:lnTo>
                      <a:pt x="219" y="174"/>
                    </a:lnTo>
                    <a:lnTo>
                      <a:pt x="220" y="179"/>
                    </a:lnTo>
                    <a:lnTo>
                      <a:pt x="212" y="182"/>
                    </a:lnTo>
                    <a:lnTo>
                      <a:pt x="198" y="184"/>
                    </a:lnTo>
                    <a:lnTo>
                      <a:pt x="180" y="187"/>
                    </a:lnTo>
                    <a:lnTo>
                      <a:pt x="162" y="188"/>
                    </a:lnTo>
                    <a:lnTo>
                      <a:pt x="144" y="189"/>
                    </a:lnTo>
                    <a:lnTo>
                      <a:pt x="126" y="189"/>
                    </a:lnTo>
                    <a:lnTo>
                      <a:pt x="114" y="187"/>
                    </a:lnTo>
                    <a:lnTo>
                      <a:pt x="106" y="18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361" name="Google Shape;361;p8"/>
              <p:cNvSpPr/>
              <p:nvPr/>
            </p:nvSpPr>
            <p:spPr>
              <a:xfrm rot="-10405104">
                <a:off x="4265" y="3631"/>
                <a:ext cx="87" cy="74"/>
              </a:xfrm>
              <a:custGeom>
                <a:rect b="b" l="l" r="r" t="t"/>
                <a:pathLst>
                  <a:path extrusionOk="0" h="148" w="175">
                    <a:moveTo>
                      <a:pt x="103" y="148"/>
                    </a:moveTo>
                    <a:lnTo>
                      <a:pt x="100" y="141"/>
                    </a:lnTo>
                    <a:lnTo>
                      <a:pt x="97" y="135"/>
                    </a:lnTo>
                    <a:lnTo>
                      <a:pt x="92" y="131"/>
                    </a:lnTo>
                    <a:lnTo>
                      <a:pt x="85" y="127"/>
                    </a:lnTo>
                    <a:lnTo>
                      <a:pt x="80" y="114"/>
                    </a:lnTo>
                    <a:lnTo>
                      <a:pt x="72" y="103"/>
                    </a:lnTo>
                    <a:lnTo>
                      <a:pt x="62" y="93"/>
                    </a:lnTo>
                    <a:lnTo>
                      <a:pt x="52" y="86"/>
                    </a:lnTo>
                    <a:lnTo>
                      <a:pt x="39" y="80"/>
                    </a:lnTo>
                    <a:lnTo>
                      <a:pt x="25" y="75"/>
                    </a:lnTo>
                    <a:lnTo>
                      <a:pt x="12" y="70"/>
                    </a:lnTo>
                    <a:lnTo>
                      <a:pt x="0" y="66"/>
                    </a:lnTo>
                    <a:lnTo>
                      <a:pt x="0" y="50"/>
                    </a:lnTo>
                    <a:lnTo>
                      <a:pt x="2" y="31"/>
                    </a:lnTo>
                    <a:lnTo>
                      <a:pt x="7" y="15"/>
                    </a:lnTo>
                    <a:lnTo>
                      <a:pt x="16" y="2"/>
                    </a:lnTo>
                    <a:lnTo>
                      <a:pt x="19" y="2"/>
                    </a:lnTo>
                    <a:lnTo>
                      <a:pt x="24" y="1"/>
                    </a:lnTo>
                    <a:lnTo>
                      <a:pt x="27" y="1"/>
                    </a:lnTo>
                    <a:lnTo>
                      <a:pt x="32" y="0"/>
                    </a:lnTo>
                    <a:lnTo>
                      <a:pt x="55" y="5"/>
                    </a:lnTo>
                    <a:lnTo>
                      <a:pt x="79" y="15"/>
                    </a:lnTo>
                    <a:lnTo>
                      <a:pt x="103" y="30"/>
                    </a:lnTo>
                    <a:lnTo>
                      <a:pt x="126" y="48"/>
                    </a:lnTo>
                    <a:lnTo>
                      <a:pt x="145" y="70"/>
                    </a:lnTo>
                    <a:lnTo>
                      <a:pt x="161" y="93"/>
                    </a:lnTo>
                    <a:lnTo>
                      <a:pt x="171" y="118"/>
                    </a:lnTo>
                    <a:lnTo>
                      <a:pt x="175" y="142"/>
                    </a:lnTo>
                    <a:lnTo>
                      <a:pt x="166" y="143"/>
                    </a:lnTo>
                    <a:lnTo>
                      <a:pt x="156" y="144"/>
                    </a:lnTo>
                    <a:lnTo>
                      <a:pt x="148" y="145"/>
                    </a:lnTo>
                    <a:lnTo>
                      <a:pt x="140" y="146"/>
                    </a:lnTo>
                    <a:lnTo>
                      <a:pt x="132" y="146"/>
                    </a:lnTo>
                    <a:lnTo>
                      <a:pt x="123" y="146"/>
                    </a:lnTo>
                    <a:lnTo>
                      <a:pt x="114" y="148"/>
                    </a:lnTo>
                    <a:lnTo>
                      <a:pt x="103" y="148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grpSp>
            <p:nvGrpSpPr>
              <p:cNvPr id="362" name="Google Shape;362;p8"/>
              <p:cNvGrpSpPr/>
              <p:nvPr/>
            </p:nvGrpSpPr>
            <p:grpSpPr>
              <a:xfrm>
                <a:off x="4166" y="2935"/>
                <a:ext cx="350" cy="343"/>
                <a:chOff x="3982" y="3175"/>
                <a:chExt cx="350" cy="343"/>
              </a:xfrm>
            </p:grpSpPr>
            <p:sp>
              <p:nvSpPr>
                <p:cNvPr id="363" name="Google Shape;363;p8"/>
                <p:cNvSpPr/>
                <p:nvPr/>
              </p:nvSpPr>
              <p:spPr>
                <a:xfrm rot="-10405104">
                  <a:off x="3999" y="3192"/>
                  <a:ext cx="317" cy="309"/>
                </a:xfrm>
                <a:custGeom>
                  <a:rect b="b" l="l" r="r" t="t"/>
                  <a:pathLst>
                    <a:path extrusionOk="0" h="617" w="635">
                      <a:moveTo>
                        <a:pt x="376" y="614"/>
                      </a:moveTo>
                      <a:lnTo>
                        <a:pt x="375" y="603"/>
                      </a:lnTo>
                      <a:lnTo>
                        <a:pt x="374" y="592"/>
                      </a:lnTo>
                      <a:lnTo>
                        <a:pt x="374" y="581"/>
                      </a:lnTo>
                      <a:lnTo>
                        <a:pt x="374" y="570"/>
                      </a:lnTo>
                      <a:lnTo>
                        <a:pt x="366" y="568"/>
                      </a:lnTo>
                      <a:lnTo>
                        <a:pt x="359" y="566"/>
                      </a:lnTo>
                      <a:lnTo>
                        <a:pt x="353" y="566"/>
                      </a:lnTo>
                      <a:lnTo>
                        <a:pt x="349" y="566"/>
                      </a:lnTo>
                      <a:lnTo>
                        <a:pt x="343" y="569"/>
                      </a:lnTo>
                      <a:lnTo>
                        <a:pt x="338" y="571"/>
                      </a:lnTo>
                      <a:lnTo>
                        <a:pt x="332" y="576"/>
                      </a:lnTo>
                      <a:lnTo>
                        <a:pt x="325" y="581"/>
                      </a:lnTo>
                      <a:lnTo>
                        <a:pt x="321" y="588"/>
                      </a:lnTo>
                      <a:lnTo>
                        <a:pt x="318" y="595"/>
                      </a:lnTo>
                      <a:lnTo>
                        <a:pt x="314" y="603"/>
                      </a:lnTo>
                      <a:lnTo>
                        <a:pt x="311" y="610"/>
                      </a:lnTo>
                      <a:lnTo>
                        <a:pt x="300" y="610"/>
                      </a:lnTo>
                      <a:lnTo>
                        <a:pt x="294" y="610"/>
                      </a:lnTo>
                      <a:lnTo>
                        <a:pt x="288" y="610"/>
                      </a:lnTo>
                      <a:lnTo>
                        <a:pt x="282" y="609"/>
                      </a:lnTo>
                      <a:lnTo>
                        <a:pt x="281" y="598"/>
                      </a:lnTo>
                      <a:lnTo>
                        <a:pt x="280" y="586"/>
                      </a:lnTo>
                      <a:lnTo>
                        <a:pt x="279" y="577"/>
                      </a:lnTo>
                      <a:lnTo>
                        <a:pt x="277" y="572"/>
                      </a:lnTo>
                      <a:lnTo>
                        <a:pt x="272" y="570"/>
                      </a:lnTo>
                      <a:lnTo>
                        <a:pt x="266" y="568"/>
                      </a:lnTo>
                      <a:lnTo>
                        <a:pt x="260" y="568"/>
                      </a:lnTo>
                      <a:lnTo>
                        <a:pt x="254" y="566"/>
                      </a:lnTo>
                      <a:lnTo>
                        <a:pt x="249" y="566"/>
                      </a:lnTo>
                      <a:lnTo>
                        <a:pt x="243" y="568"/>
                      </a:lnTo>
                      <a:lnTo>
                        <a:pt x="237" y="570"/>
                      </a:lnTo>
                      <a:lnTo>
                        <a:pt x="231" y="572"/>
                      </a:lnTo>
                      <a:lnTo>
                        <a:pt x="222" y="580"/>
                      </a:lnTo>
                      <a:lnTo>
                        <a:pt x="217" y="585"/>
                      </a:lnTo>
                      <a:lnTo>
                        <a:pt x="214" y="589"/>
                      </a:lnTo>
                      <a:lnTo>
                        <a:pt x="209" y="596"/>
                      </a:lnTo>
                      <a:lnTo>
                        <a:pt x="200" y="595"/>
                      </a:lnTo>
                      <a:lnTo>
                        <a:pt x="192" y="593"/>
                      </a:lnTo>
                      <a:lnTo>
                        <a:pt x="185" y="589"/>
                      </a:lnTo>
                      <a:lnTo>
                        <a:pt x="177" y="584"/>
                      </a:lnTo>
                      <a:lnTo>
                        <a:pt x="178" y="573"/>
                      </a:lnTo>
                      <a:lnTo>
                        <a:pt x="181" y="565"/>
                      </a:lnTo>
                      <a:lnTo>
                        <a:pt x="183" y="557"/>
                      </a:lnTo>
                      <a:lnTo>
                        <a:pt x="186" y="548"/>
                      </a:lnTo>
                      <a:lnTo>
                        <a:pt x="184" y="540"/>
                      </a:lnTo>
                      <a:lnTo>
                        <a:pt x="182" y="533"/>
                      </a:lnTo>
                      <a:lnTo>
                        <a:pt x="177" y="530"/>
                      </a:lnTo>
                      <a:lnTo>
                        <a:pt x="173" y="527"/>
                      </a:lnTo>
                      <a:lnTo>
                        <a:pt x="167" y="526"/>
                      </a:lnTo>
                      <a:lnTo>
                        <a:pt x="161" y="526"/>
                      </a:lnTo>
                      <a:lnTo>
                        <a:pt x="154" y="526"/>
                      </a:lnTo>
                      <a:lnTo>
                        <a:pt x="146" y="526"/>
                      </a:lnTo>
                      <a:lnTo>
                        <a:pt x="139" y="528"/>
                      </a:lnTo>
                      <a:lnTo>
                        <a:pt x="135" y="531"/>
                      </a:lnTo>
                      <a:lnTo>
                        <a:pt x="129" y="534"/>
                      </a:lnTo>
                      <a:lnTo>
                        <a:pt x="125" y="538"/>
                      </a:lnTo>
                      <a:lnTo>
                        <a:pt x="121" y="541"/>
                      </a:lnTo>
                      <a:lnTo>
                        <a:pt x="116" y="543"/>
                      </a:lnTo>
                      <a:lnTo>
                        <a:pt x="111" y="546"/>
                      </a:lnTo>
                      <a:lnTo>
                        <a:pt x="107" y="548"/>
                      </a:lnTo>
                      <a:lnTo>
                        <a:pt x="99" y="548"/>
                      </a:lnTo>
                      <a:lnTo>
                        <a:pt x="94" y="548"/>
                      </a:lnTo>
                      <a:lnTo>
                        <a:pt x="91" y="546"/>
                      </a:lnTo>
                      <a:lnTo>
                        <a:pt x="86" y="540"/>
                      </a:lnTo>
                      <a:lnTo>
                        <a:pt x="87" y="532"/>
                      </a:lnTo>
                      <a:lnTo>
                        <a:pt x="88" y="526"/>
                      </a:lnTo>
                      <a:lnTo>
                        <a:pt x="92" y="520"/>
                      </a:lnTo>
                      <a:lnTo>
                        <a:pt x="95" y="513"/>
                      </a:lnTo>
                      <a:lnTo>
                        <a:pt x="94" y="495"/>
                      </a:lnTo>
                      <a:lnTo>
                        <a:pt x="93" y="483"/>
                      </a:lnTo>
                      <a:lnTo>
                        <a:pt x="87" y="474"/>
                      </a:lnTo>
                      <a:lnTo>
                        <a:pt x="75" y="462"/>
                      </a:lnTo>
                      <a:lnTo>
                        <a:pt x="71" y="460"/>
                      </a:lnTo>
                      <a:lnTo>
                        <a:pt x="68" y="460"/>
                      </a:lnTo>
                      <a:lnTo>
                        <a:pt x="64" y="459"/>
                      </a:lnTo>
                      <a:lnTo>
                        <a:pt x="62" y="459"/>
                      </a:lnTo>
                      <a:lnTo>
                        <a:pt x="57" y="459"/>
                      </a:lnTo>
                      <a:lnTo>
                        <a:pt x="53" y="459"/>
                      </a:lnTo>
                      <a:lnTo>
                        <a:pt x="46" y="459"/>
                      </a:lnTo>
                      <a:lnTo>
                        <a:pt x="38" y="459"/>
                      </a:lnTo>
                      <a:lnTo>
                        <a:pt x="32" y="451"/>
                      </a:lnTo>
                      <a:lnTo>
                        <a:pt x="27" y="444"/>
                      </a:lnTo>
                      <a:lnTo>
                        <a:pt x="24" y="437"/>
                      </a:lnTo>
                      <a:lnTo>
                        <a:pt x="23" y="428"/>
                      </a:lnTo>
                      <a:lnTo>
                        <a:pt x="30" y="421"/>
                      </a:lnTo>
                      <a:lnTo>
                        <a:pt x="38" y="415"/>
                      </a:lnTo>
                      <a:lnTo>
                        <a:pt x="44" y="411"/>
                      </a:lnTo>
                      <a:lnTo>
                        <a:pt x="48" y="403"/>
                      </a:lnTo>
                      <a:lnTo>
                        <a:pt x="48" y="391"/>
                      </a:lnTo>
                      <a:lnTo>
                        <a:pt x="47" y="381"/>
                      </a:lnTo>
                      <a:lnTo>
                        <a:pt x="44" y="371"/>
                      </a:lnTo>
                      <a:lnTo>
                        <a:pt x="37" y="360"/>
                      </a:lnTo>
                      <a:lnTo>
                        <a:pt x="32" y="359"/>
                      </a:lnTo>
                      <a:lnTo>
                        <a:pt x="27" y="358"/>
                      </a:lnTo>
                      <a:lnTo>
                        <a:pt x="24" y="357"/>
                      </a:lnTo>
                      <a:lnTo>
                        <a:pt x="19" y="354"/>
                      </a:lnTo>
                      <a:lnTo>
                        <a:pt x="15" y="353"/>
                      </a:lnTo>
                      <a:lnTo>
                        <a:pt x="10" y="352"/>
                      </a:lnTo>
                      <a:lnTo>
                        <a:pt x="6" y="350"/>
                      </a:lnTo>
                      <a:lnTo>
                        <a:pt x="1" y="349"/>
                      </a:lnTo>
                      <a:lnTo>
                        <a:pt x="1" y="341"/>
                      </a:lnTo>
                      <a:lnTo>
                        <a:pt x="1" y="331"/>
                      </a:lnTo>
                      <a:lnTo>
                        <a:pt x="1" y="323"/>
                      </a:lnTo>
                      <a:lnTo>
                        <a:pt x="0" y="315"/>
                      </a:lnTo>
                      <a:lnTo>
                        <a:pt x="8" y="311"/>
                      </a:lnTo>
                      <a:lnTo>
                        <a:pt x="17" y="306"/>
                      </a:lnTo>
                      <a:lnTo>
                        <a:pt x="25" y="303"/>
                      </a:lnTo>
                      <a:lnTo>
                        <a:pt x="33" y="299"/>
                      </a:lnTo>
                      <a:lnTo>
                        <a:pt x="44" y="290"/>
                      </a:lnTo>
                      <a:lnTo>
                        <a:pt x="50" y="283"/>
                      </a:lnTo>
                      <a:lnTo>
                        <a:pt x="53" y="274"/>
                      </a:lnTo>
                      <a:lnTo>
                        <a:pt x="53" y="259"/>
                      </a:lnTo>
                      <a:lnTo>
                        <a:pt x="45" y="251"/>
                      </a:lnTo>
                      <a:lnTo>
                        <a:pt x="38" y="246"/>
                      </a:lnTo>
                      <a:lnTo>
                        <a:pt x="31" y="240"/>
                      </a:lnTo>
                      <a:lnTo>
                        <a:pt x="19" y="232"/>
                      </a:lnTo>
                      <a:lnTo>
                        <a:pt x="20" y="223"/>
                      </a:lnTo>
                      <a:lnTo>
                        <a:pt x="23" y="214"/>
                      </a:lnTo>
                      <a:lnTo>
                        <a:pt x="26" y="206"/>
                      </a:lnTo>
                      <a:lnTo>
                        <a:pt x="32" y="199"/>
                      </a:lnTo>
                      <a:lnTo>
                        <a:pt x="37" y="199"/>
                      </a:lnTo>
                      <a:lnTo>
                        <a:pt x="41" y="199"/>
                      </a:lnTo>
                      <a:lnTo>
                        <a:pt x="46" y="200"/>
                      </a:lnTo>
                      <a:lnTo>
                        <a:pt x="50" y="200"/>
                      </a:lnTo>
                      <a:lnTo>
                        <a:pt x="55" y="200"/>
                      </a:lnTo>
                      <a:lnTo>
                        <a:pt x="59" y="200"/>
                      </a:lnTo>
                      <a:lnTo>
                        <a:pt x="64" y="200"/>
                      </a:lnTo>
                      <a:lnTo>
                        <a:pt x="69" y="200"/>
                      </a:lnTo>
                      <a:lnTo>
                        <a:pt x="80" y="189"/>
                      </a:lnTo>
                      <a:lnTo>
                        <a:pt x="88" y="179"/>
                      </a:lnTo>
                      <a:lnTo>
                        <a:pt x="94" y="172"/>
                      </a:lnTo>
                      <a:lnTo>
                        <a:pt x="97" y="165"/>
                      </a:lnTo>
                      <a:lnTo>
                        <a:pt x="98" y="160"/>
                      </a:lnTo>
                      <a:lnTo>
                        <a:pt x="95" y="152"/>
                      </a:lnTo>
                      <a:lnTo>
                        <a:pt x="92" y="141"/>
                      </a:lnTo>
                      <a:lnTo>
                        <a:pt x="86" y="129"/>
                      </a:lnTo>
                      <a:lnTo>
                        <a:pt x="79" y="121"/>
                      </a:lnTo>
                      <a:lnTo>
                        <a:pt x="72" y="112"/>
                      </a:lnTo>
                      <a:lnTo>
                        <a:pt x="64" y="104"/>
                      </a:lnTo>
                      <a:lnTo>
                        <a:pt x="57" y="96"/>
                      </a:lnTo>
                      <a:lnTo>
                        <a:pt x="61" y="85"/>
                      </a:lnTo>
                      <a:lnTo>
                        <a:pt x="69" y="77"/>
                      </a:lnTo>
                      <a:lnTo>
                        <a:pt x="78" y="71"/>
                      </a:lnTo>
                      <a:lnTo>
                        <a:pt x="91" y="65"/>
                      </a:lnTo>
                      <a:lnTo>
                        <a:pt x="100" y="68"/>
                      </a:lnTo>
                      <a:lnTo>
                        <a:pt x="108" y="70"/>
                      </a:lnTo>
                      <a:lnTo>
                        <a:pt x="115" y="74"/>
                      </a:lnTo>
                      <a:lnTo>
                        <a:pt x="123" y="79"/>
                      </a:lnTo>
                      <a:lnTo>
                        <a:pt x="131" y="84"/>
                      </a:lnTo>
                      <a:lnTo>
                        <a:pt x="139" y="87"/>
                      </a:lnTo>
                      <a:lnTo>
                        <a:pt x="147" y="89"/>
                      </a:lnTo>
                      <a:lnTo>
                        <a:pt x="158" y="91"/>
                      </a:lnTo>
                      <a:lnTo>
                        <a:pt x="160" y="88"/>
                      </a:lnTo>
                      <a:lnTo>
                        <a:pt x="164" y="85"/>
                      </a:lnTo>
                      <a:lnTo>
                        <a:pt x="170" y="81"/>
                      </a:lnTo>
                      <a:lnTo>
                        <a:pt x="177" y="78"/>
                      </a:lnTo>
                      <a:lnTo>
                        <a:pt x="185" y="73"/>
                      </a:lnTo>
                      <a:lnTo>
                        <a:pt x="192" y="71"/>
                      </a:lnTo>
                      <a:lnTo>
                        <a:pt x="198" y="68"/>
                      </a:lnTo>
                      <a:lnTo>
                        <a:pt x="203" y="66"/>
                      </a:lnTo>
                      <a:lnTo>
                        <a:pt x="204" y="51"/>
                      </a:lnTo>
                      <a:lnTo>
                        <a:pt x="205" y="39"/>
                      </a:lnTo>
                      <a:lnTo>
                        <a:pt x="207" y="26"/>
                      </a:lnTo>
                      <a:lnTo>
                        <a:pt x="209" y="11"/>
                      </a:lnTo>
                      <a:lnTo>
                        <a:pt x="214" y="9"/>
                      </a:lnTo>
                      <a:lnTo>
                        <a:pt x="219" y="6"/>
                      </a:lnTo>
                      <a:lnTo>
                        <a:pt x="223" y="4"/>
                      </a:lnTo>
                      <a:lnTo>
                        <a:pt x="228" y="2"/>
                      </a:lnTo>
                      <a:lnTo>
                        <a:pt x="232" y="1"/>
                      </a:lnTo>
                      <a:lnTo>
                        <a:pt x="237" y="0"/>
                      </a:lnTo>
                      <a:lnTo>
                        <a:pt x="242" y="0"/>
                      </a:lnTo>
                      <a:lnTo>
                        <a:pt x="247" y="0"/>
                      </a:lnTo>
                      <a:lnTo>
                        <a:pt x="251" y="9"/>
                      </a:lnTo>
                      <a:lnTo>
                        <a:pt x="253" y="16"/>
                      </a:lnTo>
                      <a:lnTo>
                        <a:pt x="258" y="24"/>
                      </a:lnTo>
                      <a:lnTo>
                        <a:pt x="262" y="31"/>
                      </a:lnTo>
                      <a:lnTo>
                        <a:pt x="270" y="32"/>
                      </a:lnTo>
                      <a:lnTo>
                        <a:pt x="279" y="33"/>
                      </a:lnTo>
                      <a:lnTo>
                        <a:pt x="287" y="33"/>
                      </a:lnTo>
                      <a:lnTo>
                        <a:pt x="296" y="33"/>
                      </a:lnTo>
                      <a:lnTo>
                        <a:pt x="305" y="32"/>
                      </a:lnTo>
                      <a:lnTo>
                        <a:pt x="313" y="31"/>
                      </a:lnTo>
                      <a:lnTo>
                        <a:pt x="320" y="27"/>
                      </a:lnTo>
                      <a:lnTo>
                        <a:pt x="327" y="24"/>
                      </a:lnTo>
                      <a:lnTo>
                        <a:pt x="329" y="15"/>
                      </a:lnTo>
                      <a:lnTo>
                        <a:pt x="332" y="9"/>
                      </a:lnTo>
                      <a:lnTo>
                        <a:pt x="336" y="5"/>
                      </a:lnTo>
                      <a:lnTo>
                        <a:pt x="344" y="1"/>
                      </a:lnTo>
                      <a:lnTo>
                        <a:pt x="353" y="0"/>
                      </a:lnTo>
                      <a:lnTo>
                        <a:pt x="363" y="0"/>
                      </a:lnTo>
                      <a:lnTo>
                        <a:pt x="371" y="2"/>
                      </a:lnTo>
                      <a:lnTo>
                        <a:pt x="378" y="9"/>
                      </a:lnTo>
                      <a:lnTo>
                        <a:pt x="378" y="19"/>
                      </a:lnTo>
                      <a:lnTo>
                        <a:pt x="378" y="26"/>
                      </a:lnTo>
                      <a:lnTo>
                        <a:pt x="379" y="34"/>
                      </a:lnTo>
                      <a:lnTo>
                        <a:pt x="381" y="45"/>
                      </a:lnTo>
                      <a:lnTo>
                        <a:pt x="386" y="49"/>
                      </a:lnTo>
                      <a:lnTo>
                        <a:pt x="391" y="55"/>
                      </a:lnTo>
                      <a:lnTo>
                        <a:pt x="399" y="61"/>
                      </a:lnTo>
                      <a:lnTo>
                        <a:pt x="408" y="65"/>
                      </a:lnTo>
                      <a:lnTo>
                        <a:pt x="416" y="69"/>
                      </a:lnTo>
                      <a:lnTo>
                        <a:pt x="423" y="69"/>
                      </a:lnTo>
                      <a:lnTo>
                        <a:pt x="429" y="66"/>
                      </a:lnTo>
                      <a:lnTo>
                        <a:pt x="433" y="61"/>
                      </a:lnTo>
                      <a:lnTo>
                        <a:pt x="436" y="57"/>
                      </a:lnTo>
                      <a:lnTo>
                        <a:pt x="441" y="53"/>
                      </a:lnTo>
                      <a:lnTo>
                        <a:pt x="446" y="49"/>
                      </a:lnTo>
                      <a:lnTo>
                        <a:pt x="451" y="45"/>
                      </a:lnTo>
                      <a:lnTo>
                        <a:pt x="456" y="40"/>
                      </a:lnTo>
                      <a:lnTo>
                        <a:pt x="462" y="38"/>
                      </a:lnTo>
                      <a:lnTo>
                        <a:pt x="466" y="35"/>
                      </a:lnTo>
                      <a:lnTo>
                        <a:pt x="471" y="34"/>
                      </a:lnTo>
                      <a:lnTo>
                        <a:pt x="476" y="38"/>
                      </a:lnTo>
                      <a:lnTo>
                        <a:pt x="480" y="41"/>
                      </a:lnTo>
                      <a:lnTo>
                        <a:pt x="484" y="46"/>
                      </a:lnTo>
                      <a:lnTo>
                        <a:pt x="488" y="49"/>
                      </a:lnTo>
                      <a:lnTo>
                        <a:pt x="489" y="54"/>
                      </a:lnTo>
                      <a:lnTo>
                        <a:pt x="488" y="58"/>
                      </a:lnTo>
                      <a:lnTo>
                        <a:pt x="487" y="66"/>
                      </a:lnTo>
                      <a:lnTo>
                        <a:pt x="485" y="81"/>
                      </a:lnTo>
                      <a:lnTo>
                        <a:pt x="487" y="94"/>
                      </a:lnTo>
                      <a:lnTo>
                        <a:pt x="492" y="104"/>
                      </a:lnTo>
                      <a:lnTo>
                        <a:pt x="499" y="114"/>
                      </a:lnTo>
                      <a:lnTo>
                        <a:pt x="508" y="124"/>
                      </a:lnTo>
                      <a:lnTo>
                        <a:pt x="515" y="125"/>
                      </a:lnTo>
                      <a:lnTo>
                        <a:pt x="520" y="124"/>
                      </a:lnTo>
                      <a:lnTo>
                        <a:pt x="527" y="123"/>
                      </a:lnTo>
                      <a:lnTo>
                        <a:pt x="533" y="121"/>
                      </a:lnTo>
                      <a:lnTo>
                        <a:pt x="540" y="119"/>
                      </a:lnTo>
                      <a:lnTo>
                        <a:pt x="547" y="117"/>
                      </a:lnTo>
                      <a:lnTo>
                        <a:pt x="554" y="116"/>
                      </a:lnTo>
                      <a:lnTo>
                        <a:pt x="562" y="116"/>
                      </a:lnTo>
                      <a:lnTo>
                        <a:pt x="564" y="123"/>
                      </a:lnTo>
                      <a:lnTo>
                        <a:pt x="567" y="127"/>
                      </a:lnTo>
                      <a:lnTo>
                        <a:pt x="567" y="132"/>
                      </a:lnTo>
                      <a:lnTo>
                        <a:pt x="567" y="137"/>
                      </a:lnTo>
                      <a:lnTo>
                        <a:pt x="563" y="142"/>
                      </a:lnTo>
                      <a:lnTo>
                        <a:pt x="561" y="147"/>
                      </a:lnTo>
                      <a:lnTo>
                        <a:pt x="558" y="152"/>
                      </a:lnTo>
                      <a:lnTo>
                        <a:pt x="556" y="161"/>
                      </a:lnTo>
                      <a:lnTo>
                        <a:pt x="556" y="175"/>
                      </a:lnTo>
                      <a:lnTo>
                        <a:pt x="558" y="187"/>
                      </a:lnTo>
                      <a:lnTo>
                        <a:pt x="562" y="201"/>
                      </a:lnTo>
                      <a:lnTo>
                        <a:pt x="568" y="214"/>
                      </a:lnTo>
                      <a:lnTo>
                        <a:pt x="573" y="213"/>
                      </a:lnTo>
                      <a:lnTo>
                        <a:pt x="579" y="212"/>
                      </a:lnTo>
                      <a:lnTo>
                        <a:pt x="584" y="209"/>
                      </a:lnTo>
                      <a:lnTo>
                        <a:pt x="588" y="207"/>
                      </a:lnTo>
                      <a:lnTo>
                        <a:pt x="593" y="206"/>
                      </a:lnTo>
                      <a:lnTo>
                        <a:pt x="598" y="205"/>
                      </a:lnTo>
                      <a:lnTo>
                        <a:pt x="605" y="206"/>
                      </a:lnTo>
                      <a:lnTo>
                        <a:pt x="611" y="208"/>
                      </a:lnTo>
                      <a:lnTo>
                        <a:pt x="615" y="216"/>
                      </a:lnTo>
                      <a:lnTo>
                        <a:pt x="616" y="222"/>
                      </a:lnTo>
                      <a:lnTo>
                        <a:pt x="617" y="229"/>
                      </a:lnTo>
                      <a:lnTo>
                        <a:pt x="617" y="237"/>
                      </a:lnTo>
                      <a:lnTo>
                        <a:pt x="611" y="243"/>
                      </a:lnTo>
                      <a:lnTo>
                        <a:pt x="606" y="248"/>
                      </a:lnTo>
                      <a:lnTo>
                        <a:pt x="600" y="253"/>
                      </a:lnTo>
                      <a:lnTo>
                        <a:pt x="594" y="259"/>
                      </a:lnTo>
                      <a:lnTo>
                        <a:pt x="590" y="271"/>
                      </a:lnTo>
                      <a:lnTo>
                        <a:pt x="586" y="286"/>
                      </a:lnTo>
                      <a:lnTo>
                        <a:pt x="585" y="300"/>
                      </a:lnTo>
                      <a:lnTo>
                        <a:pt x="591" y="313"/>
                      </a:lnTo>
                      <a:lnTo>
                        <a:pt x="596" y="314"/>
                      </a:lnTo>
                      <a:lnTo>
                        <a:pt x="601" y="314"/>
                      </a:lnTo>
                      <a:lnTo>
                        <a:pt x="606" y="314"/>
                      </a:lnTo>
                      <a:lnTo>
                        <a:pt x="610" y="313"/>
                      </a:lnTo>
                      <a:lnTo>
                        <a:pt x="615" y="313"/>
                      </a:lnTo>
                      <a:lnTo>
                        <a:pt x="620" y="313"/>
                      </a:lnTo>
                      <a:lnTo>
                        <a:pt x="625" y="314"/>
                      </a:lnTo>
                      <a:lnTo>
                        <a:pt x="631" y="315"/>
                      </a:lnTo>
                      <a:lnTo>
                        <a:pt x="633" y="327"/>
                      </a:lnTo>
                      <a:lnTo>
                        <a:pt x="635" y="336"/>
                      </a:lnTo>
                      <a:lnTo>
                        <a:pt x="633" y="344"/>
                      </a:lnTo>
                      <a:lnTo>
                        <a:pt x="629" y="353"/>
                      </a:lnTo>
                      <a:lnTo>
                        <a:pt x="622" y="356"/>
                      </a:lnTo>
                      <a:lnTo>
                        <a:pt x="616" y="358"/>
                      </a:lnTo>
                      <a:lnTo>
                        <a:pt x="610" y="361"/>
                      </a:lnTo>
                      <a:lnTo>
                        <a:pt x="603" y="366"/>
                      </a:lnTo>
                      <a:lnTo>
                        <a:pt x="598" y="379"/>
                      </a:lnTo>
                      <a:lnTo>
                        <a:pt x="593" y="388"/>
                      </a:lnTo>
                      <a:lnTo>
                        <a:pt x="592" y="397"/>
                      </a:lnTo>
                      <a:lnTo>
                        <a:pt x="593" y="412"/>
                      </a:lnTo>
                      <a:lnTo>
                        <a:pt x="598" y="413"/>
                      </a:lnTo>
                      <a:lnTo>
                        <a:pt x="603" y="414"/>
                      </a:lnTo>
                      <a:lnTo>
                        <a:pt x="608" y="417"/>
                      </a:lnTo>
                      <a:lnTo>
                        <a:pt x="613" y="418"/>
                      </a:lnTo>
                      <a:lnTo>
                        <a:pt x="613" y="422"/>
                      </a:lnTo>
                      <a:lnTo>
                        <a:pt x="613" y="426"/>
                      </a:lnTo>
                      <a:lnTo>
                        <a:pt x="611" y="429"/>
                      </a:lnTo>
                      <a:lnTo>
                        <a:pt x="610" y="435"/>
                      </a:lnTo>
                      <a:lnTo>
                        <a:pt x="606" y="440"/>
                      </a:lnTo>
                      <a:lnTo>
                        <a:pt x="601" y="442"/>
                      </a:lnTo>
                      <a:lnTo>
                        <a:pt x="598" y="443"/>
                      </a:lnTo>
                      <a:lnTo>
                        <a:pt x="594" y="444"/>
                      </a:lnTo>
                      <a:lnTo>
                        <a:pt x="590" y="444"/>
                      </a:lnTo>
                      <a:lnTo>
                        <a:pt x="585" y="444"/>
                      </a:lnTo>
                      <a:lnTo>
                        <a:pt x="580" y="445"/>
                      </a:lnTo>
                      <a:lnTo>
                        <a:pt x="575" y="447"/>
                      </a:lnTo>
                      <a:lnTo>
                        <a:pt x="577" y="456"/>
                      </a:lnTo>
                      <a:lnTo>
                        <a:pt x="577" y="462"/>
                      </a:lnTo>
                      <a:lnTo>
                        <a:pt x="573" y="466"/>
                      </a:lnTo>
                      <a:lnTo>
                        <a:pt x="565" y="471"/>
                      </a:lnTo>
                      <a:lnTo>
                        <a:pt x="560" y="471"/>
                      </a:lnTo>
                      <a:lnTo>
                        <a:pt x="556" y="470"/>
                      </a:lnTo>
                      <a:lnTo>
                        <a:pt x="553" y="467"/>
                      </a:lnTo>
                      <a:lnTo>
                        <a:pt x="548" y="464"/>
                      </a:lnTo>
                      <a:lnTo>
                        <a:pt x="540" y="465"/>
                      </a:lnTo>
                      <a:lnTo>
                        <a:pt x="534" y="465"/>
                      </a:lnTo>
                      <a:lnTo>
                        <a:pt x="529" y="467"/>
                      </a:lnTo>
                      <a:lnTo>
                        <a:pt x="524" y="470"/>
                      </a:lnTo>
                      <a:lnTo>
                        <a:pt x="519" y="473"/>
                      </a:lnTo>
                      <a:lnTo>
                        <a:pt x="516" y="478"/>
                      </a:lnTo>
                      <a:lnTo>
                        <a:pt x="512" y="485"/>
                      </a:lnTo>
                      <a:lnTo>
                        <a:pt x="508" y="492"/>
                      </a:lnTo>
                      <a:lnTo>
                        <a:pt x="508" y="508"/>
                      </a:lnTo>
                      <a:lnTo>
                        <a:pt x="509" y="518"/>
                      </a:lnTo>
                      <a:lnTo>
                        <a:pt x="510" y="527"/>
                      </a:lnTo>
                      <a:lnTo>
                        <a:pt x="510" y="539"/>
                      </a:lnTo>
                      <a:lnTo>
                        <a:pt x="503" y="547"/>
                      </a:lnTo>
                      <a:lnTo>
                        <a:pt x="499" y="550"/>
                      </a:lnTo>
                      <a:lnTo>
                        <a:pt x="492" y="553"/>
                      </a:lnTo>
                      <a:lnTo>
                        <a:pt x="481" y="553"/>
                      </a:lnTo>
                      <a:lnTo>
                        <a:pt x="478" y="546"/>
                      </a:lnTo>
                      <a:lnTo>
                        <a:pt x="474" y="540"/>
                      </a:lnTo>
                      <a:lnTo>
                        <a:pt x="470" y="535"/>
                      </a:lnTo>
                      <a:lnTo>
                        <a:pt x="464" y="530"/>
                      </a:lnTo>
                      <a:lnTo>
                        <a:pt x="457" y="531"/>
                      </a:lnTo>
                      <a:lnTo>
                        <a:pt x="450" y="532"/>
                      </a:lnTo>
                      <a:lnTo>
                        <a:pt x="444" y="533"/>
                      </a:lnTo>
                      <a:lnTo>
                        <a:pt x="440" y="536"/>
                      </a:lnTo>
                      <a:lnTo>
                        <a:pt x="435" y="540"/>
                      </a:lnTo>
                      <a:lnTo>
                        <a:pt x="432" y="545"/>
                      </a:lnTo>
                      <a:lnTo>
                        <a:pt x="428" y="549"/>
                      </a:lnTo>
                      <a:lnTo>
                        <a:pt x="425" y="556"/>
                      </a:lnTo>
                      <a:lnTo>
                        <a:pt x="424" y="565"/>
                      </a:lnTo>
                      <a:lnTo>
                        <a:pt x="424" y="574"/>
                      </a:lnTo>
                      <a:lnTo>
                        <a:pt x="424" y="584"/>
                      </a:lnTo>
                      <a:lnTo>
                        <a:pt x="424" y="593"/>
                      </a:lnTo>
                      <a:lnTo>
                        <a:pt x="419" y="600"/>
                      </a:lnTo>
                      <a:lnTo>
                        <a:pt x="414" y="606"/>
                      </a:lnTo>
                      <a:lnTo>
                        <a:pt x="410" y="610"/>
                      </a:lnTo>
                      <a:lnTo>
                        <a:pt x="405" y="614"/>
                      </a:lnTo>
                      <a:lnTo>
                        <a:pt x="399" y="616"/>
                      </a:lnTo>
                      <a:lnTo>
                        <a:pt x="393" y="617"/>
                      </a:lnTo>
                      <a:lnTo>
                        <a:pt x="386" y="616"/>
                      </a:lnTo>
                      <a:lnTo>
                        <a:pt x="376" y="6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364" name="Google Shape;364;p8"/>
                <p:cNvSpPr/>
                <p:nvPr/>
              </p:nvSpPr>
              <p:spPr>
                <a:xfrm rot="-10405104">
                  <a:off x="4114" y="3254"/>
                  <a:ext cx="93" cy="63"/>
                </a:xfrm>
                <a:custGeom>
                  <a:rect b="b" l="l" r="r" t="t"/>
                  <a:pathLst>
                    <a:path extrusionOk="0" h="127" w="186">
                      <a:moveTo>
                        <a:pt x="9" y="98"/>
                      </a:moveTo>
                      <a:lnTo>
                        <a:pt x="7" y="97"/>
                      </a:lnTo>
                      <a:lnTo>
                        <a:pt x="6" y="96"/>
                      </a:lnTo>
                      <a:lnTo>
                        <a:pt x="4" y="91"/>
                      </a:lnTo>
                      <a:lnTo>
                        <a:pt x="0" y="83"/>
                      </a:lnTo>
                      <a:lnTo>
                        <a:pt x="0" y="80"/>
                      </a:lnTo>
                      <a:lnTo>
                        <a:pt x="3" y="73"/>
                      </a:lnTo>
                      <a:lnTo>
                        <a:pt x="6" y="61"/>
                      </a:lnTo>
                      <a:lnTo>
                        <a:pt x="15" y="38"/>
                      </a:lnTo>
                      <a:lnTo>
                        <a:pt x="20" y="29"/>
                      </a:lnTo>
                      <a:lnTo>
                        <a:pt x="27" y="18"/>
                      </a:lnTo>
                      <a:lnTo>
                        <a:pt x="35" y="11"/>
                      </a:lnTo>
                      <a:lnTo>
                        <a:pt x="44" y="13"/>
                      </a:lnTo>
                      <a:lnTo>
                        <a:pt x="53" y="12"/>
                      </a:lnTo>
                      <a:lnTo>
                        <a:pt x="62" y="11"/>
                      </a:lnTo>
                      <a:lnTo>
                        <a:pt x="70" y="9"/>
                      </a:lnTo>
                      <a:lnTo>
                        <a:pt x="78" y="7"/>
                      </a:lnTo>
                      <a:lnTo>
                        <a:pt x="86" y="5"/>
                      </a:lnTo>
                      <a:lnTo>
                        <a:pt x="94" y="3"/>
                      </a:lnTo>
                      <a:lnTo>
                        <a:pt x="102" y="1"/>
                      </a:lnTo>
                      <a:lnTo>
                        <a:pt x="110" y="0"/>
                      </a:lnTo>
                      <a:lnTo>
                        <a:pt x="118" y="4"/>
                      </a:lnTo>
                      <a:lnTo>
                        <a:pt x="127" y="9"/>
                      </a:lnTo>
                      <a:lnTo>
                        <a:pt x="138" y="18"/>
                      </a:lnTo>
                      <a:lnTo>
                        <a:pt x="149" y="27"/>
                      </a:lnTo>
                      <a:lnTo>
                        <a:pt x="159" y="37"/>
                      </a:lnTo>
                      <a:lnTo>
                        <a:pt x="170" y="46"/>
                      </a:lnTo>
                      <a:lnTo>
                        <a:pt x="179" y="54"/>
                      </a:lnTo>
                      <a:lnTo>
                        <a:pt x="186" y="61"/>
                      </a:lnTo>
                      <a:lnTo>
                        <a:pt x="162" y="97"/>
                      </a:lnTo>
                      <a:lnTo>
                        <a:pt x="134" y="118"/>
                      </a:lnTo>
                      <a:lnTo>
                        <a:pt x="105" y="127"/>
                      </a:lnTo>
                      <a:lnTo>
                        <a:pt x="76" y="126"/>
                      </a:lnTo>
                      <a:lnTo>
                        <a:pt x="50" y="120"/>
                      </a:lnTo>
                      <a:lnTo>
                        <a:pt x="28" y="112"/>
                      </a:lnTo>
                      <a:lnTo>
                        <a:pt x="14" y="104"/>
                      </a:lnTo>
                      <a:lnTo>
                        <a:pt x="9" y="9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365" name="Google Shape;365;p8"/>
                <p:cNvSpPr/>
                <p:nvPr/>
              </p:nvSpPr>
              <p:spPr>
                <a:xfrm rot="-10405104">
                  <a:off x="4129" y="3264"/>
                  <a:ext cx="68" cy="44"/>
                </a:xfrm>
                <a:custGeom>
                  <a:rect b="b" l="l" r="r" t="t"/>
                  <a:pathLst>
                    <a:path extrusionOk="0" h="86" w="136">
                      <a:moveTo>
                        <a:pt x="0" y="61"/>
                      </a:moveTo>
                      <a:lnTo>
                        <a:pt x="7" y="47"/>
                      </a:lnTo>
                      <a:lnTo>
                        <a:pt x="14" y="33"/>
                      </a:lnTo>
                      <a:lnTo>
                        <a:pt x="21" y="20"/>
                      </a:lnTo>
                      <a:lnTo>
                        <a:pt x="30" y="8"/>
                      </a:lnTo>
                      <a:lnTo>
                        <a:pt x="41" y="8"/>
                      </a:lnTo>
                      <a:lnTo>
                        <a:pt x="49" y="8"/>
                      </a:lnTo>
                      <a:lnTo>
                        <a:pt x="58" y="7"/>
                      </a:lnTo>
                      <a:lnTo>
                        <a:pt x="66" y="6"/>
                      </a:lnTo>
                      <a:lnTo>
                        <a:pt x="74" y="3"/>
                      </a:lnTo>
                      <a:lnTo>
                        <a:pt x="82" y="2"/>
                      </a:lnTo>
                      <a:lnTo>
                        <a:pt x="90" y="1"/>
                      </a:lnTo>
                      <a:lnTo>
                        <a:pt x="99" y="0"/>
                      </a:lnTo>
                      <a:lnTo>
                        <a:pt x="104" y="6"/>
                      </a:lnTo>
                      <a:lnTo>
                        <a:pt x="107" y="10"/>
                      </a:lnTo>
                      <a:lnTo>
                        <a:pt x="112" y="15"/>
                      </a:lnTo>
                      <a:lnTo>
                        <a:pt x="117" y="20"/>
                      </a:lnTo>
                      <a:lnTo>
                        <a:pt x="121" y="23"/>
                      </a:lnTo>
                      <a:lnTo>
                        <a:pt x="126" y="28"/>
                      </a:lnTo>
                      <a:lnTo>
                        <a:pt x="130" y="31"/>
                      </a:lnTo>
                      <a:lnTo>
                        <a:pt x="136" y="36"/>
                      </a:lnTo>
                      <a:lnTo>
                        <a:pt x="128" y="47"/>
                      </a:lnTo>
                      <a:lnTo>
                        <a:pt x="122" y="58"/>
                      </a:lnTo>
                      <a:lnTo>
                        <a:pt x="118" y="68"/>
                      </a:lnTo>
                      <a:lnTo>
                        <a:pt x="110" y="76"/>
                      </a:lnTo>
                      <a:lnTo>
                        <a:pt x="99" y="78"/>
                      </a:lnTo>
                      <a:lnTo>
                        <a:pt x="84" y="82"/>
                      </a:lnTo>
                      <a:lnTo>
                        <a:pt x="66" y="84"/>
                      </a:lnTo>
                      <a:lnTo>
                        <a:pt x="46" y="86"/>
                      </a:lnTo>
                      <a:lnTo>
                        <a:pt x="28" y="85"/>
                      </a:lnTo>
                      <a:lnTo>
                        <a:pt x="13" y="82"/>
                      </a:lnTo>
                      <a:lnTo>
                        <a:pt x="2" y="74"/>
                      </a:lnTo>
                      <a:lnTo>
                        <a:pt x="0" y="61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366" name="Google Shape;366;p8"/>
                <p:cNvSpPr/>
                <p:nvPr/>
              </p:nvSpPr>
              <p:spPr>
                <a:xfrm rot="-10405104">
                  <a:off x="4198" y="3313"/>
                  <a:ext cx="60" cy="85"/>
                </a:xfrm>
                <a:custGeom>
                  <a:rect b="b" l="l" r="r" t="t"/>
                  <a:pathLst>
                    <a:path extrusionOk="0" h="170" w="120">
                      <a:moveTo>
                        <a:pt x="33" y="167"/>
                      </a:moveTo>
                      <a:lnTo>
                        <a:pt x="29" y="164"/>
                      </a:lnTo>
                      <a:lnTo>
                        <a:pt x="27" y="160"/>
                      </a:lnTo>
                      <a:lnTo>
                        <a:pt x="23" y="157"/>
                      </a:lnTo>
                      <a:lnTo>
                        <a:pt x="20" y="153"/>
                      </a:lnTo>
                      <a:lnTo>
                        <a:pt x="13" y="150"/>
                      </a:lnTo>
                      <a:lnTo>
                        <a:pt x="7" y="137"/>
                      </a:lnTo>
                      <a:lnTo>
                        <a:pt x="3" y="117"/>
                      </a:lnTo>
                      <a:lnTo>
                        <a:pt x="0" y="93"/>
                      </a:lnTo>
                      <a:lnTo>
                        <a:pt x="2" y="68"/>
                      </a:lnTo>
                      <a:lnTo>
                        <a:pt x="5" y="43"/>
                      </a:lnTo>
                      <a:lnTo>
                        <a:pt x="13" y="18"/>
                      </a:lnTo>
                      <a:lnTo>
                        <a:pt x="26" y="0"/>
                      </a:lnTo>
                      <a:lnTo>
                        <a:pt x="33" y="3"/>
                      </a:lnTo>
                      <a:lnTo>
                        <a:pt x="40" y="7"/>
                      </a:lnTo>
                      <a:lnTo>
                        <a:pt x="45" y="9"/>
                      </a:lnTo>
                      <a:lnTo>
                        <a:pt x="52" y="13"/>
                      </a:lnTo>
                      <a:lnTo>
                        <a:pt x="57" y="16"/>
                      </a:lnTo>
                      <a:lnTo>
                        <a:pt x="63" y="20"/>
                      </a:lnTo>
                      <a:lnTo>
                        <a:pt x="68" y="24"/>
                      </a:lnTo>
                      <a:lnTo>
                        <a:pt x="74" y="29"/>
                      </a:lnTo>
                      <a:lnTo>
                        <a:pt x="82" y="32"/>
                      </a:lnTo>
                      <a:lnTo>
                        <a:pt x="89" y="35"/>
                      </a:lnTo>
                      <a:lnTo>
                        <a:pt x="96" y="38"/>
                      </a:lnTo>
                      <a:lnTo>
                        <a:pt x="103" y="40"/>
                      </a:lnTo>
                      <a:lnTo>
                        <a:pt x="109" y="44"/>
                      </a:lnTo>
                      <a:lnTo>
                        <a:pt x="113" y="48"/>
                      </a:lnTo>
                      <a:lnTo>
                        <a:pt x="117" y="54"/>
                      </a:lnTo>
                      <a:lnTo>
                        <a:pt x="119" y="62"/>
                      </a:lnTo>
                      <a:lnTo>
                        <a:pt x="113" y="71"/>
                      </a:lnTo>
                      <a:lnTo>
                        <a:pt x="111" y="81"/>
                      </a:lnTo>
                      <a:lnTo>
                        <a:pt x="112" y="91"/>
                      </a:lnTo>
                      <a:lnTo>
                        <a:pt x="116" y="100"/>
                      </a:lnTo>
                      <a:lnTo>
                        <a:pt x="119" y="109"/>
                      </a:lnTo>
                      <a:lnTo>
                        <a:pt x="120" y="119"/>
                      </a:lnTo>
                      <a:lnTo>
                        <a:pt x="120" y="128"/>
                      </a:lnTo>
                      <a:lnTo>
                        <a:pt x="116" y="135"/>
                      </a:lnTo>
                      <a:lnTo>
                        <a:pt x="104" y="139"/>
                      </a:lnTo>
                      <a:lnTo>
                        <a:pt x="94" y="146"/>
                      </a:lnTo>
                      <a:lnTo>
                        <a:pt x="83" y="153"/>
                      </a:lnTo>
                      <a:lnTo>
                        <a:pt x="73" y="160"/>
                      </a:lnTo>
                      <a:lnTo>
                        <a:pt x="63" y="166"/>
                      </a:lnTo>
                      <a:lnTo>
                        <a:pt x="53" y="169"/>
                      </a:lnTo>
                      <a:lnTo>
                        <a:pt x="43" y="170"/>
                      </a:lnTo>
                      <a:lnTo>
                        <a:pt x="33" y="16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367" name="Google Shape;367;p8"/>
                <p:cNvSpPr/>
                <p:nvPr/>
              </p:nvSpPr>
              <p:spPr>
                <a:xfrm rot="-10405104">
                  <a:off x="4067" y="3304"/>
                  <a:ext cx="55" cy="95"/>
                </a:xfrm>
                <a:custGeom>
                  <a:rect b="b" l="l" r="r" t="t"/>
                  <a:pathLst>
                    <a:path extrusionOk="0" h="189" w="109">
                      <a:moveTo>
                        <a:pt x="6" y="145"/>
                      </a:moveTo>
                      <a:lnTo>
                        <a:pt x="4" y="137"/>
                      </a:lnTo>
                      <a:lnTo>
                        <a:pt x="3" y="129"/>
                      </a:lnTo>
                      <a:lnTo>
                        <a:pt x="1" y="117"/>
                      </a:lnTo>
                      <a:lnTo>
                        <a:pt x="0" y="99"/>
                      </a:lnTo>
                      <a:lnTo>
                        <a:pt x="0" y="90"/>
                      </a:lnTo>
                      <a:lnTo>
                        <a:pt x="1" y="82"/>
                      </a:lnTo>
                      <a:lnTo>
                        <a:pt x="1" y="74"/>
                      </a:lnTo>
                      <a:lnTo>
                        <a:pt x="1" y="66"/>
                      </a:lnTo>
                      <a:lnTo>
                        <a:pt x="6" y="59"/>
                      </a:lnTo>
                      <a:lnTo>
                        <a:pt x="11" y="51"/>
                      </a:lnTo>
                      <a:lnTo>
                        <a:pt x="19" y="40"/>
                      </a:lnTo>
                      <a:lnTo>
                        <a:pt x="26" y="29"/>
                      </a:lnTo>
                      <a:lnTo>
                        <a:pt x="34" y="18"/>
                      </a:lnTo>
                      <a:lnTo>
                        <a:pt x="42" y="9"/>
                      </a:lnTo>
                      <a:lnTo>
                        <a:pt x="51" y="3"/>
                      </a:lnTo>
                      <a:lnTo>
                        <a:pt x="57" y="0"/>
                      </a:lnTo>
                      <a:lnTo>
                        <a:pt x="59" y="1"/>
                      </a:lnTo>
                      <a:lnTo>
                        <a:pt x="59" y="2"/>
                      </a:lnTo>
                      <a:lnTo>
                        <a:pt x="59" y="3"/>
                      </a:lnTo>
                      <a:lnTo>
                        <a:pt x="59" y="4"/>
                      </a:lnTo>
                      <a:lnTo>
                        <a:pt x="76" y="17"/>
                      </a:lnTo>
                      <a:lnTo>
                        <a:pt x="89" y="29"/>
                      </a:lnTo>
                      <a:lnTo>
                        <a:pt x="98" y="41"/>
                      </a:lnTo>
                      <a:lnTo>
                        <a:pt x="104" y="53"/>
                      </a:lnTo>
                      <a:lnTo>
                        <a:pt x="107" y="68"/>
                      </a:lnTo>
                      <a:lnTo>
                        <a:pt x="108" y="83"/>
                      </a:lnTo>
                      <a:lnTo>
                        <a:pt x="109" y="101"/>
                      </a:lnTo>
                      <a:lnTo>
                        <a:pt x="108" y="123"/>
                      </a:lnTo>
                      <a:lnTo>
                        <a:pt x="106" y="138"/>
                      </a:lnTo>
                      <a:lnTo>
                        <a:pt x="102" y="154"/>
                      </a:lnTo>
                      <a:lnTo>
                        <a:pt x="99" y="169"/>
                      </a:lnTo>
                      <a:lnTo>
                        <a:pt x="97" y="185"/>
                      </a:lnTo>
                      <a:lnTo>
                        <a:pt x="90" y="189"/>
                      </a:lnTo>
                      <a:lnTo>
                        <a:pt x="79" y="186"/>
                      </a:lnTo>
                      <a:lnTo>
                        <a:pt x="65" y="182"/>
                      </a:lnTo>
                      <a:lnTo>
                        <a:pt x="51" y="175"/>
                      </a:lnTo>
                      <a:lnTo>
                        <a:pt x="36" y="166"/>
                      </a:lnTo>
                      <a:lnTo>
                        <a:pt x="22" y="158"/>
                      </a:lnTo>
                      <a:lnTo>
                        <a:pt x="11" y="151"/>
                      </a:lnTo>
                      <a:lnTo>
                        <a:pt x="6" y="14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368" name="Google Shape;368;p8"/>
                <p:cNvSpPr/>
                <p:nvPr/>
              </p:nvSpPr>
              <p:spPr>
                <a:xfrm rot="-10405104">
                  <a:off x="4206" y="3320"/>
                  <a:ext cx="43" cy="67"/>
                </a:xfrm>
                <a:custGeom>
                  <a:rect b="b" l="l" r="r" t="t"/>
                  <a:pathLst>
                    <a:path extrusionOk="0" h="135" w="85">
                      <a:moveTo>
                        <a:pt x="20" y="0"/>
                      </a:moveTo>
                      <a:lnTo>
                        <a:pt x="27" y="2"/>
                      </a:lnTo>
                      <a:lnTo>
                        <a:pt x="34" y="7"/>
                      </a:lnTo>
                      <a:lnTo>
                        <a:pt x="42" y="10"/>
                      </a:lnTo>
                      <a:lnTo>
                        <a:pt x="51" y="16"/>
                      </a:lnTo>
                      <a:lnTo>
                        <a:pt x="59" y="21"/>
                      </a:lnTo>
                      <a:lnTo>
                        <a:pt x="66" y="26"/>
                      </a:lnTo>
                      <a:lnTo>
                        <a:pt x="73" y="32"/>
                      </a:lnTo>
                      <a:lnTo>
                        <a:pt x="78" y="37"/>
                      </a:lnTo>
                      <a:lnTo>
                        <a:pt x="79" y="52"/>
                      </a:lnTo>
                      <a:lnTo>
                        <a:pt x="81" y="67"/>
                      </a:lnTo>
                      <a:lnTo>
                        <a:pt x="82" y="83"/>
                      </a:lnTo>
                      <a:lnTo>
                        <a:pt x="85" y="98"/>
                      </a:lnTo>
                      <a:lnTo>
                        <a:pt x="82" y="100"/>
                      </a:lnTo>
                      <a:lnTo>
                        <a:pt x="80" y="101"/>
                      </a:lnTo>
                      <a:lnTo>
                        <a:pt x="78" y="104"/>
                      </a:lnTo>
                      <a:lnTo>
                        <a:pt x="73" y="107"/>
                      </a:lnTo>
                      <a:lnTo>
                        <a:pt x="66" y="110"/>
                      </a:lnTo>
                      <a:lnTo>
                        <a:pt x="56" y="116"/>
                      </a:lnTo>
                      <a:lnTo>
                        <a:pt x="43" y="124"/>
                      </a:lnTo>
                      <a:lnTo>
                        <a:pt x="25" y="135"/>
                      </a:lnTo>
                      <a:lnTo>
                        <a:pt x="13" y="129"/>
                      </a:lnTo>
                      <a:lnTo>
                        <a:pt x="5" y="114"/>
                      </a:lnTo>
                      <a:lnTo>
                        <a:pt x="1" y="93"/>
                      </a:lnTo>
                      <a:lnTo>
                        <a:pt x="0" y="69"/>
                      </a:lnTo>
                      <a:lnTo>
                        <a:pt x="1" y="45"/>
                      </a:lnTo>
                      <a:lnTo>
                        <a:pt x="5" y="23"/>
                      </a:lnTo>
                      <a:lnTo>
                        <a:pt x="12" y="7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369" name="Google Shape;369;p8"/>
                <p:cNvSpPr/>
                <p:nvPr/>
              </p:nvSpPr>
              <p:spPr>
                <a:xfrm rot="-10405104">
                  <a:off x="4077" y="3317"/>
                  <a:ext cx="39" cy="65"/>
                </a:xfrm>
                <a:custGeom>
                  <a:rect b="b" l="l" r="r" t="t"/>
                  <a:pathLst>
                    <a:path extrusionOk="0" h="131" w="77">
                      <a:moveTo>
                        <a:pt x="1" y="96"/>
                      </a:moveTo>
                      <a:lnTo>
                        <a:pt x="1" y="83"/>
                      </a:lnTo>
                      <a:lnTo>
                        <a:pt x="1" y="72"/>
                      </a:lnTo>
                      <a:lnTo>
                        <a:pt x="0" y="59"/>
                      </a:lnTo>
                      <a:lnTo>
                        <a:pt x="0" y="46"/>
                      </a:lnTo>
                      <a:lnTo>
                        <a:pt x="8" y="43"/>
                      </a:lnTo>
                      <a:lnTo>
                        <a:pt x="16" y="37"/>
                      </a:lnTo>
                      <a:lnTo>
                        <a:pt x="24" y="29"/>
                      </a:lnTo>
                      <a:lnTo>
                        <a:pt x="31" y="20"/>
                      </a:lnTo>
                      <a:lnTo>
                        <a:pt x="38" y="12"/>
                      </a:lnTo>
                      <a:lnTo>
                        <a:pt x="45" y="5"/>
                      </a:lnTo>
                      <a:lnTo>
                        <a:pt x="50" y="1"/>
                      </a:lnTo>
                      <a:lnTo>
                        <a:pt x="57" y="0"/>
                      </a:lnTo>
                      <a:lnTo>
                        <a:pt x="73" y="30"/>
                      </a:lnTo>
                      <a:lnTo>
                        <a:pt x="77" y="60"/>
                      </a:lnTo>
                      <a:lnTo>
                        <a:pt x="75" y="91"/>
                      </a:lnTo>
                      <a:lnTo>
                        <a:pt x="70" y="127"/>
                      </a:lnTo>
                      <a:lnTo>
                        <a:pt x="64" y="131"/>
                      </a:lnTo>
                      <a:lnTo>
                        <a:pt x="56" y="131"/>
                      </a:lnTo>
                      <a:lnTo>
                        <a:pt x="46" y="128"/>
                      </a:lnTo>
                      <a:lnTo>
                        <a:pt x="35" y="122"/>
                      </a:lnTo>
                      <a:lnTo>
                        <a:pt x="25" y="115"/>
                      </a:lnTo>
                      <a:lnTo>
                        <a:pt x="15" y="108"/>
                      </a:lnTo>
                      <a:lnTo>
                        <a:pt x="7" y="101"/>
                      </a:lnTo>
                      <a:lnTo>
                        <a:pt x="1" y="96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370" name="Google Shape;370;p8"/>
                <p:cNvSpPr/>
                <p:nvPr/>
              </p:nvSpPr>
              <p:spPr>
                <a:xfrm rot="-10405104">
                  <a:off x="4132" y="3378"/>
                  <a:ext cx="86" cy="69"/>
                </a:xfrm>
                <a:custGeom>
                  <a:rect b="b" l="l" r="r" t="t"/>
                  <a:pathLst>
                    <a:path extrusionOk="0" h="139" w="173">
                      <a:moveTo>
                        <a:pt x="63" y="124"/>
                      </a:moveTo>
                      <a:lnTo>
                        <a:pt x="60" y="111"/>
                      </a:lnTo>
                      <a:lnTo>
                        <a:pt x="58" y="104"/>
                      </a:lnTo>
                      <a:lnTo>
                        <a:pt x="55" y="98"/>
                      </a:lnTo>
                      <a:lnTo>
                        <a:pt x="52" y="90"/>
                      </a:lnTo>
                      <a:lnTo>
                        <a:pt x="46" y="86"/>
                      </a:lnTo>
                      <a:lnTo>
                        <a:pt x="39" y="78"/>
                      </a:lnTo>
                      <a:lnTo>
                        <a:pt x="30" y="70"/>
                      </a:lnTo>
                      <a:lnTo>
                        <a:pt x="21" y="60"/>
                      </a:lnTo>
                      <a:lnTo>
                        <a:pt x="13" y="50"/>
                      </a:lnTo>
                      <a:lnTo>
                        <a:pt x="6" y="41"/>
                      </a:lnTo>
                      <a:lnTo>
                        <a:pt x="1" y="33"/>
                      </a:lnTo>
                      <a:lnTo>
                        <a:pt x="0" y="27"/>
                      </a:lnTo>
                      <a:lnTo>
                        <a:pt x="5" y="27"/>
                      </a:lnTo>
                      <a:lnTo>
                        <a:pt x="9" y="27"/>
                      </a:lnTo>
                      <a:lnTo>
                        <a:pt x="17" y="25"/>
                      </a:lnTo>
                      <a:lnTo>
                        <a:pt x="32" y="21"/>
                      </a:lnTo>
                      <a:lnTo>
                        <a:pt x="46" y="15"/>
                      </a:lnTo>
                      <a:lnTo>
                        <a:pt x="66" y="10"/>
                      </a:lnTo>
                      <a:lnTo>
                        <a:pt x="88" y="4"/>
                      </a:lnTo>
                      <a:lnTo>
                        <a:pt x="111" y="0"/>
                      </a:lnTo>
                      <a:lnTo>
                        <a:pt x="133" y="2"/>
                      </a:lnTo>
                      <a:lnTo>
                        <a:pt x="152" y="5"/>
                      </a:lnTo>
                      <a:lnTo>
                        <a:pt x="166" y="15"/>
                      </a:lnTo>
                      <a:lnTo>
                        <a:pt x="173" y="33"/>
                      </a:lnTo>
                      <a:lnTo>
                        <a:pt x="168" y="52"/>
                      </a:lnTo>
                      <a:lnTo>
                        <a:pt x="165" y="70"/>
                      </a:lnTo>
                      <a:lnTo>
                        <a:pt x="161" y="88"/>
                      </a:lnTo>
                      <a:lnTo>
                        <a:pt x="159" y="108"/>
                      </a:lnTo>
                      <a:lnTo>
                        <a:pt x="156" y="121"/>
                      </a:lnTo>
                      <a:lnTo>
                        <a:pt x="151" y="135"/>
                      </a:lnTo>
                      <a:lnTo>
                        <a:pt x="146" y="139"/>
                      </a:lnTo>
                      <a:lnTo>
                        <a:pt x="141" y="123"/>
                      </a:lnTo>
                      <a:lnTo>
                        <a:pt x="129" y="124"/>
                      </a:lnTo>
                      <a:lnTo>
                        <a:pt x="118" y="126"/>
                      </a:lnTo>
                      <a:lnTo>
                        <a:pt x="106" y="128"/>
                      </a:lnTo>
                      <a:lnTo>
                        <a:pt x="95" y="131"/>
                      </a:lnTo>
                      <a:lnTo>
                        <a:pt x="84" y="132"/>
                      </a:lnTo>
                      <a:lnTo>
                        <a:pt x="75" y="132"/>
                      </a:lnTo>
                      <a:lnTo>
                        <a:pt x="68" y="130"/>
                      </a:lnTo>
                      <a:lnTo>
                        <a:pt x="63" y="12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371" name="Google Shape;371;p8"/>
                <p:cNvSpPr/>
                <p:nvPr/>
              </p:nvSpPr>
              <p:spPr>
                <a:xfrm rot="-10405104">
                  <a:off x="4141" y="3390"/>
                  <a:ext cx="60" cy="49"/>
                </a:xfrm>
                <a:custGeom>
                  <a:rect b="b" l="l" r="r" t="t"/>
                  <a:pathLst>
                    <a:path extrusionOk="0" h="98" w="121">
                      <a:moveTo>
                        <a:pt x="19" y="50"/>
                      </a:moveTo>
                      <a:lnTo>
                        <a:pt x="15" y="43"/>
                      </a:lnTo>
                      <a:lnTo>
                        <a:pt x="15" y="31"/>
                      </a:lnTo>
                      <a:lnTo>
                        <a:pt x="12" y="23"/>
                      </a:lnTo>
                      <a:lnTo>
                        <a:pt x="0" y="27"/>
                      </a:lnTo>
                      <a:lnTo>
                        <a:pt x="17" y="19"/>
                      </a:lnTo>
                      <a:lnTo>
                        <a:pt x="32" y="13"/>
                      </a:lnTo>
                      <a:lnTo>
                        <a:pt x="45" y="9"/>
                      </a:lnTo>
                      <a:lnTo>
                        <a:pt x="59" y="5"/>
                      </a:lnTo>
                      <a:lnTo>
                        <a:pt x="71" y="3"/>
                      </a:lnTo>
                      <a:lnTo>
                        <a:pt x="81" y="2"/>
                      </a:lnTo>
                      <a:lnTo>
                        <a:pt x="89" y="1"/>
                      </a:lnTo>
                      <a:lnTo>
                        <a:pt x="97" y="0"/>
                      </a:lnTo>
                      <a:lnTo>
                        <a:pt x="104" y="0"/>
                      </a:lnTo>
                      <a:lnTo>
                        <a:pt x="110" y="0"/>
                      </a:lnTo>
                      <a:lnTo>
                        <a:pt x="116" y="2"/>
                      </a:lnTo>
                      <a:lnTo>
                        <a:pt x="121" y="4"/>
                      </a:lnTo>
                      <a:lnTo>
                        <a:pt x="120" y="27"/>
                      </a:lnTo>
                      <a:lnTo>
                        <a:pt x="117" y="49"/>
                      </a:lnTo>
                      <a:lnTo>
                        <a:pt x="113" y="71"/>
                      </a:lnTo>
                      <a:lnTo>
                        <a:pt x="110" y="93"/>
                      </a:lnTo>
                      <a:lnTo>
                        <a:pt x="108" y="93"/>
                      </a:lnTo>
                      <a:lnTo>
                        <a:pt x="104" y="92"/>
                      </a:lnTo>
                      <a:lnTo>
                        <a:pt x="98" y="91"/>
                      </a:lnTo>
                      <a:lnTo>
                        <a:pt x="88" y="88"/>
                      </a:lnTo>
                      <a:lnTo>
                        <a:pt x="68" y="91"/>
                      </a:lnTo>
                      <a:lnTo>
                        <a:pt x="55" y="94"/>
                      </a:lnTo>
                      <a:lnTo>
                        <a:pt x="47" y="98"/>
                      </a:lnTo>
                      <a:lnTo>
                        <a:pt x="41" y="98"/>
                      </a:lnTo>
                      <a:lnTo>
                        <a:pt x="37" y="94"/>
                      </a:lnTo>
                      <a:lnTo>
                        <a:pt x="33" y="86"/>
                      </a:lnTo>
                      <a:lnTo>
                        <a:pt x="28" y="72"/>
                      </a:lnTo>
                      <a:lnTo>
                        <a:pt x="19" y="50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372" name="Google Shape;372;p8"/>
                <p:cNvSpPr/>
                <p:nvPr/>
              </p:nvSpPr>
              <p:spPr>
                <a:xfrm rot="-10405104">
                  <a:off x="4141" y="3323"/>
                  <a:ext cx="36" cy="44"/>
                </a:xfrm>
                <a:custGeom>
                  <a:rect b="b" l="l" r="r" t="t"/>
                  <a:pathLst>
                    <a:path extrusionOk="0" h="88" w="70">
                      <a:moveTo>
                        <a:pt x="10" y="83"/>
                      </a:moveTo>
                      <a:lnTo>
                        <a:pt x="9" y="81"/>
                      </a:lnTo>
                      <a:lnTo>
                        <a:pt x="8" y="79"/>
                      </a:lnTo>
                      <a:lnTo>
                        <a:pt x="6" y="76"/>
                      </a:lnTo>
                      <a:lnTo>
                        <a:pt x="4" y="74"/>
                      </a:lnTo>
                      <a:lnTo>
                        <a:pt x="0" y="54"/>
                      </a:lnTo>
                      <a:lnTo>
                        <a:pt x="0" y="34"/>
                      </a:lnTo>
                      <a:lnTo>
                        <a:pt x="6" y="14"/>
                      </a:lnTo>
                      <a:lnTo>
                        <a:pt x="19" y="0"/>
                      </a:lnTo>
                      <a:lnTo>
                        <a:pt x="37" y="1"/>
                      </a:lnTo>
                      <a:lnTo>
                        <a:pt x="49" y="4"/>
                      </a:lnTo>
                      <a:lnTo>
                        <a:pt x="60" y="8"/>
                      </a:lnTo>
                      <a:lnTo>
                        <a:pt x="67" y="14"/>
                      </a:lnTo>
                      <a:lnTo>
                        <a:pt x="70" y="23"/>
                      </a:lnTo>
                      <a:lnTo>
                        <a:pt x="70" y="35"/>
                      </a:lnTo>
                      <a:lnTo>
                        <a:pt x="68" y="49"/>
                      </a:lnTo>
                      <a:lnTo>
                        <a:pt x="63" y="66"/>
                      </a:lnTo>
                      <a:lnTo>
                        <a:pt x="57" y="73"/>
                      </a:lnTo>
                      <a:lnTo>
                        <a:pt x="53" y="78"/>
                      </a:lnTo>
                      <a:lnTo>
                        <a:pt x="47" y="82"/>
                      </a:lnTo>
                      <a:lnTo>
                        <a:pt x="41" y="86"/>
                      </a:lnTo>
                      <a:lnTo>
                        <a:pt x="34" y="87"/>
                      </a:lnTo>
                      <a:lnTo>
                        <a:pt x="27" y="88"/>
                      </a:lnTo>
                      <a:lnTo>
                        <a:pt x="19" y="87"/>
                      </a:lnTo>
                      <a:lnTo>
                        <a:pt x="10" y="8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373" name="Google Shape;373;p8"/>
                <p:cNvSpPr/>
                <p:nvPr/>
              </p:nvSpPr>
              <p:spPr>
                <a:xfrm rot="-10405104">
                  <a:off x="4145" y="3332"/>
                  <a:ext cx="27" cy="27"/>
                </a:xfrm>
                <a:custGeom>
                  <a:rect b="b" l="l" r="r" t="t"/>
                  <a:pathLst>
                    <a:path extrusionOk="0" h="54" w="54">
                      <a:moveTo>
                        <a:pt x="10" y="1"/>
                      </a:moveTo>
                      <a:lnTo>
                        <a:pt x="25" y="0"/>
                      </a:lnTo>
                      <a:lnTo>
                        <a:pt x="37" y="2"/>
                      </a:lnTo>
                      <a:lnTo>
                        <a:pt x="46" y="7"/>
                      </a:lnTo>
                      <a:lnTo>
                        <a:pt x="52" y="14"/>
                      </a:lnTo>
                      <a:lnTo>
                        <a:pt x="54" y="23"/>
                      </a:lnTo>
                      <a:lnTo>
                        <a:pt x="53" y="32"/>
                      </a:lnTo>
                      <a:lnTo>
                        <a:pt x="48" y="44"/>
                      </a:lnTo>
                      <a:lnTo>
                        <a:pt x="39" y="54"/>
                      </a:lnTo>
                      <a:lnTo>
                        <a:pt x="26" y="54"/>
                      </a:lnTo>
                      <a:lnTo>
                        <a:pt x="16" y="52"/>
                      </a:lnTo>
                      <a:lnTo>
                        <a:pt x="8" y="47"/>
                      </a:lnTo>
                      <a:lnTo>
                        <a:pt x="2" y="41"/>
                      </a:lnTo>
                      <a:lnTo>
                        <a:pt x="0" y="33"/>
                      </a:lnTo>
                      <a:lnTo>
                        <a:pt x="0" y="24"/>
                      </a:lnTo>
                      <a:lnTo>
                        <a:pt x="3" y="14"/>
                      </a:lnTo>
                      <a:lnTo>
                        <a:pt x="10" y="1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</p:grpSp>
        </p:grpSp>
        <p:cxnSp>
          <p:nvCxnSpPr>
            <p:cNvPr id="374" name="Google Shape;374;p8"/>
            <p:cNvCxnSpPr/>
            <p:nvPr/>
          </p:nvCxnSpPr>
          <p:spPr>
            <a:xfrm flipH="1" rot="10800000">
              <a:off x="4185" y="1431"/>
              <a:ext cx="111" cy="504"/>
            </a:xfrm>
            <a:prstGeom prst="straightConnector1">
              <a:avLst/>
            </a:prstGeom>
            <a:noFill/>
            <a:ln cap="flat" cmpd="sng" w="19050">
              <a:solidFill>
                <a:schemeClr val="hlink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75" name="Google Shape;375;p8"/>
            <p:cNvCxnSpPr/>
            <p:nvPr/>
          </p:nvCxnSpPr>
          <p:spPr>
            <a:xfrm rot="10800000">
              <a:off x="4056" y="1044"/>
              <a:ext cx="45" cy="906"/>
            </a:xfrm>
            <a:prstGeom prst="straightConnector1">
              <a:avLst/>
            </a:prstGeom>
            <a:noFill/>
            <a:ln cap="flat" cmpd="sng" w="19050">
              <a:solidFill>
                <a:schemeClr val="hlink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76" name="Google Shape;376;p8"/>
            <p:cNvCxnSpPr/>
            <p:nvPr/>
          </p:nvCxnSpPr>
          <p:spPr>
            <a:xfrm flipH="1" rot="10800000">
              <a:off x="4263" y="954"/>
              <a:ext cx="243" cy="999"/>
            </a:xfrm>
            <a:prstGeom prst="straightConnector1">
              <a:avLst/>
            </a:prstGeom>
            <a:noFill/>
            <a:ln cap="flat" cmpd="sng" w="19050">
              <a:solidFill>
                <a:schemeClr val="hlink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77" name="Google Shape;377;p8"/>
            <p:cNvCxnSpPr/>
            <p:nvPr/>
          </p:nvCxnSpPr>
          <p:spPr>
            <a:xfrm flipH="1" rot="10800000">
              <a:off x="4317" y="1440"/>
              <a:ext cx="447" cy="531"/>
            </a:xfrm>
            <a:prstGeom prst="straightConnector1">
              <a:avLst/>
            </a:prstGeom>
            <a:noFill/>
            <a:ln cap="flat" cmpd="sng" w="19050">
              <a:solidFill>
                <a:schemeClr val="hlink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378" name="Google Shape;378;p8"/>
            <p:cNvGrpSpPr/>
            <p:nvPr/>
          </p:nvGrpSpPr>
          <p:grpSpPr>
            <a:xfrm>
              <a:off x="4212" y="2968"/>
              <a:ext cx="528" cy="320"/>
              <a:chOff x="3920" y="2712"/>
              <a:chExt cx="528" cy="320"/>
            </a:xfrm>
          </p:grpSpPr>
          <p:sp>
            <p:nvSpPr>
              <p:cNvPr id="379" name="Google Shape;379;p8"/>
              <p:cNvSpPr/>
              <p:nvPr/>
            </p:nvSpPr>
            <p:spPr>
              <a:xfrm>
                <a:off x="3920" y="2712"/>
                <a:ext cx="528" cy="32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l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53975" lIns="107950" spcFirstLastPara="1" rIns="107950" wrap="square" tIns="539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3928" y="2712"/>
                <a:ext cx="512" cy="120"/>
              </a:xfrm>
              <a:prstGeom prst="rect">
                <a:avLst/>
              </a:prstGeom>
              <a:solidFill>
                <a:schemeClr val="lt2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53975" lIns="107950" spcFirstLastPara="1" rIns="107950" wrap="square" tIns="539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sp>
          <p:nvSpPr>
            <p:cNvPr id="381" name="Google Shape;381;p8"/>
            <p:cNvSpPr/>
            <p:nvPr/>
          </p:nvSpPr>
          <p:spPr>
            <a:xfrm>
              <a:off x="3940" y="2840"/>
              <a:ext cx="528" cy="32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3956" y="2857"/>
              <a:ext cx="512" cy="12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83" name="Google Shape;383;p8"/>
            <p:cNvSpPr/>
            <p:nvPr/>
          </p:nvSpPr>
          <p:spPr>
            <a:xfrm>
              <a:off x="4364" y="2896"/>
              <a:ext cx="528" cy="32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84" name="Google Shape;384;p8"/>
            <p:cNvSpPr/>
            <p:nvPr/>
          </p:nvSpPr>
          <p:spPr>
            <a:xfrm>
              <a:off x="4383" y="2913"/>
              <a:ext cx="506" cy="12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85" name="Google Shape;385;p8"/>
            <p:cNvSpPr/>
            <p:nvPr/>
          </p:nvSpPr>
          <p:spPr>
            <a:xfrm>
              <a:off x="4132" y="2664"/>
              <a:ext cx="528" cy="32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86" name="Google Shape;386;p8"/>
            <p:cNvSpPr/>
            <p:nvPr/>
          </p:nvSpPr>
          <p:spPr>
            <a:xfrm>
              <a:off x="4151" y="2681"/>
              <a:ext cx="503" cy="12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387" name="Google Shape;387;p8"/>
            <p:cNvCxnSpPr/>
            <p:nvPr/>
          </p:nvCxnSpPr>
          <p:spPr>
            <a:xfrm flipH="1" rot="10800000">
              <a:off x="4044" y="2370"/>
              <a:ext cx="66" cy="711"/>
            </a:xfrm>
            <a:prstGeom prst="straightConnector1">
              <a:avLst/>
            </a:prstGeom>
            <a:noFill/>
            <a:ln cap="flat" cmpd="sng" w="19050">
              <a:solidFill>
                <a:schemeClr val="hlink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88" name="Google Shape;388;p8"/>
            <p:cNvCxnSpPr/>
            <p:nvPr/>
          </p:nvCxnSpPr>
          <p:spPr>
            <a:xfrm rot="10800000">
              <a:off x="4194" y="2376"/>
              <a:ext cx="102" cy="525"/>
            </a:xfrm>
            <a:prstGeom prst="straightConnector1">
              <a:avLst/>
            </a:prstGeom>
            <a:noFill/>
            <a:ln cap="flat" cmpd="sng" w="19050">
              <a:solidFill>
                <a:schemeClr val="hlink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389" name="Google Shape;389;p8"/>
            <p:cNvCxnSpPr/>
            <p:nvPr/>
          </p:nvCxnSpPr>
          <p:spPr>
            <a:xfrm rot="10800000">
              <a:off x="4284" y="2304"/>
              <a:ext cx="213" cy="828"/>
            </a:xfrm>
            <a:prstGeom prst="straightConnector1">
              <a:avLst/>
            </a:prstGeom>
            <a:noFill/>
            <a:ln cap="flat" cmpd="sng" w="19050">
              <a:solidFill>
                <a:schemeClr val="hlink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9"/>
          <p:cNvSpPr txBox="1"/>
          <p:nvPr>
            <p:ph type="title"/>
          </p:nvPr>
        </p:nvSpPr>
        <p:spPr>
          <a:xfrm>
            <a:off x="457200" y="704088"/>
            <a:ext cx="82296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40"/>
              <a:buFont typeface="Calibri"/>
              <a:buNone/>
            </a:pPr>
            <a:r>
              <a:rPr lang="en-US" sz="3240"/>
              <a:t>Framework Đối tượng – Quan hệ: Các đặc điểm</a:t>
            </a:r>
            <a:endParaRPr sz="3240"/>
          </a:p>
        </p:txBody>
      </p:sp>
      <p:sp>
        <p:nvSpPr>
          <p:cNvPr id="395" name="Google Shape;395;p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6" name="Google Shape;396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Hiệu năng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Phân rã các đối tượng thành dữ liệu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Tổng hợp lên các đối tượng từ dữ liệu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Cực tiểu hóa sự thỏa hiệp trong thiết kế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Giới hạn những thay đổi đối với đối tượng và mô hình quan hệ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Khả năng mở rộng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15%-35% framework cần được thiết kế như những framework có thể mở rộng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0"/>
          <p:cNvSpPr txBox="1"/>
          <p:nvPr>
            <p:ph type="title"/>
          </p:nvPr>
        </p:nvSpPr>
        <p:spPr>
          <a:xfrm>
            <a:off x="152400" y="381000"/>
            <a:ext cx="89916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80"/>
              <a:buFont typeface="Calibri"/>
              <a:buNone/>
            </a:pPr>
            <a:r>
              <a:rPr lang="en-US" sz="2880"/>
              <a:t>Các Framework Đối tượng - Quan hệ : Các đặc điểm (cont.)</a:t>
            </a:r>
            <a:endParaRPr/>
          </a:p>
        </p:txBody>
      </p:sp>
      <p:sp>
        <p:nvSpPr>
          <p:cNvPr id="402" name="Google Shape;402;p1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3" name="Google Shape;40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Tài liệu hóa các API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Hỗ trợ các object-relational mapping thông thường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Các giao diện bền vững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Ví dụ lưu, xóa, và tìm kiếm</a:t>
            </a: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1"/>
          <p:cNvSpPr txBox="1"/>
          <p:nvPr>
            <p:ph type="title"/>
          </p:nvPr>
        </p:nvSpPr>
        <p:spPr>
          <a:xfrm>
            <a:off x="457200" y="704088"/>
            <a:ext cx="8229600" cy="7437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40"/>
              <a:buFont typeface="Calibri"/>
              <a:buNone/>
            </a:pPr>
            <a:r>
              <a:rPr lang="en-US" sz="3240"/>
              <a:t>Các dịch vụ Đối tượng – Quan hệ thông thường</a:t>
            </a:r>
            <a:endParaRPr sz="3240"/>
          </a:p>
        </p:txBody>
      </p:sp>
      <p:sp>
        <p:nvSpPr>
          <p:cNvPr id="409" name="Google Shape;409;p1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0" name="Google Shape;410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Các mẫu đang nổi lên cho các ứng dụng Đối tượng – Quan hệ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Đặc tả CORBA Services</a:t>
            </a:r>
            <a:endParaRPr/>
          </a:p>
          <a:p>
            <a:pPr indent="-246887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US"/>
              <a:t>Persistence</a:t>
            </a:r>
            <a:endParaRPr/>
          </a:p>
          <a:p>
            <a:pPr indent="-246887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US"/>
              <a:t>Query</a:t>
            </a:r>
            <a:endParaRPr/>
          </a:p>
          <a:p>
            <a:pPr indent="-246887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US"/>
              <a:t>Transactions</a:t>
            </a:r>
            <a:endParaRPr/>
          </a:p>
          <a:p>
            <a:pPr indent="-246887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US"/>
              <a:t>Concurrency</a:t>
            </a:r>
            <a:endParaRPr/>
          </a:p>
          <a:p>
            <a:pPr indent="-246887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US"/>
              <a:t>Relationships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2"/>
          <p:cNvSpPr txBox="1"/>
          <p:nvPr>
            <p:ph type="title"/>
          </p:nvPr>
        </p:nvSpPr>
        <p:spPr>
          <a:xfrm>
            <a:off x="457200" y="704088"/>
            <a:ext cx="8229600" cy="5913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Ánh Xạ Các Lớp Bền Vững vào Các Bảng</a:t>
            </a:r>
            <a:endParaRPr sz="3600"/>
          </a:p>
        </p:txBody>
      </p:sp>
      <p:sp>
        <p:nvSpPr>
          <p:cNvPr id="416" name="Google Shape;416;p1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7" name="Google Shape;417;p12"/>
          <p:cNvSpPr/>
          <p:nvPr/>
        </p:nvSpPr>
        <p:spPr>
          <a:xfrm>
            <a:off x="1014413" y="4481272"/>
            <a:ext cx="1676400" cy="1406525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1501775" y="4543185"/>
            <a:ext cx="777875" cy="290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Student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1060450" y="4847985"/>
            <a:ext cx="1401763" cy="290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- name : String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1060450" y="5092460"/>
            <a:ext cx="1616075" cy="290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- address : String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1060450" y="5336935"/>
            <a:ext cx="1617663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- studentID : Long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22" name="Google Shape;422;p12"/>
          <p:cNvSpPr txBox="1"/>
          <p:nvPr>
            <p:ph idx="1" type="body"/>
          </p:nvPr>
        </p:nvSpPr>
        <p:spPr>
          <a:xfrm>
            <a:off x="304800" y="1587260"/>
            <a:ext cx="8489950" cy="2071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Trong cơ sở dữ liệu quan hệ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Mỗi hàng được xem như một đối tượng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Mỗi cột trong bảng tương đương với một thuộc tính bền vững của một lớp</a:t>
            </a:r>
            <a:endParaRPr/>
          </a:p>
        </p:txBody>
      </p:sp>
      <p:graphicFrame>
        <p:nvGraphicFramePr>
          <p:cNvPr id="423" name="Google Shape;423;p12"/>
          <p:cNvGraphicFramePr/>
          <p:nvPr/>
        </p:nvGraphicFramePr>
        <p:xfrm>
          <a:off x="4433888" y="49543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{94AD857B-4DC3-44C9-908D-A9506AD77369}</a:tableStyleId>
              </a:tblPr>
              <a:tblGrid>
                <a:gridCol w="1905000"/>
                <a:gridCol w="1905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99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/>
                    </a:p>
                  </a:txBody>
                  <a:tcPr marT="53975" marB="53975" marR="107950" marL="1079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C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99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Student_ID</a:t>
                      </a:r>
                      <a:endParaRPr/>
                    </a:p>
                  </a:txBody>
                  <a:tcPr marT="53975" marB="53975" marR="107950" marL="1079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CFF">
                        <a:alpha val="49803"/>
                      </a:srgbClr>
                    </a:solidFill>
                  </a:tcPr>
                </a:tc>
              </a:tr>
              <a:tr h="465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99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Thomas Stuart</a:t>
                      </a:r>
                      <a:endParaRPr/>
                    </a:p>
                  </a:txBody>
                  <a:tcPr marT="53975" marB="53975" marR="107950" marL="1079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C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99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123456</a:t>
                      </a:r>
                      <a:endParaRPr/>
                    </a:p>
                  </a:txBody>
                  <a:tcPr marT="53975" marB="53975" marR="107950" marL="1079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CFF">
                        <a:alpha val="49803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24" name="Google Shape;424;p12"/>
          <p:cNvSpPr txBox="1"/>
          <p:nvPr/>
        </p:nvSpPr>
        <p:spPr>
          <a:xfrm>
            <a:off x="3890963" y="6325947"/>
            <a:ext cx="2138406" cy="386003"/>
          </a:xfrm>
          <a:prstGeom prst="rect">
            <a:avLst/>
          </a:prstGeom>
          <a:noFill/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CCFF"/>
                </a:solidFill>
                <a:latin typeface="Constantia"/>
                <a:ea typeface="Constantia"/>
                <a:cs typeface="Constantia"/>
                <a:sym typeface="Constantia"/>
              </a:rPr>
              <a:t>Đối tượng thể hiện</a:t>
            </a:r>
            <a:endParaRPr sz="1800">
              <a:solidFill>
                <a:srgbClr val="00CC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425" name="Google Shape;425;p12"/>
          <p:cNvCxnSpPr/>
          <p:nvPr/>
        </p:nvCxnSpPr>
        <p:spPr>
          <a:xfrm rot="10800000">
            <a:off x="4814888" y="5640147"/>
            <a:ext cx="0" cy="685800"/>
          </a:xfrm>
          <a:prstGeom prst="straightConnector1">
            <a:avLst/>
          </a:prstGeom>
          <a:noFill/>
          <a:ln cap="flat" cmpd="sng" w="38100">
            <a:solidFill>
              <a:schemeClr val="hlink"/>
            </a:solidFill>
            <a:prstDash val="solid"/>
            <a:round/>
            <a:headEnd len="med" w="med" type="none"/>
            <a:tailEnd len="lg" w="lg" type="triangle"/>
          </a:ln>
        </p:spPr>
      </p:cxnSp>
      <p:sp>
        <p:nvSpPr>
          <p:cNvPr id="426" name="Google Shape;426;p12"/>
          <p:cNvSpPr txBox="1"/>
          <p:nvPr/>
        </p:nvSpPr>
        <p:spPr>
          <a:xfrm>
            <a:off x="5691207" y="3792300"/>
            <a:ext cx="20775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CCFF"/>
                </a:solidFill>
                <a:latin typeface="Constantia"/>
                <a:ea typeface="Constantia"/>
                <a:cs typeface="Constantia"/>
                <a:sym typeface="Constantia"/>
              </a:rPr>
              <a:t>Thuộc tính</a:t>
            </a:r>
            <a:endParaRPr sz="1800">
              <a:solidFill>
                <a:srgbClr val="00CC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427" name="Google Shape;427;p12"/>
          <p:cNvCxnSpPr/>
          <p:nvPr/>
        </p:nvCxnSpPr>
        <p:spPr>
          <a:xfrm flipH="1">
            <a:off x="5424488" y="4116147"/>
            <a:ext cx="609600" cy="685800"/>
          </a:xfrm>
          <a:prstGeom prst="straightConnector1">
            <a:avLst/>
          </a:prstGeom>
          <a:noFill/>
          <a:ln cap="flat" cmpd="sng" w="28575">
            <a:solidFill>
              <a:schemeClr val="hlink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8" name="Google Shape;428;p12"/>
          <p:cNvCxnSpPr/>
          <p:nvPr/>
        </p:nvCxnSpPr>
        <p:spPr>
          <a:xfrm>
            <a:off x="6415088" y="4116147"/>
            <a:ext cx="533400" cy="685800"/>
          </a:xfrm>
          <a:prstGeom prst="straightConnector1">
            <a:avLst/>
          </a:prstGeom>
          <a:noFill/>
          <a:ln cap="flat" cmpd="sng" w="28575">
            <a:solidFill>
              <a:schemeClr val="hlink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9" name="Google Shape;429;p12"/>
          <p:cNvSpPr/>
          <p:nvPr/>
        </p:nvSpPr>
        <p:spPr>
          <a:xfrm>
            <a:off x="3287713" y="4982922"/>
            <a:ext cx="593725" cy="485775"/>
          </a:xfrm>
          <a:prstGeom prst="rightArrow">
            <a:avLst>
              <a:gd fmla="val 59481" name="adj1"/>
              <a:gd fmla="val 50326" name="adj2"/>
            </a:avLst>
          </a:prstGeom>
          <a:solidFill>
            <a:schemeClr val="hlink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3975" lIns="107950" spcFirstLastPara="1" rIns="107950" wrap="square" tIns="53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3"/>
          <p:cNvSpPr txBox="1"/>
          <p:nvPr>
            <p:ph type="title"/>
          </p:nvPr>
        </p:nvSpPr>
        <p:spPr>
          <a:xfrm>
            <a:off x="0" y="704088"/>
            <a:ext cx="9220200" cy="5913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Ánh xạ các kết hợp giữa các đối tượng bền vững</a:t>
            </a:r>
            <a:endParaRPr sz="3600"/>
          </a:p>
        </p:txBody>
      </p:sp>
      <p:sp>
        <p:nvSpPr>
          <p:cNvPr id="435" name="Google Shape;435;p1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6" name="Google Shape;436;p13"/>
          <p:cNvSpPr txBox="1"/>
          <p:nvPr>
            <p:ph idx="1" type="body"/>
          </p:nvPr>
        </p:nvSpPr>
        <p:spPr>
          <a:xfrm>
            <a:off x="327025" y="1600201"/>
            <a:ext cx="848995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Các kết hợp giữa hai đối tượng bền vững được thực hiện như khóa ngoài với lớp bị kết hợp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Một khóa ngoài là một cột trong một bảng mà có chứa giá trị khóa chính của đối tượng bị kết hợp</a:t>
            </a:r>
            <a:endParaRPr/>
          </a:p>
        </p:txBody>
      </p:sp>
      <p:graphicFrame>
        <p:nvGraphicFramePr>
          <p:cNvPr id="437" name="Google Shape;437;p13"/>
          <p:cNvGraphicFramePr/>
          <p:nvPr/>
        </p:nvGraphicFramePr>
        <p:xfrm>
          <a:off x="5153025" y="3781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{94AD857B-4DC3-44C9-908D-A9506AD77369}</a:tableStyleId>
              </a:tblPr>
              <a:tblGrid>
                <a:gridCol w="1463675"/>
                <a:gridCol w="1584325"/>
              </a:tblGrid>
              <a:tr h="277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99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Number</a:t>
                      </a:r>
                      <a:endParaRPr/>
                    </a:p>
                  </a:txBody>
                  <a:tcPr marT="53975" marB="53975" marR="107950" marL="1079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C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99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Course_ID</a:t>
                      </a:r>
                      <a:endParaRPr/>
                    </a:p>
                  </a:txBody>
                  <a:tcPr marT="53975" marB="53975" marR="107950" marL="1079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CFF">
                        <a:alpha val="49803"/>
                      </a:srgbClr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99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678</a:t>
                      </a:r>
                      <a:endParaRPr/>
                    </a:p>
                  </a:txBody>
                  <a:tcPr marT="53975" marB="53975" marR="107950" marL="1079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C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99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456789</a:t>
                      </a:r>
                      <a:endParaRPr/>
                    </a:p>
                  </a:txBody>
                  <a:tcPr marT="53975" marB="53975" marR="107950" marL="1079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CFF">
                        <a:alpha val="49803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8" name="Google Shape;438;p13"/>
          <p:cNvGraphicFramePr/>
          <p:nvPr/>
        </p:nvGraphicFramePr>
        <p:xfrm>
          <a:off x="4391025" y="547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{94AD857B-4DC3-44C9-908D-A9506AD77369}</a:tableStyleId>
              </a:tblPr>
              <a:tblGrid>
                <a:gridCol w="1422400"/>
                <a:gridCol w="1625600"/>
                <a:gridCol w="1219200"/>
              </a:tblGrid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99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endParaRPr/>
                    </a:p>
                  </a:txBody>
                  <a:tcPr marT="53975" marB="53975" marR="107950" marL="1079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C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99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Description</a:t>
                      </a:r>
                      <a:endParaRPr/>
                    </a:p>
                  </a:txBody>
                  <a:tcPr marT="53975" marB="53975" marR="107950" marL="1079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C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99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Number</a:t>
                      </a:r>
                      <a:endParaRPr/>
                    </a:p>
                  </a:txBody>
                  <a:tcPr marT="53975" marB="53975" marR="107950" marL="1079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CFF">
                        <a:alpha val="49803"/>
                      </a:srgbClr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99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Math 101</a:t>
                      </a:r>
                      <a:endParaRPr/>
                    </a:p>
                  </a:txBody>
                  <a:tcPr marT="53975" marB="53975" marR="107950" marL="1079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C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99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Algebra</a:t>
                      </a:r>
                      <a:endParaRPr/>
                    </a:p>
                  </a:txBody>
                  <a:tcPr marT="53975" marB="53975" marR="107950" marL="1079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C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99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456789</a:t>
                      </a:r>
                      <a:endParaRPr/>
                    </a:p>
                  </a:txBody>
                  <a:tcPr marT="53975" marB="53975" marR="107950" marL="1079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CFF">
                        <a:alpha val="49803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39" name="Google Shape;439;p13"/>
          <p:cNvSpPr txBox="1"/>
          <p:nvPr/>
        </p:nvSpPr>
        <p:spPr>
          <a:xfrm>
            <a:off x="5108575" y="3451225"/>
            <a:ext cx="1660525" cy="290513"/>
          </a:xfrm>
          <a:prstGeom prst="rect">
            <a:avLst/>
          </a:prstGeom>
          <a:noFill/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Course Offering table</a:t>
            </a:r>
            <a:endParaRPr/>
          </a:p>
        </p:txBody>
      </p:sp>
      <p:sp>
        <p:nvSpPr>
          <p:cNvPr id="440" name="Google Shape;440;p13"/>
          <p:cNvSpPr txBox="1"/>
          <p:nvPr/>
        </p:nvSpPr>
        <p:spPr>
          <a:xfrm>
            <a:off x="4314825" y="5167313"/>
            <a:ext cx="1076325" cy="290512"/>
          </a:xfrm>
          <a:prstGeom prst="rect">
            <a:avLst/>
          </a:prstGeom>
          <a:noFill/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Course table</a:t>
            </a:r>
            <a:endParaRPr/>
          </a:p>
        </p:txBody>
      </p:sp>
      <p:sp>
        <p:nvSpPr>
          <p:cNvPr id="441" name="Google Shape;441;p13"/>
          <p:cNvSpPr/>
          <p:nvPr/>
        </p:nvSpPr>
        <p:spPr>
          <a:xfrm>
            <a:off x="2324100" y="5276850"/>
            <a:ext cx="1031875" cy="1219200"/>
          </a:xfrm>
          <a:prstGeom prst="rect">
            <a:avLst/>
          </a:prstGeom>
          <a:solidFill>
            <a:srgbClr val="FFFFCC"/>
          </a:solidFill>
          <a:ln cap="flat" cmpd="sng" w="12700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42" name="Google Shape;442;p13"/>
          <p:cNvSpPr/>
          <p:nvPr/>
        </p:nvSpPr>
        <p:spPr>
          <a:xfrm>
            <a:off x="2516188" y="53276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Course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2324100" y="5557838"/>
            <a:ext cx="1031875" cy="938212"/>
          </a:xfrm>
          <a:prstGeom prst="rect">
            <a:avLst/>
          </a:prstGeom>
          <a:noFill/>
          <a:ln cap="flat" cmpd="sng" w="12700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2324100" y="6310313"/>
            <a:ext cx="1031875" cy="185737"/>
          </a:xfrm>
          <a:prstGeom prst="rect">
            <a:avLst/>
          </a:prstGeom>
          <a:noFill/>
          <a:ln cap="flat" cmpd="sng" w="12700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2384425" y="5595938"/>
            <a:ext cx="515938" cy="198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- name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2384425" y="5783263"/>
            <a:ext cx="901700" cy="198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- description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2384425" y="6027738"/>
            <a:ext cx="663575" cy="198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- number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508000" y="4127500"/>
            <a:ext cx="1520825" cy="844550"/>
          </a:xfrm>
          <a:prstGeom prst="rect">
            <a:avLst/>
          </a:prstGeom>
          <a:solidFill>
            <a:srgbClr val="FFFFCC"/>
          </a:solidFill>
          <a:ln cap="flat" cmpd="sng" w="12700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723900" y="4181475"/>
            <a:ext cx="112236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CourseOffering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508000" y="4398963"/>
            <a:ext cx="1520825" cy="573087"/>
          </a:xfrm>
          <a:prstGeom prst="rect">
            <a:avLst/>
          </a:prstGeom>
          <a:noFill/>
          <a:ln cap="flat" cmpd="sng" w="12700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508000" y="4784725"/>
            <a:ext cx="1520825" cy="180975"/>
          </a:xfrm>
          <a:prstGeom prst="rect">
            <a:avLst/>
          </a:prstGeom>
          <a:noFill/>
          <a:ln cap="flat" cmpd="sng" w="12700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555625" y="4446588"/>
            <a:ext cx="1279525" cy="198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- number : String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965200" y="4972050"/>
            <a:ext cx="247650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0..*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2079625" y="5764213"/>
            <a:ext cx="92075" cy="198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455" name="Google Shape;455;p13"/>
          <p:cNvCxnSpPr/>
          <p:nvPr/>
        </p:nvCxnSpPr>
        <p:spPr>
          <a:xfrm>
            <a:off x="1433513" y="4999038"/>
            <a:ext cx="849312" cy="74930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med" w="med" type="none"/>
            <a:tailEnd len="lg" w="lg" type="stealth"/>
          </a:ln>
        </p:spPr>
      </p:cxnSp>
      <p:cxnSp>
        <p:nvCxnSpPr>
          <p:cNvPr id="456" name="Google Shape;456;p13"/>
          <p:cNvCxnSpPr/>
          <p:nvPr/>
        </p:nvCxnSpPr>
        <p:spPr>
          <a:xfrm>
            <a:off x="7743825" y="4695825"/>
            <a:ext cx="533400" cy="685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lg" w="lg" type="stealth"/>
            <a:tailEnd len="lg" w="lg" type="stealth"/>
          </a:ln>
        </p:spPr>
      </p:cxnSp>
      <p:sp>
        <p:nvSpPr>
          <p:cNvPr id="457" name="Google Shape;457;p13"/>
          <p:cNvSpPr txBox="1"/>
          <p:nvPr/>
        </p:nvSpPr>
        <p:spPr>
          <a:xfrm>
            <a:off x="6891338" y="5105400"/>
            <a:ext cx="1182687" cy="320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99"/>
                </a:solidFill>
                <a:latin typeface="Constantia"/>
                <a:ea typeface="Constantia"/>
                <a:cs typeface="Constantia"/>
                <a:sym typeface="Constantia"/>
              </a:rPr>
              <a:t>Primary Key</a:t>
            </a:r>
            <a:endParaRPr/>
          </a:p>
        </p:txBody>
      </p:sp>
      <p:sp>
        <p:nvSpPr>
          <p:cNvPr id="458" name="Google Shape;458;p13"/>
          <p:cNvSpPr txBox="1"/>
          <p:nvPr/>
        </p:nvSpPr>
        <p:spPr>
          <a:xfrm>
            <a:off x="6572250" y="4619625"/>
            <a:ext cx="1171575" cy="320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99"/>
                </a:solidFill>
                <a:latin typeface="Constantia"/>
                <a:ea typeface="Constantia"/>
                <a:cs typeface="Constantia"/>
                <a:sym typeface="Constantia"/>
              </a:rPr>
              <a:t>Foreign Key</a:t>
            </a:r>
            <a:endParaRPr/>
          </a:p>
        </p:txBody>
      </p:sp>
      <p:sp>
        <p:nvSpPr>
          <p:cNvPr id="459" name="Google Shape;459;p13"/>
          <p:cNvSpPr/>
          <p:nvPr/>
        </p:nvSpPr>
        <p:spPr>
          <a:xfrm>
            <a:off x="3598863" y="4606925"/>
            <a:ext cx="593725" cy="485775"/>
          </a:xfrm>
          <a:prstGeom prst="rightArrow">
            <a:avLst>
              <a:gd fmla="val 59481" name="adj1"/>
              <a:gd fmla="val 50326" name="adj2"/>
            </a:avLst>
          </a:prstGeom>
          <a:solidFill>
            <a:schemeClr val="accent1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3975" lIns="107950" spcFirstLastPara="1" rIns="107950" wrap="square" tIns="53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5" name="Google Shape;465;p14"/>
          <p:cNvSpPr txBox="1"/>
          <p:nvPr>
            <p:ph idx="1" type="body"/>
          </p:nvPr>
        </p:nvSpPr>
        <p:spPr>
          <a:xfrm>
            <a:off x="457200" y="1600201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Kết tập (aggregation) được mô hình hóa sử dụng quan hệ khóa ngoài</a:t>
            </a:r>
            <a:endParaRPr/>
          </a:p>
          <a:p>
            <a:pPr indent="-246888" lvl="1" marL="64008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Việc sử dụng quan hệ hợp thành (composition) thực thi ràng buộc xóa theo tầng</a:t>
            </a:r>
            <a:endParaRPr/>
          </a:p>
        </p:txBody>
      </p:sp>
      <p:sp>
        <p:nvSpPr>
          <p:cNvPr id="466" name="Google Shape;466;p14"/>
          <p:cNvSpPr txBox="1"/>
          <p:nvPr>
            <p:ph type="title"/>
          </p:nvPr>
        </p:nvSpPr>
        <p:spPr>
          <a:xfrm>
            <a:off x="485775" y="304800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Ánh xạ các kết tập (aggregation) </a:t>
            </a:r>
            <a:br>
              <a:rPr lang="en-US" sz="3600"/>
            </a:br>
            <a:r>
              <a:rPr lang="en-US" sz="3600"/>
              <a:t>vào các mô hình dữ liệu</a:t>
            </a:r>
            <a:endParaRPr sz="3600"/>
          </a:p>
        </p:txBody>
      </p:sp>
      <p:cxnSp>
        <p:nvCxnSpPr>
          <p:cNvPr id="467" name="Google Shape;467;p14"/>
          <p:cNvCxnSpPr/>
          <p:nvPr/>
        </p:nvCxnSpPr>
        <p:spPr>
          <a:xfrm rot="10800000">
            <a:off x="2089150" y="4516438"/>
            <a:ext cx="0" cy="865187"/>
          </a:xfrm>
          <a:prstGeom prst="straightConnector1">
            <a:avLst/>
          </a:prstGeom>
          <a:noFill/>
          <a:ln cap="flat" cmpd="sng" w="1270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14"/>
          <p:cNvSpPr/>
          <p:nvPr/>
        </p:nvSpPr>
        <p:spPr>
          <a:xfrm>
            <a:off x="1273175" y="3467100"/>
            <a:ext cx="1593850" cy="823913"/>
          </a:xfrm>
          <a:prstGeom prst="rect">
            <a:avLst/>
          </a:prstGeom>
          <a:solidFill>
            <a:srgbClr val="FFFFCC"/>
          </a:solidFill>
          <a:ln cap="flat" cmpd="sng" w="12700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69" name="Google Shape;469;p14"/>
          <p:cNvSpPr/>
          <p:nvPr/>
        </p:nvSpPr>
        <p:spPr>
          <a:xfrm>
            <a:off x="1660525" y="3533775"/>
            <a:ext cx="56673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Student.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1273175" y="3759200"/>
            <a:ext cx="1593850" cy="531813"/>
          </a:xfrm>
          <a:prstGeom prst="rect">
            <a:avLst/>
          </a:prstGeom>
          <a:noFill/>
          <a:ln cap="flat" cmpd="sng" w="12700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71" name="Google Shape;471;p14"/>
          <p:cNvSpPr/>
          <p:nvPr/>
        </p:nvSpPr>
        <p:spPr>
          <a:xfrm>
            <a:off x="1273175" y="4094163"/>
            <a:ext cx="1593850" cy="196850"/>
          </a:xfrm>
          <a:prstGeom prst="rect">
            <a:avLst/>
          </a:prstGeom>
          <a:noFill/>
          <a:ln cap="flat" cmpd="sng" w="12700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1323975" y="3789363"/>
            <a:ext cx="1033463" cy="182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- studentID : int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73" name="Google Shape;473;p14"/>
          <p:cNvSpPr/>
          <p:nvPr/>
        </p:nvSpPr>
        <p:spPr>
          <a:xfrm>
            <a:off x="939800" y="5310188"/>
            <a:ext cx="2260600" cy="823912"/>
          </a:xfrm>
          <a:prstGeom prst="rect">
            <a:avLst/>
          </a:prstGeom>
          <a:solidFill>
            <a:srgbClr val="FFFFCC"/>
          </a:solidFill>
          <a:ln cap="flat" cmpd="sng" w="12700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74" name="Google Shape;474;p14"/>
          <p:cNvSpPr/>
          <p:nvPr/>
        </p:nvSpPr>
        <p:spPr>
          <a:xfrm>
            <a:off x="1608138" y="5367338"/>
            <a:ext cx="631825" cy="182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Schedule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75" name="Google Shape;475;p14"/>
          <p:cNvSpPr/>
          <p:nvPr/>
        </p:nvSpPr>
        <p:spPr>
          <a:xfrm>
            <a:off x="939800" y="5616575"/>
            <a:ext cx="2260600" cy="517525"/>
          </a:xfrm>
          <a:prstGeom prst="rect">
            <a:avLst/>
          </a:prstGeom>
          <a:noFill/>
          <a:ln cap="flat" cmpd="sng" w="12700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76" name="Google Shape;476;p14"/>
          <p:cNvSpPr/>
          <p:nvPr/>
        </p:nvSpPr>
        <p:spPr>
          <a:xfrm>
            <a:off x="939800" y="5938838"/>
            <a:ext cx="2260600" cy="195262"/>
          </a:xfrm>
          <a:prstGeom prst="rect">
            <a:avLst/>
          </a:prstGeom>
          <a:noFill/>
          <a:ln cap="flat" cmpd="sng" w="12700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77" name="Google Shape;477;p14"/>
          <p:cNvSpPr/>
          <p:nvPr/>
        </p:nvSpPr>
        <p:spPr>
          <a:xfrm>
            <a:off x="989013" y="5630863"/>
            <a:ext cx="1498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- semester : Semester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78" name="Google Shape;478;p14"/>
          <p:cNvSpPr/>
          <p:nvPr/>
        </p:nvSpPr>
        <p:spPr>
          <a:xfrm>
            <a:off x="1698625" y="5100638"/>
            <a:ext cx="230188" cy="182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0..*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79" name="Google Shape;479;p14"/>
          <p:cNvSpPr/>
          <p:nvPr/>
        </p:nvSpPr>
        <p:spPr>
          <a:xfrm>
            <a:off x="1798638" y="4305300"/>
            <a:ext cx="82550" cy="182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80" name="Google Shape;480;p14"/>
          <p:cNvSpPr/>
          <p:nvPr/>
        </p:nvSpPr>
        <p:spPr>
          <a:xfrm>
            <a:off x="1993900" y="4291013"/>
            <a:ext cx="171450" cy="238125"/>
          </a:xfrm>
          <a:custGeom>
            <a:rect b="b" l="l" r="r" t="t"/>
            <a:pathLst>
              <a:path extrusionOk="0" h="120" w="64">
                <a:moveTo>
                  <a:pt x="36" y="0"/>
                </a:moveTo>
                <a:lnTo>
                  <a:pt x="64" y="56"/>
                </a:lnTo>
                <a:lnTo>
                  <a:pt x="36" y="120"/>
                </a:lnTo>
                <a:lnTo>
                  <a:pt x="0" y="56"/>
                </a:lnTo>
                <a:lnTo>
                  <a:pt x="36" y="0"/>
                </a:lnTo>
                <a:close/>
              </a:path>
            </a:pathLst>
          </a:custGeom>
          <a:solidFill>
            <a:srgbClr val="969696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graphicFrame>
        <p:nvGraphicFramePr>
          <p:cNvPr id="481" name="Google Shape;481;p14"/>
          <p:cNvGraphicFramePr/>
          <p:nvPr/>
        </p:nvGraphicFramePr>
        <p:xfrm>
          <a:off x="5300663" y="551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{94AD857B-4DC3-44C9-908D-A9506AD77369}</a:tableStyleId>
              </a:tblPr>
              <a:tblGrid>
                <a:gridCol w="1760525"/>
                <a:gridCol w="1592275"/>
              </a:tblGrid>
              <a:tr h="277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99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Student_ID</a:t>
                      </a:r>
                      <a:endParaRPr/>
                    </a:p>
                  </a:txBody>
                  <a:tcPr marT="53975" marB="53975" marR="107950" marL="1079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C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99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Semester</a:t>
                      </a:r>
                      <a:endParaRPr/>
                    </a:p>
                  </a:txBody>
                  <a:tcPr marT="53975" marB="53975" marR="107950" marL="1079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CFF">
                        <a:alpha val="49803"/>
                      </a:srgbClr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99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123456</a:t>
                      </a:r>
                      <a:endParaRPr/>
                    </a:p>
                  </a:txBody>
                  <a:tcPr marT="53975" marB="53975" marR="107950" marL="1079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CFF">
                        <a:alpha val="4980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99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Spring 2001</a:t>
                      </a:r>
                      <a:endParaRPr/>
                    </a:p>
                  </a:txBody>
                  <a:tcPr marT="53975" marB="53975" marR="107950" marL="1079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CFF">
                        <a:alpha val="49803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82" name="Google Shape;482;p14"/>
          <p:cNvSpPr txBox="1"/>
          <p:nvPr/>
        </p:nvSpPr>
        <p:spPr>
          <a:xfrm>
            <a:off x="5200650" y="5238750"/>
            <a:ext cx="1262063" cy="290513"/>
          </a:xfrm>
          <a:prstGeom prst="rect">
            <a:avLst/>
          </a:prstGeom>
          <a:noFill/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Schedule  table</a:t>
            </a:r>
            <a:endParaRPr/>
          </a:p>
        </p:txBody>
      </p:sp>
      <p:graphicFrame>
        <p:nvGraphicFramePr>
          <p:cNvPr id="483" name="Google Shape;483;p14"/>
          <p:cNvGraphicFramePr/>
          <p:nvPr/>
        </p:nvGraphicFramePr>
        <p:xfrm>
          <a:off x="5300663" y="3481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{94AD857B-4DC3-44C9-908D-A9506AD77369}</a:tableStyleId>
              </a:tblPr>
              <a:tblGrid>
                <a:gridCol w="1600200"/>
              </a:tblGrid>
              <a:tr h="27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99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Student_ID</a:t>
                      </a:r>
                      <a:endParaRPr/>
                    </a:p>
                  </a:txBody>
                  <a:tcPr marT="53975" marB="53975" marR="107950" marL="1079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CFF">
                        <a:alpha val="49803"/>
                      </a:srgbClr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99"/>
                        </a:buClr>
                        <a:buSzPts val="2000"/>
                        <a:buFont typeface="Noto Sans Symbols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FFFF9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123456</a:t>
                      </a:r>
                      <a:endParaRPr/>
                    </a:p>
                  </a:txBody>
                  <a:tcPr marT="53975" marB="53975" marR="107950" marL="1079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CCFF">
                        <a:alpha val="49803"/>
                      </a:srgbClr>
                    </a:solidFill>
                  </a:tcPr>
                </a:tc>
              </a:tr>
            </a:tbl>
          </a:graphicData>
        </a:graphic>
      </p:graphicFrame>
      <p:cxnSp>
        <p:nvCxnSpPr>
          <p:cNvPr id="484" name="Google Shape;484;p14"/>
          <p:cNvCxnSpPr/>
          <p:nvPr/>
        </p:nvCxnSpPr>
        <p:spPr>
          <a:xfrm>
            <a:off x="6519863" y="4219575"/>
            <a:ext cx="166687" cy="1244600"/>
          </a:xfrm>
          <a:prstGeom prst="straightConnector1">
            <a:avLst/>
          </a:prstGeom>
          <a:noFill/>
          <a:ln cap="flat" cmpd="sng" w="28575">
            <a:solidFill>
              <a:schemeClr val="hlink"/>
            </a:solidFill>
            <a:prstDash val="solid"/>
            <a:round/>
            <a:headEnd len="lg" w="lg" type="stealth"/>
            <a:tailEnd len="lg" w="lg" type="stealth"/>
          </a:ln>
        </p:spPr>
      </p:cxnSp>
      <p:sp>
        <p:nvSpPr>
          <p:cNvPr id="485" name="Google Shape;485;p14"/>
          <p:cNvSpPr txBox="1"/>
          <p:nvPr/>
        </p:nvSpPr>
        <p:spPr>
          <a:xfrm>
            <a:off x="6748463" y="5143500"/>
            <a:ext cx="1171575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99"/>
                </a:solidFill>
                <a:latin typeface="Constantia"/>
                <a:ea typeface="Constantia"/>
                <a:cs typeface="Constantia"/>
                <a:sym typeface="Constantia"/>
              </a:rPr>
              <a:t>Foreign Key</a:t>
            </a:r>
            <a:endParaRPr/>
          </a:p>
        </p:txBody>
      </p:sp>
      <p:sp>
        <p:nvSpPr>
          <p:cNvPr id="486" name="Google Shape;486;p14"/>
          <p:cNvSpPr txBox="1"/>
          <p:nvPr/>
        </p:nvSpPr>
        <p:spPr>
          <a:xfrm>
            <a:off x="6596063" y="4200525"/>
            <a:ext cx="1182687" cy="320675"/>
          </a:xfrm>
          <a:prstGeom prst="rect">
            <a:avLst/>
          </a:prstGeom>
          <a:noFill/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FF99"/>
                </a:solidFill>
                <a:latin typeface="Constantia"/>
                <a:ea typeface="Constantia"/>
                <a:cs typeface="Constantia"/>
                <a:sym typeface="Constantia"/>
              </a:rPr>
              <a:t>Primary Key</a:t>
            </a:r>
            <a:endParaRPr/>
          </a:p>
        </p:txBody>
      </p:sp>
      <p:sp>
        <p:nvSpPr>
          <p:cNvPr id="487" name="Google Shape;487;p14"/>
          <p:cNvSpPr txBox="1"/>
          <p:nvPr/>
        </p:nvSpPr>
        <p:spPr>
          <a:xfrm>
            <a:off x="5213350" y="3195638"/>
            <a:ext cx="1154113" cy="290512"/>
          </a:xfrm>
          <a:prstGeom prst="rect">
            <a:avLst/>
          </a:prstGeom>
          <a:noFill/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Student  table</a:t>
            </a:r>
            <a:endParaRPr/>
          </a:p>
        </p:txBody>
      </p:sp>
      <p:sp>
        <p:nvSpPr>
          <p:cNvPr id="488" name="Google Shape;488;p14"/>
          <p:cNvSpPr/>
          <p:nvPr/>
        </p:nvSpPr>
        <p:spPr>
          <a:xfrm>
            <a:off x="3903663" y="4575175"/>
            <a:ext cx="593725" cy="485775"/>
          </a:xfrm>
          <a:prstGeom prst="rightArrow">
            <a:avLst>
              <a:gd fmla="val 59481" name="adj1"/>
              <a:gd fmla="val 50326" name="adj2"/>
            </a:avLst>
          </a:prstGeom>
          <a:solidFill>
            <a:schemeClr val="hlink"/>
          </a:soli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3975" lIns="107950" spcFirstLastPara="1" rIns="107950" wrap="square" tIns="53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5"/>
          <p:cNvSpPr txBox="1"/>
          <p:nvPr>
            <p:ph type="title"/>
          </p:nvPr>
        </p:nvSpPr>
        <p:spPr>
          <a:xfrm>
            <a:off x="457200" y="704088"/>
            <a:ext cx="8229600" cy="8199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Mô hình hóa kế thừa trong Mô hình dữ liệu</a:t>
            </a:r>
            <a:endParaRPr sz="4000"/>
          </a:p>
        </p:txBody>
      </p:sp>
      <p:sp>
        <p:nvSpPr>
          <p:cNvPr id="494" name="Google Shape;494;p1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5" name="Google Shape;495;p15"/>
          <p:cNvSpPr txBox="1"/>
          <p:nvPr>
            <p:ph idx="1" type="body"/>
          </p:nvPr>
        </p:nvSpPr>
        <p:spPr>
          <a:xfrm>
            <a:off x="457200" y="1828800"/>
            <a:ext cx="8229600" cy="4297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Mô hình dữ liệu không hỗ trợ mô hình hóa quan hệ kế thừa một cách trực tiếp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Hai tùy chọn: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Sử dụng các bảng tách biệt (dữ liệu được chuẩn hóa)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Sao chép tất cả các kết hợp và thuộc tính được kế thừa (dữ liệu phi chuẩn)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6"/>
          <p:cNvSpPr txBox="1"/>
          <p:nvPr>
            <p:ph type="title"/>
          </p:nvPr>
        </p:nvSpPr>
        <p:spPr>
          <a:xfrm>
            <a:off x="457200" y="704088"/>
            <a:ext cx="82296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Các bước thiết kế csdl</a:t>
            </a:r>
            <a:endParaRPr sz="4000"/>
          </a:p>
        </p:txBody>
      </p:sp>
      <p:sp>
        <p:nvSpPr>
          <p:cNvPr id="501" name="Google Shape;501;p1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2" name="Google Shape;502;p16"/>
          <p:cNvSpPr txBox="1"/>
          <p:nvPr>
            <p:ph idx="1" type="body"/>
          </p:nvPr>
        </p:nvSpPr>
        <p:spPr>
          <a:xfrm>
            <a:off x="457200" y="1600201"/>
            <a:ext cx="8229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Ánh xạ các lớp thiết kế bền vững vào các mô hình dữ liệu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>
                <a:solidFill>
                  <a:srgbClr val="7030A0"/>
                </a:solidFill>
              </a:rPr>
              <a:t>Phân phối hành vi của lớp vào csdl</a:t>
            </a:r>
            <a:endParaRPr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7"/>
          <p:cNvSpPr txBox="1"/>
          <p:nvPr>
            <p:ph type="title"/>
          </p:nvPr>
        </p:nvSpPr>
        <p:spPr>
          <a:xfrm>
            <a:off x="457200" y="704088"/>
            <a:ext cx="8229600" cy="9723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Thủ tục lưu là gì?</a:t>
            </a:r>
            <a:endParaRPr/>
          </a:p>
        </p:txBody>
      </p:sp>
      <p:sp>
        <p:nvSpPr>
          <p:cNvPr id="508" name="Google Shape;508;p1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9" name="Google Shape;509;p17"/>
          <p:cNvSpPr txBox="1"/>
          <p:nvPr>
            <p:ph idx="1" type="body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Một thủ tục lưu là mã có thể thực thi được chạy bên dưới RDBMS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Có hai loại thủ tục lưu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Procedures: Được thực thi một cách tường minh bởi một ứng dụng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Triggers: Được gọi một cách ngầm định khi xảy ra một số sự kiện cơ sở dữ liệu</a:t>
            </a:r>
            <a:endParaRPr/>
          </a:p>
          <a:p>
            <a:pPr indent="-11734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11734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8"/>
          <p:cNvSpPr txBox="1"/>
          <p:nvPr>
            <p:ph type="title"/>
          </p:nvPr>
        </p:nvSpPr>
        <p:spPr>
          <a:xfrm>
            <a:off x="457200" y="704088"/>
            <a:ext cx="8229600" cy="5913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40"/>
              <a:buFont typeface="Calibri"/>
              <a:buNone/>
            </a:pPr>
            <a:r>
              <a:rPr lang="en-US" sz="3240"/>
              <a:t>Ánh xạ các hành vi của lớp vào thủ tục lưu</a:t>
            </a:r>
            <a:endParaRPr sz="3600"/>
          </a:p>
        </p:txBody>
      </p:sp>
      <p:sp>
        <p:nvSpPr>
          <p:cNvPr id="515" name="Google Shape;515;p1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6" name="Google Shape;516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Xác định xem có hoạt động (operation) nào có thể được cài đặt như một thủ tục lưu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Các hoạt động có thể cân nhắc: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Các hoạt động làm việc với dữ liệu bền vững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Các hoạt động trong đó một truy vấn được gọi trong một tính toán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Các hoạt động cần thiết cho việc truy cập csdl  để phê duyệt (validate) dữ liệu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9"/>
          <p:cNvSpPr txBox="1"/>
          <p:nvPr>
            <p:ph type="title"/>
          </p:nvPr>
        </p:nvSpPr>
        <p:spPr>
          <a:xfrm>
            <a:off x="457200" y="704088"/>
            <a:ext cx="82296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/>
              <a:t>Ví dụ: Ánh xạ Hành vi của lớp vào các thủ tục lưu</a:t>
            </a:r>
            <a:endParaRPr sz="3600"/>
          </a:p>
        </p:txBody>
      </p:sp>
      <p:sp>
        <p:nvSpPr>
          <p:cNvPr id="522" name="Google Shape;522;p1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:\ilt\dev475\original\training_material\manual\14-21.gif" id="523" name="Google Shape;52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3289" y="1625685"/>
            <a:ext cx="7173912" cy="466081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0"/>
          <p:cNvSpPr txBox="1"/>
          <p:nvPr>
            <p:ph type="title"/>
          </p:nvPr>
        </p:nvSpPr>
        <p:spPr>
          <a:xfrm>
            <a:off x="457200" y="609600"/>
            <a:ext cx="82296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Checkpoints: Database Design</a:t>
            </a:r>
            <a:endParaRPr sz="3600"/>
          </a:p>
        </p:txBody>
      </p:sp>
      <p:sp>
        <p:nvSpPr>
          <p:cNvPr id="529" name="Google Shape;529;p2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0" name="Google Shape;530;p20"/>
          <p:cNvSpPr txBox="1"/>
          <p:nvPr>
            <p:ph idx="1" type="body"/>
          </p:nvPr>
        </p:nvSpPr>
        <p:spPr>
          <a:xfrm>
            <a:off x="361950" y="1676400"/>
            <a:ext cx="756285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Have all persistent classes been mapped to database structures?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Have stored procedures and triggers been defined?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Does the persistence mechanism use stored procedures and database triggers consistently? 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1"/>
          <p:cNvSpPr txBox="1"/>
          <p:nvPr>
            <p:ph type="title"/>
          </p:nvPr>
        </p:nvSpPr>
        <p:spPr>
          <a:xfrm>
            <a:off x="457200" y="704088"/>
            <a:ext cx="82296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Review: Database Design</a:t>
            </a:r>
            <a:endParaRPr sz="3600"/>
          </a:p>
        </p:txBody>
      </p:sp>
      <p:sp>
        <p:nvSpPr>
          <p:cNvPr id="536" name="Google Shape;536;p2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7" name="Google Shape;53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What is the purpose of the Database Design?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What comprises a relational data model?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What are the components of an object model?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When mapping persistent classes to tables, what is every row in a table regarded as?  What is every column equivalent to?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What are stored procedures?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2"/>
          <p:cNvSpPr txBox="1"/>
          <p:nvPr>
            <p:ph type="title"/>
          </p:nvPr>
        </p:nvSpPr>
        <p:spPr>
          <a:xfrm>
            <a:off x="2895600" y="2438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The End.</a:t>
            </a:r>
            <a:endParaRPr/>
          </a:p>
        </p:txBody>
      </p:sp>
      <p:sp>
        <p:nvSpPr>
          <p:cNvPr id="543" name="Google Shape;543;p2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2017-11-13T20:26:15Z</dcterms:created>
  <dc:creator>ThuGiang</dc:creator>
</cp:coreProperties>
</file>