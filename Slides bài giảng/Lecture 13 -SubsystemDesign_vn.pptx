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y="6858000" cx="9144000"/>
  <p:notesSz cx="6858000" cy="9144000"/>
  <p:embeddedFontLst>
    <p:embeddedFont>
      <p:font typeface="Constantia"/>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7" roundtripDataSignature="AMtx7mjsYwmHqKDySNWyL6s5wMTqNQxxR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Constantia-regular.fntdata"/><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Constantia-italic.fntdata"/><Relationship Id="rId12" Type="http://schemas.openxmlformats.org/officeDocument/2006/relationships/slide" Target="slides/slide6.xml"/><Relationship Id="rId34" Type="http://schemas.openxmlformats.org/officeDocument/2006/relationships/font" Target="fonts/Constantia-bold.fntdata"/><Relationship Id="rId15" Type="http://schemas.openxmlformats.org/officeDocument/2006/relationships/slide" Target="slides/slide9.xml"/><Relationship Id="rId37" Type="http://customschemas.google.com/relationships/presentationmetadata" Target="metadata"/><Relationship Id="rId14" Type="http://schemas.openxmlformats.org/officeDocument/2006/relationships/slide" Target="slides/slide8.xml"/><Relationship Id="rId36" Type="http://schemas.openxmlformats.org/officeDocument/2006/relationships/font" Target="fonts/Constantia-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 name="Google Shape;346;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3" name="Google Shape;353;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9" name="Google Shape;399;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9" name="Google Shape;429;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13: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 Instructor Notes</a:t>
            </a:r>
            <a:endParaRPr/>
          </a:p>
        </p:txBody>
      </p:sp>
      <p:sp>
        <p:nvSpPr>
          <p:cNvPr id="436" name="Google Shape;436;p13: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12 - Subsystem Design</a:t>
            </a:r>
            <a:endParaRPr>
              <a:latin typeface="Arial"/>
              <a:ea typeface="Arial"/>
              <a:cs typeface="Arial"/>
              <a:sym typeface="Arial"/>
            </a:endParaRPr>
          </a:p>
        </p:txBody>
      </p:sp>
      <p:sp>
        <p:nvSpPr>
          <p:cNvPr id="437" name="Google Shape;437;p13:notes"/>
          <p:cNvSpPr txBox="1"/>
          <p:nvPr/>
        </p:nvSpPr>
        <p:spPr>
          <a:xfrm>
            <a:off x="607125" y="1261132"/>
            <a:ext cx="1926963" cy="4961128"/>
          </a:xfrm>
          <a:prstGeom prst="rect">
            <a:avLst/>
          </a:prstGeom>
          <a:noFill/>
          <a:ln>
            <a:noFill/>
          </a:ln>
        </p:spPr>
        <p:txBody>
          <a:bodyPr anchorCtr="0" anchor="t" bIns="56250" lIns="112525" spcFirstLastPara="1" rIns="112525" wrap="square" tIns="5625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Emphasize the modeling of the interface and subsystem proxy, as well as the incorporation of the JDBC RDBMS Persistency mechanism.</a:t>
            </a:r>
            <a:endParaRPr/>
          </a:p>
          <a:p>
            <a:pPr indent="0" lvl="0" marL="0" marR="0" rtl="0" algn="l">
              <a:spcBef>
                <a:spcPts val="900"/>
              </a:spcBef>
              <a:spcAft>
                <a:spcPts val="0"/>
              </a:spcAft>
              <a:buNone/>
            </a:pPr>
            <a:r>
              <a:rPr lang="en-US" sz="1800">
                <a:solidFill>
                  <a:schemeClr val="dk1"/>
                </a:solidFill>
                <a:latin typeface="Arial"/>
                <a:ea typeface="Arial"/>
                <a:cs typeface="Arial"/>
                <a:sym typeface="Arial"/>
              </a:rPr>
              <a:t>Stress how the subsystem element collaborations drive the relationships defined between them by flipping back to the sequence diagram shown earlier.</a:t>
            </a:r>
            <a:endParaRPr/>
          </a:p>
          <a:p>
            <a:pPr indent="0" lvl="0" marL="0" marR="0" rtl="0" algn="l">
              <a:spcBef>
                <a:spcPts val="900"/>
              </a:spcBef>
              <a:spcAft>
                <a:spcPts val="0"/>
              </a:spcAft>
              <a:buNone/>
            </a:pPr>
            <a:r>
              <a:rPr lang="en-US" sz="1800">
                <a:solidFill>
                  <a:schemeClr val="dk1"/>
                </a:solidFill>
                <a:latin typeface="Arial"/>
                <a:ea typeface="Arial"/>
                <a:cs typeface="Arial"/>
                <a:sym typeface="Arial"/>
              </a:rPr>
              <a:t>If nested subsystems are defined, the class diagrams should show the relationships to the subsystem interfaces.  The internals of those subsystems will, in turn, be designed during the Subsystem Design activity for those subsystems.</a:t>
            </a:r>
            <a:endParaRPr/>
          </a:p>
          <a:p>
            <a:pPr indent="0" lvl="0" marL="0" marR="0" rtl="0" algn="l">
              <a:spcBef>
                <a:spcPts val="900"/>
              </a:spcBef>
              <a:spcAft>
                <a:spcPts val="0"/>
              </a:spcAft>
              <a:buNone/>
            </a:pPr>
            <a:r>
              <a:rPr lang="en-US" sz="1800">
                <a:solidFill>
                  <a:schemeClr val="dk1"/>
                </a:solidFill>
                <a:latin typeface="Arial"/>
                <a:ea typeface="Arial"/>
                <a:cs typeface="Arial"/>
                <a:sym typeface="Arial"/>
              </a:rPr>
              <a:t>DBCourseOffering understands the OO-to-DBMS mapping and can interface with the DBMS. This database interface class is used whenever a CourseOffering instance needs to be created, accessed, or deleted. DBCourseOffering “flattens” the object and writes it to the DBMS and reads the object data from the DBMS and builds the object. </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The advantages of this approach is that the OO model is separable from the DBMS model and the CourseOffering class does not know it is persistent. The CourseOffering class can be reused in an application in which its objects are not persistent.</a:t>
            </a:r>
            <a:endParaRPr/>
          </a:p>
        </p:txBody>
      </p:sp>
      <p:sp>
        <p:nvSpPr>
          <p:cNvPr id="438" name="Google Shape;438;p13:notes"/>
          <p:cNvSpPr/>
          <p:nvPr>
            <p:ph idx="3" type="sldImg"/>
          </p:nvPr>
        </p:nvSpPr>
        <p:spPr>
          <a:xfrm>
            <a:off x="2657475" y="874713"/>
            <a:ext cx="4240213" cy="31813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439" name="Google Shape;439;p13:notes"/>
          <p:cNvSpPr txBox="1"/>
          <p:nvPr>
            <p:ph idx="1" type="body"/>
          </p:nvPr>
        </p:nvSpPr>
        <p:spPr>
          <a:xfrm>
            <a:off x="2649574" y="4299466"/>
            <a:ext cx="4236679" cy="413518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000">
                <a:latin typeface="Arial"/>
                <a:ea typeface="Arial"/>
                <a:cs typeface="Arial"/>
                <a:sym typeface="Arial"/>
              </a:rPr>
              <a:t>This diagram models the subsystem elements and their relationships. These relationships support the required collaborations between the design elements to support the behavior of the subsystem (as documented in the subsystem interfaces). For our purposes, we concentrated on the getCourseOfferings() interface operation.</a:t>
            </a:r>
            <a:endParaRPr/>
          </a:p>
          <a:p>
            <a:pPr indent="0" lvl="0" marL="0" rtl="0" algn="l">
              <a:spcBef>
                <a:spcPts val="0"/>
              </a:spcBef>
              <a:spcAft>
                <a:spcPts val="0"/>
              </a:spcAft>
              <a:buNone/>
            </a:pPr>
            <a:r>
              <a:rPr lang="en-US" sz="1000">
                <a:latin typeface="Arial"/>
                <a:ea typeface="Arial"/>
                <a:cs typeface="Arial"/>
                <a:sym typeface="Arial"/>
              </a:rPr>
              <a:t>CourseCatalogSystem works with DBCourseOffering to read and write persistent data from the Course Catalog System RDBMS.  DBCourseOffering is responsible for accessing the JDBC database using the previously established Connection (see JDBC Initialize interaction diagram). Once a database connection is opened, DBCourseOffering can then create SQL statements that will be sent to the underlying RDBMS and executed using the Statement class. The results of the SQL query is returned in a ResultSet class object.</a:t>
            </a:r>
            <a:endParaRPr/>
          </a:p>
          <a:p>
            <a:pPr indent="0" lvl="0" marL="0" rtl="0" algn="l">
              <a:spcBef>
                <a:spcPts val="0"/>
              </a:spcBef>
              <a:spcAft>
                <a:spcPts val="0"/>
              </a:spcAft>
              <a:buNone/>
            </a:pPr>
            <a:r>
              <a:rPr lang="en-US" sz="1000">
                <a:latin typeface="Arial"/>
                <a:ea typeface="Arial"/>
                <a:cs typeface="Arial"/>
                <a:sym typeface="Arial"/>
              </a:rPr>
              <a:t>Note: Elements outside of the subsystem are shown, as well, to provide context. These elements can be identified because their owning package is listed in parentheses below the class name (for example, “from University Artifacts”).</a:t>
            </a:r>
            <a:endParaRPr/>
          </a:p>
          <a:p>
            <a:pPr indent="0" lvl="0" marL="0" rtl="0" algn="l">
              <a:spcBef>
                <a:spcPts val="0"/>
              </a:spcBef>
              <a:spcAft>
                <a:spcPts val="0"/>
              </a:spcAft>
              <a:buNone/>
            </a:pPr>
            <a:r>
              <a:rPr lang="en-US" sz="1000">
                <a:latin typeface="Arial"/>
                <a:ea typeface="Arial"/>
                <a:cs typeface="Arial"/>
                <a:sym typeface="Arial"/>
              </a:rPr>
              <a:t>Just as in Use-Case Analysis and Use-Case Design</a:t>
            </a:r>
            <a:r>
              <a:rPr i="1" lang="en-US" sz="1000">
                <a:latin typeface="Arial"/>
                <a:ea typeface="Arial"/>
                <a:cs typeface="Arial"/>
                <a:sym typeface="Arial"/>
              </a:rPr>
              <a:t>,</a:t>
            </a:r>
            <a:r>
              <a:rPr lang="en-US" sz="1000">
                <a:latin typeface="Arial"/>
                <a:ea typeface="Arial"/>
                <a:cs typeface="Arial"/>
                <a:sym typeface="Arial"/>
              </a:rPr>
              <a:t> the subsystem element collaborations modeled previously in the interaction diagrams drive the relationships defined between the participating design elements.</a:t>
            </a:r>
            <a:endParaRPr/>
          </a:p>
          <a:p>
            <a:pPr indent="0" lvl="0" marL="0" rtl="0" algn="l">
              <a:spcBef>
                <a:spcPts val="0"/>
              </a:spcBef>
              <a:spcAft>
                <a:spcPts val="0"/>
              </a:spcAft>
              <a:buNone/>
            </a:pPr>
            <a:r>
              <a:rPr lang="en-US" sz="1000">
                <a:latin typeface="Arial"/>
                <a:ea typeface="Arial"/>
                <a:cs typeface="Arial"/>
                <a:sym typeface="Arial"/>
              </a:rPr>
              <a:t>This is exactly the same approach we used to identify analysis class relationships in Use-Case Analysis and</a:t>
            </a:r>
            <a:r>
              <a:rPr i="1" lang="en-US" sz="1000">
                <a:latin typeface="Arial"/>
                <a:ea typeface="Arial"/>
                <a:cs typeface="Arial"/>
                <a:sym typeface="Arial"/>
              </a:rPr>
              <a:t> </a:t>
            </a:r>
            <a:r>
              <a:rPr lang="en-US" sz="1000">
                <a:latin typeface="Arial"/>
                <a:ea typeface="Arial"/>
                <a:cs typeface="Arial"/>
                <a:sym typeface="Arial"/>
              </a:rPr>
              <a:t>to identify design element relationships in Use-Case Design.</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14: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 Instructor Notes</a:t>
            </a:r>
            <a:endParaRPr/>
          </a:p>
        </p:txBody>
      </p:sp>
      <p:sp>
        <p:nvSpPr>
          <p:cNvPr id="523" name="Google Shape;523;p14: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12 - Subsystem Design</a:t>
            </a:r>
            <a:endParaRPr>
              <a:latin typeface="Arial"/>
              <a:ea typeface="Arial"/>
              <a:cs typeface="Arial"/>
              <a:sym typeface="Arial"/>
            </a:endParaRPr>
          </a:p>
        </p:txBody>
      </p:sp>
      <p:sp>
        <p:nvSpPr>
          <p:cNvPr id="524" name="Google Shape;524;p14:notes"/>
          <p:cNvSpPr/>
          <p:nvPr>
            <p:ph idx="3" type="sldImg"/>
          </p:nvPr>
        </p:nvSpPr>
        <p:spPr>
          <a:xfrm>
            <a:off x="2657475" y="874713"/>
            <a:ext cx="4240213" cy="31813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525" name="Google Shape;525;p14:notes"/>
          <p:cNvSpPr txBox="1"/>
          <p:nvPr>
            <p:ph idx="1" type="body"/>
          </p:nvPr>
        </p:nvSpPr>
        <p:spPr>
          <a:xfrm>
            <a:off x="2649574" y="4299466"/>
            <a:ext cx="4236679" cy="413518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000">
                <a:latin typeface="Arial"/>
                <a:ea typeface="Arial"/>
                <a:cs typeface="Arial"/>
                <a:sym typeface="Arial"/>
              </a:rPr>
              <a:t>This diagram models the subsystem elements and their relationships. These relationships support the required collaborations between the design elements to support the behavior of the subsystem (as documented in the subsystem interfaces). For our purposes, we concentrated on the submitBill() interface operation.</a:t>
            </a:r>
            <a:endParaRPr/>
          </a:p>
          <a:p>
            <a:pPr indent="0" lvl="0" marL="0" rtl="0" algn="l">
              <a:spcBef>
                <a:spcPts val="0"/>
              </a:spcBef>
              <a:spcAft>
                <a:spcPts val="0"/>
              </a:spcAft>
              <a:buNone/>
            </a:pPr>
            <a:r>
              <a:rPr lang="en-US" sz="1000">
                <a:latin typeface="Arial"/>
                <a:ea typeface="Arial"/>
                <a:cs typeface="Arial"/>
                <a:sym typeface="Arial"/>
              </a:rPr>
              <a:t>Note: Elements outside of the subsystem are shown, as well, to provide context. These elements can be identified because their owning package is listed in parentheses below the class name (for example, “from University Artifacts”).</a:t>
            </a:r>
            <a:endParaRPr/>
          </a:p>
          <a:p>
            <a:pPr indent="0" lvl="0" marL="0" rtl="0" algn="l">
              <a:spcBef>
                <a:spcPts val="0"/>
              </a:spcBef>
              <a:spcAft>
                <a:spcPts val="0"/>
              </a:spcAft>
              <a:buNone/>
            </a:pPr>
            <a:r>
              <a:rPr lang="en-US" sz="1000">
                <a:latin typeface="Arial"/>
                <a:ea typeface="Arial"/>
                <a:cs typeface="Arial"/>
                <a:sym typeface="Arial"/>
              </a:rPr>
              <a:t>Just as in Use-Case Analysis and Use-Case Design</a:t>
            </a:r>
            <a:r>
              <a:rPr i="1" lang="en-US" sz="1000">
                <a:latin typeface="Arial"/>
                <a:ea typeface="Arial"/>
                <a:cs typeface="Arial"/>
                <a:sym typeface="Arial"/>
              </a:rPr>
              <a:t>,</a:t>
            </a:r>
            <a:r>
              <a:rPr lang="en-US" sz="1000">
                <a:latin typeface="Arial"/>
                <a:ea typeface="Arial"/>
                <a:cs typeface="Arial"/>
                <a:sym typeface="Arial"/>
              </a:rPr>
              <a:t> the subsystem element collaborations modeled previously in the interaction diagrams drive the relationships defined between the participating design elements.</a:t>
            </a:r>
            <a:endParaRPr/>
          </a:p>
          <a:p>
            <a:pPr indent="0" lvl="0" marL="0" rtl="0" algn="l">
              <a:spcBef>
                <a:spcPts val="0"/>
              </a:spcBef>
              <a:spcAft>
                <a:spcPts val="0"/>
              </a:spcAft>
              <a:buNone/>
            </a:pPr>
            <a:r>
              <a:rPr lang="en-US" sz="1000">
                <a:latin typeface="Arial"/>
                <a:ea typeface="Arial"/>
                <a:cs typeface="Arial"/>
                <a:sym typeface="Arial"/>
              </a:rPr>
              <a:t>This is exactly the same approach we used to identify analysis class relationships in Use-Case Analysis and to identify design element relationships in Use-Case Design.</a:t>
            </a:r>
            <a:endParaRPr/>
          </a:p>
          <a:p>
            <a:pPr indent="0" lvl="0" marL="0" rtl="0" algn="l">
              <a:spcBef>
                <a:spcPts val="0"/>
              </a:spcBef>
              <a:spcAft>
                <a:spcPts val="0"/>
              </a:spcAft>
              <a:buNone/>
            </a:pPr>
            <a:r>
              <a:t/>
            </a:r>
            <a:endParaRPr sz="1000">
              <a:latin typeface="Arial"/>
              <a:ea typeface="Arial"/>
              <a:cs typeface="Arial"/>
              <a:sym typeface="Arial"/>
            </a:endParaRPr>
          </a:p>
        </p:txBody>
      </p:sp>
      <p:sp>
        <p:nvSpPr>
          <p:cNvPr id="526" name="Google Shape;526;p14:notes"/>
          <p:cNvSpPr txBox="1"/>
          <p:nvPr/>
        </p:nvSpPr>
        <p:spPr>
          <a:xfrm>
            <a:off x="607125" y="1261132"/>
            <a:ext cx="1926963" cy="2114195"/>
          </a:xfrm>
          <a:prstGeom prst="rect">
            <a:avLst/>
          </a:prstGeom>
          <a:noFill/>
          <a:ln>
            <a:noFill/>
          </a:ln>
        </p:spPr>
        <p:txBody>
          <a:bodyPr anchorCtr="0" anchor="t" bIns="56250" lIns="112525" spcFirstLastPara="1" rIns="112525" wrap="square" tIns="5625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Emphasize the modeling of the interface and subsystem proxy.</a:t>
            </a:r>
            <a:endParaRPr/>
          </a:p>
          <a:p>
            <a:pPr indent="0" lvl="0" marL="0" marR="0" rtl="0" algn="l">
              <a:spcBef>
                <a:spcPts val="900"/>
              </a:spcBef>
              <a:spcAft>
                <a:spcPts val="0"/>
              </a:spcAft>
              <a:buNone/>
            </a:pPr>
            <a:r>
              <a:rPr lang="en-US" sz="1800">
                <a:solidFill>
                  <a:schemeClr val="dk1"/>
                </a:solidFill>
                <a:latin typeface="Arial"/>
                <a:ea typeface="Arial"/>
                <a:cs typeface="Arial"/>
                <a:sym typeface="Arial"/>
              </a:rPr>
              <a:t>Stress how the subsystem element collaborations drive the relationships defined between them by flipping back to the sequence diagram shown earlier.</a:t>
            </a:r>
            <a:endParaRPr/>
          </a:p>
          <a:p>
            <a:pPr indent="0" lvl="0" marL="0" marR="0" rtl="0" algn="l">
              <a:spcBef>
                <a:spcPts val="900"/>
              </a:spcBef>
              <a:spcAft>
                <a:spcPts val="0"/>
              </a:spcAft>
              <a:buNone/>
            </a:pPr>
            <a:r>
              <a:rPr lang="en-US" sz="1800">
                <a:solidFill>
                  <a:schemeClr val="dk1"/>
                </a:solidFill>
                <a:latin typeface="Arial"/>
                <a:ea typeface="Arial"/>
                <a:cs typeface="Arial"/>
                <a:sym typeface="Arial"/>
              </a:rPr>
              <a:t>If nested subsystems are defined, the class diagrams should show the relationships to the subsystem interfaces.  The internals of those subsystems will, in turn, be designed during the Subsystem Design activity for those subsystems.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7" name="Google Shape;577;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16: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 Instructor Notes</a:t>
            </a:r>
            <a:endParaRPr/>
          </a:p>
        </p:txBody>
      </p:sp>
      <p:sp>
        <p:nvSpPr>
          <p:cNvPr id="584" name="Google Shape;584;p16: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12 - Subsystem Design</a:t>
            </a:r>
            <a:endParaRPr>
              <a:latin typeface="Arial"/>
              <a:ea typeface="Arial"/>
              <a:cs typeface="Arial"/>
              <a:sym typeface="Arial"/>
            </a:endParaRPr>
          </a:p>
        </p:txBody>
      </p:sp>
      <p:sp>
        <p:nvSpPr>
          <p:cNvPr id="585" name="Google Shape;585;p16:notes"/>
          <p:cNvSpPr txBox="1"/>
          <p:nvPr/>
        </p:nvSpPr>
        <p:spPr>
          <a:xfrm>
            <a:off x="607125" y="1261133"/>
            <a:ext cx="1926963" cy="2250703"/>
          </a:xfrm>
          <a:prstGeom prst="rect">
            <a:avLst/>
          </a:prstGeom>
          <a:noFill/>
          <a:ln>
            <a:noFill/>
          </a:ln>
        </p:spPr>
        <p:txBody>
          <a:bodyPr anchorCtr="0" anchor="t" bIns="47650" lIns="95325" spcFirstLastPara="1" rIns="95325" wrap="square" tIns="4765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Create a dependency association between the subsystem and each package/subsystem interface the subsystem is dependent upon.  As a result, existing subsystem relationships and possibly subsystem interfaces may need to be refined. </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Using interface dependencies allows flexible frameworks to be designed using replaceable design elements.</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Note: Any changes to subsystem interfaces or to relationships between subsystems must be evaluated from an architecture perspective (see Identify Design Elements). </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86" name="Google Shape;586;p16:notes"/>
          <p:cNvSpPr/>
          <p:nvPr>
            <p:ph idx="3" type="sldImg"/>
          </p:nvPr>
        </p:nvSpPr>
        <p:spPr>
          <a:xfrm>
            <a:off x="2657475" y="874713"/>
            <a:ext cx="4240213" cy="31813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587" name="Google Shape;587;p16:notes"/>
          <p:cNvSpPr txBox="1"/>
          <p:nvPr>
            <p:ph idx="1" type="body"/>
          </p:nvPr>
        </p:nvSpPr>
        <p:spPr>
          <a:xfrm>
            <a:off x="2649574" y="4299466"/>
            <a:ext cx="4236679" cy="413518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000">
                <a:latin typeface="Arial"/>
                <a:ea typeface="Arial"/>
                <a:cs typeface="Arial"/>
                <a:sym typeface="Arial"/>
              </a:rPr>
              <a:t>When a subsystem element uses some behavior of an element contained by another subsystem or package, a dependency on the external element is needed.</a:t>
            </a:r>
            <a:endParaRPr/>
          </a:p>
          <a:p>
            <a:pPr indent="0" lvl="0" marL="0" rtl="0" algn="l">
              <a:spcBef>
                <a:spcPts val="0"/>
              </a:spcBef>
              <a:spcAft>
                <a:spcPts val="0"/>
              </a:spcAft>
              <a:buNone/>
            </a:pPr>
            <a:r>
              <a:rPr lang="en-US" sz="1000">
                <a:latin typeface="Arial"/>
                <a:ea typeface="Arial"/>
                <a:cs typeface="Arial"/>
                <a:sym typeface="Arial"/>
              </a:rPr>
              <a:t>If the element on which the subsystem is dependent is within a subsystem, the dependency should be on the subsystem interface, not on the subsystem itself or on any element in the subsystem.  This allows the design elements to be substituted for one another as long as they offer the same behavior. It also gives the designer total freedom in designing the internal behavior of the subsystem, as long as it provides the correct external behavior. If a model element directly references a model element in another subsystem, the designer is no longer free to remove that model element or redistribute the behavior of that model element to other elements. As a result, the system is more brittle.</a:t>
            </a:r>
            <a:endParaRPr/>
          </a:p>
          <a:p>
            <a:pPr indent="0" lvl="0" marL="0" rtl="0" algn="l">
              <a:spcBef>
                <a:spcPts val="0"/>
              </a:spcBef>
              <a:spcAft>
                <a:spcPts val="0"/>
              </a:spcAft>
              <a:buNone/>
            </a:pPr>
            <a:r>
              <a:rPr lang="en-US" sz="1000">
                <a:latin typeface="Arial"/>
                <a:ea typeface="Arial"/>
                <a:cs typeface="Arial"/>
                <a:sym typeface="Arial"/>
              </a:rPr>
              <a:t>If the element the subsystem element is dependent on is within a package, the dependency should be on the package itself.  Ideally, a subsystem should only depend on the interfaces of other model elements for the reasons stated above.The exception is where a number of subsystems share a set of common class definitions, in which case those subsystems “import” the contents of the packages containing the common classes. This should be done only with packages in lower layers in the architecture to ensure that common class definitions are defined consistently. The disadvantage is that the subsystem cannot be reused independent of the depended-on package.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17: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 Instructor Notes</a:t>
            </a:r>
            <a:endParaRPr/>
          </a:p>
        </p:txBody>
      </p:sp>
      <p:sp>
        <p:nvSpPr>
          <p:cNvPr id="619" name="Google Shape;619;p17: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12 - Subsystem Design</a:t>
            </a:r>
            <a:endParaRPr>
              <a:latin typeface="Arial"/>
              <a:ea typeface="Arial"/>
              <a:cs typeface="Arial"/>
              <a:sym typeface="Arial"/>
            </a:endParaRPr>
          </a:p>
        </p:txBody>
      </p:sp>
      <p:sp>
        <p:nvSpPr>
          <p:cNvPr id="620" name="Google Shape;620;p17:notes"/>
          <p:cNvSpPr txBox="1"/>
          <p:nvPr/>
        </p:nvSpPr>
        <p:spPr>
          <a:xfrm>
            <a:off x="607125" y="1261132"/>
            <a:ext cx="1926963" cy="76944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You may want to demonstrate how these dependencies support the relationships between the enclosed classes by flipping back to the class diagram for the CourseCatalogSystem subsystem.</a:t>
            </a:r>
            <a:endParaRPr/>
          </a:p>
        </p:txBody>
      </p:sp>
      <p:sp>
        <p:nvSpPr>
          <p:cNvPr id="621" name="Google Shape;621;p17:notes"/>
          <p:cNvSpPr/>
          <p:nvPr>
            <p:ph idx="3" type="sldImg"/>
          </p:nvPr>
        </p:nvSpPr>
        <p:spPr>
          <a:xfrm>
            <a:off x="2657475" y="874713"/>
            <a:ext cx="4240213" cy="31813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622" name="Google Shape;622;p17:notes"/>
          <p:cNvSpPr txBox="1"/>
          <p:nvPr>
            <p:ph idx="1" type="body"/>
          </p:nvPr>
        </p:nvSpPr>
        <p:spPr>
          <a:xfrm>
            <a:off x="2649574" y="4299466"/>
            <a:ext cx="4236679" cy="413518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000">
                <a:latin typeface="Arial"/>
                <a:ea typeface="Arial"/>
                <a:cs typeface="Arial"/>
                <a:sym typeface="Arial"/>
              </a:rPr>
              <a:t>This diagram models the dependencies that the CourseCatalogSystem subsystem has with other design elements.  These dependencies support the relationships of the enclosed classes as modeled on the earlier subsystem class diagrams.  They are on standard packages that do not have a specific interface.  Thus, the CourseCatalogSystem subsystem cannot be reused without the packages it depends on.</a:t>
            </a:r>
            <a:endParaRPr/>
          </a:p>
          <a:p>
            <a:pPr indent="0" lvl="0" marL="0" rtl="0" algn="l">
              <a:spcBef>
                <a:spcPts val="0"/>
              </a:spcBef>
              <a:spcAft>
                <a:spcPts val="0"/>
              </a:spcAft>
              <a:buNone/>
            </a:pPr>
            <a:r>
              <a:rPr lang="en-US" sz="1000">
                <a:latin typeface="Arial"/>
                <a:ea typeface="Arial"/>
                <a:cs typeface="Arial"/>
                <a:sym typeface="Arial"/>
              </a:rPr>
              <a:t>The CourseCatalogSystem subsystem is dependent on the java.sql package in order to gain access to the design elements that implement the RDBMS persistency mechanism.</a:t>
            </a:r>
            <a:endParaRPr/>
          </a:p>
          <a:p>
            <a:pPr indent="0" lvl="0" marL="0" rtl="0" algn="l">
              <a:spcBef>
                <a:spcPts val="0"/>
              </a:spcBef>
              <a:spcAft>
                <a:spcPts val="0"/>
              </a:spcAft>
              <a:buNone/>
            </a:pPr>
            <a:r>
              <a:rPr lang="en-US" sz="1000">
                <a:latin typeface="Arial"/>
                <a:ea typeface="Arial"/>
                <a:cs typeface="Arial"/>
                <a:sym typeface="Arial"/>
              </a:rPr>
              <a:t>The CourseCatalogSystem subsystem is dependent on the External System Interfaces package for gaining access to the subsystem interface itself (ICourseCatalogSystem).  Remember, the subsystem interfaces were not packaged with the subsystems themselves.</a:t>
            </a:r>
            <a:endParaRPr/>
          </a:p>
          <a:p>
            <a:pPr indent="0" lvl="0" marL="0" rtl="0" algn="l">
              <a:spcBef>
                <a:spcPts val="0"/>
              </a:spcBef>
              <a:spcAft>
                <a:spcPts val="0"/>
              </a:spcAft>
              <a:buNone/>
            </a:pPr>
            <a:r>
              <a:rPr lang="en-US" sz="1000">
                <a:latin typeface="Arial"/>
                <a:ea typeface="Arial"/>
                <a:cs typeface="Arial"/>
                <a:sym typeface="Arial"/>
              </a:rPr>
              <a:t>The CourseCatalogSystem subsystem is dependent on the University Artifacts package in order to gain access to the core types of the Course Registration System.</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18: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 Instructor Notes</a:t>
            </a:r>
            <a:endParaRPr/>
          </a:p>
        </p:txBody>
      </p:sp>
      <p:sp>
        <p:nvSpPr>
          <p:cNvPr id="629" name="Google Shape;629;p18: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12 - Subsystem Design</a:t>
            </a:r>
            <a:endParaRPr>
              <a:latin typeface="Arial"/>
              <a:ea typeface="Arial"/>
              <a:cs typeface="Arial"/>
              <a:sym typeface="Arial"/>
            </a:endParaRPr>
          </a:p>
        </p:txBody>
      </p:sp>
      <p:sp>
        <p:nvSpPr>
          <p:cNvPr id="630" name="Google Shape;630;p18:notes"/>
          <p:cNvSpPr/>
          <p:nvPr>
            <p:ph idx="3" type="sldImg"/>
          </p:nvPr>
        </p:nvSpPr>
        <p:spPr>
          <a:xfrm>
            <a:off x="2657475" y="874713"/>
            <a:ext cx="4240213" cy="31813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631" name="Google Shape;631;p18:notes"/>
          <p:cNvSpPr txBox="1"/>
          <p:nvPr>
            <p:ph idx="1" type="body"/>
          </p:nvPr>
        </p:nvSpPr>
        <p:spPr>
          <a:xfrm>
            <a:off x="2649574" y="4299466"/>
            <a:ext cx="4236679" cy="413518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000">
                <a:latin typeface="Arial"/>
                <a:ea typeface="Arial"/>
                <a:cs typeface="Arial"/>
                <a:sym typeface="Arial"/>
              </a:rPr>
              <a:t>This diagram models the dependencies that the BillingSystem subsystem has with other design elements.  These dependencies support the relationships of the enclosed classes as modeled on the earlier subsystem class diagrams.  They are on standard packages that do not have a specific interface.  Thus, the BillingSystem subsystem cannot be reused without the packages it depends on.</a:t>
            </a:r>
            <a:endParaRPr/>
          </a:p>
          <a:p>
            <a:pPr indent="0" lvl="0" marL="0" rtl="0" algn="l">
              <a:spcBef>
                <a:spcPts val="0"/>
              </a:spcBef>
              <a:spcAft>
                <a:spcPts val="0"/>
              </a:spcAft>
              <a:buNone/>
            </a:pPr>
            <a:r>
              <a:rPr lang="en-US" sz="1000">
                <a:latin typeface="Arial"/>
                <a:ea typeface="Arial"/>
                <a:cs typeface="Arial"/>
                <a:sym typeface="Arial"/>
              </a:rPr>
              <a:t>The BillingSystem subsystem is dependent on the External System Interfaces package in order to gain access to the subsystem interface itself (IBillingSystem).  Remember, the subsystem interfaces were not packaged with the subsystems themselves.</a:t>
            </a:r>
            <a:endParaRPr/>
          </a:p>
          <a:p>
            <a:pPr indent="0" lvl="0" marL="0" rtl="0" algn="l">
              <a:spcBef>
                <a:spcPts val="0"/>
              </a:spcBef>
              <a:spcAft>
                <a:spcPts val="0"/>
              </a:spcAft>
              <a:buNone/>
            </a:pPr>
            <a:r>
              <a:rPr lang="en-US" sz="1000">
                <a:latin typeface="Arial"/>
                <a:ea typeface="Arial"/>
                <a:cs typeface="Arial"/>
                <a:sym typeface="Arial"/>
              </a:rPr>
              <a:t>The BillingSystem subsystem is dependent on the University Artifacts package in order to gain access to the core types of the Course Registration System.</a:t>
            </a:r>
            <a:endParaRPr/>
          </a:p>
        </p:txBody>
      </p:sp>
      <p:sp>
        <p:nvSpPr>
          <p:cNvPr id="632" name="Google Shape;632;p18:notes"/>
          <p:cNvSpPr txBox="1"/>
          <p:nvPr/>
        </p:nvSpPr>
        <p:spPr>
          <a:xfrm>
            <a:off x="607126" y="1261132"/>
            <a:ext cx="1979756" cy="883089"/>
          </a:xfrm>
          <a:prstGeom prst="rect">
            <a:avLst/>
          </a:prstGeom>
          <a:noFill/>
          <a:ln>
            <a:noFill/>
          </a:ln>
        </p:spPr>
        <p:txBody>
          <a:bodyPr anchorCtr="0" anchor="t" bIns="56250" lIns="112525" spcFirstLastPara="1" rIns="112525" wrap="square" tIns="5625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You may want to demonstrate how these dependencies support the relationships between the enclosed classes by flipping back to the class diagram for the BillingSystem subsystem.</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9" name="Google Shape;639;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20: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 Instructor Notes</a:t>
            </a:r>
            <a:endParaRPr/>
          </a:p>
        </p:txBody>
      </p:sp>
      <p:sp>
        <p:nvSpPr>
          <p:cNvPr id="646" name="Google Shape;646;p20: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12 - Subsystem Design</a:t>
            </a:r>
            <a:endParaRPr>
              <a:latin typeface="Arial"/>
              <a:ea typeface="Arial"/>
              <a:cs typeface="Arial"/>
              <a:sym typeface="Arial"/>
            </a:endParaRPr>
          </a:p>
        </p:txBody>
      </p:sp>
      <p:sp>
        <p:nvSpPr>
          <p:cNvPr id="647" name="Google Shape;647;p20:notes"/>
          <p:cNvSpPr/>
          <p:nvPr>
            <p:ph idx="3" type="sldImg"/>
          </p:nvPr>
        </p:nvSpPr>
        <p:spPr>
          <a:xfrm>
            <a:off x="2657475" y="874713"/>
            <a:ext cx="4240213" cy="31813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648" name="Google Shape;648;p20:notes"/>
          <p:cNvSpPr txBox="1"/>
          <p:nvPr>
            <p:ph idx="1" type="body"/>
          </p:nvPr>
        </p:nvSpPr>
        <p:spPr>
          <a:xfrm>
            <a:off x="2649574" y="4299466"/>
            <a:ext cx="4236679" cy="413518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000">
                <a:latin typeface="Arial"/>
                <a:ea typeface="Arial"/>
                <a:cs typeface="Arial"/>
                <a:sym typeface="Arial"/>
              </a:rPr>
              <a:t>This checklist includes the key things to look for when assessing the results of </a:t>
            </a:r>
            <a:r>
              <a:rPr b="1" lang="en-US" sz="1000">
                <a:latin typeface="Arial"/>
                <a:ea typeface="Arial"/>
                <a:cs typeface="Arial"/>
                <a:sym typeface="Arial"/>
              </a:rPr>
              <a:t>Subsystem Design</a:t>
            </a:r>
            <a:r>
              <a:rPr lang="en-US" sz="1000">
                <a:latin typeface="Arial"/>
                <a:ea typeface="Arial"/>
                <a:cs typeface="Arial"/>
                <a:sym typeface="Arial"/>
              </a:rPr>
              <a:t>.</a:t>
            </a:r>
            <a:endParaRPr/>
          </a:p>
          <a:p>
            <a:pPr indent="0" lvl="0" marL="0" rtl="0" algn="l">
              <a:spcBef>
                <a:spcPts val="0"/>
              </a:spcBef>
              <a:spcAft>
                <a:spcPts val="0"/>
              </a:spcAft>
              <a:buNone/>
            </a:pPr>
            <a:r>
              <a:rPr lang="en-US" sz="1000">
                <a:latin typeface="Arial"/>
                <a:ea typeface="Arial"/>
                <a:cs typeface="Arial"/>
                <a:sym typeface="Arial"/>
              </a:rPr>
              <a:t>A designer is responsible for the integrity of the design subsystem, ensuring that: </a:t>
            </a:r>
            <a:endParaRPr/>
          </a:p>
          <a:p>
            <a:pPr indent="-119169" lvl="1" marL="238338" rtl="0" algn="l">
              <a:spcBef>
                <a:spcPts val="0"/>
              </a:spcBef>
              <a:spcAft>
                <a:spcPts val="0"/>
              </a:spcAft>
              <a:buClr>
                <a:schemeClr val="dk1"/>
              </a:buClr>
              <a:buSzPts val="1000"/>
              <a:buFont typeface="Arial"/>
              <a:buChar char="•"/>
            </a:pPr>
            <a:r>
              <a:rPr lang="en-US" sz="1000">
                <a:latin typeface="Arial"/>
                <a:ea typeface="Arial"/>
                <a:cs typeface="Arial"/>
                <a:sym typeface="Arial"/>
              </a:rPr>
              <a:t>The subsystem encapsulates its contents, only exposing contained behavior through interfaces it realizes.</a:t>
            </a:r>
            <a:endParaRPr/>
          </a:p>
          <a:p>
            <a:pPr indent="-119169" lvl="1" marL="238338" rtl="0" algn="l">
              <a:spcBef>
                <a:spcPts val="0"/>
              </a:spcBef>
              <a:spcAft>
                <a:spcPts val="0"/>
              </a:spcAft>
              <a:buClr>
                <a:schemeClr val="dk1"/>
              </a:buClr>
              <a:buSzPts val="1000"/>
              <a:buFont typeface="Arial"/>
              <a:buChar char="•"/>
            </a:pPr>
            <a:r>
              <a:rPr lang="en-US" sz="1000">
                <a:latin typeface="Arial"/>
                <a:ea typeface="Arial"/>
                <a:cs typeface="Arial"/>
                <a:sym typeface="Arial"/>
              </a:rPr>
              <a:t>The operations of the interfaces the subsystem realizes are distributed to contained classes or subsystems.</a:t>
            </a:r>
            <a:endParaRPr/>
          </a:p>
          <a:p>
            <a:pPr indent="-119169" lvl="1" marL="238338" rtl="0" algn="l">
              <a:spcBef>
                <a:spcPts val="0"/>
              </a:spcBef>
              <a:spcAft>
                <a:spcPts val="0"/>
              </a:spcAft>
              <a:buClr>
                <a:schemeClr val="dk1"/>
              </a:buClr>
              <a:buSzPts val="1000"/>
              <a:buFont typeface="Arial"/>
              <a:buChar char="•"/>
            </a:pPr>
            <a:r>
              <a:rPr lang="en-US" sz="1000">
                <a:latin typeface="Arial"/>
                <a:ea typeface="Arial"/>
                <a:cs typeface="Arial"/>
                <a:sym typeface="Arial"/>
              </a:rPr>
              <a:t>The subsystem properly implements its interfaces.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21: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 Instructor Notes</a:t>
            </a:r>
            <a:endParaRPr/>
          </a:p>
        </p:txBody>
      </p:sp>
      <p:sp>
        <p:nvSpPr>
          <p:cNvPr id="655" name="Google Shape;655;p21: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12 - Subsystem Design</a:t>
            </a:r>
            <a:endParaRPr>
              <a:latin typeface="Arial"/>
              <a:ea typeface="Arial"/>
              <a:cs typeface="Arial"/>
              <a:sym typeface="Arial"/>
            </a:endParaRPr>
          </a:p>
        </p:txBody>
      </p:sp>
      <p:sp>
        <p:nvSpPr>
          <p:cNvPr id="656" name="Google Shape;656;p21:notes"/>
          <p:cNvSpPr/>
          <p:nvPr>
            <p:ph idx="3" type="sldImg"/>
          </p:nvPr>
        </p:nvSpPr>
        <p:spPr>
          <a:xfrm>
            <a:off x="2657475" y="874713"/>
            <a:ext cx="4240213" cy="31813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657" name="Google Shape;657;p21:notes"/>
          <p:cNvSpPr txBox="1"/>
          <p:nvPr/>
        </p:nvSpPr>
        <p:spPr>
          <a:xfrm>
            <a:off x="607126" y="1264451"/>
            <a:ext cx="1979756" cy="7168542"/>
          </a:xfrm>
          <a:prstGeom prst="rect">
            <a:avLst/>
          </a:prstGeom>
          <a:noFill/>
          <a:ln>
            <a:noFill/>
          </a:ln>
        </p:spPr>
        <p:txBody>
          <a:bodyPr anchorCtr="0" anchor="t" bIns="56250" lIns="112525" spcFirstLastPara="1" rIns="112525" wrap="square" tIns="56250">
            <a:no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The following page numbers will help you find the answers to the review questions:</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Question 1: pp. 3-4</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Question 2: p. 11</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Question 3: p. 24</a:t>
            </a:r>
            <a:endParaRPr/>
          </a:p>
        </p:txBody>
      </p:sp>
      <p:sp>
        <p:nvSpPr>
          <p:cNvPr id="658" name="Google Shape;658;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p22: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 Instructor Notes</a:t>
            </a:r>
            <a:endParaRPr/>
          </a:p>
        </p:txBody>
      </p:sp>
      <p:sp>
        <p:nvSpPr>
          <p:cNvPr id="668" name="Google Shape;668;p22: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12 - Subsystem Design</a:t>
            </a:r>
            <a:endParaRPr>
              <a:latin typeface="Arial"/>
              <a:ea typeface="Arial"/>
              <a:cs typeface="Arial"/>
              <a:sym typeface="Arial"/>
            </a:endParaRPr>
          </a:p>
        </p:txBody>
      </p:sp>
      <p:sp>
        <p:nvSpPr>
          <p:cNvPr id="669" name="Google Shape;669;p22:notes"/>
          <p:cNvSpPr txBox="1"/>
          <p:nvPr/>
        </p:nvSpPr>
        <p:spPr>
          <a:xfrm>
            <a:off x="607125" y="1261133"/>
            <a:ext cx="1953360" cy="2096815"/>
          </a:xfrm>
          <a:prstGeom prst="rect">
            <a:avLst/>
          </a:prstGeom>
          <a:noFill/>
          <a:ln>
            <a:noFill/>
          </a:ln>
        </p:spPr>
        <p:txBody>
          <a:bodyPr anchorCtr="0" anchor="t" bIns="47650" lIns="95325" spcFirstLastPara="1" rIns="95325" wrap="square" tIns="4765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Divide the class into teams (or use the previously established teams).  Assign one subsystem to each team (or have multiple teams work on the same subsystem).  </a:t>
            </a:r>
            <a:endParaRPr/>
          </a:p>
          <a:p>
            <a:pPr indent="0" lvl="0" marL="0" marR="0" rtl="0" algn="l">
              <a:spcBef>
                <a:spcPts val="900"/>
              </a:spcBef>
              <a:spcAft>
                <a:spcPts val="0"/>
              </a:spcAft>
              <a:buNone/>
            </a:pPr>
            <a:r>
              <a:rPr lang="en-US" sz="1800">
                <a:solidFill>
                  <a:schemeClr val="dk1"/>
                </a:solidFill>
                <a:latin typeface="Arial"/>
                <a:ea typeface="Arial"/>
                <a:cs typeface="Arial"/>
                <a:sym typeface="Arial"/>
              </a:rPr>
              <a:t>If the students are a little overwhelmed at this point, you can choose to give them the mechanisms that they are to apply for the specific subsystems (see the Instructor Notes for Slide 32 for the list of what mechanisms should be applied to each subsystem).</a:t>
            </a:r>
            <a:endParaRPr/>
          </a:p>
          <a:p>
            <a:pPr indent="0" lvl="0" marL="0" marR="0" rtl="0" algn="l">
              <a:spcBef>
                <a:spcPts val="900"/>
              </a:spcBef>
              <a:spcAft>
                <a:spcPts val="0"/>
              </a:spcAft>
              <a:buNone/>
            </a:pPr>
            <a:r>
              <a:t/>
            </a:r>
            <a:endParaRPr sz="1800">
              <a:solidFill>
                <a:schemeClr val="dk1"/>
              </a:solidFill>
              <a:latin typeface="Arial"/>
              <a:ea typeface="Arial"/>
              <a:cs typeface="Arial"/>
              <a:sym typeface="Arial"/>
            </a:endParaRPr>
          </a:p>
        </p:txBody>
      </p:sp>
      <p:sp>
        <p:nvSpPr>
          <p:cNvPr id="670" name="Google Shape;670;p22:notes"/>
          <p:cNvSpPr/>
          <p:nvPr>
            <p:ph idx="3" type="sldImg"/>
          </p:nvPr>
        </p:nvSpPr>
        <p:spPr>
          <a:xfrm>
            <a:off x="2657475" y="874713"/>
            <a:ext cx="4240213" cy="31813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671" name="Google Shape;671;p22:notes"/>
          <p:cNvSpPr txBox="1"/>
          <p:nvPr>
            <p:ph idx="1" type="body"/>
          </p:nvPr>
        </p:nvSpPr>
        <p:spPr>
          <a:xfrm>
            <a:off x="2649574" y="4299466"/>
            <a:ext cx="4236679" cy="413518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000">
                <a:latin typeface="Arial"/>
                <a:ea typeface="Arial"/>
                <a:cs typeface="Arial"/>
                <a:sym typeface="Arial"/>
              </a:rPr>
              <a:t>The goal is to perform the subsystem design of one of the previously identified subsystems.  There are not really any specific requirements for these subsystems, so, for the purpose of this exercise, concentrate on incorporating the applicable architectural mechanisms (for example, persistency, security, distribution), and just some basic functionality the subsystem may perform.  Do not worry about developing a detailed subsystem design.  For such a design, you would need more detailed requirements. </a:t>
            </a:r>
            <a:endParaRPr/>
          </a:p>
          <a:p>
            <a:pPr indent="-119169" lvl="1" marL="238338" rtl="0" algn="l">
              <a:spcBef>
                <a:spcPts val="0"/>
              </a:spcBef>
              <a:spcAft>
                <a:spcPts val="0"/>
              </a:spcAft>
              <a:buClr>
                <a:schemeClr val="dk1"/>
              </a:buClr>
              <a:buSzPts val="1000"/>
              <a:buFont typeface="Arial"/>
              <a:buChar char="•"/>
            </a:pPr>
            <a:r>
              <a:rPr b="1" lang="en-US" sz="1000">
                <a:latin typeface="Arial"/>
                <a:ea typeface="Arial"/>
                <a:cs typeface="Arial"/>
                <a:sym typeface="Arial"/>
              </a:rPr>
              <a:t>Subsystem context class diagrams:</a:t>
            </a:r>
            <a:r>
              <a:rPr lang="en-US" sz="1000">
                <a:latin typeface="Arial"/>
                <a:ea typeface="Arial"/>
                <a:cs typeface="Arial"/>
                <a:sym typeface="Arial"/>
              </a:rPr>
              <a:t> Payroll Exercise Solution, Identify Design Elements, </a:t>
            </a:r>
            <a:endParaRPr/>
          </a:p>
          <a:p>
            <a:pPr indent="-119169" lvl="1" marL="238338" rtl="0" algn="l">
              <a:spcBef>
                <a:spcPts val="0"/>
              </a:spcBef>
              <a:spcAft>
                <a:spcPts val="0"/>
              </a:spcAft>
              <a:buClr>
                <a:schemeClr val="dk1"/>
              </a:buClr>
              <a:buSzPts val="1000"/>
              <a:buFont typeface="Arial"/>
              <a:buChar char="•"/>
            </a:pPr>
            <a:r>
              <a:rPr b="1" lang="en-US" sz="1000">
                <a:latin typeface="Arial"/>
                <a:ea typeface="Arial"/>
                <a:cs typeface="Arial"/>
                <a:sym typeface="Arial"/>
              </a:rPr>
              <a:t>Exercise:</a:t>
            </a:r>
            <a:r>
              <a:rPr lang="en-US" sz="1000">
                <a:latin typeface="Arial"/>
                <a:ea typeface="Arial"/>
                <a:cs typeface="Arial"/>
                <a:sym typeface="Arial"/>
              </a:rPr>
              <a:t> Identify Design Elements, Subsystem Context Diagrams section.  Note the operations descriptions.</a:t>
            </a:r>
            <a:endParaRPr/>
          </a:p>
          <a:p>
            <a:pPr indent="-119169" lvl="1" marL="238338" rtl="0" algn="l">
              <a:spcBef>
                <a:spcPts val="0"/>
              </a:spcBef>
              <a:spcAft>
                <a:spcPts val="0"/>
              </a:spcAft>
              <a:buClr>
                <a:schemeClr val="dk1"/>
              </a:buClr>
              <a:buSzPts val="1000"/>
              <a:buFont typeface="Arial"/>
              <a:buChar char="•"/>
            </a:pPr>
            <a:r>
              <a:rPr b="1" lang="en-US" sz="1000">
                <a:latin typeface="Arial"/>
                <a:ea typeface="Arial"/>
                <a:cs typeface="Arial"/>
                <a:sym typeface="Arial"/>
              </a:rPr>
              <a:t>The patterns of use for the architectural mechanisms:</a:t>
            </a:r>
            <a:r>
              <a:rPr lang="en-US" sz="1000">
                <a:latin typeface="Arial"/>
                <a:ea typeface="Arial"/>
                <a:cs typeface="Arial"/>
                <a:sym typeface="Arial"/>
              </a:rPr>
              <a:t> Payroll Architecture Handbook, Architectural Mechanisms, Implementation Mechanisms section.</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p23: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 Instructor Notes</a:t>
            </a:r>
            <a:endParaRPr/>
          </a:p>
        </p:txBody>
      </p:sp>
      <p:sp>
        <p:nvSpPr>
          <p:cNvPr id="682" name="Google Shape;682;p23: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12 - Subsystem Design</a:t>
            </a:r>
            <a:endParaRPr>
              <a:latin typeface="Arial"/>
              <a:ea typeface="Arial"/>
              <a:cs typeface="Arial"/>
              <a:sym typeface="Arial"/>
            </a:endParaRPr>
          </a:p>
        </p:txBody>
      </p:sp>
      <p:sp>
        <p:nvSpPr>
          <p:cNvPr id="683" name="Google Shape;683;p23:notes"/>
          <p:cNvSpPr txBox="1"/>
          <p:nvPr/>
        </p:nvSpPr>
        <p:spPr>
          <a:xfrm>
            <a:off x="607125" y="1261133"/>
            <a:ext cx="1926963" cy="4020418"/>
          </a:xfrm>
          <a:prstGeom prst="rect">
            <a:avLst/>
          </a:prstGeom>
          <a:noFill/>
          <a:ln>
            <a:noFill/>
          </a:ln>
        </p:spPr>
        <p:txBody>
          <a:bodyPr anchorCtr="0" anchor="t" bIns="47650" lIns="95325" spcFirstLastPara="1" rIns="95325" wrap="square" tIns="4765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Walk the students through the process used to develop the interface realizations.  Emphasize that it’s no different from what we did in Use-Case Analysis.</a:t>
            </a:r>
            <a:endParaRPr/>
          </a:p>
          <a:p>
            <a:pPr indent="0" lvl="0" marL="0" marR="0" rtl="0" algn="l">
              <a:spcBef>
                <a:spcPts val="900"/>
              </a:spcBef>
              <a:spcAft>
                <a:spcPts val="0"/>
              </a:spcAft>
              <a:buNone/>
            </a:pPr>
            <a:r>
              <a:rPr lang="en-US" sz="1800">
                <a:solidFill>
                  <a:schemeClr val="dk1"/>
                </a:solidFill>
                <a:latin typeface="Arial"/>
                <a:ea typeface="Arial"/>
                <a:cs typeface="Arial"/>
                <a:sym typeface="Arial"/>
              </a:rPr>
              <a:t>If the students get stuck on what the internals of the subsystems should be, tell them to look at the sample subsystem designs in this module for ideas.</a:t>
            </a:r>
            <a:endParaRPr/>
          </a:p>
          <a:p>
            <a:pPr indent="0" lvl="0" marL="0" marR="0" rtl="0" algn="l">
              <a:spcBef>
                <a:spcPts val="900"/>
              </a:spcBef>
              <a:spcAft>
                <a:spcPts val="0"/>
              </a:spcAft>
              <a:buNone/>
            </a:pPr>
            <a:r>
              <a:rPr lang="en-US" sz="1800">
                <a:solidFill>
                  <a:schemeClr val="dk1"/>
                </a:solidFill>
                <a:latin typeface="Arial"/>
                <a:ea typeface="Arial"/>
                <a:cs typeface="Arial"/>
                <a:sym typeface="Arial"/>
              </a:rPr>
              <a:t>For this exercise, the students should concentrate on the application of the RDBMS persistency mechanism for the Project Management Database System subsystem (the Payroll System is a read-only legacy system with an RDBMS database), the general idea of building a bank transaction for the Bank System subsystem, the general idea of transforming an internal class into a representation suitable for printing, and not on any of the other subsystem design details.</a:t>
            </a:r>
            <a:endParaRPr/>
          </a:p>
          <a:p>
            <a:pPr indent="0" lvl="0" marL="0" marR="0" rtl="0" algn="l">
              <a:spcBef>
                <a:spcPts val="900"/>
              </a:spcBef>
              <a:spcAft>
                <a:spcPts val="0"/>
              </a:spcAft>
              <a:buNone/>
            </a:pPr>
            <a:r>
              <a:rPr lang="en-US" sz="1800">
                <a:solidFill>
                  <a:schemeClr val="dk1"/>
                </a:solidFill>
                <a:latin typeface="Arial"/>
                <a:ea typeface="Arial"/>
                <a:cs typeface="Arial"/>
                <a:sym typeface="Arial"/>
              </a:rPr>
              <a:t>If you skipped the RDBMS persistency mechanism, then do not assign the Project Management Database System subsystem to anyone.</a:t>
            </a:r>
            <a:endParaRPr/>
          </a:p>
        </p:txBody>
      </p:sp>
      <p:sp>
        <p:nvSpPr>
          <p:cNvPr id="684" name="Google Shape;684;p23:notes"/>
          <p:cNvSpPr/>
          <p:nvPr>
            <p:ph idx="3" type="sldImg"/>
          </p:nvPr>
        </p:nvSpPr>
        <p:spPr>
          <a:xfrm>
            <a:off x="2657475" y="874713"/>
            <a:ext cx="4240213" cy="31813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685" name="Google Shape;685;p23:notes"/>
          <p:cNvSpPr txBox="1"/>
          <p:nvPr>
            <p:ph idx="1" type="body"/>
          </p:nvPr>
        </p:nvSpPr>
        <p:spPr>
          <a:xfrm>
            <a:off x="2649574" y="4299466"/>
            <a:ext cx="4236679" cy="413518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000">
                <a:latin typeface="Arial"/>
                <a:ea typeface="Arial"/>
                <a:cs typeface="Arial"/>
                <a:sym typeface="Arial"/>
              </a:rPr>
              <a:t>The process used in </a:t>
            </a:r>
            <a:r>
              <a:rPr b="1" lang="en-US" sz="1000">
                <a:latin typeface="Arial"/>
                <a:ea typeface="Arial"/>
                <a:cs typeface="Arial"/>
                <a:sym typeface="Arial"/>
              </a:rPr>
              <a:t>Subsystem Design</a:t>
            </a:r>
            <a:r>
              <a:rPr lang="en-US" sz="1000">
                <a:latin typeface="Arial"/>
                <a:ea typeface="Arial"/>
                <a:cs typeface="Arial"/>
                <a:sym typeface="Arial"/>
              </a:rPr>
              <a:t> is no different from that used in Use-Case Analysis and Use-Case Design, except instead of allocating use-case responsibilities, you are allocating subsystem interface responsibilities. For each subsystem interface operation, you identify design elements that are needed to implement the interface, and then you allocate some responsibilities to it. Next, you develop interaction diagrams to illustrate the necessary collaborations, and class diagrams to model the supporting relationships. You are, in fact, developing “interface realizations” rather than Use-Case Realizations.</a:t>
            </a:r>
            <a:endParaRPr/>
          </a:p>
          <a:p>
            <a:pPr indent="0" lvl="0" marL="0" rtl="0" algn="l">
              <a:spcBef>
                <a:spcPts val="0"/>
              </a:spcBef>
              <a:spcAft>
                <a:spcPts val="0"/>
              </a:spcAft>
              <a:buNone/>
            </a:pPr>
            <a:r>
              <a:rPr lang="en-US" sz="1000">
                <a:latin typeface="Arial"/>
                <a:ea typeface="Arial"/>
                <a:cs typeface="Arial"/>
                <a:sym typeface="Arial"/>
              </a:rPr>
              <a:t>There are no explicit requirements for the details of the subsystem (that’s what detailed design is all about ;-)).  In any case, use the documentation for the interface and interface operations to guide you.</a:t>
            </a:r>
            <a:endParaRPr/>
          </a:p>
          <a:p>
            <a:pPr indent="0" lvl="0" marL="0" rtl="0" algn="l">
              <a:spcBef>
                <a:spcPts val="0"/>
              </a:spcBef>
              <a:spcAft>
                <a:spcPts val="0"/>
              </a:spcAft>
              <a:buNone/>
            </a:pPr>
            <a:r>
              <a:rPr lang="en-US" sz="1000">
                <a:latin typeface="Arial"/>
                <a:ea typeface="Arial"/>
                <a:cs typeface="Arial"/>
                <a:sym typeface="Arial"/>
              </a:rPr>
              <a:t>Remember, design elements can be classes and/or subsystems.</a:t>
            </a:r>
            <a:endParaRPr/>
          </a:p>
          <a:p>
            <a:pPr indent="0" lvl="0" marL="0" rtl="0" algn="l">
              <a:spcBef>
                <a:spcPts val="0"/>
              </a:spcBef>
              <a:spcAft>
                <a:spcPts val="0"/>
              </a:spcAft>
              <a:buNone/>
            </a:pPr>
            <a:r>
              <a:rPr lang="en-US" sz="1000">
                <a:latin typeface="Arial"/>
                <a:ea typeface="Arial"/>
                <a:cs typeface="Arial"/>
                <a:sym typeface="Arial"/>
              </a:rPr>
              <a:t>When developing the interactions, do not forget to incorporate any applicable architectural mechanisms. In this course, we are concentrating on the following architectural mechanisms: persistency, security, distribution, and legacy interface.</a:t>
            </a:r>
            <a:endParaRPr/>
          </a:p>
          <a:p>
            <a:pPr indent="0" lvl="0" marL="0" rtl="0" algn="l">
              <a:spcBef>
                <a:spcPts val="0"/>
              </a:spcBef>
              <a:spcAft>
                <a:spcPts val="0"/>
              </a:spcAft>
              <a:buNone/>
            </a:pPr>
            <a:r>
              <a:rPr lang="en-US" sz="1000">
                <a:latin typeface="Arial"/>
                <a:ea typeface="Arial"/>
                <a:cs typeface="Arial"/>
                <a:sym typeface="Arial"/>
              </a:rPr>
              <a:t>The defined design element relationships should support the interactions required to implement the subsystem interface responsibilities/interfaces.</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p24: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 Instructor Notes</a:t>
            </a:r>
            <a:endParaRPr/>
          </a:p>
        </p:txBody>
      </p:sp>
      <p:sp>
        <p:nvSpPr>
          <p:cNvPr id="694" name="Google Shape;694;p24: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12 - Subsystem Design</a:t>
            </a:r>
            <a:endParaRPr>
              <a:latin typeface="Arial"/>
              <a:ea typeface="Arial"/>
              <a:cs typeface="Arial"/>
              <a:sym typeface="Arial"/>
            </a:endParaRPr>
          </a:p>
        </p:txBody>
      </p:sp>
      <p:sp>
        <p:nvSpPr>
          <p:cNvPr id="695" name="Google Shape;695;p24:notes"/>
          <p:cNvSpPr txBox="1"/>
          <p:nvPr/>
        </p:nvSpPr>
        <p:spPr>
          <a:xfrm>
            <a:off x="607125" y="1261133"/>
            <a:ext cx="1926963" cy="3712642"/>
          </a:xfrm>
          <a:prstGeom prst="rect">
            <a:avLst/>
          </a:prstGeom>
          <a:noFill/>
          <a:ln>
            <a:noFill/>
          </a:ln>
        </p:spPr>
        <p:txBody>
          <a:bodyPr anchorCtr="0" anchor="t" bIns="47650" lIns="95325" spcFirstLastPara="1" rIns="95325" wrap="square" tIns="4765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The exercise solution can be found in the </a:t>
            </a:r>
            <a:r>
              <a:rPr i="1" lang="en-US" sz="1800">
                <a:solidFill>
                  <a:schemeClr val="dk1"/>
                </a:solidFill>
                <a:latin typeface="Arial"/>
                <a:ea typeface="Arial"/>
                <a:cs typeface="Arial"/>
                <a:sym typeface="Arial"/>
              </a:rPr>
              <a:t>Payroll Exercise Solution Appendix</a:t>
            </a:r>
            <a:r>
              <a:rPr lang="en-US" sz="1800">
                <a:solidFill>
                  <a:schemeClr val="dk1"/>
                </a:solidFill>
                <a:latin typeface="Arial"/>
                <a:ea typeface="Arial"/>
                <a:cs typeface="Arial"/>
                <a:sym typeface="Arial"/>
              </a:rPr>
              <a:t>, Subsystem Design section.  See the table of contents for the specific page numbers.</a:t>
            </a:r>
            <a:endParaRPr/>
          </a:p>
          <a:p>
            <a:pPr indent="0" lvl="0" marL="0" marR="0" rtl="0" algn="l">
              <a:spcBef>
                <a:spcPts val="900"/>
              </a:spcBef>
              <a:spcAft>
                <a:spcPts val="0"/>
              </a:spcAft>
              <a:buNone/>
            </a:pPr>
            <a:r>
              <a:rPr lang="en-US" sz="1800">
                <a:solidFill>
                  <a:schemeClr val="dk1"/>
                </a:solidFill>
                <a:latin typeface="Arial"/>
                <a:ea typeface="Arial"/>
                <a:cs typeface="Arial"/>
                <a:sym typeface="Arial"/>
              </a:rPr>
              <a:t>The Payroll Solution contains the design for the following subsystems:</a:t>
            </a:r>
            <a:endParaRPr/>
          </a:p>
          <a:p>
            <a:pPr indent="-114300" lvl="1" marL="178754" marR="0" rtl="0" algn="l">
              <a:spcBef>
                <a:spcPts val="90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Bank System (does not require the application of any mechanism).</a:t>
            </a:r>
            <a:endParaRPr/>
          </a:p>
          <a:p>
            <a:pPr indent="-114300" lvl="1" marL="178754" marR="0" rtl="0" algn="l">
              <a:spcBef>
                <a:spcPts val="90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PrintService (does not require the application of any mechanism). This has the most interesting design.</a:t>
            </a:r>
            <a:endParaRPr/>
          </a:p>
          <a:p>
            <a:pPr indent="-114300" lvl="1" marL="178754" marR="0" rtl="0" algn="l">
              <a:spcBef>
                <a:spcPts val="90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Project Management Database (RDBMS Persistency - Read mechanism).</a:t>
            </a:r>
            <a:endParaRPr/>
          </a:p>
          <a:p>
            <a:pPr indent="0" lvl="0" marL="0" marR="0" rtl="0" algn="l">
              <a:spcBef>
                <a:spcPts val="900"/>
              </a:spcBef>
              <a:spcAft>
                <a:spcPts val="0"/>
              </a:spcAft>
              <a:buNone/>
            </a:pPr>
            <a:r>
              <a:rPr lang="en-US" sz="1800">
                <a:solidFill>
                  <a:schemeClr val="dk1"/>
                </a:solidFill>
                <a:latin typeface="Arial"/>
                <a:ea typeface="Arial"/>
                <a:cs typeface="Arial"/>
                <a:sym typeface="Arial"/>
              </a:rPr>
              <a:t>When reviewing the student subsystem designs, don’t concentrate on the details of their subsystem design.  Just make sure that the designs are consistent with the interface/subsystem descriptions and that their class and interaction diagrams are consistent.</a:t>
            </a:r>
            <a:endParaRPr/>
          </a:p>
        </p:txBody>
      </p:sp>
      <p:sp>
        <p:nvSpPr>
          <p:cNvPr id="696" name="Google Shape;696;p24:notes"/>
          <p:cNvSpPr/>
          <p:nvPr>
            <p:ph idx="3" type="sldImg"/>
          </p:nvPr>
        </p:nvSpPr>
        <p:spPr>
          <a:xfrm>
            <a:off x="2657475" y="874713"/>
            <a:ext cx="4240213" cy="318135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697" name="Google Shape;697;p24:notes"/>
          <p:cNvSpPr txBox="1"/>
          <p:nvPr>
            <p:ph idx="1" type="body"/>
          </p:nvPr>
        </p:nvSpPr>
        <p:spPr>
          <a:xfrm>
            <a:off x="2649574" y="4299466"/>
            <a:ext cx="4236679" cy="413518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000">
                <a:latin typeface="Arial"/>
                <a:ea typeface="Arial"/>
                <a:cs typeface="Arial"/>
                <a:sym typeface="Arial"/>
              </a:rPr>
              <a:t>There is one interaction diagram per interface operation to ensure that all responsibilities have been allocated to a subsystem element.  Naming the diagrams to reflect the operation they model helps with traceability. The interaction diagrams may be collaboration or sequence diagrams.</a:t>
            </a:r>
            <a:endParaRPr/>
          </a:p>
          <a:p>
            <a:pPr indent="0" lvl="0" marL="0" rtl="0" algn="l">
              <a:spcBef>
                <a:spcPts val="0"/>
              </a:spcBef>
              <a:spcAft>
                <a:spcPts val="0"/>
              </a:spcAft>
              <a:buNone/>
            </a:pPr>
            <a:r>
              <a:rPr lang="en-US" sz="1000">
                <a:latin typeface="Arial"/>
                <a:ea typeface="Arial"/>
                <a:cs typeface="Arial"/>
                <a:sym typeface="Arial"/>
              </a:rPr>
              <a:t>As with Use-Case Realizations, for interface realizations there is a class diagram that contains the design elements that realize the interface responsibilities. Just like the VOPC for use-case realizations, for every link on the interaction diagrams, there should be a relationship on the class diagram.</a:t>
            </a:r>
            <a:endParaRPr/>
          </a:p>
          <a:p>
            <a:pPr indent="0" lvl="0" marL="0" rtl="0" algn="l">
              <a:spcBef>
                <a:spcPts val="0"/>
              </a:spcBef>
              <a:spcAft>
                <a:spcPts val="0"/>
              </a:spcAft>
              <a:buNone/>
            </a:pPr>
            <a:r>
              <a:rPr lang="en-US" sz="1000">
                <a:latin typeface="Arial"/>
                <a:ea typeface="Arial"/>
                <a:cs typeface="Arial"/>
                <a:sym typeface="Arial"/>
              </a:rPr>
              <a:t>During detailed design, we may have found that the subsystem needs the services of something outside of the subsystem in order to fulfill its responsibilities. In such a case, the subsystem must have a dependency on that element (or the containing package or subsystem). These elements are “suppliers” of the subsystem. Such dependencies are usually monitored and regulated by the architecture team.</a:t>
            </a:r>
            <a:endParaRPr/>
          </a:p>
          <a:p>
            <a:pPr indent="0" lvl="0" marL="0" rtl="0" algn="l">
              <a:spcBef>
                <a:spcPts val="0"/>
              </a:spcBef>
              <a:spcAft>
                <a:spcPts val="0"/>
              </a:spcAft>
              <a:buNone/>
            </a:pPr>
            <a:r>
              <a:rPr lang="en-US" sz="1000">
                <a:latin typeface="Arial"/>
                <a:ea typeface="Arial"/>
                <a:cs typeface="Arial"/>
                <a:sym typeface="Arial"/>
              </a:rPr>
              <a:t>The subsystem dependencies class diagram should contain the subsystem and any dependencies on external packag(es) and/or subsystem(s). This diagram is meant to show the subsystem dependencies on external design elements.</a:t>
            </a:r>
            <a:endParaRPr/>
          </a:p>
          <a:p>
            <a:pPr indent="0" lvl="0" marL="0" rtl="0" algn="l">
              <a:spcBef>
                <a:spcPts val="0"/>
              </a:spcBef>
              <a:spcAft>
                <a:spcPts val="0"/>
              </a:spcAft>
              <a:buNone/>
            </a:pPr>
            <a:r>
              <a:rPr lang="en-US" sz="1000">
                <a:latin typeface="Arial"/>
                <a:ea typeface="Arial"/>
                <a:cs typeface="Arial"/>
                <a:sym typeface="Arial"/>
              </a:rPr>
              <a:t>Remember to use the conventions recommended in the course. </a:t>
            </a:r>
            <a:endParaRPr/>
          </a:p>
          <a:p>
            <a:pPr indent="0" lvl="0" marL="0" rtl="0" algn="l">
              <a:spcBef>
                <a:spcPts val="0"/>
              </a:spcBef>
              <a:spcAft>
                <a:spcPts val="0"/>
              </a:spcAft>
              <a:buNone/>
            </a:pPr>
            <a:r>
              <a:rPr lang="en-US" sz="1000">
                <a:latin typeface="Arial"/>
                <a:ea typeface="Arial"/>
                <a:cs typeface="Arial"/>
                <a:sym typeface="Arial"/>
              </a:rPr>
              <a:t>References to sample diagrams within the course that are similar to what should be produced are:</a:t>
            </a:r>
            <a:endParaRPr/>
          </a:p>
          <a:p>
            <a:pPr indent="-119169" lvl="1" marL="238338" rtl="0" algn="l">
              <a:spcBef>
                <a:spcPts val="0"/>
              </a:spcBef>
              <a:spcAft>
                <a:spcPts val="0"/>
              </a:spcAft>
              <a:buClr>
                <a:schemeClr val="dk1"/>
              </a:buClr>
              <a:buSzPts val="1000"/>
              <a:buFont typeface="Arial"/>
              <a:buChar char="•"/>
            </a:pPr>
            <a:r>
              <a:rPr lang="en-US" sz="1000">
                <a:latin typeface="Arial"/>
                <a:ea typeface="Arial"/>
                <a:cs typeface="Arial"/>
                <a:sym typeface="Arial"/>
              </a:rPr>
              <a:t>Subsystem class diagram: Slides 21-22.</a:t>
            </a:r>
            <a:endParaRPr/>
          </a:p>
          <a:p>
            <a:pPr indent="-119169" lvl="1" marL="238338" rtl="0" algn="l">
              <a:spcBef>
                <a:spcPts val="0"/>
              </a:spcBef>
              <a:spcAft>
                <a:spcPts val="0"/>
              </a:spcAft>
              <a:buClr>
                <a:schemeClr val="dk1"/>
              </a:buClr>
              <a:buSzPts val="1000"/>
              <a:buFont typeface="Arial"/>
              <a:buChar char="•"/>
            </a:pPr>
            <a:r>
              <a:rPr lang="en-US" sz="1000">
                <a:latin typeface="Arial"/>
                <a:ea typeface="Arial"/>
                <a:cs typeface="Arial"/>
                <a:sym typeface="Arial"/>
              </a:rPr>
              <a:t>Subsystem interface operation interaction diagram: Slides 17, 19.</a:t>
            </a:r>
            <a:endParaRPr/>
          </a:p>
          <a:p>
            <a:pPr indent="-119169" lvl="1" marL="238338" rtl="0" algn="l">
              <a:spcBef>
                <a:spcPts val="0"/>
              </a:spcBef>
              <a:spcAft>
                <a:spcPts val="0"/>
              </a:spcAft>
              <a:buClr>
                <a:schemeClr val="dk1"/>
              </a:buClr>
              <a:buSzPts val="1000"/>
              <a:buFont typeface="Arial"/>
              <a:buChar char="•"/>
            </a:pPr>
            <a:r>
              <a:rPr lang="en-US" sz="1000">
                <a:latin typeface="Arial"/>
                <a:ea typeface="Arial"/>
                <a:cs typeface="Arial"/>
                <a:sym typeface="Arial"/>
              </a:rPr>
              <a:t>Subsystem dependencies class diagram: Slides 25-26.</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4" name="Google Shape;704;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000">
                <a:latin typeface="Arial"/>
                <a:ea typeface="Arial"/>
                <a:cs typeface="Arial"/>
                <a:sym typeface="Arial"/>
              </a:rPr>
              <a:t>After completing a model, it is important to step back and review your work. Some helpful questions are:</a:t>
            </a:r>
            <a:endParaRPr/>
          </a:p>
          <a:p>
            <a:pPr indent="-119169" lvl="1" marL="238338" rtl="0" algn="l">
              <a:spcBef>
                <a:spcPts val="0"/>
              </a:spcBef>
              <a:spcAft>
                <a:spcPts val="0"/>
              </a:spcAft>
              <a:buClr>
                <a:schemeClr val="dk1"/>
              </a:buClr>
              <a:buSzPts val="1000"/>
              <a:buFont typeface="Arial"/>
              <a:buChar char="•"/>
            </a:pPr>
            <a:r>
              <a:rPr lang="en-US" sz="1000">
                <a:latin typeface="Arial"/>
                <a:ea typeface="Arial"/>
                <a:cs typeface="Arial"/>
                <a:sym typeface="Arial"/>
              </a:rPr>
              <a:t>Have all the main and/or subflows for the interface operations been handled?</a:t>
            </a:r>
            <a:endParaRPr/>
          </a:p>
          <a:p>
            <a:pPr indent="-119169" lvl="1" marL="238338" rtl="0" algn="l">
              <a:spcBef>
                <a:spcPts val="0"/>
              </a:spcBef>
              <a:spcAft>
                <a:spcPts val="0"/>
              </a:spcAft>
              <a:buClr>
                <a:schemeClr val="dk1"/>
              </a:buClr>
              <a:buSzPts val="1000"/>
              <a:buFont typeface="Arial"/>
              <a:buChar char="•"/>
            </a:pPr>
            <a:r>
              <a:rPr lang="en-US" sz="1000">
                <a:latin typeface="Arial"/>
                <a:ea typeface="Arial"/>
                <a:cs typeface="Arial"/>
                <a:sym typeface="Arial"/>
              </a:rPr>
              <a:t>Has all behavior been distributed among the participating design elements?  This includes design classes and interfaces.</a:t>
            </a:r>
            <a:endParaRPr/>
          </a:p>
          <a:p>
            <a:pPr indent="-119169" lvl="1" marL="238338" rtl="0" algn="l">
              <a:spcBef>
                <a:spcPts val="0"/>
              </a:spcBef>
              <a:spcAft>
                <a:spcPts val="0"/>
              </a:spcAft>
              <a:buClr>
                <a:schemeClr val="dk1"/>
              </a:buClr>
              <a:buSzPts val="1000"/>
              <a:buFont typeface="Arial"/>
              <a:buChar char="•"/>
            </a:pPr>
            <a:r>
              <a:rPr lang="en-US" sz="1000">
                <a:latin typeface="Arial"/>
                <a:ea typeface="Arial"/>
                <a:cs typeface="Arial"/>
                <a:sym typeface="Arial"/>
              </a:rPr>
              <a:t>Has behavior been distributed to the right design elements?</a:t>
            </a:r>
            <a:endParaRPr/>
          </a:p>
          <a:p>
            <a:pPr indent="-119169" lvl="1" marL="238338" rtl="0" algn="l">
              <a:spcBef>
                <a:spcPts val="0"/>
              </a:spcBef>
              <a:spcAft>
                <a:spcPts val="0"/>
              </a:spcAft>
              <a:buClr>
                <a:schemeClr val="dk1"/>
              </a:buClr>
              <a:buSzPts val="1000"/>
              <a:buFont typeface="Arial"/>
              <a:buChar char="•"/>
            </a:pPr>
            <a:r>
              <a:rPr lang="en-US" sz="1000">
                <a:latin typeface="Arial"/>
                <a:ea typeface="Arial"/>
                <a:cs typeface="Arial"/>
                <a:sym typeface="Arial"/>
              </a:rPr>
              <a:t>Are there any messages coming from the interface?  Remember, messages should not come from an interface because the behavior is realized by the subsystem.</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705" name="Google Shape;705;p25:notes"/>
          <p:cNvSpPr txBox="1"/>
          <p:nvPr>
            <p:ph idx="3"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Mastering OOAD – Instructor Notes</a:t>
            </a:r>
            <a:endParaRPr/>
          </a:p>
        </p:txBody>
      </p:sp>
      <p:sp>
        <p:nvSpPr>
          <p:cNvPr id="706" name="Google Shape;706;p25: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Module 12 - Subsystem Design</a:t>
            </a:r>
            <a:endParaRPr>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4" name="Google Shape;714;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gradFill>
          <a:gsLst>
            <a:gs pos="0">
              <a:srgbClr val="439FD7"/>
            </a:gs>
            <a:gs pos="25000">
              <a:srgbClr val="4397CA"/>
            </a:gs>
            <a:gs pos="100000">
              <a:srgbClr val="00466A"/>
            </a:gs>
          </a:gsLst>
          <a:path path="circle">
            <a:fillToRect b="50%" l="50%" r="50%" t="50%"/>
          </a:path>
          <a:tileRect/>
        </a:gradFill>
      </p:bgPr>
    </p:bg>
    <p:spTree>
      <p:nvGrpSpPr>
        <p:cNvPr id="20" name="Shape 20"/>
        <p:cNvGrpSpPr/>
        <p:nvPr/>
      </p:nvGrpSpPr>
      <p:grpSpPr>
        <a:xfrm>
          <a:off x="0" y="0"/>
          <a:ext cx="0" cy="0"/>
          <a:chOff x="0" y="0"/>
          <a:chExt cx="0" cy="0"/>
        </a:xfrm>
      </p:grpSpPr>
      <p:sp>
        <p:nvSpPr>
          <p:cNvPr id="21" name="Google Shape;21;p30"/>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lvl1pPr lvl="0" algn="r">
              <a:spcBef>
                <a:spcPts val="0"/>
              </a:spcBef>
              <a:spcAft>
                <a:spcPts val="0"/>
              </a:spcAft>
              <a:buClr>
                <a:srgbClr val="4CE0EA"/>
              </a:buClr>
              <a:buSzPts val="5600"/>
              <a:buFont typeface="Calibri"/>
              <a:buNone/>
              <a:defRPr b="1" sz="5600">
                <a:solidFill>
                  <a:srgbClr val="4CE0EA"/>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30"/>
          <p:cNvSpPr txBox="1"/>
          <p:nvPr>
            <p:ph idx="1" type="subTitle"/>
          </p:nvPr>
        </p:nvSpPr>
        <p:spPr>
          <a:xfrm>
            <a:off x="533400" y="3228536"/>
            <a:ext cx="7854696" cy="1752600"/>
          </a:xfrm>
          <a:prstGeom prst="rect">
            <a:avLst/>
          </a:prstGeom>
          <a:noFill/>
          <a:ln>
            <a:noFill/>
          </a:ln>
        </p:spPr>
        <p:txBody>
          <a:bodyPr anchorCtr="0" anchor="t" bIns="45700" lIns="0" spcFirstLastPara="1" rIns="18275" wrap="square" tIns="45700">
            <a:normAutofit/>
          </a:bodyPr>
          <a:lstStyle>
            <a:lvl1pPr lvl="0" marR="4572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23" name="Google Shape;23;p30"/>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0"/>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7" name="Shape 37"/>
        <p:cNvGrpSpPr/>
        <p:nvPr/>
      </p:nvGrpSpPr>
      <p:grpSpPr>
        <a:xfrm>
          <a:off x="0" y="0"/>
          <a:ext cx="0" cy="0"/>
          <a:chOff x="0" y="0"/>
          <a:chExt cx="0" cy="0"/>
        </a:xfrm>
      </p:grpSpPr>
      <p:sp>
        <p:nvSpPr>
          <p:cNvPr id="38" name="Google Shape;38;p31"/>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31"/>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0" name="Google Shape;40;p31"/>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31"/>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3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32"/>
          <p:cNvSpPr txBox="1"/>
          <p:nvPr>
            <p:ph type="title"/>
          </p:nvPr>
        </p:nvSpPr>
        <p:spPr>
          <a:xfrm>
            <a:off x="457200" y="704088"/>
            <a:ext cx="83058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Calibri"/>
              <a:buNone/>
              <a:defRPr b="0" sz="5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32"/>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32"/>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gradFill>
          <a:gsLst>
            <a:gs pos="0">
              <a:srgbClr val="439FD7"/>
            </a:gs>
            <a:gs pos="25000">
              <a:srgbClr val="4397CA"/>
            </a:gs>
            <a:gs pos="100000">
              <a:srgbClr val="00466A"/>
            </a:gs>
          </a:gsLst>
          <a:path path="circle">
            <a:fillToRect b="50%" l="50%" r="50%" t="50%"/>
          </a:path>
          <a:tileRect/>
        </a:gradFill>
      </p:bgPr>
    </p:bg>
    <p:spTree>
      <p:nvGrpSpPr>
        <p:cNvPr id="48" name="Shape 48"/>
        <p:cNvGrpSpPr/>
        <p:nvPr/>
      </p:nvGrpSpPr>
      <p:grpSpPr>
        <a:xfrm>
          <a:off x="0" y="0"/>
          <a:ext cx="0" cy="0"/>
          <a:chOff x="0" y="0"/>
          <a:chExt cx="0" cy="0"/>
        </a:xfrm>
      </p:grpSpPr>
      <p:sp>
        <p:nvSpPr>
          <p:cNvPr id="49" name="Google Shape;49;p29"/>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lvl1pPr lvl="0" algn="r">
              <a:spcBef>
                <a:spcPts val="0"/>
              </a:spcBef>
              <a:spcAft>
                <a:spcPts val="0"/>
              </a:spcAft>
              <a:buClr>
                <a:srgbClr val="4CE0EA"/>
              </a:buClr>
              <a:buSzPts val="5600"/>
              <a:buFont typeface="Calibri"/>
              <a:buNone/>
              <a:defRPr b="1" sz="5600">
                <a:solidFill>
                  <a:srgbClr val="4CE0EA"/>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29"/>
          <p:cNvSpPr txBox="1"/>
          <p:nvPr>
            <p:ph idx="1" type="subTitle"/>
          </p:nvPr>
        </p:nvSpPr>
        <p:spPr>
          <a:xfrm>
            <a:off x="533400" y="3228536"/>
            <a:ext cx="7854696" cy="1752600"/>
          </a:xfrm>
          <a:prstGeom prst="rect">
            <a:avLst/>
          </a:prstGeom>
          <a:noFill/>
          <a:ln>
            <a:noFill/>
          </a:ln>
        </p:spPr>
        <p:txBody>
          <a:bodyPr anchorCtr="0" anchor="t" bIns="45700" lIns="0" spcFirstLastPara="1" rIns="18275" wrap="square" tIns="45700">
            <a:normAutofit/>
          </a:bodyPr>
          <a:lstStyle>
            <a:lvl1pPr lvl="0" marR="4572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51" name="Google Shape;51;p29"/>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9"/>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gradFill>
          <a:gsLst>
            <a:gs pos="0">
              <a:srgbClr val="439FD7"/>
            </a:gs>
            <a:gs pos="25000">
              <a:srgbClr val="4397CA"/>
            </a:gs>
            <a:gs pos="100000">
              <a:srgbClr val="00466A"/>
            </a:gs>
          </a:gsLst>
          <a:path path="circle">
            <a:fillToRect b="50%" l="50%" r="50%" t="50%"/>
          </a:path>
          <a:tileRect/>
        </a:gradFill>
      </p:bgPr>
    </p:bg>
    <p:spTree>
      <p:nvGrpSpPr>
        <p:cNvPr id="54" name="Shape 54"/>
        <p:cNvGrpSpPr/>
        <p:nvPr/>
      </p:nvGrpSpPr>
      <p:grpSpPr>
        <a:xfrm>
          <a:off x="0" y="0"/>
          <a:ext cx="0" cy="0"/>
          <a:chOff x="0" y="0"/>
          <a:chExt cx="0" cy="0"/>
        </a:xfrm>
      </p:grpSpPr>
      <p:sp>
        <p:nvSpPr>
          <p:cNvPr id="55" name="Google Shape;55;p33"/>
          <p:cNvSpPr txBox="1"/>
          <p:nvPr>
            <p:ph type="title"/>
          </p:nvPr>
        </p:nvSpPr>
        <p:spPr>
          <a:xfrm>
            <a:off x="530352" y="1316736"/>
            <a:ext cx="7772400" cy="1362456"/>
          </a:xfrm>
          <a:prstGeom prst="rect">
            <a:avLst/>
          </a:prstGeom>
          <a:noFill/>
          <a:ln>
            <a:noFill/>
          </a:ln>
        </p:spPr>
        <p:txBody>
          <a:bodyPr anchorCtr="0" anchor="b" bIns="0" lIns="0" spcFirstLastPara="1" rIns="0" wrap="square" tIns="0">
            <a:noAutofit/>
          </a:bodyPr>
          <a:lstStyle>
            <a:lvl1pPr lvl="0" algn="l">
              <a:spcBef>
                <a:spcPts val="0"/>
              </a:spcBef>
              <a:spcAft>
                <a:spcPts val="0"/>
              </a:spcAft>
              <a:buClr>
                <a:srgbClr val="4AE3AC"/>
              </a:buClr>
              <a:buSzPts val="5600"/>
              <a:buFont typeface="Calibri"/>
              <a:buNone/>
              <a:defRPr b="1" sz="5600" cap="none">
                <a:solidFill>
                  <a:srgbClr val="4AE3AC"/>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3"/>
          <p:cNvSpPr txBox="1"/>
          <p:nvPr>
            <p:ph idx="1" type="body"/>
          </p:nvPr>
        </p:nvSpPr>
        <p:spPr>
          <a:xfrm>
            <a:off x="530352" y="2704664"/>
            <a:ext cx="7772400" cy="1509712"/>
          </a:xfrm>
          <a:prstGeom prst="rect">
            <a:avLst/>
          </a:prstGeom>
          <a:noFill/>
          <a:ln>
            <a:noFill/>
          </a:ln>
        </p:spPr>
        <p:txBody>
          <a:bodyPr anchorCtr="0" anchor="t" bIns="45700" lIns="45700" spcFirstLastPara="1" rIns="45700" wrap="square" tIns="45700">
            <a:normAutofit/>
          </a:bodyPr>
          <a:lstStyle>
            <a:lvl1pPr indent="-228600" lvl="0" marL="457200" algn="l">
              <a:spcBef>
                <a:spcPts val="440"/>
              </a:spcBef>
              <a:spcAft>
                <a:spcPts val="0"/>
              </a:spcAft>
              <a:buSzPts val="2090"/>
              <a:buNone/>
              <a:defRPr sz="2200">
                <a:solidFill>
                  <a:schemeClr val="lt1"/>
                </a:solidFill>
              </a:defRPr>
            </a:lvl1pPr>
            <a:lvl2pPr indent="-228600" lvl="1" marL="914400" algn="l">
              <a:spcBef>
                <a:spcPts val="360"/>
              </a:spcBef>
              <a:spcAft>
                <a:spcPts val="0"/>
              </a:spcAft>
              <a:buSzPts val="1530"/>
              <a:buNone/>
              <a:defRPr sz="1800">
                <a:solidFill>
                  <a:schemeClr val="lt1"/>
                </a:solidFill>
              </a:defRPr>
            </a:lvl2pPr>
            <a:lvl3pPr indent="-228600" lvl="2" marL="1371600" algn="l">
              <a:spcBef>
                <a:spcPts val="320"/>
              </a:spcBef>
              <a:spcAft>
                <a:spcPts val="0"/>
              </a:spcAft>
              <a:buSzPts val="1120"/>
              <a:buNone/>
              <a:defRPr sz="1600">
                <a:solidFill>
                  <a:schemeClr val="lt1"/>
                </a:solidFill>
              </a:defRPr>
            </a:lvl3pPr>
            <a:lvl4pPr indent="-228600" lvl="3" marL="1828800" algn="l">
              <a:spcBef>
                <a:spcPts val="280"/>
              </a:spcBef>
              <a:spcAft>
                <a:spcPts val="0"/>
              </a:spcAft>
              <a:buSzPts val="910"/>
              <a:buNone/>
              <a:defRPr sz="1400">
                <a:solidFill>
                  <a:schemeClr val="lt1"/>
                </a:solidFill>
              </a:defRPr>
            </a:lvl4pPr>
            <a:lvl5pPr indent="-228600" lvl="4" marL="2286000" algn="l">
              <a:spcBef>
                <a:spcPts val="280"/>
              </a:spcBef>
              <a:spcAft>
                <a:spcPts val="0"/>
              </a:spcAft>
              <a:buSzPts val="910"/>
              <a:buNone/>
              <a:defRPr sz="1400">
                <a:solidFill>
                  <a:schemeClr val="lt1"/>
                </a:solidFill>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7" name="Google Shape;57;p33"/>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33"/>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0" name="Shape 60"/>
        <p:cNvGrpSpPr/>
        <p:nvPr/>
      </p:nvGrpSpPr>
      <p:grpSpPr>
        <a:xfrm>
          <a:off x="0" y="0"/>
          <a:ext cx="0" cy="0"/>
          <a:chOff x="0" y="0"/>
          <a:chExt cx="0" cy="0"/>
        </a:xfrm>
      </p:grpSpPr>
      <p:sp>
        <p:nvSpPr>
          <p:cNvPr id="61" name="Google Shape;61;p34"/>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34"/>
          <p:cNvSpPr txBox="1"/>
          <p:nvPr>
            <p:ph idx="1" type="body"/>
          </p:nvPr>
        </p:nvSpPr>
        <p:spPr>
          <a:xfrm>
            <a:off x="457200" y="1920085"/>
            <a:ext cx="4038600" cy="4434840"/>
          </a:xfrm>
          <a:prstGeom prst="rect">
            <a:avLst/>
          </a:prstGeom>
          <a:noFill/>
          <a:ln>
            <a:noFill/>
          </a:ln>
        </p:spPr>
        <p:txBody>
          <a:bodyPr anchorCtr="0" anchor="t" bIns="45700" lIns="91425" spcFirstLastPara="1" rIns="91425" wrap="square" tIns="45700">
            <a:norm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3" name="Google Shape;63;p34"/>
          <p:cNvSpPr txBox="1"/>
          <p:nvPr>
            <p:ph idx="2" type="body"/>
          </p:nvPr>
        </p:nvSpPr>
        <p:spPr>
          <a:xfrm>
            <a:off x="4648200" y="1920085"/>
            <a:ext cx="4038600" cy="4434840"/>
          </a:xfrm>
          <a:prstGeom prst="rect">
            <a:avLst/>
          </a:prstGeom>
          <a:noFill/>
          <a:ln>
            <a:noFill/>
          </a:ln>
        </p:spPr>
        <p:txBody>
          <a:bodyPr anchorCtr="0" anchor="t" bIns="45700" lIns="91425" spcFirstLastPara="1" rIns="91425" wrap="square" tIns="45700">
            <a:norm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4" name="Google Shape;64;p34"/>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34"/>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7" name="Shape 67"/>
        <p:cNvGrpSpPr/>
        <p:nvPr/>
      </p:nvGrpSpPr>
      <p:grpSpPr>
        <a:xfrm>
          <a:off x="0" y="0"/>
          <a:ext cx="0" cy="0"/>
          <a:chOff x="0" y="0"/>
          <a:chExt cx="0" cy="0"/>
        </a:xfrm>
      </p:grpSpPr>
      <p:sp>
        <p:nvSpPr>
          <p:cNvPr id="68" name="Google Shape;68;p35"/>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35"/>
          <p:cNvSpPr txBox="1"/>
          <p:nvPr>
            <p:ph idx="1" type="body"/>
          </p:nvPr>
        </p:nvSpPr>
        <p:spPr>
          <a:xfrm>
            <a:off x="457200" y="1855248"/>
            <a:ext cx="4040188" cy="659352"/>
          </a:xfrm>
          <a:prstGeom prst="rect">
            <a:avLst/>
          </a:prstGeom>
          <a:noFill/>
          <a:ln>
            <a:noFill/>
          </a:ln>
        </p:spPr>
        <p:txBody>
          <a:bodyPr anchorCtr="0" anchor="ctr" bIns="0" lIns="45700" spcFirstLastPara="1" rIns="45700" wrap="square" tIns="0">
            <a:no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0" name="Google Shape;70;p35"/>
          <p:cNvSpPr txBox="1"/>
          <p:nvPr>
            <p:ph idx="2" type="body"/>
          </p:nvPr>
        </p:nvSpPr>
        <p:spPr>
          <a:xfrm>
            <a:off x="4645025" y="1859757"/>
            <a:ext cx="4041775" cy="654843"/>
          </a:xfrm>
          <a:prstGeom prst="rect">
            <a:avLst/>
          </a:prstGeom>
          <a:noFill/>
          <a:ln>
            <a:noFill/>
          </a:ln>
        </p:spPr>
        <p:txBody>
          <a:bodyPr anchorCtr="0" anchor="ctr" bIns="0" lIns="45700" spcFirstLastPara="1" rIns="45700" wrap="square" tIns="0">
            <a:norm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1" name="Google Shape;71;p35"/>
          <p:cNvSpPr txBox="1"/>
          <p:nvPr>
            <p:ph idx="3" type="body"/>
          </p:nvPr>
        </p:nvSpPr>
        <p:spPr>
          <a:xfrm>
            <a:off x="457200" y="2514600"/>
            <a:ext cx="4040188" cy="3845720"/>
          </a:xfrm>
          <a:prstGeom prst="rect">
            <a:avLst/>
          </a:prstGeom>
          <a:noFill/>
          <a:ln>
            <a:noFill/>
          </a:ln>
        </p:spPr>
        <p:txBody>
          <a:bodyPr anchorCtr="0" anchor="t" bIns="45700" lIns="91425" spcFirstLastPara="1" rIns="91425" wrap="square" tIns="0">
            <a:norm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2" name="Google Shape;72;p35"/>
          <p:cNvSpPr txBox="1"/>
          <p:nvPr>
            <p:ph idx="4" type="body"/>
          </p:nvPr>
        </p:nvSpPr>
        <p:spPr>
          <a:xfrm>
            <a:off x="4645025" y="2514600"/>
            <a:ext cx="4041775" cy="3845720"/>
          </a:xfrm>
          <a:prstGeom prst="rect">
            <a:avLst/>
          </a:prstGeom>
          <a:noFill/>
          <a:ln>
            <a:noFill/>
          </a:ln>
        </p:spPr>
        <p:txBody>
          <a:bodyPr anchorCtr="0" anchor="t" bIns="45700" lIns="91425" spcFirstLastPara="1" rIns="91425" wrap="square" tIns="0">
            <a:norm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3" name="Google Shape;73;p35"/>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35"/>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3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6" name="Shape 76"/>
        <p:cNvGrpSpPr/>
        <p:nvPr/>
      </p:nvGrpSpPr>
      <p:grpSpPr>
        <a:xfrm>
          <a:off x="0" y="0"/>
          <a:ext cx="0" cy="0"/>
          <a:chOff x="0" y="0"/>
          <a:chExt cx="0" cy="0"/>
        </a:xfrm>
      </p:grpSpPr>
      <p:sp>
        <p:nvSpPr>
          <p:cNvPr id="77" name="Google Shape;77;p36"/>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6"/>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0" name="Shape 80"/>
        <p:cNvGrpSpPr/>
        <p:nvPr/>
      </p:nvGrpSpPr>
      <p:grpSpPr>
        <a:xfrm>
          <a:off x="0" y="0"/>
          <a:ext cx="0" cy="0"/>
          <a:chOff x="0" y="0"/>
          <a:chExt cx="0" cy="0"/>
        </a:xfrm>
      </p:grpSpPr>
      <p:sp>
        <p:nvSpPr>
          <p:cNvPr id="81" name="Google Shape;81;p37"/>
          <p:cNvSpPr txBox="1"/>
          <p:nvPr>
            <p:ph type="title"/>
          </p:nvPr>
        </p:nvSpPr>
        <p:spPr>
          <a:xfrm>
            <a:off x="685800" y="514352"/>
            <a:ext cx="2743200" cy="1162050"/>
          </a:xfrm>
          <a:prstGeom prst="rect">
            <a:avLst/>
          </a:prstGeom>
          <a:noFill/>
          <a:ln>
            <a:noFill/>
          </a:ln>
        </p:spPr>
        <p:txBody>
          <a:bodyPr anchorCtr="0" anchor="b" bIns="0" lIns="0" spcFirstLastPara="1" rIns="0" wrap="square" tIns="45700">
            <a:noAutofit/>
          </a:bodyPr>
          <a:lstStyle>
            <a:lvl1pPr lvl="0" algn="l">
              <a:spcBef>
                <a:spcPts val="0"/>
              </a:spcBef>
              <a:spcAft>
                <a:spcPts val="0"/>
              </a:spcAft>
              <a:buClr>
                <a:schemeClr val="dk2"/>
              </a:buClr>
              <a:buSzPts val="2600"/>
              <a:buFont typeface="Calibri"/>
              <a:buNone/>
              <a:defRPr b="0" sz="26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37"/>
          <p:cNvSpPr txBox="1"/>
          <p:nvPr>
            <p:ph idx="1" type="body"/>
          </p:nvPr>
        </p:nvSpPr>
        <p:spPr>
          <a:xfrm>
            <a:off x="685800" y="1676400"/>
            <a:ext cx="2743200" cy="4572000"/>
          </a:xfrm>
          <a:prstGeom prst="rect">
            <a:avLst/>
          </a:prstGeom>
          <a:noFill/>
          <a:ln>
            <a:noFill/>
          </a:ln>
        </p:spPr>
        <p:txBody>
          <a:bodyPr anchorCtr="0" anchor="t" bIns="45700" lIns="18275" spcFirstLastPara="1" rIns="18275" wrap="square" tIns="45700">
            <a:normAutofit/>
          </a:bodyPr>
          <a:lstStyle>
            <a:lvl1pPr indent="-228600" lvl="0" marL="457200" algn="l">
              <a:spcBef>
                <a:spcPts val="280"/>
              </a:spcBef>
              <a:spcAft>
                <a:spcPts val="0"/>
              </a:spcAft>
              <a:buSzPts val="1330"/>
              <a:buNone/>
              <a:defRPr sz="14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700"/>
              <a:buNone/>
              <a:defRPr sz="1000"/>
            </a:lvl3pPr>
            <a:lvl4pPr indent="-228600" lvl="3" marL="1828800" algn="l">
              <a:spcBef>
                <a:spcPts val="180"/>
              </a:spcBef>
              <a:spcAft>
                <a:spcPts val="0"/>
              </a:spcAft>
              <a:buSzPts val="585"/>
              <a:buNone/>
              <a:defRPr sz="900"/>
            </a:lvl4pPr>
            <a:lvl5pPr indent="-228600" lvl="4" marL="2286000" algn="l">
              <a:spcBef>
                <a:spcPts val="180"/>
              </a:spcBef>
              <a:spcAft>
                <a:spcPts val="0"/>
              </a:spcAft>
              <a:buSzPts val="585"/>
              <a:buNone/>
              <a:defRPr sz="9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3" name="Google Shape;83;p37"/>
          <p:cNvSpPr txBox="1"/>
          <p:nvPr>
            <p:ph idx="2" type="body"/>
          </p:nvPr>
        </p:nvSpPr>
        <p:spPr>
          <a:xfrm>
            <a:off x="3575050" y="1676400"/>
            <a:ext cx="5111750" cy="4572000"/>
          </a:xfrm>
          <a:prstGeom prst="rect">
            <a:avLst/>
          </a:prstGeom>
          <a:noFill/>
          <a:ln>
            <a:noFill/>
          </a:ln>
        </p:spPr>
        <p:txBody>
          <a:bodyPr anchorCtr="0" anchor="t" bIns="45700" lIns="91425" spcFirstLastPara="1" rIns="91425" wrap="square" tIns="0">
            <a:normAutofit/>
          </a:bodyPr>
          <a:lstStyle>
            <a:lvl1pPr indent="-397510" lvl="0" marL="457200" algn="l">
              <a:spcBef>
                <a:spcPts val="560"/>
              </a:spcBef>
              <a:spcAft>
                <a:spcPts val="0"/>
              </a:spcAft>
              <a:buSzPts val="2660"/>
              <a:buChar char="⚫"/>
              <a:defRPr sz="2800"/>
            </a:lvl1pPr>
            <a:lvl2pPr indent="-368935" lvl="1" marL="914400" algn="l">
              <a:spcBef>
                <a:spcPts val="520"/>
              </a:spcBef>
              <a:spcAft>
                <a:spcPts val="0"/>
              </a:spcAft>
              <a:buSzPts val="2210"/>
              <a:buChar char="⚫"/>
              <a:defRPr sz="2600"/>
            </a:lvl2pPr>
            <a:lvl3pPr indent="-335280" lvl="2" marL="1371600" algn="l">
              <a:spcBef>
                <a:spcPts val="480"/>
              </a:spcBef>
              <a:spcAft>
                <a:spcPts val="0"/>
              </a:spcAft>
              <a:buSzPts val="1680"/>
              <a:buChar char="⚫"/>
              <a:defRPr sz="2400"/>
            </a:lvl3pPr>
            <a:lvl4pPr indent="-311150" lvl="3" marL="1828800" algn="l">
              <a:spcBef>
                <a:spcPts val="400"/>
              </a:spcBef>
              <a:spcAft>
                <a:spcPts val="0"/>
              </a:spcAft>
              <a:buSzPts val="1300"/>
              <a:buChar char="⚫"/>
              <a:defRPr sz="20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4" name="Google Shape;84;p37"/>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37"/>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3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87" name="Shape 87"/>
        <p:cNvGrpSpPr/>
        <p:nvPr/>
      </p:nvGrpSpPr>
      <p:grpSpPr>
        <a:xfrm>
          <a:off x="0" y="0"/>
          <a:ext cx="0" cy="0"/>
          <a:chOff x="0" y="0"/>
          <a:chExt cx="0" cy="0"/>
        </a:xfrm>
      </p:grpSpPr>
      <p:sp>
        <p:nvSpPr>
          <p:cNvPr id="88" name="Google Shape;88;p38"/>
          <p:cNvSpPr/>
          <p:nvPr/>
        </p:nvSpPr>
        <p:spPr>
          <a:xfrm flipH="1" rot="-10380000">
            <a:off x="3165753" y="1108077"/>
            <a:ext cx="5257800" cy="4114800"/>
          </a:xfrm>
          <a:prstGeom prst="snipRoundRect">
            <a:avLst>
              <a:gd fmla="val 0" name="adj1"/>
              <a:gd fmla="val 3646" name="adj2"/>
            </a:avLst>
          </a:prstGeom>
          <a:solidFill>
            <a:srgbClr val="FFFFFF"/>
          </a:solidFill>
          <a:ln cap="rnd" cmpd="sng" w="9525">
            <a:solidFill>
              <a:srgbClr val="C0C0C0"/>
            </a:solidFill>
            <a:prstDash val="solid"/>
            <a:round/>
            <a:headEnd len="sm" w="sm" type="none"/>
            <a:tailEnd len="sm" w="sm" type="none"/>
          </a:ln>
          <a:effectLst>
            <a:outerShdw blurRad="63500" sx="98500" kx="100000" rotWithShape="0" algn="tl" dir="7500000" dist="38500" sy="100080">
              <a:srgbClr val="000000">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89" name="Google Shape;89;p38"/>
          <p:cNvSpPr/>
          <p:nvPr/>
        </p:nvSpPr>
        <p:spPr>
          <a:xfrm flipH="1" rot="-10380000">
            <a:off x="8004134" y="5359769"/>
            <a:ext cx="155448" cy="155448"/>
          </a:xfrm>
          <a:prstGeom prst="rtTriangle">
            <a:avLst/>
          </a:prstGeom>
          <a:solidFill>
            <a:srgbClr val="FFFFFF"/>
          </a:solidFill>
          <a:ln cap="flat" cmpd="sng" w="12700">
            <a:solidFill>
              <a:srgbClr val="FFFFFF"/>
            </a:solidFill>
            <a:prstDash val="solid"/>
            <a:bevel/>
            <a:headEnd len="sm" w="sm" type="none"/>
            <a:tailEnd len="sm" w="sm" type="none"/>
          </a:ln>
          <a:effectLst>
            <a:outerShdw blurRad="19685" rotWithShape="0" algn="tl" dir="12900000" dist="6350">
              <a:srgbClr val="000000">
                <a:alpha val="46666"/>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90" name="Google Shape;90;p38"/>
          <p:cNvSpPr txBox="1"/>
          <p:nvPr>
            <p:ph type="title"/>
          </p:nvPr>
        </p:nvSpPr>
        <p:spPr>
          <a:xfrm>
            <a:off x="609600" y="1176996"/>
            <a:ext cx="2212848" cy="1582621"/>
          </a:xfrm>
          <a:prstGeom prst="rect">
            <a:avLst/>
          </a:prstGeom>
          <a:noFill/>
          <a:ln>
            <a:noFill/>
          </a:ln>
        </p:spPr>
        <p:txBody>
          <a:bodyPr anchorCtr="0" anchor="b" bIns="45700" lIns="45700" spcFirstLastPara="1" rIns="45700" wrap="square" tIns="45700">
            <a:normAutofit/>
          </a:bodyPr>
          <a:lstStyle>
            <a:lvl1pPr lvl="0" algn="l">
              <a:spcBef>
                <a:spcPts val="0"/>
              </a:spcBef>
              <a:spcAft>
                <a:spcPts val="0"/>
              </a:spcAft>
              <a:buClr>
                <a:schemeClr val="dk2"/>
              </a:buClr>
              <a:buSzPts val="2000"/>
              <a:buFont typeface="Calibri"/>
              <a:buNone/>
              <a:defRPr b="1" sz="2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38"/>
          <p:cNvSpPr txBox="1"/>
          <p:nvPr>
            <p:ph idx="1" type="body"/>
          </p:nvPr>
        </p:nvSpPr>
        <p:spPr>
          <a:xfrm>
            <a:off x="609600" y="2828785"/>
            <a:ext cx="2209800" cy="2179320"/>
          </a:xfrm>
          <a:prstGeom prst="rect">
            <a:avLst/>
          </a:prstGeom>
          <a:noFill/>
          <a:ln>
            <a:noFill/>
          </a:ln>
        </p:spPr>
        <p:txBody>
          <a:bodyPr anchorCtr="0" anchor="t" bIns="45700" lIns="64000" spcFirstLastPara="1" rIns="45700" wrap="square" tIns="45700">
            <a:normAutofit/>
          </a:bodyPr>
          <a:lstStyle>
            <a:lvl1pPr indent="-228600" lvl="0" marL="457200" algn="l">
              <a:spcBef>
                <a:spcPts val="250"/>
              </a:spcBef>
              <a:spcAft>
                <a:spcPts val="0"/>
              </a:spcAft>
              <a:buSzPts val="1235"/>
              <a:buFont typeface="Constantia"/>
              <a:buNone/>
              <a:defRPr sz="1300"/>
            </a:lvl1pPr>
            <a:lvl2pPr indent="-293369" lvl="1" marL="914400" algn="l">
              <a:spcBef>
                <a:spcPts val="240"/>
              </a:spcBef>
              <a:spcAft>
                <a:spcPts val="0"/>
              </a:spcAft>
              <a:buSzPts val="1020"/>
              <a:buChar char="⚫"/>
              <a:defRPr sz="1200"/>
            </a:lvl2pPr>
            <a:lvl3pPr indent="-273050" lvl="2" marL="1371600" algn="l">
              <a:spcBef>
                <a:spcPts val="200"/>
              </a:spcBef>
              <a:spcAft>
                <a:spcPts val="0"/>
              </a:spcAft>
              <a:buSzPts val="700"/>
              <a:buChar char="⚫"/>
              <a:defRPr sz="1000"/>
            </a:lvl3pPr>
            <a:lvl4pPr indent="-265747" lvl="3" marL="1828800" algn="l">
              <a:spcBef>
                <a:spcPts val="180"/>
              </a:spcBef>
              <a:spcAft>
                <a:spcPts val="0"/>
              </a:spcAft>
              <a:buSzPts val="585"/>
              <a:buChar char="⚫"/>
              <a:defRPr sz="900"/>
            </a:lvl4pPr>
            <a:lvl5pPr indent="-265747" lvl="4" marL="2286000" algn="l">
              <a:spcBef>
                <a:spcPts val="180"/>
              </a:spcBef>
              <a:spcAft>
                <a:spcPts val="0"/>
              </a:spcAft>
              <a:buSzPts val="585"/>
              <a:buChar char="⚫"/>
              <a:defRPr sz="9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2" name="Google Shape;92;p38"/>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38"/>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38"/>
          <p:cNvSpPr txBox="1"/>
          <p:nvPr>
            <p:ph idx="12" type="sldNum"/>
          </p:nvPr>
        </p:nvSpPr>
        <p:spPr>
          <a:xfrm>
            <a:off x="8077200" y="6356350"/>
            <a:ext cx="6096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5" name="Google Shape;95;p38"/>
          <p:cNvSpPr/>
          <p:nvPr>
            <p:ph idx="2" type="pic"/>
          </p:nvPr>
        </p:nvSpPr>
        <p:spPr>
          <a:xfrm rot="420000">
            <a:off x="3485793" y="1199517"/>
            <a:ext cx="4617720" cy="3931920"/>
          </a:xfrm>
          <a:prstGeom prst="rect">
            <a:avLst/>
          </a:prstGeom>
          <a:solidFill>
            <a:schemeClr val="lt2"/>
          </a:solidFill>
          <a:ln cap="rnd" cmpd="sng" w="9525">
            <a:solidFill>
              <a:srgbClr val="C0C0C0"/>
            </a:solidFill>
            <a:prstDash val="solid"/>
            <a:round/>
            <a:headEnd len="sm" w="sm" type="none"/>
            <a:tailEnd len="sm" w="sm" type="none"/>
          </a:ln>
        </p:spPr>
        <p:txBody>
          <a:bodyPr anchorCtr="0" anchor="t" bIns="45700" lIns="91425" spcFirstLastPara="1" rIns="91425" wrap="square" tIns="45700">
            <a:normAutofit/>
          </a:bodyPr>
          <a:lstStyle>
            <a:lvl1pPr lvl="0" marR="0" rtl="0" algn="l">
              <a:spcBef>
                <a:spcPts val="640"/>
              </a:spcBef>
              <a:spcAft>
                <a:spcPts val="0"/>
              </a:spcAft>
              <a:buClr>
                <a:schemeClr val="accent3"/>
              </a:buClr>
              <a:buSzPts val="3040"/>
              <a:buFont typeface="Noto Sans Symbols"/>
              <a:buNone/>
              <a:defRPr b="0" i="0" sz="3200" u="none" cap="none" strike="noStrike">
                <a:solidFill>
                  <a:schemeClr val="dk1"/>
                </a:solidFill>
                <a:latin typeface="Constantia"/>
                <a:ea typeface="Constantia"/>
                <a:cs typeface="Constantia"/>
                <a:sym typeface="Constantia"/>
              </a:defRPr>
            </a:lvl1pPr>
            <a:lvl2pPr lvl="1"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lvl="2"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lvl="3" marR="0" rtl="0" algn="l">
              <a:spcBef>
                <a:spcPts val="400"/>
              </a:spcBef>
              <a:spcAft>
                <a:spcPts val="0"/>
              </a:spcAft>
              <a:buClr>
                <a:schemeClr val="accent3"/>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lvl="4" marR="0" rtl="0" algn="l">
              <a:spcBef>
                <a:spcPts val="400"/>
              </a:spcBef>
              <a:spcAft>
                <a:spcPts val="0"/>
              </a:spcAft>
              <a:buClr>
                <a:schemeClr val="accent4"/>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lvl="5"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lvl="6"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lvl="7"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lvl="8"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96" name="Google Shape;96;p38"/>
          <p:cNvSpPr/>
          <p:nvPr/>
        </p:nvSpPr>
        <p:spPr>
          <a:xfrm flipH="1" rot="10800000">
            <a:off x="-9525" y="5816600"/>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7" name="Google Shape;97;p38"/>
          <p:cNvSpPr/>
          <p:nvPr/>
        </p:nvSpPr>
        <p:spPr>
          <a:xfrm flipH="1" rot="10800000">
            <a:off x="4381500" y="6219825"/>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8" name="Shape 98"/>
        <p:cNvGrpSpPr/>
        <p:nvPr/>
      </p:nvGrpSpPr>
      <p:grpSpPr>
        <a:xfrm>
          <a:off x="0" y="0"/>
          <a:ext cx="0" cy="0"/>
          <a:chOff x="0" y="0"/>
          <a:chExt cx="0" cy="0"/>
        </a:xfrm>
      </p:grpSpPr>
      <p:sp>
        <p:nvSpPr>
          <p:cNvPr id="99" name="Google Shape;99;p39"/>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39"/>
          <p:cNvSpPr txBox="1"/>
          <p:nvPr>
            <p:ph idx="1" type="body"/>
          </p:nvPr>
        </p:nvSpPr>
        <p:spPr>
          <a:xfrm rot="5400000">
            <a:off x="2377440" y="15240"/>
            <a:ext cx="4389120" cy="82296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1" name="Google Shape;101;p39"/>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39"/>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3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4" name="Shape 104"/>
        <p:cNvGrpSpPr/>
        <p:nvPr/>
      </p:nvGrpSpPr>
      <p:grpSpPr>
        <a:xfrm>
          <a:off x="0" y="0"/>
          <a:ext cx="0" cy="0"/>
          <a:chOff x="0" y="0"/>
          <a:chExt cx="0" cy="0"/>
        </a:xfrm>
      </p:grpSpPr>
      <p:sp>
        <p:nvSpPr>
          <p:cNvPr id="105" name="Google Shape;105;p40"/>
          <p:cNvSpPr txBox="1"/>
          <p:nvPr>
            <p:ph type="title"/>
          </p:nvPr>
        </p:nvSpPr>
        <p:spPr>
          <a:xfrm rot="5400000">
            <a:off x="5052218" y="2491583"/>
            <a:ext cx="5211763" cy="20574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40"/>
          <p:cNvSpPr txBox="1"/>
          <p:nvPr>
            <p:ph idx="1" type="body"/>
          </p:nvPr>
        </p:nvSpPr>
        <p:spPr>
          <a:xfrm rot="5400000">
            <a:off x="861219" y="510383"/>
            <a:ext cx="5211763" cy="60198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7" name="Google Shape;107;p40"/>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40"/>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4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image" Target="../media/image2.pn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65000" ty="0" sy="65000"/>
        </a:blipFill>
      </p:bgPr>
    </p:bg>
    <p:spTree>
      <p:nvGrpSpPr>
        <p:cNvPr id="9" name="Shape 9"/>
        <p:cNvGrpSpPr/>
        <p:nvPr/>
      </p:nvGrpSpPr>
      <p:grpSpPr>
        <a:xfrm>
          <a:off x="0" y="0"/>
          <a:ext cx="0" cy="0"/>
          <a:chOff x="0" y="0"/>
          <a:chExt cx="0" cy="0"/>
        </a:xfrm>
      </p:grpSpPr>
      <p:sp>
        <p:nvSpPr>
          <p:cNvPr id="10" name="Google Shape;10;p28"/>
          <p:cNvSpPr/>
          <p:nvPr/>
        </p:nvSpPr>
        <p:spPr>
          <a:xfrm>
            <a:off x="-9525" y="-7144"/>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Constantia"/>
              <a:ea typeface="Constantia"/>
              <a:cs typeface="Constantia"/>
              <a:sym typeface="Constantia"/>
            </a:endParaRPr>
          </a:p>
        </p:txBody>
      </p:sp>
      <p:sp>
        <p:nvSpPr>
          <p:cNvPr id="11" name="Google Shape;11;p28"/>
          <p:cNvSpPr/>
          <p:nvPr/>
        </p:nvSpPr>
        <p:spPr>
          <a:xfrm>
            <a:off x="4381500" y="-7144"/>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Constantia"/>
              <a:ea typeface="Constantia"/>
              <a:cs typeface="Constantia"/>
              <a:sym typeface="Constantia"/>
            </a:endParaRPr>
          </a:p>
        </p:txBody>
      </p:sp>
      <p:sp>
        <p:nvSpPr>
          <p:cNvPr id="12" name="Google Shape;12;p28"/>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marR="0" rtl="0" algn="l">
              <a:spcBef>
                <a:spcPts val="0"/>
              </a:spcBef>
              <a:spcAft>
                <a:spcPts val="0"/>
              </a:spcAft>
              <a:buClr>
                <a:schemeClr val="lt2"/>
              </a:buClr>
              <a:buSzPts val="5000"/>
              <a:buFont typeface="Calibri"/>
              <a:buNone/>
              <a:defRPr b="0" i="0" sz="5000" u="none" cap="none" strike="noStrike">
                <a:solidFill>
                  <a:schemeClr val="lt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28"/>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85445" lvl="0" marL="457200" marR="0" rtl="0" algn="l">
              <a:spcBef>
                <a:spcPts val="520"/>
              </a:spcBef>
              <a:spcAft>
                <a:spcPts val="0"/>
              </a:spcAft>
              <a:buClr>
                <a:schemeClr val="accent3"/>
              </a:buClr>
              <a:buSzPts val="2470"/>
              <a:buFont typeface="Noto Sans Symbols"/>
              <a:buChar char="⚫"/>
              <a:defRPr b="0" i="0" sz="2600" u="none" cap="none" strike="noStrike">
                <a:solidFill>
                  <a:schemeClr val="lt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lt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lt1"/>
                </a:solidFill>
                <a:latin typeface="Constantia"/>
                <a:ea typeface="Constantia"/>
                <a:cs typeface="Constantia"/>
                <a:sym typeface="Constantia"/>
              </a:defRPr>
            </a:lvl3pPr>
            <a:lvl4pPr indent="-311150" lvl="3" marL="1828800" marR="0" rtl="0" algn="l">
              <a:spcBef>
                <a:spcPts val="400"/>
              </a:spcBef>
              <a:spcAft>
                <a:spcPts val="0"/>
              </a:spcAft>
              <a:buClr>
                <a:schemeClr val="accent3"/>
              </a:buClr>
              <a:buSzPts val="1300"/>
              <a:buFont typeface="Noto Sans Symbols"/>
              <a:buChar char="⚫"/>
              <a:defRPr b="0" i="0" sz="2000" u="none" cap="none" strike="noStrike">
                <a:solidFill>
                  <a:schemeClr val="lt1"/>
                </a:solidFill>
                <a:latin typeface="Constantia"/>
                <a:ea typeface="Constantia"/>
                <a:cs typeface="Constantia"/>
                <a:sym typeface="Constantia"/>
              </a:defRPr>
            </a:lvl4pPr>
            <a:lvl5pPr indent="-311150" lvl="4" marL="2286000" marR="0" rtl="0" algn="l">
              <a:spcBef>
                <a:spcPts val="400"/>
              </a:spcBef>
              <a:spcAft>
                <a:spcPts val="0"/>
              </a:spcAft>
              <a:buClr>
                <a:schemeClr val="accent4"/>
              </a:buClr>
              <a:buSzPts val="1300"/>
              <a:buFont typeface="Noto Sans Symbols"/>
              <a:buChar char="⚫"/>
              <a:defRPr b="0" i="0" sz="2000" u="none" cap="none" strike="noStrike">
                <a:solidFill>
                  <a:schemeClr val="lt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lt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lt1"/>
                </a:solidFill>
                <a:latin typeface="Constantia"/>
                <a:ea typeface="Constantia"/>
                <a:cs typeface="Constantia"/>
                <a:sym typeface="Constantia"/>
              </a:defRPr>
            </a:lvl7pPr>
            <a:lvl8pPr indent="-330200" lvl="7" marL="3657600" marR="0" rtl="0" algn="l">
              <a:spcBef>
                <a:spcPts val="320"/>
              </a:spcBef>
              <a:spcAft>
                <a:spcPts val="0"/>
              </a:spcAft>
              <a:buClr>
                <a:schemeClr val="lt2"/>
              </a:buClr>
              <a:buSzPts val="1600"/>
              <a:buFont typeface="Constantia"/>
              <a:buChar char="•"/>
              <a:defRPr b="0" i="0" sz="1600" u="none" cap="none" strike="noStrike">
                <a:solidFill>
                  <a:schemeClr val="lt1"/>
                </a:solidFill>
                <a:latin typeface="Constantia"/>
                <a:ea typeface="Constantia"/>
                <a:cs typeface="Constantia"/>
                <a:sym typeface="Constantia"/>
              </a:defRPr>
            </a:lvl8pPr>
            <a:lvl9pPr indent="-317500" lvl="8" marL="4114800" marR="0" rtl="0" algn="l">
              <a:spcBef>
                <a:spcPts val="280"/>
              </a:spcBef>
              <a:spcAft>
                <a:spcPts val="0"/>
              </a:spcAft>
              <a:buClr>
                <a:schemeClr val="lt2"/>
              </a:buClr>
              <a:buSzPts val="1400"/>
              <a:buFont typeface="Constantia"/>
              <a:buChar char="•"/>
              <a:defRPr b="0" i="0" sz="1400" u="none" cap="none" strike="noStrike">
                <a:solidFill>
                  <a:schemeClr val="lt1"/>
                </a:solidFill>
                <a:latin typeface="Constantia"/>
                <a:ea typeface="Constantia"/>
                <a:cs typeface="Constantia"/>
                <a:sym typeface="Constantia"/>
              </a:defRPr>
            </a:lvl9pPr>
          </a:lstStyle>
          <a:p/>
        </p:txBody>
      </p:sp>
      <p:sp>
        <p:nvSpPr>
          <p:cNvPr id="14" name="Google Shape;14;p28"/>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200" u="none" cap="none" strike="noStrike">
                <a:solidFill>
                  <a:srgbClr val="D0E9ED"/>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9pPr>
          </a:lstStyle>
          <a:p/>
        </p:txBody>
      </p:sp>
      <p:sp>
        <p:nvSpPr>
          <p:cNvPr id="15" name="Google Shape;15;p28"/>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200" u="none" cap="none" strike="noStrike">
                <a:solidFill>
                  <a:srgbClr val="D0E9ED"/>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9pPr>
          </a:lstStyle>
          <a:p/>
        </p:txBody>
      </p:sp>
      <p:sp>
        <p:nvSpPr>
          <p:cNvPr id="16" name="Google Shape;16;p2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spcBef>
                <a:spcPts val="0"/>
              </a:spcBef>
              <a:buNone/>
              <a:defRPr b="0" i="0" sz="1200" u="none" cap="none" strike="noStrike">
                <a:solidFill>
                  <a:srgbClr val="D0E9ED"/>
                </a:solidFill>
                <a:latin typeface="Constantia"/>
                <a:ea typeface="Constantia"/>
                <a:cs typeface="Constantia"/>
                <a:sym typeface="Constantia"/>
              </a:defRPr>
            </a:lvl1pPr>
            <a:lvl2pPr indent="0" lvl="1" marL="0" marR="0" rtl="0" algn="r">
              <a:spcBef>
                <a:spcPts val="0"/>
              </a:spcBef>
              <a:buNone/>
              <a:defRPr b="0" i="0" sz="1200" u="none" cap="none" strike="noStrike">
                <a:solidFill>
                  <a:srgbClr val="D0E9ED"/>
                </a:solidFill>
                <a:latin typeface="Constantia"/>
                <a:ea typeface="Constantia"/>
                <a:cs typeface="Constantia"/>
                <a:sym typeface="Constantia"/>
              </a:defRPr>
            </a:lvl2pPr>
            <a:lvl3pPr indent="0" lvl="2" marL="0" marR="0" rtl="0" algn="r">
              <a:spcBef>
                <a:spcPts val="0"/>
              </a:spcBef>
              <a:buNone/>
              <a:defRPr b="0" i="0" sz="1200" u="none" cap="none" strike="noStrike">
                <a:solidFill>
                  <a:srgbClr val="D0E9ED"/>
                </a:solidFill>
                <a:latin typeface="Constantia"/>
                <a:ea typeface="Constantia"/>
                <a:cs typeface="Constantia"/>
                <a:sym typeface="Constantia"/>
              </a:defRPr>
            </a:lvl3pPr>
            <a:lvl4pPr indent="0" lvl="3" marL="0" marR="0" rtl="0" algn="r">
              <a:spcBef>
                <a:spcPts val="0"/>
              </a:spcBef>
              <a:buNone/>
              <a:defRPr b="0" i="0" sz="1200" u="none" cap="none" strike="noStrike">
                <a:solidFill>
                  <a:srgbClr val="D0E9ED"/>
                </a:solidFill>
                <a:latin typeface="Constantia"/>
                <a:ea typeface="Constantia"/>
                <a:cs typeface="Constantia"/>
                <a:sym typeface="Constantia"/>
              </a:defRPr>
            </a:lvl4pPr>
            <a:lvl5pPr indent="0" lvl="4" marL="0" marR="0" rtl="0" algn="r">
              <a:spcBef>
                <a:spcPts val="0"/>
              </a:spcBef>
              <a:buNone/>
              <a:defRPr b="0" i="0" sz="1200" u="none" cap="none" strike="noStrike">
                <a:solidFill>
                  <a:srgbClr val="D0E9ED"/>
                </a:solidFill>
                <a:latin typeface="Constantia"/>
                <a:ea typeface="Constantia"/>
                <a:cs typeface="Constantia"/>
                <a:sym typeface="Constantia"/>
              </a:defRPr>
            </a:lvl5pPr>
            <a:lvl6pPr indent="0" lvl="5" marL="0" marR="0" rtl="0" algn="r">
              <a:spcBef>
                <a:spcPts val="0"/>
              </a:spcBef>
              <a:buNone/>
              <a:defRPr b="0" i="0" sz="1200" u="none" cap="none" strike="noStrike">
                <a:solidFill>
                  <a:srgbClr val="D0E9ED"/>
                </a:solidFill>
                <a:latin typeface="Constantia"/>
                <a:ea typeface="Constantia"/>
                <a:cs typeface="Constantia"/>
                <a:sym typeface="Constantia"/>
              </a:defRPr>
            </a:lvl6pPr>
            <a:lvl7pPr indent="0" lvl="6" marL="0" marR="0" rtl="0" algn="r">
              <a:spcBef>
                <a:spcPts val="0"/>
              </a:spcBef>
              <a:buNone/>
              <a:defRPr b="0" i="0" sz="1200" u="none" cap="none" strike="noStrike">
                <a:solidFill>
                  <a:srgbClr val="D0E9ED"/>
                </a:solidFill>
                <a:latin typeface="Constantia"/>
                <a:ea typeface="Constantia"/>
                <a:cs typeface="Constantia"/>
                <a:sym typeface="Constantia"/>
              </a:defRPr>
            </a:lvl7pPr>
            <a:lvl8pPr indent="0" lvl="7" marL="0" marR="0" rtl="0" algn="r">
              <a:spcBef>
                <a:spcPts val="0"/>
              </a:spcBef>
              <a:buNone/>
              <a:defRPr b="0" i="0" sz="1200" u="none" cap="none" strike="noStrike">
                <a:solidFill>
                  <a:srgbClr val="D0E9ED"/>
                </a:solidFill>
                <a:latin typeface="Constantia"/>
                <a:ea typeface="Constantia"/>
                <a:cs typeface="Constantia"/>
                <a:sym typeface="Constantia"/>
              </a:defRPr>
            </a:lvl8pPr>
            <a:lvl9pPr indent="0" lvl="8" marL="0" marR="0" rtl="0" algn="r">
              <a:spcBef>
                <a:spcPts val="0"/>
              </a:spcBef>
              <a:buNone/>
              <a:defRPr b="0" i="0" sz="1200" u="none" cap="none" strike="noStrike">
                <a:solidFill>
                  <a:srgbClr val="D0E9ED"/>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grpSp>
        <p:nvGrpSpPr>
          <p:cNvPr id="17" name="Google Shape;17;p28"/>
          <p:cNvGrpSpPr/>
          <p:nvPr/>
        </p:nvGrpSpPr>
        <p:grpSpPr>
          <a:xfrm>
            <a:off x="-29294" y="-16113"/>
            <a:ext cx="9198255" cy="1086266"/>
            <a:chOff x="-29322" y="-1971"/>
            <a:chExt cx="9198255" cy="1086266"/>
          </a:xfrm>
        </p:grpSpPr>
        <p:sp>
          <p:nvSpPr>
            <p:cNvPr id="18" name="Google Shape;18;p28"/>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19" name="Google Shape;19;p28"/>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nstantia"/>
                <a:ea typeface="Constantia"/>
                <a:cs typeface="Constantia"/>
                <a:sym typeface="Constantia"/>
              </a:endParaRPr>
            </a:p>
          </p:txBody>
        </p:sp>
      </p:grpSp>
    </p:spTree>
  </p:cSld>
  <p:clrMap accent1="accent1" accent2="accent2" accent3="accent3" accent4="accent4" accent5="accent5" accent6="accent6" bg1="lt1" bg2="dk2" tx1="dk1" tx2="lt2" folHlink="folHlink" hlink="hlink"/>
  <p:sldLayoutIdLst>
    <p:sldLayoutId id="2147483649"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65000" ty="0" sy="65000"/>
        </a:blipFill>
      </p:bgPr>
    </p:bg>
    <p:spTree>
      <p:nvGrpSpPr>
        <p:cNvPr id="26" name="Shape 26"/>
        <p:cNvGrpSpPr/>
        <p:nvPr/>
      </p:nvGrpSpPr>
      <p:grpSpPr>
        <a:xfrm>
          <a:off x="0" y="0"/>
          <a:ext cx="0" cy="0"/>
          <a:chOff x="0" y="0"/>
          <a:chExt cx="0" cy="0"/>
        </a:xfrm>
      </p:grpSpPr>
      <p:sp>
        <p:nvSpPr>
          <p:cNvPr id="27" name="Google Shape;27;p27"/>
          <p:cNvSpPr/>
          <p:nvPr/>
        </p:nvSpPr>
        <p:spPr>
          <a:xfrm>
            <a:off x="-9525" y="-7144"/>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8" name="Google Shape;28;p27"/>
          <p:cNvSpPr/>
          <p:nvPr/>
        </p:nvSpPr>
        <p:spPr>
          <a:xfrm>
            <a:off x="4381500" y="-7144"/>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9" name="Google Shape;29;p27"/>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marR="0" rtl="0" algn="l">
              <a:spcBef>
                <a:spcPts val="0"/>
              </a:spcBef>
              <a:spcAft>
                <a:spcPts val="0"/>
              </a:spcAft>
              <a:buClr>
                <a:schemeClr val="dk2"/>
              </a:buClr>
              <a:buSzPts val="5000"/>
              <a:buFont typeface="Calibri"/>
              <a:buNone/>
              <a:defRPr b="0" i="0" sz="5000" u="none" cap="none" strike="noStrike">
                <a:solidFill>
                  <a:schemeClr val="dk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0" name="Google Shape;30;p27"/>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85445" lvl="0" marL="457200" marR="0" rtl="0" algn="l">
              <a:spcBef>
                <a:spcPts val="520"/>
              </a:spcBef>
              <a:spcAft>
                <a:spcPts val="0"/>
              </a:spcAft>
              <a:buClr>
                <a:schemeClr val="accent3"/>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indent="-311150" lvl="3" marL="1828800" marR="0" rtl="0" algn="l">
              <a:spcBef>
                <a:spcPts val="400"/>
              </a:spcBef>
              <a:spcAft>
                <a:spcPts val="0"/>
              </a:spcAft>
              <a:buClr>
                <a:schemeClr val="accent3"/>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indent="-311150" lvl="4" marL="2286000" marR="0" rtl="0" algn="l">
              <a:spcBef>
                <a:spcPts val="400"/>
              </a:spcBef>
              <a:spcAft>
                <a:spcPts val="0"/>
              </a:spcAft>
              <a:buClr>
                <a:schemeClr val="accent4"/>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indent="-330200" lvl="7" marL="3657600"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indent="-317500" lvl="8" marL="4114800"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31" name="Google Shape;31;p27"/>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sz="1200">
                <a:solidFill>
                  <a:srgbClr val="035C75"/>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9pPr>
          </a:lstStyle>
          <a:p/>
        </p:txBody>
      </p:sp>
      <p:sp>
        <p:nvSpPr>
          <p:cNvPr id="32" name="Google Shape;32;p27"/>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sz="1200">
                <a:solidFill>
                  <a:srgbClr val="035C75"/>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9pPr>
          </a:lstStyle>
          <a:p/>
        </p:txBody>
      </p:sp>
      <p:sp>
        <p:nvSpPr>
          <p:cNvPr id="33" name="Google Shape;33;p2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spcBef>
                <a:spcPts val="0"/>
              </a:spcBef>
              <a:buNone/>
              <a:defRPr b="0" sz="1200" u="none">
                <a:solidFill>
                  <a:srgbClr val="035C75"/>
                </a:solidFill>
                <a:latin typeface="Constantia"/>
                <a:ea typeface="Constantia"/>
                <a:cs typeface="Constantia"/>
                <a:sym typeface="Constantia"/>
              </a:defRPr>
            </a:lvl1pPr>
            <a:lvl2pPr indent="0" lvl="1" marL="0" marR="0" rtl="0" algn="r">
              <a:spcBef>
                <a:spcPts val="0"/>
              </a:spcBef>
              <a:buNone/>
              <a:defRPr b="0" sz="1200" u="none">
                <a:solidFill>
                  <a:srgbClr val="035C75"/>
                </a:solidFill>
                <a:latin typeface="Constantia"/>
                <a:ea typeface="Constantia"/>
                <a:cs typeface="Constantia"/>
                <a:sym typeface="Constantia"/>
              </a:defRPr>
            </a:lvl2pPr>
            <a:lvl3pPr indent="0" lvl="2" marL="0" marR="0" rtl="0" algn="r">
              <a:spcBef>
                <a:spcPts val="0"/>
              </a:spcBef>
              <a:buNone/>
              <a:defRPr b="0" sz="1200" u="none">
                <a:solidFill>
                  <a:srgbClr val="035C75"/>
                </a:solidFill>
                <a:latin typeface="Constantia"/>
                <a:ea typeface="Constantia"/>
                <a:cs typeface="Constantia"/>
                <a:sym typeface="Constantia"/>
              </a:defRPr>
            </a:lvl3pPr>
            <a:lvl4pPr indent="0" lvl="3" marL="0" marR="0" rtl="0" algn="r">
              <a:spcBef>
                <a:spcPts val="0"/>
              </a:spcBef>
              <a:buNone/>
              <a:defRPr b="0" sz="1200" u="none">
                <a:solidFill>
                  <a:srgbClr val="035C75"/>
                </a:solidFill>
                <a:latin typeface="Constantia"/>
                <a:ea typeface="Constantia"/>
                <a:cs typeface="Constantia"/>
                <a:sym typeface="Constantia"/>
              </a:defRPr>
            </a:lvl4pPr>
            <a:lvl5pPr indent="0" lvl="4" marL="0" marR="0" rtl="0" algn="r">
              <a:spcBef>
                <a:spcPts val="0"/>
              </a:spcBef>
              <a:buNone/>
              <a:defRPr b="0" sz="1200" u="none">
                <a:solidFill>
                  <a:srgbClr val="035C75"/>
                </a:solidFill>
                <a:latin typeface="Constantia"/>
                <a:ea typeface="Constantia"/>
                <a:cs typeface="Constantia"/>
                <a:sym typeface="Constantia"/>
              </a:defRPr>
            </a:lvl5pPr>
            <a:lvl6pPr indent="0" lvl="5" marL="0" marR="0" rtl="0" algn="r">
              <a:spcBef>
                <a:spcPts val="0"/>
              </a:spcBef>
              <a:buNone/>
              <a:defRPr b="0" sz="1200" u="none">
                <a:solidFill>
                  <a:srgbClr val="035C75"/>
                </a:solidFill>
                <a:latin typeface="Constantia"/>
                <a:ea typeface="Constantia"/>
                <a:cs typeface="Constantia"/>
                <a:sym typeface="Constantia"/>
              </a:defRPr>
            </a:lvl6pPr>
            <a:lvl7pPr indent="0" lvl="6" marL="0" marR="0" rtl="0" algn="r">
              <a:spcBef>
                <a:spcPts val="0"/>
              </a:spcBef>
              <a:buNone/>
              <a:defRPr b="0" sz="1200" u="none">
                <a:solidFill>
                  <a:srgbClr val="035C75"/>
                </a:solidFill>
                <a:latin typeface="Constantia"/>
                <a:ea typeface="Constantia"/>
                <a:cs typeface="Constantia"/>
                <a:sym typeface="Constantia"/>
              </a:defRPr>
            </a:lvl7pPr>
            <a:lvl8pPr indent="0" lvl="7" marL="0" marR="0" rtl="0" algn="r">
              <a:spcBef>
                <a:spcPts val="0"/>
              </a:spcBef>
              <a:buNone/>
              <a:defRPr b="0" sz="1200" u="none">
                <a:solidFill>
                  <a:srgbClr val="035C75"/>
                </a:solidFill>
                <a:latin typeface="Constantia"/>
                <a:ea typeface="Constantia"/>
                <a:cs typeface="Constantia"/>
                <a:sym typeface="Constantia"/>
              </a:defRPr>
            </a:lvl8pPr>
            <a:lvl9pPr indent="0" lvl="8" marL="0" marR="0" rtl="0" algn="r">
              <a:spcBef>
                <a:spcPts val="0"/>
              </a:spcBef>
              <a:buNone/>
              <a:defRPr b="0" sz="1200" u="non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grpSp>
        <p:nvGrpSpPr>
          <p:cNvPr id="34" name="Google Shape;34;p27"/>
          <p:cNvGrpSpPr/>
          <p:nvPr/>
        </p:nvGrpSpPr>
        <p:grpSpPr>
          <a:xfrm>
            <a:off x="-29294" y="-16113"/>
            <a:ext cx="9198255" cy="1086266"/>
            <a:chOff x="-29322" y="-1971"/>
            <a:chExt cx="9198255" cy="1086266"/>
          </a:xfrm>
        </p:grpSpPr>
        <p:sp>
          <p:nvSpPr>
            <p:cNvPr id="35" name="Google Shape;35;p27"/>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36" name="Google Shape;36;p27"/>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Tree>
  </p:cSld>
  <p:clrMap accent1="accent1" accent2="accent2" accent3="accent3" accent4="accent4" accent5="accent5" accent6="accent6" bg1="lt1" bg2="dk2" tx1="dk1" tx2="lt2" folHlink="folHlink" hlink="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mailto:namnv@tlu.edu.v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p>
            <a:pPr indent="0" lvl="0" marL="0" rtl="0" algn="r">
              <a:spcBef>
                <a:spcPts val="0"/>
              </a:spcBef>
              <a:spcAft>
                <a:spcPts val="0"/>
              </a:spcAft>
              <a:buClr>
                <a:srgbClr val="4CE0EA"/>
              </a:buClr>
              <a:buSzPts val="5600"/>
              <a:buFont typeface="Calibri"/>
              <a:buNone/>
            </a:pPr>
            <a:r>
              <a:rPr lang="en-US"/>
              <a:t>Phân tích Thiết kế HTTT</a:t>
            </a:r>
            <a:endParaRPr/>
          </a:p>
        </p:txBody>
      </p:sp>
      <p:sp>
        <p:nvSpPr>
          <p:cNvPr id="115" name="Google Shape;115;p1"/>
          <p:cNvSpPr txBox="1"/>
          <p:nvPr>
            <p:ph idx="1" type="subTitle"/>
          </p:nvPr>
        </p:nvSpPr>
        <p:spPr>
          <a:xfrm>
            <a:off x="533400" y="4191000"/>
            <a:ext cx="7854696" cy="1905000"/>
          </a:xfrm>
          <a:prstGeom prst="rect">
            <a:avLst/>
          </a:prstGeom>
          <a:noFill/>
          <a:ln>
            <a:noFill/>
          </a:ln>
        </p:spPr>
        <p:txBody>
          <a:bodyPr anchorCtr="0" anchor="t" bIns="45700" lIns="0" spcFirstLastPara="1" rIns="18275" wrap="square" tIns="45700">
            <a:normAutofit/>
          </a:bodyPr>
          <a:lstStyle/>
          <a:p>
            <a:pPr indent="0" lvl="0" marL="0" marR="45720" rtl="0" algn="r">
              <a:spcBef>
                <a:spcPts val="0"/>
              </a:spcBef>
              <a:spcAft>
                <a:spcPts val="0"/>
              </a:spcAft>
              <a:buSzPts val="2470"/>
              <a:buNone/>
            </a:pPr>
            <a:r>
              <a:rPr lang="en-US"/>
              <a:t>Ths. Nguyễn Văn Nam</a:t>
            </a:r>
            <a:endParaRPr/>
          </a:p>
          <a:p>
            <a:pPr indent="0" lvl="0" marL="0" marR="45720" rtl="0" algn="r">
              <a:spcBef>
                <a:spcPts val="520"/>
              </a:spcBef>
              <a:spcAft>
                <a:spcPts val="0"/>
              </a:spcAft>
              <a:buSzPts val="2470"/>
              <a:buNone/>
            </a:pPr>
            <a:r>
              <a:rPr lang="en-US"/>
              <a:t>Email: </a:t>
            </a:r>
            <a:r>
              <a:rPr lang="en-US" u="sng">
                <a:solidFill>
                  <a:schemeClr val="hlink"/>
                </a:solidFill>
                <a:hlinkClick r:id="rId3"/>
              </a:rPr>
              <a:t>namnv@tlu.edu.vn</a:t>
            </a:r>
            <a:endParaRPr/>
          </a:p>
          <a:p>
            <a:pPr indent="0" lvl="0" marL="0" marR="45720" rtl="0" algn="r">
              <a:spcBef>
                <a:spcPts val="520"/>
              </a:spcBef>
              <a:spcAft>
                <a:spcPts val="0"/>
              </a:spcAft>
              <a:buSzPts val="2470"/>
              <a:buNone/>
            </a:pPr>
            <a:r>
              <a:rPr lang="en-US"/>
              <a:t>Website: namvannguyen.blogspot.com</a:t>
            </a:r>
            <a:endParaRPr/>
          </a:p>
          <a:p>
            <a:pPr indent="0" lvl="0" marL="0" marR="45720" rtl="0" algn="r">
              <a:spcBef>
                <a:spcPts val="520"/>
              </a:spcBef>
              <a:spcAft>
                <a:spcPts val="0"/>
              </a:spcAft>
              <a:buSzPts val="2470"/>
              <a:buNone/>
            </a:pPr>
            <a:r>
              <a:t/>
            </a:r>
            <a:endParaRPr/>
          </a:p>
        </p:txBody>
      </p:sp>
      <p:sp>
        <p:nvSpPr>
          <p:cNvPr id="116" name="Google Shape;116;p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17" name="Google Shape;117;p1"/>
          <p:cNvSpPr txBox="1"/>
          <p:nvPr/>
        </p:nvSpPr>
        <p:spPr>
          <a:xfrm>
            <a:off x="609600" y="3200400"/>
            <a:ext cx="7854696" cy="914400"/>
          </a:xfrm>
          <a:prstGeom prst="rect">
            <a:avLst/>
          </a:prstGeom>
          <a:noFill/>
          <a:ln>
            <a:noFill/>
          </a:ln>
        </p:spPr>
        <p:txBody>
          <a:bodyPr anchorCtr="0" anchor="t" bIns="45700" lIns="0" spcFirstLastPara="1" rIns="18275" wrap="square" tIns="45700">
            <a:normAutofit/>
          </a:bodyPr>
          <a:lstStyle/>
          <a:p>
            <a:pPr indent="0" lvl="0" marL="0" marR="45720" rtl="0" algn="r">
              <a:lnSpc>
                <a:spcPct val="100000"/>
              </a:lnSpc>
              <a:spcBef>
                <a:spcPts val="0"/>
              </a:spcBef>
              <a:spcAft>
                <a:spcPts val="0"/>
              </a:spcAft>
              <a:buClr>
                <a:schemeClr val="accent3"/>
              </a:buClr>
              <a:buSzPts val="3040"/>
              <a:buFont typeface="Noto Sans Symbols"/>
              <a:buNone/>
            </a:pPr>
            <a:r>
              <a:rPr b="0" i="0" lang="en-US" sz="3200" u="none" cap="none" strike="noStrike">
                <a:solidFill>
                  <a:schemeClr val="lt1"/>
                </a:solidFill>
                <a:latin typeface="Constantia"/>
                <a:ea typeface="Constantia"/>
                <a:cs typeface="Constantia"/>
                <a:sym typeface="Constantia"/>
              </a:rPr>
              <a:t>Thiết kế </a:t>
            </a:r>
            <a:r>
              <a:rPr lang="en-US" sz="3200">
                <a:solidFill>
                  <a:schemeClr val="lt1"/>
                </a:solidFill>
                <a:latin typeface="Constantia"/>
                <a:ea typeface="Constantia"/>
                <a:cs typeface="Constantia"/>
                <a:sym typeface="Constantia"/>
              </a:rPr>
              <a:t>hệ thống con</a:t>
            </a:r>
            <a:endParaRPr b="0" i="0" sz="3200" u="none" cap="none" strike="noStrike">
              <a:solidFill>
                <a:schemeClr val="lt1"/>
              </a:solidFill>
              <a:latin typeface="Constantia"/>
              <a:ea typeface="Constantia"/>
              <a:cs typeface="Constantia"/>
              <a:sym typeface="Constant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Mục tiêu</a:t>
            </a:r>
            <a:endParaRPr/>
          </a:p>
        </p:txBody>
      </p:sp>
      <p:sp>
        <p:nvSpPr>
          <p:cNvPr id="123" name="Google Shape;123;p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24" name="Google Shape;124;p2"/>
          <p:cNvSpPr txBox="1"/>
          <p:nvPr/>
        </p:nvSpPr>
        <p:spPr>
          <a:xfrm>
            <a:off x="457200" y="1979611"/>
            <a:ext cx="8229600" cy="4525963"/>
          </a:xfrm>
          <a:prstGeom prst="rect">
            <a:avLst/>
          </a:prstGeom>
          <a:noFill/>
          <a:ln>
            <a:noFill/>
          </a:ln>
        </p:spPr>
        <p:txBody>
          <a:bodyPr anchorCtr="0" anchor="t" bIns="45700" lIns="91425" spcFirstLastPara="1" rIns="91425" wrap="square" tIns="45700">
            <a:normAutofit/>
          </a:bodyPr>
          <a:lstStyle/>
          <a:p>
            <a:pPr indent="-274320" lvl="0" marL="274320" marR="0" rtl="0" algn="l">
              <a:spcBef>
                <a:spcPts val="0"/>
              </a:spcBef>
              <a:spcAft>
                <a:spcPts val="0"/>
              </a:spcAft>
              <a:buClr>
                <a:schemeClr val="accent3"/>
              </a:buClr>
              <a:buSzPts val="2470"/>
              <a:buFont typeface="Noto Sans Symbols"/>
              <a:buChar char="⚫"/>
            </a:pPr>
            <a:r>
              <a:rPr lang="en-US" sz="2600">
                <a:solidFill>
                  <a:schemeClr val="dk1"/>
                </a:solidFill>
                <a:latin typeface="Constantia"/>
                <a:ea typeface="Constantia"/>
                <a:cs typeface="Constantia"/>
                <a:sym typeface="Constantia"/>
              </a:rPr>
              <a:t>Trình bày mục đích của hoạt động Thiết kế hệ thống con và vị trí của hoạt động trong vòng đời phát triển phần mềm</a:t>
            </a:r>
            <a:endParaRPr sz="2600">
              <a:solidFill>
                <a:schemeClr val="dk1"/>
              </a:solidFill>
              <a:latin typeface="Constantia"/>
              <a:ea typeface="Constantia"/>
              <a:cs typeface="Constantia"/>
              <a:sym typeface="Constantia"/>
            </a:endParaRPr>
          </a:p>
          <a:p>
            <a:pPr indent="-274320" lvl="0" marL="274320" marR="0" rtl="0" algn="l">
              <a:spcBef>
                <a:spcPts val="520"/>
              </a:spcBef>
              <a:spcAft>
                <a:spcPts val="0"/>
              </a:spcAft>
              <a:buClr>
                <a:schemeClr val="accent3"/>
              </a:buClr>
              <a:buSzPts val="2470"/>
              <a:buFont typeface="Noto Sans Symbols"/>
              <a:buChar char="⚫"/>
            </a:pPr>
            <a:r>
              <a:rPr lang="en-US" sz="2600">
                <a:solidFill>
                  <a:schemeClr val="dk1"/>
                </a:solidFill>
                <a:latin typeface="Constantia"/>
                <a:ea typeface="Constantia"/>
                <a:cs typeface="Constantia"/>
                <a:sym typeface="Constantia"/>
              </a:rPr>
              <a:t>Định nghĩa các hành vi được xác định trong giao diện của hệ thống con bằng các cộng tác của các lớp trong đó</a:t>
            </a:r>
            <a:endParaRPr sz="2600">
              <a:solidFill>
                <a:schemeClr val="dk1"/>
              </a:solidFill>
              <a:latin typeface="Constantia"/>
              <a:ea typeface="Constantia"/>
              <a:cs typeface="Constantia"/>
              <a:sym typeface="Constantia"/>
            </a:endParaRPr>
          </a:p>
          <a:p>
            <a:pPr indent="-274320" lvl="0" marL="274320" marR="0" rtl="0" algn="l">
              <a:spcBef>
                <a:spcPts val="520"/>
              </a:spcBef>
              <a:spcAft>
                <a:spcPts val="0"/>
              </a:spcAft>
              <a:buClr>
                <a:schemeClr val="accent3"/>
              </a:buClr>
              <a:buSzPts val="2470"/>
              <a:buFont typeface="Noto Sans Symbols"/>
              <a:buChar char="⚫"/>
            </a:pPr>
            <a:r>
              <a:rPr lang="en-US" sz="2600">
                <a:solidFill>
                  <a:schemeClr val="dk1"/>
                </a:solidFill>
                <a:latin typeface="Constantia"/>
                <a:ea typeface="Constantia"/>
                <a:cs typeface="Constantia"/>
                <a:sym typeface="Constantia"/>
              </a:rPr>
              <a:t>Làm tài liệu cấu trúc bên trong của hệ thống con</a:t>
            </a:r>
            <a:endParaRPr/>
          </a:p>
          <a:p>
            <a:pPr indent="-274320" lvl="0" marL="274320" marR="0" rtl="0" algn="l">
              <a:spcBef>
                <a:spcPts val="520"/>
              </a:spcBef>
              <a:spcAft>
                <a:spcPts val="0"/>
              </a:spcAft>
              <a:buClr>
                <a:schemeClr val="accent3"/>
              </a:buClr>
              <a:buSzPts val="2470"/>
              <a:buFont typeface="Noto Sans Symbols"/>
              <a:buChar char="⚫"/>
            </a:pPr>
            <a:r>
              <a:rPr lang="en-US" sz="2600">
                <a:solidFill>
                  <a:schemeClr val="dk1"/>
                </a:solidFill>
                <a:latin typeface="Constantia"/>
                <a:ea typeface="Constantia"/>
                <a:cs typeface="Constantia"/>
                <a:sym typeface="Constantia"/>
              </a:rPr>
              <a:t>Xác định các phụ thuộc trên những phần tử ngoại vi đối với hệ thống con</a:t>
            </a:r>
            <a:endParaRPr sz="2600">
              <a:solidFill>
                <a:schemeClr val="dk1"/>
              </a:solidFill>
              <a:latin typeface="Constantia"/>
              <a:ea typeface="Constantia"/>
              <a:cs typeface="Constantia"/>
              <a:sym typeface="Constanti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30" name="Google Shape;130;p3"/>
          <p:cNvSpPr txBox="1"/>
          <p:nvPr/>
        </p:nvSpPr>
        <p:spPr>
          <a:xfrm>
            <a:off x="592677" y="143109"/>
            <a:ext cx="8229600" cy="1143000"/>
          </a:xfrm>
          <a:prstGeom prst="rect">
            <a:avLst/>
          </a:prstGeom>
          <a:noFill/>
          <a:ln>
            <a:noFill/>
          </a:ln>
        </p:spPr>
        <p:txBody>
          <a:bodyPr anchorCtr="0" anchor="b" bIns="0" lIns="0" spcFirstLastPara="1" rIns="0" wrap="square" tIns="45700">
            <a:normAutofit/>
          </a:bodyPr>
          <a:lstStyle/>
          <a:p>
            <a:pPr indent="0" lvl="0" marL="0" marR="0" rtl="0" algn="l">
              <a:spcBef>
                <a:spcPts val="0"/>
              </a:spcBef>
              <a:spcAft>
                <a:spcPts val="0"/>
              </a:spcAft>
              <a:buClr>
                <a:schemeClr val="dk2"/>
              </a:buClr>
              <a:buSzPts val="4625"/>
              <a:buFont typeface="Calibri"/>
              <a:buNone/>
            </a:pPr>
            <a:r>
              <a:rPr b="0" lang="en-US" sz="4625">
                <a:solidFill>
                  <a:schemeClr val="dk2"/>
                </a:solidFill>
                <a:latin typeface="Calibri"/>
                <a:ea typeface="Calibri"/>
                <a:cs typeface="Calibri"/>
                <a:sym typeface="Calibri"/>
              </a:rPr>
              <a:t>Ngữ cảnh hoạt động Thiết kế lớp</a:t>
            </a:r>
            <a:endParaRPr b="0" sz="4625">
              <a:solidFill>
                <a:schemeClr val="dk2"/>
              </a:solidFill>
              <a:latin typeface="Calibri"/>
              <a:ea typeface="Calibri"/>
              <a:cs typeface="Calibri"/>
              <a:sym typeface="Calibri"/>
            </a:endParaRPr>
          </a:p>
        </p:txBody>
      </p:sp>
      <p:grpSp>
        <p:nvGrpSpPr>
          <p:cNvPr id="131" name="Google Shape;131;p3"/>
          <p:cNvGrpSpPr/>
          <p:nvPr/>
        </p:nvGrpSpPr>
        <p:grpSpPr>
          <a:xfrm>
            <a:off x="2590800" y="1372511"/>
            <a:ext cx="3810000" cy="4897437"/>
            <a:chOff x="1616" y="504"/>
            <a:chExt cx="2528" cy="3512"/>
          </a:xfrm>
        </p:grpSpPr>
        <p:sp>
          <p:nvSpPr>
            <p:cNvPr id="132" name="Google Shape;132;p3"/>
            <p:cNvSpPr/>
            <p:nvPr/>
          </p:nvSpPr>
          <p:spPr>
            <a:xfrm>
              <a:off x="1616" y="504"/>
              <a:ext cx="2528" cy="3512"/>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33" name="Google Shape;133;p3"/>
            <p:cNvSpPr/>
            <p:nvPr/>
          </p:nvSpPr>
          <p:spPr>
            <a:xfrm>
              <a:off x="2728" y="569"/>
              <a:ext cx="111" cy="111"/>
            </a:xfrm>
            <a:prstGeom prst="ellipse">
              <a:avLst/>
            </a:prstGeom>
            <a:solidFill>
              <a:schemeClr val="lt2"/>
            </a:solidFill>
            <a:ln cap="flat" cmpd="sng" w="12700">
              <a:solidFill>
                <a:srgbClr val="FF9999"/>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nvGrpSpPr>
            <p:cNvPr id="134" name="Google Shape;134;p3"/>
            <p:cNvGrpSpPr/>
            <p:nvPr/>
          </p:nvGrpSpPr>
          <p:grpSpPr>
            <a:xfrm>
              <a:off x="3321" y="1631"/>
              <a:ext cx="153" cy="153"/>
              <a:chOff x="3317" y="1579"/>
              <a:chExt cx="153" cy="153"/>
            </a:xfrm>
          </p:grpSpPr>
          <p:sp>
            <p:nvSpPr>
              <p:cNvPr id="135" name="Google Shape;135;p3"/>
              <p:cNvSpPr/>
              <p:nvPr/>
            </p:nvSpPr>
            <p:spPr>
              <a:xfrm>
                <a:off x="3338" y="1600"/>
                <a:ext cx="111" cy="111"/>
              </a:xfrm>
              <a:prstGeom prst="ellipse">
                <a:avLst/>
              </a:prstGeom>
              <a:solidFill>
                <a:schemeClr val="lt2"/>
              </a:solidFill>
              <a:ln cap="flat" cmpd="sng" w="12700">
                <a:solidFill>
                  <a:srgbClr val="FF9999"/>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36" name="Google Shape;136;p3"/>
              <p:cNvSpPr/>
              <p:nvPr/>
            </p:nvSpPr>
            <p:spPr>
              <a:xfrm>
                <a:off x="3317" y="1579"/>
                <a:ext cx="153" cy="153"/>
              </a:xfrm>
              <a:prstGeom prst="ellipse">
                <a:avLst/>
              </a:prstGeom>
              <a:noFill/>
              <a:ln cap="flat" cmpd="sng" w="12700">
                <a:solidFill>
                  <a:srgbClr val="FF9999"/>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nvGrpSpPr>
            <p:cNvPr id="137" name="Google Shape;137;p3"/>
            <p:cNvGrpSpPr/>
            <p:nvPr/>
          </p:nvGrpSpPr>
          <p:grpSpPr>
            <a:xfrm>
              <a:off x="2789" y="3781"/>
              <a:ext cx="153" cy="153"/>
              <a:chOff x="3317" y="1579"/>
              <a:chExt cx="153" cy="153"/>
            </a:xfrm>
          </p:grpSpPr>
          <p:sp>
            <p:nvSpPr>
              <p:cNvPr id="138" name="Google Shape;138;p3"/>
              <p:cNvSpPr/>
              <p:nvPr/>
            </p:nvSpPr>
            <p:spPr>
              <a:xfrm>
                <a:off x="3338" y="1600"/>
                <a:ext cx="111" cy="111"/>
              </a:xfrm>
              <a:prstGeom prst="ellipse">
                <a:avLst/>
              </a:prstGeom>
              <a:solidFill>
                <a:schemeClr val="lt2"/>
              </a:solidFill>
              <a:ln cap="flat" cmpd="sng" w="12700">
                <a:solidFill>
                  <a:srgbClr val="FF9999"/>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39" name="Google Shape;139;p3"/>
              <p:cNvSpPr/>
              <p:nvPr/>
            </p:nvSpPr>
            <p:spPr>
              <a:xfrm>
                <a:off x="3317" y="1579"/>
                <a:ext cx="153" cy="153"/>
              </a:xfrm>
              <a:prstGeom prst="ellipse">
                <a:avLst/>
              </a:prstGeom>
              <a:noFill/>
              <a:ln cap="flat" cmpd="sng" w="12700">
                <a:solidFill>
                  <a:srgbClr val="FF9999"/>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nvGrpSpPr>
            <p:cNvPr id="140" name="Google Shape;140;p3"/>
            <p:cNvGrpSpPr/>
            <p:nvPr/>
          </p:nvGrpSpPr>
          <p:grpSpPr>
            <a:xfrm>
              <a:off x="2221" y="1000"/>
              <a:ext cx="302" cy="198"/>
              <a:chOff x="2263" y="970"/>
              <a:chExt cx="288" cy="189"/>
            </a:xfrm>
          </p:grpSpPr>
          <p:sp>
            <p:nvSpPr>
              <p:cNvPr id="141" name="Google Shape;141;p3"/>
              <p:cNvSpPr/>
              <p:nvPr/>
            </p:nvSpPr>
            <p:spPr>
              <a:xfrm>
                <a:off x="2263" y="970"/>
                <a:ext cx="288" cy="189"/>
              </a:xfrm>
              <a:prstGeom prst="roundRect">
                <a:avLst>
                  <a:gd fmla="val 16667" name="adj"/>
                </a:avLst>
              </a:prstGeom>
              <a:solidFill>
                <a:srgbClr val="8ECC8E"/>
              </a:solidFill>
              <a:ln cap="flat" cmpd="sng" w="9525">
                <a:solidFill>
                  <a:schemeClr val="lt2"/>
                </a:solidFill>
                <a:prstDash val="solid"/>
                <a:round/>
                <a:headEnd len="sm" w="sm" type="none"/>
                <a:tailEnd len="sm" w="sm" type="none"/>
              </a:ln>
              <a:effectLst>
                <a:outerShdw rotWithShape="0" algn="ctr" dir="3378596" dist="45791">
                  <a:srgbClr val="C0C0C0"/>
                </a:outerShdw>
              </a:effectLst>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nvGrpSpPr>
              <p:cNvPr id="142" name="Google Shape;142;p3"/>
              <p:cNvGrpSpPr/>
              <p:nvPr/>
            </p:nvGrpSpPr>
            <p:grpSpPr>
              <a:xfrm>
                <a:off x="2300" y="996"/>
                <a:ext cx="86" cy="128"/>
                <a:chOff x="2853" y="1773"/>
                <a:chExt cx="161" cy="237"/>
              </a:xfrm>
            </p:grpSpPr>
            <p:sp>
              <p:nvSpPr>
                <p:cNvPr id="143" name="Google Shape;143;p3"/>
                <p:cNvSpPr/>
                <p:nvPr/>
              </p:nvSpPr>
              <p:spPr>
                <a:xfrm>
                  <a:off x="2853" y="1880"/>
                  <a:ext cx="161" cy="130"/>
                </a:xfrm>
                <a:prstGeom prst="parallelogram">
                  <a:avLst>
                    <a:gd fmla="val 30962" name="adj"/>
                  </a:avLst>
                </a:prstGeom>
                <a:solidFill>
                  <a:srgbClr val="FFCC99"/>
                </a:solidFill>
                <a:ln cap="flat" cmpd="sng" w="9525">
                  <a:solidFill>
                    <a:schemeClr val="lt2"/>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44" name="Google Shape;144;p3"/>
                <p:cNvSpPr/>
                <p:nvPr/>
              </p:nvSpPr>
              <p:spPr>
                <a:xfrm>
                  <a:off x="2915" y="1773"/>
                  <a:ext cx="87" cy="87"/>
                </a:xfrm>
                <a:prstGeom prst="ellipse">
                  <a:avLst/>
                </a:prstGeom>
                <a:solidFill>
                  <a:srgbClr val="FFCC99"/>
                </a:solidFill>
                <a:ln cap="flat" cmpd="sng" w="9525">
                  <a:solidFill>
                    <a:schemeClr val="lt2"/>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nvGrpSpPr>
              <p:cNvPr id="145" name="Google Shape;145;p3"/>
              <p:cNvGrpSpPr/>
              <p:nvPr/>
            </p:nvGrpSpPr>
            <p:grpSpPr>
              <a:xfrm>
                <a:off x="2373" y="985"/>
                <a:ext cx="65" cy="93"/>
                <a:chOff x="3387" y="1863"/>
                <a:chExt cx="122" cy="174"/>
              </a:xfrm>
            </p:grpSpPr>
            <p:sp>
              <p:nvSpPr>
                <p:cNvPr id="146" name="Google Shape;146;p3"/>
                <p:cNvSpPr/>
                <p:nvPr/>
              </p:nvSpPr>
              <p:spPr>
                <a:xfrm>
                  <a:off x="3387" y="1863"/>
                  <a:ext cx="122" cy="174"/>
                </a:xfrm>
                <a:custGeom>
                  <a:rect b="b" l="l" r="r" t="t"/>
                  <a:pathLst>
                    <a:path extrusionOk="0" h="174" w="122">
                      <a:moveTo>
                        <a:pt x="0" y="0"/>
                      </a:moveTo>
                      <a:lnTo>
                        <a:pt x="0" y="174"/>
                      </a:lnTo>
                      <a:lnTo>
                        <a:pt x="122" y="174"/>
                      </a:lnTo>
                      <a:lnTo>
                        <a:pt x="122" y="38"/>
                      </a:lnTo>
                      <a:lnTo>
                        <a:pt x="84" y="0"/>
                      </a:lnTo>
                      <a:lnTo>
                        <a:pt x="0" y="0"/>
                      </a:lnTo>
                      <a:close/>
                    </a:path>
                  </a:pathLst>
                </a:custGeom>
                <a:solidFill>
                  <a:srgbClr val="FF9966"/>
                </a:solidFill>
                <a:ln cap="flat" cmpd="sng" w="9525">
                  <a:solidFill>
                    <a:schemeClr val="lt2"/>
                  </a:solidFill>
                  <a:prstDash val="solid"/>
                  <a:round/>
                  <a:headEnd len="sm" w="sm" type="none"/>
                  <a:tailEnd len="sm" w="sm" type="non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47" name="Google Shape;147;p3"/>
                <p:cNvCxnSpPr/>
                <p:nvPr/>
              </p:nvCxnSpPr>
              <p:spPr>
                <a:xfrm>
                  <a:off x="3468" y="1863"/>
                  <a:ext cx="0" cy="41"/>
                </a:xfrm>
                <a:prstGeom prst="straightConnector1">
                  <a:avLst/>
                </a:prstGeom>
                <a:noFill/>
                <a:ln cap="flat" cmpd="sng" w="9525">
                  <a:solidFill>
                    <a:schemeClr val="lt2"/>
                  </a:solidFill>
                  <a:prstDash val="solid"/>
                  <a:round/>
                  <a:headEnd len="med" w="med" type="none"/>
                  <a:tailEnd len="med" w="med" type="none"/>
                </a:ln>
              </p:spPr>
            </p:cxnSp>
            <p:cxnSp>
              <p:nvCxnSpPr>
                <p:cNvPr id="148" name="Google Shape;148;p3"/>
                <p:cNvCxnSpPr/>
                <p:nvPr/>
              </p:nvCxnSpPr>
              <p:spPr>
                <a:xfrm rot="10800000">
                  <a:off x="3466" y="1904"/>
                  <a:ext cx="41" cy="0"/>
                </a:xfrm>
                <a:prstGeom prst="straightConnector1">
                  <a:avLst/>
                </a:prstGeom>
                <a:noFill/>
                <a:ln cap="flat" cmpd="sng" w="9525">
                  <a:solidFill>
                    <a:schemeClr val="lt2"/>
                  </a:solidFill>
                  <a:prstDash val="solid"/>
                  <a:round/>
                  <a:headEnd len="med" w="med" type="none"/>
                  <a:tailEnd len="med" w="med" type="none"/>
                </a:ln>
              </p:spPr>
            </p:cxnSp>
          </p:grpSp>
          <p:sp>
            <p:nvSpPr>
              <p:cNvPr id="149" name="Google Shape;149;p3"/>
              <p:cNvSpPr/>
              <p:nvPr/>
            </p:nvSpPr>
            <p:spPr>
              <a:xfrm>
                <a:off x="2400" y="1055"/>
                <a:ext cx="129" cy="74"/>
              </a:xfrm>
              <a:prstGeom prst="homePlate">
                <a:avLst>
                  <a:gd fmla="val 51571" name="adj"/>
                </a:avLst>
              </a:prstGeom>
              <a:solidFill>
                <a:srgbClr val="FFFFCC"/>
              </a:solidFill>
              <a:ln cap="flat" cmpd="sng" w="9525">
                <a:solidFill>
                  <a:schemeClr val="lt2"/>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nvGrpSpPr>
            <p:cNvPr id="150" name="Google Shape;150;p3"/>
            <p:cNvGrpSpPr/>
            <p:nvPr/>
          </p:nvGrpSpPr>
          <p:grpSpPr>
            <a:xfrm>
              <a:off x="3238" y="1000"/>
              <a:ext cx="302" cy="198"/>
              <a:chOff x="2263" y="970"/>
              <a:chExt cx="288" cy="189"/>
            </a:xfrm>
          </p:grpSpPr>
          <p:sp>
            <p:nvSpPr>
              <p:cNvPr id="151" name="Google Shape;151;p3"/>
              <p:cNvSpPr/>
              <p:nvPr/>
            </p:nvSpPr>
            <p:spPr>
              <a:xfrm>
                <a:off x="2263" y="970"/>
                <a:ext cx="288" cy="189"/>
              </a:xfrm>
              <a:prstGeom prst="roundRect">
                <a:avLst>
                  <a:gd fmla="val 16667" name="adj"/>
                </a:avLst>
              </a:prstGeom>
              <a:solidFill>
                <a:srgbClr val="8ECC8E"/>
              </a:solidFill>
              <a:ln cap="flat" cmpd="sng" w="9525">
                <a:solidFill>
                  <a:schemeClr val="lt2"/>
                </a:solidFill>
                <a:prstDash val="solid"/>
                <a:round/>
                <a:headEnd len="sm" w="sm" type="none"/>
                <a:tailEnd len="sm" w="sm" type="none"/>
              </a:ln>
              <a:effectLst>
                <a:outerShdw rotWithShape="0" algn="ctr" dir="3378596" dist="45791">
                  <a:srgbClr val="C0C0C0"/>
                </a:outerShdw>
              </a:effectLst>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nvGrpSpPr>
              <p:cNvPr id="152" name="Google Shape;152;p3"/>
              <p:cNvGrpSpPr/>
              <p:nvPr/>
            </p:nvGrpSpPr>
            <p:grpSpPr>
              <a:xfrm>
                <a:off x="2300" y="996"/>
                <a:ext cx="86" cy="128"/>
                <a:chOff x="2853" y="1773"/>
                <a:chExt cx="161" cy="237"/>
              </a:xfrm>
            </p:grpSpPr>
            <p:sp>
              <p:nvSpPr>
                <p:cNvPr id="153" name="Google Shape;153;p3"/>
                <p:cNvSpPr/>
                <p:nvPr/>
              </p:nvSpPr>
              <p:spPr>
                <a:xfrm>
                  <a:off x="2853" y="1880"/>
                  <a:ext cx="161" cy="130"/>
                </a:xfrm>
                <a:prstGeom prst="parallelogram">
                  <a:avLst>
                    <a:gd fmla="val 30962" name="adj"/>
                  </a:avLst>
                </a:prstGeom>
                <a:solidFill>
                  <a:srgbClr val="FFCC99"/>
                </a:solidFill>
                <a:ln cap="flat" cmpd="sng" w="9525">
                  <a:solidFill>
                    <a:schemeClr val="lt2"/>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54" name="Google Shape;154;p3"/>
                <p:cNvSpPr/>
                <p:nvPr/>
              </p:nvSpPr>
              <p:spPr>
                <a:xfrm>
                  <a:off x="2915" y="1773"/>
                  <a:ext cx="87" cy="87"/>
                </a:xfrm>
                <a:prstGeom prst="ellipse">
                  <a:avLst/>
                </a:prstGeom>
                <a:solidFill>
                  <a:srgbClr val="FFCC99"/>
                </a:solidFill>
                <a:ln cap="flat" cmpd="sng" w="9525">
                  <a:solidFill>
                    <a:schemeClr val="lt2"/>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nvGrpSpPr>
              <p:cNvPr id="155" name="Google Shape;155;p3"/>
              <p:cNvGrpSpPr/>
              <p:nvPr/>
            </p:nvGrpSpPr>
            <p:grpSpPr>
              <a:xfrm>
                <a:off x="2373" y="985"/>
                <a:ext cx="65" cy="93"/>
                <a:chOff x="3387" y="1863"/>
                <a:chExt cx="122" cy="174"/>
              </a:xfrm>
            </p:grpSpPr>
            <p:sp>
              <p:nvSpPr>
                <p:cNvPr id="156" name="Google Shape;156;p3"/>
                <p:cNvSpPr/>
                <p:nvPr/>
              </p:nvSpPr>
              <p:spPr>
                <a:xfrm>
                  <a:off x="3387" y="1863"/>
                  <a:ext cx="122" cy="174"/>
                </a:xfrm>
                <a:custGeom>
                  <a:rect b="b" l="l" r="r" t="t"/>
                  <a:pathLst>
                    <a:path extrusionOk="0" h="174" w="122">
                      <a:moveTo>
                        <a:pt x="0" y="0"/>
                      </a:moveTo>
                      <a:lnTo>
                        <a:pt x="0" y="174"/>
                      </a:lnTo>
                      <a:lnTo>
                        <a:pt x="122" y="174"/>
                      </a:lnTo>
                      <a:lnTo>
                        <a:pt x="122" y="38"/>
                      </a:lnTo>
                      <a:lnTo>
                        <a:pt x="84" y="0"/>
                      </a:lnTo>
                      <a:lnTo>
                        <a:pt x="0" y="0"/>
                      </a:lnTo>
                      <a:close/>
                    </a:path>
                  </a:pathLst>
                </a:custGeom>
                <a:solidFill>
                  <a:srgbClr val="FF9966"/>
                </a:solidFill>
                <a:ln cap="flat" cmpd="sng" w="9525">
                  <a:solidFill>
                    <a:schemeClr val="lt2"/>
                  </a:solidFill>
                  <a:prstDash val="solid"/>
                  <a:round/>
                  <a:headEnd len="sm" w="sm" type="none"/>
                  <a:tailEnd len="sm" w="sm" type="non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57" name="Google Shape;157;p3"/>
                <p:cNvCxnSpPr/>
                <p:nvPr/>
              </p:nvCxnSpPr>
              <p:spPr>
                <a:xfrm>
                  <a:off x="3468" y="1863"/>
                  <a:ext cx="0" cy="41"/>
                </a:xfrm>
                <a:prstGeom prst="straightConnector1">
                  <a:avLst/>
                </a:prstGeom>
                <a:noFill/>
                <a:ln cap="flat" cmpd="sng" w="9525">
                  <a:solidFill>
                    <a:schemeClr val="lt2"/>
                  </a:solidFill>
                  <a:prstDash val="solid"/>
                  <a:round/>
                  <a:headEnd len="med" w="med" type="none"/>
                  <a:tailEnd len="med" w="med" type="none"/>
                </a:ln>
              </p:spPr>
            </p:cxnSp>
            <p:cxnSp>
              <p:nvCxnSpPr>
                <p:cNvPr id="158" name="Google Shape;158;p3"/>
                <p:cNvCxnSpPr/>
                <p:nvPr/>
              </p:nvCxnSpPr>
              <p:spPr>
                <a:xfrm rot="10800000">
                  <a:off x="3466" y="1904"/>
                  <a:ext cx="41" cy="0"/>
                </a:xfrm>
                <a:prstGeom prst="straightConnector1">
                  <a:avLst/>
                </a:prstGeom>
                <a:noFill/>
                <a:ln cap="flat" cmpd="sng" w="9525">
                  <a:solidFill>
                    <a:schemeClr val="lt2"/>
                  </a:solidFill>
                  <a:prstDash val="solid"/>
                  <a:round/>
                  <a:headEnd len="med" w="med" type="none"/>
                  <a:tailEnd len="med" w="med" type="none"/>
                </a:ln>
              </p:spPr>
            </p:cxnSp>
          </p:grpSp>
          <p:sp>
            <p:nvSpPr>
              <p:cNvPr id="159" name="Google Shape;159;p3"/>
              <p:cNvSpPr/>
              <p:nvPr/>
            </p:nvSpPr>
            <p:spPr>
              <a:xfrm>
                <a:off x="2400" y="1055"/>
                <a:ext cx="129" cy="74"/>
              </a:xfrm>
              <a:prstGeom prst="homePlate">
                <a:avLst>
                  <a:gd fmla="val 51571" name="adj"/>
                </a:avLst>
              </a:prstGeom>
              <a:solidFill>
                <a:srgbClr val="FFFFCC"/>
              </a:solidFill>
              <a:ln cap="flat" cmpd="sng" w="9525">
                <a:solidFill>
                  <a:schemeClr val="lt2"/>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nvGrpSpPr>
            <p:cNvPr id="160" name="Google Shape;160;p3"/>
            <p:cNvGrpSpPr/>
            <p:nvPr/>
          </p:nvGrpSpPr>
          <p:grpSpPr>
            <a:xfrm>
              <a:off x="2971" y="1882"/>
              <a:ext cx="302" cy="198"/>
              <a:chOff x="2263" y="970"/>
              <a:chExt cx="288" cy="189"/>
            </a:xfrm>
          </p:grpSpPr>
          <p:sp>
            <p:nvSpPr>
              <p:cNvPr id="161" name="Google Shape;161;p3"/>
              <p:cNvSpPr/>
              <p:nvPr/>
            </p:nvSpPr>
            <p:spPr>
              <a:xfrm>
                <a:off x="2263" y="970"/>
                <a:ext cx="288" cy="189"/>
              </a:xfrm>
              <a:prstGeom prst="roundRect">
                <a:avLst>
                  <a:gd fmla="val 16667" name="adj"/>
                </a:avLst>
              </a:prstGeom>
              <a:solidFill>
                <a:srgbClr val="8ECC8E"/>
              </a:solidFill>
              <a:ln cap="flat" cmpd="sng" w="9525">
                <a:solidFill>
                  <a:schemeClr val="lt2"/>
                </a:solidFill>
                <a:prstDash val="solid"/>
                <a:round/>
                <a:headEnd len="sm" w="sm" type="none"/>
                <a:tailEnd len="sm" w="sm" type="none"/>
              </a:ln>
              <a:effectLst>
                <a:outerShdw rotWithShape="0" algn="ctr" dir="3378596" dist="45791">
                  <a:srgbClr val="C0C0C0"/>
                </a:outerShdw>
              </a:effectLst>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nvGrpSpPr>
              <p:cNvPr id="162" name="Google Shape;162;p3"/>
              <p:cNvGrpSpPr/>
              <p:nvPr/>
            </p:nvGrpSpPr>
            <p:grpSpPr>
              <a:xfrm>
                <a:off x="2300" y="996"/>
                <a:ext cx="86" cy="128"/>
                <a:chOff x="2853" y="1773"/>
                <a:chExt cx="161" cy="237"/>
              </a:xfrm>
            </p:grpSpPr>
            <p:sp>
              <p:nvSpPr>
                <p:cNvPr id="163" name="Google Shape;163;p3"/>
                <p:cNvSpPr/>
                <p:nvPr/>
              </p:nvSpPr>
              <p:spPr>
                <a:xfrm>
                  <a:off x="2853" y="1880"/>
                  <a:ext cx="161" cy="130"/>
                </a:xfrm>
                <a:prstGeom prst="parallelogram">
                  <a:avLst>
                    <a:gd fmla="val 30962" name="adj"/>
                  </a:avLst>
                </a:prstGeom>
                <a:solidFill>
                  <a:srgbClr val="FFCC99"/>
                </a:solidFill>
                <a:ln cap="flat" cmpd="sng" w="9525">
                  <a:solidFill>
                    <a:schemeClr val="lt2"/>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64" name="Google Shape;164;p3"/>
                <p:cNvSpPr/>
                <p:nvPr/>
              </p:nvSpPr>
              <p:spPr>
                <a:xfrm>
                  <a:off x="2915" y="1773"/>
                  <a:ext cx="87" cy="87"/>
                </a:xfrm>
                <a:prstGeom prst="ellipse">
                  <a:avLst/>
                </a:prstGeom>
                <a:solidFill>
                  <a:srgbClr val="FFCC99"/>
                </a:solidFill>
                <a:ln cap="flat" cmpd="sng" w="9525">
                  <a:solidFill>
                    <a:schemeClr val="lt2"/>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nvGrpSpPr>
              <p:cNvPr id="165" name="Google Shape;165;p3"/>
              <p:cNvGrpSpPr/>
              <p:nvPr/>
            </p:nvGrpSpPr>
            <p:grpSpPr>
              <a:xfrm>
                <a:off x="2373" y="985"/>
                <a:ext cx="65" cy="93"/>
                <a:chOff x="3387" y="1863"/>
                <a:chExt cx="122" cy="174"/>
              </a:xfrm>
            </p:grpSpPr>
            <p:sp>
              <p:nvSpPr>
                <p:cNvPr id="166" name="Google Shape;166;p3"/>
                <p:cNvSpPr/>
                <p:nvPr/>
              </p:nvSpPr>
              <p:spPr>
                <a:xfrm>
                  <a:off x="3387" y="1863"/>
                  <a:ext cx="122" cy="174"/>
                </a:xfrm>
                <a:custGeom>
                  <a:rect b="b" l="l" r="r" t="t"/>
                  <a:pathLst>
                    <a:path extrusionOk="0" h="174" w="122">
                      <a:moveTo>
                        <a:pt x="0" y="0"/>
                      </a:moveTo>
                      <a:lnTo>
                        <a:pt x="0" y="174"/>
                      </a:lnTo>
                      <a:lnTo>
                        <a:pt x="122" y="174"/>
                      </a:lnTo>
                      <a:lnTo>
                        <a:pt x="122" y="38"/>
                      </a:lnTo>
                      <a:lnTo>
                        <a:pt x="84" y="0"/>
                      </a:lnTo>
                      <a:lnTo>
                        <a:pt x="0" y="0"/>
                      </a:lnTo>
                      <a:close/>
                    </a:path>
                  </a:pathLst>
                </a:custGeom>
                <a:solidFill>
                  <a:srgbClr val="FF9966"/>
                </a:solidFill>
                <a:ln cap="flat" cmpd="sng" w="9525">
                  <a:solidFill>
                    <a:schemeClr val="lt2"/>
                  </a:solidFill>
                  <a:prstDash val="solid"/>
                  <a:round/>
                  <a:headEnd len="sm" w="sm" type="none"/>
                  <a:tailEnd len="sm" w="sm" type="non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67" name="Google Shape;167;p3"/>
                <p:cNvCxnSpPr/>
                <p:nvPr/>
              </p:nvCxnSpPr>
              <p:spPr>
                <a:xfrm>
                  <a:off x="3468" y="1863"/>
                  <a:ext cx="0" cy="41"/>
                </a:xfrm>
                <a:prstGeom prst="straightConnector1">
                  <a:avLst/>
                </a:prstGeom>
                <a:noFill/>
                <a:ln cap="flat" cmpd="sng" w="9525">
                  <a:solidFill>
                    <a:schemeClr val="lt2"/>
                  </a:solidFill>
                  <a:prstDash val="solid"/>
                  <a:round/>
                  <a:headEnd len="med" w="med" type="none"/>
                  <a:tailEnd len="med" w="med" type="none"/>
                </a:ln>
              </p:spPr>
            </p:cxnSp>
            <p:cxnSp>
              <p:nvCxnSpPr>
                <p:cNvPr id="168" name="Google Shape;168;p3"/>
                <p:cNvCxnSpPr/>
                <p:nvPr/>
              </p:nvCxnSpPr>
              <p:spPr>
                <a:xfrm rot="10800000">
                  <a:off x="3466" y="1904"/>
                  <a:ext cx="41" cy="0"/>
                </a:xfrm>
                <a:prstGeom prst="straightConnector1">
                  <a:avLst/>
                </a:prstGeom>
                <a:noFill/>
                <a:ln cap="flat" cmpd="sng" w="9525">
                  <a:solidFill>
                    <a:schemeClr val="lt2"/>
                  </a:solidFill>
                  <a:prstDash val="solid"/>
                  <a:round/>
                  <a:headEnd len="med" w="med" type="none"/>
                  <a:tailEnd len="med" w="med" type="none"/>
                </a:ln>
              </p:spPr>
            </p:cxnSp>
          </p:grpSp>
          <p:sp>
            <p:nvSpPr>
              <p:cNvPr id="169" name="Google Shape;169;p3"/>
              <p:cNvSpPr/>
              <p:nvPr/>
            </p:nvSpPr>
            <p:spPr>
              <a:xfrm>
                <a:off x="2400" y="1055"/>
                <a:ext cx="129" cy="74"/>
              </a:xfrm>
              <a:prstGeom prst="homePlate">
                <a:avLst>
                  <a:gd fmla="val 51571" name="adj"/>
                </a:avLst>
              </a:prstGeom>
              <a:solidFill>
                <a:srgbClr val="FFFFCC"/>
              </a:solidFill>
              <a:ln cap="flat" cmpd="sng" w="9525">
                <a:solidFill>
                  <a:schemeClr val="lt2"/>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nvGrpSpPr>
            <p:cNvPr id="170" name="Google Shape;170;p3"/>
            <p:cNvGrpSpPr/>
            <p:nvPr/>
          </p:nvGrpSpPr>
          <p:grpSpPr>
            <a:xfrm>
              <a:off x="2011" y="2209"/>
              <a:ext cx="302" cy="198"/>
              <a:chOff x="2263" y="970"/>
              <a:chExt cx="288" cy="189"/>
            </a:xfrm>
          </p:grpSpPr>
          <p:sp>
            <p:nvSpPr>
              <p:cNvPr id="171" name="Google Shape;171;p3"/>
              <p:cNvSpPr/>
              <p:nvPr/>
            </p:nvSpPr>
            <p:spPr>
              <a:xfrm>
                <a:off x="2263" y="970"/>
                <a:ext cx="288" cy="189"/>
              </a:xfrm>
              <a:prstGeom prst="roundRect">
                <a:avLst>
                  <a:gd fmla="val 16667" name="adj"/>
                </a:avLst>
              </a:prstGeom>
              <a:solidFill>
                <a:srgbClr val="8ECC8E"/>
              </a:solidFill>
              <a:ln cap="flat" cmpd="sng" w="9525">
                <a:solidFill>
                  <a:schemeClr val="lt2"/>
                </a:solidFill>
                <a:prstDash val="solid"/>
                <a:round/>
                <a:headEnd len="sm" w="sm" type="none"/>
                <a:tailEnd len="sm" w="sm" type="none"/>
              </a:ln>
              <a:effectLst>
                <a:outerShdw rotWithShape="0" algn="ctr" dir="3378596" dist="45791">
                  <a:srgbClr val="C0C0C0"/>
                </a:outerShdw>
              </a:effectLst>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nvGrpSpPr>
              <p:cNvPr id="172" name="Google Shape;172;p3"/>
              <p:cNvGrpSpPr/>
              <p:nvPr/>
            </p:nvGrpSpPr>
            <p:grpSpPr>
              <a:xfrm>
                <a:off x="2300" y="996"/>
                <a:ext cx="86" cy="128"/>
                <a:chOff x="2853" y="1773"/>
                <a:chExt cx="161" cy="237"/>
              </a:xfrm>
            </p:grpSpPr>
            <p:sp>
              <p:nvSpPr>
                <p:cNvPr id="173" name="Google Shape;173;p3"/>
                <p:cNvSpPr/>
                <p:nvPr/>
              </p:nvSpPr>
              <p:spPr>
                <a:xfrm>
                  <a:off x="2853" y="1880"/>
                  <a:ext cx="161" cy="130"/>
                </a:xfrm>
                <a:prstGeom prst="parallelogram">
                  <a:avLst>
                    <a:gd fmla="val 30962" name="adj"/>
                  </a:avLst>
                </a:prstGeom>
                <a:solidFill>
                  <a:srgbClr val="FFCC99"/>
                </a:solidFill>
                <a:ln cap="flat" cmpd="sng" w="9525">
                  <a:solidFill>
                    <a:schemeClr val="lt2"/>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74" name="Google Shape;174;p3"/>
                <p:cNvSpPr/>
                <p:nvPr/>
              </p:nvSpPr>
              <p:spPr>
                <a:xfrm>
                  <a:off x="2915" y="1773"/>
                  <a:ext cx="87" cy="87"/>
                </a:xfrm>
                <a:prstGeom prst="ellipse">
                  <a:avLst/>
                </a:prstGeom>
                <a:solidFill>
                  <a:srgbClr val="FFCC99"/>
                </a:solidFill>
                <a:ln cap="flat" cmpd="sng" w="9525">
                  <a:solidFill>
                    <a:schemeClr val="lt2"/>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nvGrpSpPr>
              <p:cNvPr id="175" name="Google Shape;175;p3"/>
              <p:cNvGrpSpPr/>
              <p:nvPr/>
            </p:nvGrpSpPr>
            <p:grpSpPr>
              <a:xfrm>
                <a:off x="2373" y="985"/>
                <a:ext cx="65" cy="93"/>
                <a:chOff x="3387" y="1863"/>
                <a:chExt cx="122" cy="174"/>
              </a:xfrm>
            </p:grpSpPr>
            <p:sp>
              <p:nvSpPr>
                <p:cNvPr id="176" name="Google Shape;176;p3"/>
                <p:cNvSpPr/>
                <p:nvPr/>
              </p:nvSpPr>
              <p:spPr>
                <a:xfrm>
                  <a:off x="3387" y="1863"/>
                  <a:ext cx="122" cy="174"/>
                </a:xfrm>
                <a:custGeom>
                  <a:rect b="b" l="l" r="r" t="t"/>
                  <a:pathLst>
                    <a:path extrusionOk="0" h="174" w="122">
                      <a:moveTo>
                        <a:pt x="0" y="0"/>
                      </a:moveTo>
                      <a:lnTo>
                        <a:pt x="0" y="174"/>
                      </a:lnTo>
                      <a:lnTo>
                        <a:pt x="122" y="174"/>
                      </a:lnTo>
                      <a:lnTo>
                        <a:pt x="122" y="38"/>
                      </a:lnTo>
                      <a:lnTo>
                        <a:pt x="84" y="0"/>
                      </a:lnTo>
                      <a:lnTo>
                        <a:pt x="0" y="0"/>
                      </a:lnTo>
                      <a:close/>
                    </a:path>
                  </a:pathLst>
                </a:custGeom>
                <a:solidFill>
                  <a:srgbClr val="FF9966"/>
                </a:solidFill>
                <a:ln cap="flat" cmpd="sng" w="9525">
                  <a:solidFill>
                    <a:schemeClr val="lt2"/>
                  </a:solidFill>
                  <a:prstDash val="solid"/>
                  <a:round/>
                  <a:headEnd len="sm" w="sm" type="none"/>
                  <a:tailEnd len="sm" w="sm" type="non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77" name="Google Shape;177;p3"/>
                <p:cNvCxnSpPr/>
                <p:nvPr/>
              </p:nvCxnSpPr>
              <p:spPr>
                <a:xfrm>
                  <a:off x="3468" y="1863"/>
                  <a:ext cx="0" cy="41"/>
                </a:xfrm>
                <a:prstGeom prst="straightConnector1">
                  <a:avLst/>
                </a:prstGeom>
                <a:noFill/>
                <a:ln cap="flat" cmpd="sng" w="9525">
                  <a:solidFill>
                    <a:schemeClr val="lt2"/>
                  </a:solidFill>
                  <a:prstDash val="solid"/>
                  <a:round/>
                  <a:headEnd len="med" w="med" type="none"/>
                  <a:tailEnd len="med" w="med" type="none"/>
                </a:ln>
              </p:spPr>
            </p:cxnSp>
            <p:cxnSp>
              <p:nvCxnSpPr>
                <p:cNvPr id="178" name="Google Shape;178;p3"/>
                <p:cNvCxnSpPr/>
                <p:nvPr/>
              </p:nvCxnSpPr>
              <p:spPr>
                <a:xfrm rot="10800000">
                  <a:off x="3466" y="1904"/>
                  <a:ext cx="41" cy="0"/>
                </a:xfrm>
                <a:prstGeom prst="straightConnector1">
                  <a:avLst/>
                </a:prstGeom>
                <a:noFill/>
                <a:ln cap="flat" cmpd="sng" w="9525">
                  <a:solidFill>
                    <a:schemeClr val="lt2"/>
                  </a:solidFill>
                  <a:prstDash val="solid"/>
                  <a:round/>
                  <a:headEnd len="med" w="med" type="none"/>
                  <a:tailEnd len="med" w="med" type="none"/>
                </a:ln>
              </p:spPr>
            </p:cxnSp>
          </p:grpSp>
          <p:sp>
            <p:nvSpPr>
              <p:cNvPr id="179" name="Google Shape;179;p3"/>
              <p:cNvSpPr/>
              <p:nvPr/>
            </p:nvSpPr>
            <p:spPr>
              <a:xfrm>
                <a:off x="2400" y="1055"/>
                <a:ext cx="129" cy="74"/>
              </a:xfrm>
              <a:prstGeom prst="homePlate">
                <a:avLst>
                  <a:gd fmla="val 51571" name="adj"/>
                </a:avLst>
              </a:prstGeom>
              <a:solidFill>
                <a:srgbClr val="FFFFCC"/>
              </a:solidFill>
              <a:ln cap="flat" cmpd="sng" w="9525">
                <a:solidFill>
                  <a:schemeClr val="lt2"/>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nvGrpSpPr>
            <p:cNvPr id="180" name="Google Shape;180;p3"/>
            <p:cNvGrpSpPr/>
            <p:nvPr/>
          </p:nvGrpSpPr>
          <p:grpSpPr>
            <a:xfrm>
              <a:off x="2572" y="2725"/>
              <a:ext cx="302" cy="198"/>
              <a:chOff x="2263" y="970"/>
              <a:chExt cx="288" cy="189"/>
            </a:xfrm>
          </p:grpSpPr>
          <p:sp>
            <p:nvSpPr>
              <p:cNvPr id="181" name="Google Shape;181;p3"/>
              <p:cNvSpPr/>
              <p:nvPr/>
            </p:nvSpPr>
            <p:spPr>
              <a:xfrm>
                <a:off x="2263" y="970"/>
                <a:ext cx="288" cy="189"/>
              </a:xfrm>
              <a:prstGeom prst="roundRect">
                <a:avLst>
                  <a:gd fmla="val 16667" name="adj"/>
                </a:avLst>
              </a:prstGeom>
              <a:solidFill>
                <a:srgbClr val="8ECC8E"/>
              </a:solidFill>
              <a:ln cap="flat" cmpd="sng" w="9525">
                <a:solidFill>
                  <a:schemeClr val="lt2"/>
                </a:solidFill>
                <a:prstDash val="solid"/>
                <a:round/>
                <a:headEnd len="sm" w="sm" type="none"/>
                <a:tailEnd len="sm" w="sm" type="none"/>
              </a:ln>
              <a:effectLst>
                <a:outerShdw rotWithShape="0" algn="ctr" dir="3378596" dist="45791">
                  <a:srgbClr val="C0C0C0"/>
                </a:outerShdw>
              </a:effectLst>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nvGrpSpPr>
              <p:cNvPr id="182" name="Google Shape;182;p3"/>
              <p:cNvGrpSpPr/>
              <p:nvPr/>
            </p:nvGrpSpPr>
            <p:grpSpPr>
              <a:xfrm>
                <a:off x="2300" y="996"/>
                <a:ext cx="86" cy="128"/>
                <a:chOff x="2853" y="1773"/>
                <a:chExt cx="161" cy="237"/>
              </a:xfrm>
            </p:grpSpPr>
            <p:sp>
              <p:nvSpPr>
                <p:cNvPr id="183" name="Google Shape;183;p3"/>
                <p:cNvSpPr/>
                <p:nvPr/>
              </p:nvSpPr>
              <p:spPr>
                <a:xfrm>
                  <a:off x="2853" y="1880"/>
                  <a:ext cx="161" cy="130"/>
                </a:xfrm>
                <a:prstGeom prst="parallelogram">
                  <a:avLst>
                    <a:gd fmla="val 30962" name="adj"/>
                  </a:avLst>
                </a:prstGeom>
                <a:solidFill>
                  <a:srgbClr val="FFCC99"/>
                </a:solidFill>
                <a:ln cap="flat" cmpd="sng" w="9525">
                  <a:solidFill>
                    <a:schemeClr val="lt2"/>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84" name="Google Shape;184;p3"/>
                <p:cNvSpPr/>
                <p:nvPr/>
              </p:nvSpPr>
              <p:spPr>
                <a:xfrm>
                  <a:off x="2915" y="1773"/>
                  <a:ext cx="87" cy="87"/>
                </a:xfrm>
                <a:prstGeom prst="ellipse">
                  <a:avLst/>
                </a:prstGeom>
                <a:solidFill>
                  <a:srgbClr val="FFCC99"/>
                </a:solidFill>
                <a:ln cap="flat" cmpd="sng" w="9525">
                  <a:solidFill>
                    <a:schemeClr val="lt2"/>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nvGrpSpPr>
              <p:cNvPr id="185" name="Google Shape;185;p3"/>
              <p:cNvGrpSpPr/>
              <p:nvPr/>
            </p:nvGrpSpPr>
            <p:grpSpPr>
              <a:xfrm>
                <a:off x="2373" y="985"/>
                <a:ext cx="65" cy="93"/>
                <a:chOff x="3387" y="1863"/>
                <a:chExt cx="122" cy="174"/>
              </a:xfrm>
            </p:grpSpPr>
            <p:sp>
              <p:nvSpPr>
                <p:cNvPr id="186" name="Google Shape;186;p3"/>
                <p:cNvSpPr/>
                <p:nvPr/>
              </p:nvSpPr>
              <p:spPr>
                <a:xfrm>
                  <a:off x="3387" y="1863"/>
                  <a:ext cx="122" cy="174"/>
                </a:xfrm>
                <a:custGeom>
                  <a:rect b="b" l="l" r="r" t="t"/>
                  <a:pathLst>
                    <a:path extrusionOk="0" h="174" w="122">
                      <a:moveTo>
                        <a:pt x="0" y="0"/>
                      </a:moveTo>
                      <a:lnTo>
                        <a:pt x="0" y="174"/>
                      </a:lnTo>
                      <a:lnTo>
                        <a:pt x="122" y="174"/>
                      </a:lnTo>
                      <a:lnTo>
                        <a:pt x="122" y="38"/>
                      </a:lnTo>
                      <a:lnTo>
                        <a:pt x="84" y="0"/>
                      </a:lnTo>
                      <a:lnTo>
                        <a:pt x="0" y="0"/>
                      </a:lnTo>
                      <a:close/>
                    </a:path>
                  </a:pathLst>
                </a:custGeom>
                <a:solidFill>
                  <a:srgbClr val="FF9966"/>
                </a:solidFill>
                <a:ln cap="flat" cmpd="sng" w="9525">
                  <a:solidFill>
                    <a:schemeClr val="lt2"/>
                  </a:solidFill>
                  <a:prstDash val="solid"/>
                  <a:round/>
                  <a:headEnd len="sm" w="sm" type="none"/>
                  <a:tailEnd len="sm" w="sm" type="non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87" name="Google Shape;187;p3"/>
                <p:cNvCxnSpPr/>
                <p:nvPr/>
              </p:nvCxnSpPr>
              <p:spPr>
                <a:xfrm>
                  <a:off x="3468" y="1863"/>
                  <a:ext cx="0" cy="41"/>
                </a:xfrm>
                <a:prstGeom prst="straightConnector1">
                  <a:avLst/>
                </a:prstGeom>
                <a:noFill/>
                <a:ln cap="flat" cmpd="sng" w="9525">
                  <a:solidFill>
                    <a:schemeClr val="lt2"/>
                  </a:solidFill>
                  <a:prstDash val="solid"/>
                  <a:round/>
                  <a:headEnd len="med" w="med" type="none"/>
                  <a:tailEnd len="med" w="med" type="none"/>
                </a:ln>
              </p:spPr>
            </p:cxnSp>
            <p:cxnSp>
              <p:nvCxnSpPr>
                <p:cNvPr id="188" name="Google Shape;188;p3"/>
                <p:cNvCxnSpPr/>
                <p:nvPr/>
              </p:nvCxnSpPr>
              <p:spPr>
                <a:xfrm rot="10800000">
                  <a:off x="3466" y="1904"/>
                  <a:ext cx="41" cy="0"/>
                </a:xfrm>
                <a:prstGeom prst="straightConnector1">
                  <a:avLst/>
                </a:prstGeom>
                <a:noFill/>
                <a:ln cap="flat" cmpd="sng" w="9525">
                  <a:solidFill>
                    <a:schemeClr val="lt2"/>
                  </a:solidFill>
                  <a:prstDash val="solid"/>
                  <a:round/>
                  <a:headEnd len="med" w="med" type="none"/>
                  <a:tailEnd len="med" w="med" type="none"/>
                </a:ln>
              </p:spPr>
            </p:cxnSp>
          </p:grpSp>
          <p:sp>
            <p:nvSpPr>
              <p:cNvPr id="189" name="Google Shape;189;p3"/>
              <p:cNvSpPr/>
              <p:nvPr/>
            </p:nvSpPr>
            <p:spPr>
              <a:xfrm>
                <a:off x="2400" y="1055"/>
                <a:ext cx="129" cy="74"/>
              </a:xfrm>
              <a:prstGeom prst="homePlate">
                <a:avLst>
                  <a:gd fmla="val 51571" name="adj"/>
                </a:avLst>
              </a:prstGeom>
              <a:solidFill>
                <a:srgbClr val="FFFFCC"/>
              </a:solidFill>
              <a:ln cap="flat" cmpd="sng" w="9525">
                <a:solidFill>
                  <a:schemeClr val="lt2"/>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nvGrpSpPr>
            <p:cNvPr id="190" name="Google Shape;190;p3"/>
            <p:cNvGrpSpPr/>
            <p:nvPr/>
          </p:nvGrpSpPr>
          <p:grpSpPr>
            <a:xfrm>
              <a:off x="3382" y="2725"/>
              <a:ext cx="302" cy="198"/>
              <a:chOff x="2263" y="970"/>
              <a:chExt cx="288" cy="189"/>
            </a:xfrm>
          </p:grpSpPr>
          <p:sp>
            <p:nvSpPr>
              <p:cNvPr id="191" name="Google Shape;191;p3"/>
              <p:cNvSpPr/>
              <p:nvPr/>
            </p:nvSpPr>
            <p:spPr>
              <a:xfrm>
                <a:off x="2263" y="970"/>
                <a:ext cx="288" cy="189"/>
              </a:xfrm>
              <a:prstGeom prst="roundRect">
                <a:avLst>
                  <a:gd fmla="val 16667" name="adj"/>
                </a:avLst>
              </a:prstGeom>
              <a:solidFill>
                <a:srgbClr val="8ECC8E"/>
              </a:solidFill>
              <a:ln cap="flat" cmpd="sng" w="9525">
                <a:solidFill>
                  <a:schemeClr val="lt2"/>
                </a:solidFill>
                <a:prstDash val="solid"/>
                <a:round/>
                <a:headEnd len="sm" w="sm" type="none"/>
                <a:tailEnd len="sm" w="sm" type="none"/>
              </a:ln>
              <a:effectLst>
                <a:outerShdw rotWithShape="0" algn="ctr" dir="3378596" dist="45791">
                  <a:srgbClr val="C0C0C0"/>
                </a:outerShdw>
              </a:effectLst>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nvGrpSpPr>
              <p:cNvPr id="192" name="Google Shape;192;p3"/>
              <p:cNvGrpSpPr/>
              <p:nvPr/>
            </p:nvGrpSpPr>
            <p:grpSpPr>
              <a:xfrm>
                <a:off x="2300" y="996"/>
                <a:ext cx="86" cy="128"/>
                <a:chOff x="2853" y="1773"/>
                <a:chExt cx="161" cy="237"/>
              </a:xfrm>
            </p:grpSpPr>
            <p:sp>
              <p:nvSpPr>
                <p:cNvPr id="193" name="Google Shape;193;p3"/>
                <p:cNvSpPr/>
                <p:nvPr/>
              </p:nvSpPr>
              <p:spPr>
                <a:xfrm>
                  <a:off x="2853" y="1880"/>
                  <a:ext cx="161" cy="130"/>
                </a:xfrm>
                <a:prstGeom prst="parallelogram">
                  <a:avLst>
                    <a:gd fmla="val 30962" name="adj"/>
                  </a:avLst>
                </a:prstGeom>
                <a:solidFill>
                  <a:srgbClr val="FFCC99"/>
                </a:solidFill>
                <a:ln cap="flat" cmpd="sng" w="9525">
                  <a:solidFill>
                    <a:schemeClr val="lt2"/>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94" name="Google Shape;194;p3"/>
                <p:cNvSpPr/>
                <p:nvPr/>
              </p:nvSpPr>
              <p:spPr>
                <a:xfrm>
                  <a:off x="2915" y="1773"/>
                  <a:ext cx="87" cy="87"/>
                </a:xfrm>
                <a:prstGeom prst="ellipse">
                  <a:avLst/>
                </a:prstGeom>
                <a:solidFill>
                  <a:srgbClr val="FFCC99"/>
                </a:solidFill>
                <a:ln cap="flat" cmpd="sng" w="9525">
                  <a:solidFill>
                    <a:schemeClr val="lt2"/>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nvGrpSpPr>
              <p:cNvPr id="195" name="Google Shape;195;p3"/>
              <p:cNvGrpSpPr/>
              <p:nvPr/>
            </p:nvGrpSpPr>
            <p:grpSpPr>
              <a:xfrm>
                <a:off x="2373" y="985"/>
                <a:ext cx="65" cy="93"/>
                <a:chOff x="3387" y="1863"/>
                <a:chExt cx="122" cy="174"/>
              </a:xfrm>
            </p:grpSpPr>
            <p:sp>
              <p:nvSpPr>
                <p:cNvPr id="196" name="Google Shape;196;p3"/>
                <p:cNvSpPr/>
                <p:nvPr/>
              </p:nvSpPr>
              <p:spPr>
                <a:xfrm>
                  <a:off x="3387" y="1863"/>
                  <a:ext cx="122" cy="174"/>
                </a:xfrm>
                <a:custGeom>
                  <a:rect b="b" l="l" r="r" t="t"/>
                  <a:pathLst>
                    <a:path extrusionOk="0" h="174" w="122">
                      <a:moveTo>
                        <a:pt x="0" y="0"/>
                      </a:moveTo>
                      <a:lnTo>
                        <a:pt x="0" y="174"/>
                      </a:lnTo>
                      <a:lnTo>
                        <a:pt x="122" y="174"/>
                      </a:lnTo>
                      <a:lnTo>
                        <a:pt x="122" y="38"/>
                      </a:lnTo>
                      <a:lnTo>
                        <a:pt x="84" y="0"/>
                      </a:lnTo>
                      <a:lnTo>
                        <a:pt x="0" y="0"/>
                      </a:lnTo>
                      <a:close/>
                    </a:path>
                  </a:pathLst>
                </a:custGeom>
                <a:solidFill>
                  <a:srgbClr val="FF9966"/>
                </a:solidFill>
                <a:ln cap="flat" cmpd="sng" w="9525">
                  <a:solidFill>
                    <a:schemeClr val="lt2"/>
                  </a:solidFill>
                  <a:prstDash val="solid"/>
                  <a:round/>
                  <a:headEnd len="sm" w="sm" type="none"/>
                  <a:tailEnd len="sm" w="sm" type="non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97" name="Google Shape;197;p3"/>
                <p:cNvCxnSpPr/>
                <p:nvPr/>
              </p:nvCxnSpPr>
              <p:spPr>
                <a:xfrm>
                  <a:off x="3468" y="1863"/>
                  <a:ext cx="0" cy="41"/>
                </a:xfrm>
                <a:prstGeom prst="straightConnector1">
                  <a:avLst/>
                </a:prstGeom>
                <a:noFill/>
                <a:ln cap="flat" cmpd="sng" w="9525">
                  <a:solidFill>
                    <a:schemeClr val="lt2"/>
                  </a:solidFill>
                  <a:prstDash val="solid"/>
                  <a:round/>
                  <a:headEnd len="med" w="med" type="none"/>
                  <a:tailEnd len="med" w="med" type="none"/>
                </a:ln>
              </p:spPr>
            </p:cxnSp>
            <p:cxnSp>
              <p:nvCxnSpPr>
                <p:cNvPr id="198" name="Google Shape;198;p3"/>
                <p:cNvCxnSpPr/>
                <p:nvPr/>
              </p:nvCxnSpPr>
              <p:spPr>
                <a:xfrm rot="10800000">
                  <a:off x="3466" y="1904"/>
                  <a:ext cx="41" cy="0"/>
                </a:xfrm>
                <a:prstGeom prst="straightConnector1">
                  <a:avLst/>
                </a:prstGeom>
                <a:noFill/>
                <a:ln cap="flat" cmpd="sng" w="9525">
                  <a:solidFill>
                    <a:schemeClr val="lt2"/>
                  </a:solidFill>
                  <a:prstDash val="solid"/>
                  <a:round/>
                  <a:headEnd len="med" w="med" type="none"/>
                  <a:tailEnd len="med" w="med" type="none"/>
                </a:ln>
              </p:spPr>
            </p:cxnSp>
          </p:grpSp>
          <p:sp>
            <p:nvSpPr>
              <p:cNvPr id="199" name="Google Shape;199;p3"/>
              <p:cNvSpPr/>
              <p:nvPr/>
            </p:nvSpPr>
            <p:spPr>
              <a:xfrm>
                <a:off x="2400" y="1055"/>
                <a:ext cx="129" cy="74"/>
              </a:xfrm>
              <a:prstGeom prst="homePlate">
                <a:avLst>
                  <a:gd fmla="val 51571" name="adj"/>
                </a:avLst>
              </a:prstGeom>
              <a:solidFill>
                <a:srgbClr val="FFFFCC"/>
              </a:solidFill>
              <a:ln cap="flat" cmpd="sng" w="9525">
                <a:solidFill>
                  <a:schemeClr val="lt2"/>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
          <p:nvSpPr>
            <p:cNvPr id="200" name="Google Shape;200;p3"/>
            <p:cNvSpPr txBox="1"/>
            <p:nvPr/>
          </p:nvSpPr>
          <p:spPr>
            <a:xfrm>
              <a:off x="1963" y="612"/>
              <a:ext cx="704" cy="266"/>
            </a:xfrm>
            <a:prstGeom prst="rect">
              <a:avLst/>
            </a:prstGeom>
            <a:noFill/>
            <a:ln>
              <a:noFill/>
            </a:ln>
          </p:spPr>
          <p:txBody>
            <a:bodyPr anchorCtr="0" anchor="t" bIns="53975" lIns="107950" spcFirstLastPara="1" rIns="107950" wrap="square" tIns="53975">
              <a:spAutoFit/>
            </a:bodyPr>
            <a:lstStyle/>
            <a:p>
              <a:pPr indent="0" lvl="0" marL="0" marR="0" rtl="0" algn="l">
                <a:lnSpc>
                  <a:spcPct val="35000"/>
                </a:lnSpc>
                <a:spcBef>
                  <a:spcPts val="0"/>
                </a:spcBef>
                <a:spcAft>
                  <a:spcPts val="0"/>
                </a:spcAft>
                <a:buNone/>
              </a:pPr>
              <a:r>
                <a:rPr b="0" lang="en-US" sz="1000">
                  <a:solidFill>
                    <a:schemeClr val="lt2"/>
                  </a:solidFill>
                  <a:latin typeface="Constantia"/>
                  <a:ea typeface="Constantia"/>
                  <a:cs typeface="Constantia"/>
                  <a:sym typeface="Constantia"/>
                </a:rPr>
                <a:t>[Early</a:t>
              </a:r>
              <a:endParaRPr/>
            </a:p>
            <a:p>
              <a:pPr indent="0" lvl="0" marL="0" marR="0" rtl="0" algn="l">
                <a:lnSpc>
                  <a:spcPct val="35000"/>
                </a:lnSpc>
                <a:spcBef>
                  <a:spcPts val="500"/>
                </a:spcBef>
                <a:spcAft>
                  <a:spcPts val="0"/>
                </a:spcAft>
                <a:buNone/>
              </a:pPr>
              <a:r>
                <a:rPr b="0" lang="en-US" sz="1000">
                  <a:solidFill>
                    <a:schemeClr val="lt2"/>
                  </a:solidFill>
                  <a:latin typeface="Constantia"/>
                  <a:ea typeface="Constantia"/>
                  <a:cs typeface="Constantia"/>
                  <a:sym typeface="Constantia"/>
                </a:rPr>
                <a:t>Elaboration</a:t>
              </a:r>
              <a:endParaRPr/>
            </a:p>
            <a:p>
              <a:pPr indent="0" lvl="0" marL="0" marR="0" rtl="0" algn="l">
                <a:lnSpc>
                  <a:spcPct val="35000"/>
                </a:lnSpc>
                <a:spcBef>
                  <a:spcPts val="500"/>
                </a:spcBef>
                <a:spcAft>
                  <a:spcPts val="0"/>
                </a:spcAft>
                <a:buNone/>
              </a:pPr>
              <a:r>
                <a:rPr b="0" lang="en-US" sz="1000">
                  <a:solidFill>
                    <a:schemeClr val="lt2"/>
                  </a:solidFill>
                  <a:latin typeface="Constantia"/>
                  <a:ea typeface="Constantia"/>
                  <a:cs typeface="Constantia"/>
                  <a:sym typeface="Constantia"/>
                </a:rPr>
                <a:t>  Iteration]</a:t>
              </a:r>
              <a:endParaRPr/>
            </a:p>
          </p:txBody>
        </p:sp>
        <p:sp>
          <p:nvSpPr>
            <p:cNvPr id="201" name="Google Shape;201;p3"/>
            <p:cNvSpPr txBox="1"/>
            <p:nvPr/>
          </p:nvSpPr>
          <p:spPr>
            <a:xfrm>
              <a:off x="2885" y="705"/>
              <a:ext cx="903" cy="184"/>
            </a:xfrm>
            <a:prstGeom prst="rect">
              <a:avLst/>
            </a:prstGeom>
            <a:noFill/>
            <a:ln>
              <a:noFill/>
            </a:ln>
          </p:spPr>
          <p:txBody>
            <a:bodyPr anchorCtr="0" anchor="t" bIns="53975" lIns="107950" spcFirstLastPara="1" rIns="107950" wrap="square" tIns="53975">
              <a:spAutoFit/>
            </a:bodyPr>
            <a:lstStyle/>
            <a:p>
              <a:pPr indent="0" lvl="0" marL="0" marR="0" rtl="0" algn="l">
                <a:lnSpc>
                  <a:spcPct val="35000"/>
                </a:lnSpc>
                <a:spcBef>
                  <a:spcPts val="0"/>
                </a:spcBef>
                <a:spcAft>
                  <a:spcPts val="0"/>
                </a:spcAft>
                <a:buNone/>
              </a:pPr>
              <a:r>
                <a:rPr b="0" lang="en-US" sz="1000">
                  <a:solidFill>
                    <a:schemeClr val="lt2"/>
                  </a:solidFill>
                  <a:latin typeface="Constantia"/>
                  <a:ea typeface="Constantia"/>
                  <a:cs typeface="Constantia"/>
                  <a:sym typeface="Constantia"/>
                </a:rPr>
                <a:t>[Inception</a:t>
              </a:r>
              <a:endParaRPr/>
            </a:p>
            <a:p>
              <a:pPr indent="0" lvl="0" marL="0" marR="0" rtl="0" algn="l">
                <a:lnSpc>
                  <a:spcPct val="35000"/>
                </a:lnSpc>
                <a:spcBef>
                  <a:spcPts val="500"/>
                </a:spcBef>
                <a:spcAft>
                  <a:spcPts val="0"/>
                </a:spcAft>
                <a:buNone/>
              </a:pPr>
              <a:r>
                <a:rPr b="0" lang="en-US" sz="1000">
                  <a:solidFill>
                    <a:schemeClr val="lt2"/>
                  </a:solidFill>
                  <a:latin typeface="Constantia"/>
                  <a:ea typeface="Constantia"/>
                  <a:cs typeface="Constantia"/>
                  <a:sym typeface="Constantia"/>
                </a:rPr>
                <a:t>  Iteration (Optional)]</a:t>
              </a:r>
              <a:endParaRPr/>
            </a:p>
          </p:txBody>
        </p:sp>
        <p:sp>
          <p:nvSpPr>
            <p:cNvPr id="202" name="Google Shape;202;p3"/>
            <p:cNvSpPr txBox="1"/>
            <p:nvPr/>
          </p:nvSpPr>
          <p:spPr>
            <a:xfrm>
              <a:off x="1925" y="1237"/>
              <a:ext cx="903" cy="184"/>
            </a:xfrm>
            <a:prstGeom prst="rect">
              <a:avLst/>
            </a:prstGeom>
            <a:noFill/>
            <a:ln>
              <a:noFill/>
            </a:ln>
          </p:spPr>
          <p:txBody>
            <a:bodyPr anchorCtr="0" anchor="t" bIns="53975" lIns="107950" spcFirstLastPara="1" rIns="107950" wrap="square" tIns="53975">
              <a:spAutoFit/>
            </a:bodyPr>
            <a:lstStyle/>
            <a:p>
              <a:pPr indent="0" lvl="0" marL="0" marR="0" rtl="0" algn="l">
                <a:lnSpc>
                  <a:spcPct val="35000"/>
                </a:lnSpc>
                <a:spcBef>
                  <a:spcPts val="0"/>
                </a:spcBef>
                <a:spcAft>
                  <a:spcPts val="0"/>
                </a:spcAft>
                <a:buNone/>
              </a:pPr>
              <a:r>
                <a:rPr b="0" lang="en-US" sz="1000">
                  <a:solidFill>
                    <a:schemeClr val="lt2"/>
                  </a:solidFill>
                  <a:latin typeface="Constantia"/>
                  <a:ea typeface="Constantia"/>
                  <a:cs typeface="Constantia"/>
                  <a:sym typeface="Constantia"/>
                </a:rPr>
                <a:t>Define a Candidate</a:t>
              </a:r>
              <a:endParaRPr/>
            </a:p>
            <a:p>
              <a:pPr indent="0" lvl="0" marL="0" marR="0" rtl="0" algn="l">
                <a:lnSpc>
                  <a:spcPct val="35000"/>
                </a:lnSpc>
                <a:spcBef>
                  <a:spcPts val="500"/>
                </a:spcBef>
                <a:spcAft>
                  <a:spcPts val="0"/>
                </a:spcAft>
                <a:buNone/>
              </a:pPr>
              <a:r>
                <a:rPr b="0" lang="en-US" sz="1000">
                  <a:solidFill>
                    <a:schemeClr val="lt2"/>
                  </a:solidFill>
                  <a:latin typeface="Constantia"/>
                  <a:ea typeface="Constantia"/>
                  <a:cs typeface="Constantia"/>
                  <a:sym typeface="Constantia"/>
                </a:rPr>
                <a:t>Architecture</a:t>
              </a:r>
              <a:endParaRPr/>
            </a:p>
          </p:txBody>
        </p:sp>
        <p:sp>
          <p:nvSpPr>
            <p:cNvPr id="203" name="Google Shape;203;p3"/>
            <p:cNvSpPr txBox="1"/>
            <p:nvPr/>
          </p:nvSpPr>
          <p:spPr>
            <a:xfrm>
              <a:off x="3035" y="1236"/>
              <a:ext cx="704" cy="266"/>
            </a:xfrm>
            <a:prstGeom prst="rect">
              <a:avLst/>
            </a:prstGeom>
            <a:noFill/>
            <a:ln>
              <a:noFill/>
            </a:ln>
          </p:spPr>
          <p:txBody>
            <a:bodyPr anchorCtr="0" anchor="t" bIns="53975" lIns="107950" spcFirstLastPara="1" rIns="107950" wrap="square" tIns="53975">
              <a:spAutoFit/>
            </a:bodyPr>
            <a:lstStyle/>
            <a:p>
              <a:pPr indent="0" lvl="0" marL="0" marR="0" rtl="0" algn="l">
                <a:lnSpc>
                  <a:spcPct val="35000"/>
                </a:lnSpc>
                <a:spcBef>
                  <a:spcPts val="0"/>
                </a:spcBef>
                <a:spcAft>
                  <a:spcPts val="0"/>
                </a:spcAft>
                <a:buNone/>
              </a:pPr>
              <a:r>
                <a:rPr b="0" lang="en-US" sz="1000">
                  <a:solidFill>
                    <a:schemeClr val="lt2"/>
                  </a:solidFill>
                  <a:latin typeface="Constantia"/>
                  <a:ea typeface="Constantia"/>
                  <a:cs typeface="Constantia"/>
                  <a:sym typeface="Constantia"/>
                </a:rPr>
                <a:t>Perform</a:t>
              </a:r>
              <a:endParaRPr/>
            </a:p>
            <a:p>
              <a:pPr indent="0" lvl="0" marL="0" marR="0" rtl="0" algn="l">
                <a:lnSpc>
                  <a:spcPct val="35000"/>
                </a:lnSpc>
                <a:spcBef>
                  <a:spcPts val="500"/>
                </a:spcBef>
                <a:spcAft>
                  <a:spcPts val="0"/>
                </a:spcAft>
                <a:buNone/>
              </a:pPr>
              <a:r>
                <a:rPr b="0" lang="en-US" sz="1000">
                  <a:solidFill>
                    <a:schemeClr val="lt2"/>
                  </a:solidFill>
                  <a:latin typeface="Constantia"/>
                  <a:ea typeface="Constantia"/>
                  <a:cs typeface="Constantia"/>
                  <a:sym typeface="Constantia"/>
                </a:rPr>
                <a:t>Architectural</a:t>
              </a:r>
              <a:endParaRPr/>
            </a:p>
            <a:p>
              <a:pPr indent="0" lvl="0" marL="0" marR="0" rtl="0" algn="l">
                <a:lnSpc>
                  <a:spcPct val="35000"/>
                </a:lnSpc>
                <a:spcBef>
                  <a:spcPts val="500"/>
                </a:spcBef>
                <a:spcAft>
                  <a:spcPts val="0"/>
                </a:spcAft>
                <a:buNone/>
              </a:pPr>
              <a:r>
                <a:rPr b="0" lang="en-US" sz="1000">
                  <a:solidFill>
                    <a:schemeClr val="lt2"/>
                  </a:solidFill>
                  <a:latin typeface="Constantia"/>
                  <a:ea typeface="Constantia"/>
                  <a:cs typeface="Constantia"/>
                  <a:sym typeface="Constantia"/>
                </a:rPr>
                <a:t>Synthesis</a:t>
              </a:r>
              <a:endParaRPr/>
            </a:p>
          </p:txBody>
        </p:sp>
        <p:sp>
          <p:nvSpPr>
            <p:cNvPr id="204" name="Google Shape;204;p3"/>
            <p:cNvSpPr txBox="1"/>
            <p:nvPr/>
          </p:nvSpPr>
          <p:spPr>
            <a:xfrm>
              <a:off x="2745" y="2118"/>
              <a:ext cx="762" cy="102"/>
            </a:xfrm>
            <a:prstGeom prst="rect">
              <a:avLst/>
            </a:prstGeom>
            <a:noFill/>
            <a:ln>
              <a:noFill/>
            </a:ln>
          </p:spPr>
          <p:txBody>
            <a:bodyPr anchorCtr="0" anchor="t" bIns="53975" lIns="107950" spcFirstLastPara="1" rIns="107950" wrap="square" tIns="53975">
              <a:spAutoFit/>
            </a:bodyPr>
            <a:lstStyle/>
            <a:p>
              <a:pPr indent="0" lvl="0" marL="0" marR="0" rtl="0" algn="l">
                <a:lnSpc>
                  <a:spcPct val="35000"/>
                </a:lnSpc>
                <a:spcBef>
                  <a:spcPts val="0"/>
                </a:spcBef>
                <a:spcAft>
                  <a:spcPts val="0"/>
                </a:spcAft>
                <a:buNone/>
              </a:pPr>
              <a:r>
                <a:rPr b="0" lang="en-US" sz="1000">
                  <a:solidFill>
                    <a:schemeClr val="lt2"/>
                  </a:solidFill>
                  <a:latin typeface="Constantia"/>
                  <a:ea typeface="Constantia"/>
                  <a:cs typeface="Constantia"/>
                  <a:sym typeface="Constantia"/>
                </a:rPr>
                <a:t>Analyze Behavior</a:t>
              </a:r>
              <a:endParaRPr/>
            </a:p>
          </p:txBody>
        </p:sp>
        <p:sp>
          <p:nvSpPr>
            <p:cNvPr id="205" name="Google Shape;205;p3"/>
            <p:cNvSpPr txBox="1"/>
            <p:nvPr/>
          </p:nvSpPr>
          <p:spPr>
            <a:xfrm>
              <a:off x="1880" y="2445"/>
              <a:ext cx="570" cy="184"/>
            </a:xfrm>
            <a:prstGeom prst="rect">
              <a:avLst/>
            </a:prstGeom>
            <a:noFill/>
            <a:ln>
              <a:noFill/>
            </a:ln>
          </p:spPr>
          <p:txBody>
            <a:bodyPr anchorCtr="0" anchor="t" bIns="53975" lIns="107950" spcFirstLastPara="1" rIns="107950" wrap="square" tIns="53975">
              <a:spAutoFit/>
            </a:bodyPr>
            <a:lstStyle/>
            <a:p>
              <a:pPr indent="0" lvl="0" marL="0" marR="0" rtl="0" algn="l">
                <a:lnSpc>
                  <a:spcPct val="35000"/>
                </a:lnSpc>
                <a:spcBef>
                  <a:spcPts val="0"/>
                </a:spcBef>
                <a:spcAft>
                  <a:spcPts val="0"/>
                </a:spcAft>
                <a:buNone/>
              </a:pPr>
              <a:r>
                <a:rPr b="0" lang="en-US" sz="1000">
                  <a:solidFill>
                    <a:schemeClr val="lt2"/>
                  </a:solidFill>
                  <a:latin typeface="Constantia"/>
                  <a:ea typeface="Constantia"/>
                  <a:cs typeface="Constantia"/>
                  <a:sym typeface="Constantia"/>
                </a:rPr>
                <a:t>Refine the</a:t>
              </a:r>
              <a:endParaRPr/>
            </a:p>
            <a:p>
              <a:pPr indent="0" lvl="0" marL="0" marR="0" rtl="0" algn="l">
                <a:lnSpc>
                  <a:spcPct val="35000"/>
                </a:lnSpc>
                <a:spcBef>
                  <a:spcPts val="500"/>
                </a:spcBef>
                <a:spcAft>
                  <a:spcPts val="0"/>
                </a:spcAft>
                <a:buNone/>
              </a:pPr>
              <a:r>
                <a:rPr b="0" lang="en-US" sz="1000">
                  <a:solidFill>
                    <a:schemeClr val="lt2"/>
                  </a:solidFill>
                  <a:latin typeface="Constantia"/>
                  <a:ea typeface="Constantia"/>
                  <a:cs typeface="Constantia"/>
                  <a:sym typeface="Constantia"/>
                </a:rPr>
                <a:t>Architecture</a:t>
              </a:r>
              <a:endParaRPr/>
            </a:p>
          </p:txBody>
        </p:sp>
        <p:sp>
          <p:nvSpPr>
            <p:cNvPr id="206" name="Google Shape;206;p3"/>
            <p:cNvSpPr txBox="1"/>
            <p:nvPr/>
          </p:nvSpPr>
          <p:spPr>
            <a:xfrm>
              <a:off x="2424" y="2962"/>
              <a:ext cx="598" cy="184"/>
            </a:xfrm>
            <a:prstGeom prst="rect">
              <a:avLst/>
            </a:prstGeom>
            <a:noFill/>
            <a:ln>
              <a:noFill/>
            </a:ln>
          </p:spPr>
          <p:txBody>
            <a:bodyPr anchorCtr="0" anchor="t" bIns="53975" lIns="107950" spcFirstLastPara="1" rIns="107950" wrap="square" tIns="53975">
              <a:spAutoFit/>
            </a:bodyPr>
            <a:lstStyle/>
            <a:p>
              <a:pPr indent="0" lvl="0" marL="0" marR="0" rtl="0" algn="l">
                <a:lnSpc>
                  <a:spcPct val="35000"/>
                </a:lnSpc>
                <a:spcBef>
                  <a:spcPts val="0"/>
                </a:spcBef>
                <a:spcAft>
                  <a:spcPts val="0"/>
                </a:spcAft>
                <a:buNone/>
              </a:pPr>
              <a:r>
                <a:rPr b="0" lang="en-US" sz="1000">
                  <a:solidFill>
                    <a:schemeClr val="lt2"/>
                  </a:solidFill>
                  <a:latin typeface="Constantia"/>
                  <a:ea typeface="Constantia"/>
                  <a:cs typeface="Constantia"/>
                  <a:sym typeface="Constantia"/>
                </a:rPr>
                <a:t>Define</a:t>
              </a:r>
              <a:endParaRPr/>
            </a:p>
            <a:p>
              <a:pPr indent="0" lvl="0" marL="0" marR="0" rtl="0" algn="l">
                <a:lnSpc>
                  <a:spcPct val="35000"/>
                </a:lnSpc>
                <a:spcBef>
                  <a:spcPts val="500"/>
                </a:spcBef>
                <a:spcAft>
                  <a:spcPts val="0"/>
                </a:spcAft>
                <a:buNone/>
              </a:pPr>
              <a:r>
                <a:rPr b="0" lang="en-US" sz="1000">
                  <a:solidFill>
                    <a:schemeClr val="lt2"/>
                  </a:solidFill>
                  <a:latin typeface="Constantia"/>
                  <a:ea typeface="Constantia"/>
                  <a:cs typeface="Constantia"/>
                  <a:sym typeface="Constantia"/>
                </a:rPr>
                <a:t>Components</a:t>
              </a:r>
              <a:endParaRPr/>
            </a:p>
          </p:txBody>
        </p:sp>
        <p:sp>
          <p:nvSpPr>
            <p:cNvPr id="207" name="Google Shape;207;p3"/>
            <p:cNvSpPr txBox="1"/>
            <p:nvPr/>
          </p:nvSpPr>
          <p:spPr>
            <a:xfrm>
              <a:off x="3240" y="2962"/>
              <a:ext cx="598" cy="184"/>
            </a:xfrm>
            <a:prstGeom prst="rect">
              <a:avLst/>
            </a:prstGeom>
            <a:noFill/>
            <a:ln>
              <a:noFill/>
            </a:ln>
          </p:spPr>
          <p:txBody>
            <a:bodyPr anchorCtr="0" anchor="t" bIns="53975" lIns="107950" spcFirstLastPara="1" rIns="107950" wrap="square" tIns="53975">
              <a:spAutoFit/>
            </a:bodyPr>
            <a:lstStyle/>
            <a:p>
              <a:pPr indent="0" lvl="0" marL="0" marR="0" rtl="0" algn="l">
                <a:lnSpc>
                  <a:spcPct val="35000"/>
                </a:lnSpc>
                <a:spcBef>
                  <a:spcPts val="0"/>
                </a:spcBef>
                <a:spcAft>
                  <a:spcPts val="0"/>
                </a:spcAft>
                <a:buNone/>
              </a:pPr>
              <a:r>
                <a:rPr b="0" lang="en-US" sz="1000">
                  <a:solidFill>
                    <a:schemeClr val="lt2"/>
                  </a:solidFill>
                  <a:latin typeface="Constantia"/>
                  <a:ea typeface="Constantia"/>
                  <a:cs typeface="Constantia"/>
                  <a:sym typeface="Constantia"/>
                </a:rPr>
                <a:t>Design the</a:t>
              </a:r>
              <a:endParaRPr/>
            </a:p>
            <a:p>
              <a:pPr indent="0" lvl="0" marL="0" marR="0" rtl="0" algn="l">
                <a:lnSpc>
                  <a:spcPct val="35000"/>
                </a:lnSpc>
                <a:spcBef>
                  <a:spcPts val="500"/>
                </a:spcBef>
                <a:spcAft>
                  <a:spcPts val="0"/>
                </a:spcAft>
                <a:buNone/>
              </a:pPr>
              <a:r>
                <a:rPr b="0" lang="en-US" sz="1000">
                  <a:solidFill>
                    <a:schemeClr val="lt2"/>
                  </a:solidFill>
                  <a:latin typeface="Constantia"/>
                  <a:ea typeface="Constantia"/>
                  <a:cs typeface="Constantia"/>
                  <a:sym typeface="Constantia"/>
                </a:rPr>
                <a:t>Database</a:t>
              </a:r>
              <a:endParaRPr/>
            </a:p>
          </p:txBody>
        </p:sp>
        <p:sp>
          <p:nvSpPr>
            <p:cNvPr id="208" name="Google Shape;208;p3"/>
            <p:cNvSpPr txBox="1"/>
            <p:nvPr/>
          </p:nvSpPr>
          <p:spPr>
            <a:xfrm>
              <a:off x="3494" y="2387"/>
              <a:ext cx="488" cy="102"/>
            </a:xfrm>
            <a:prstGeom prst="rect">
              <a:avLst/>
            </a:prstGeom>
            <a:noFill/>
            <a:ln>
              <a:noFill/>
            </a:ln>
          </p:spPr>
          <p:txBody>
            <a:bodyPr anchorCtr="0" anchor="t" bIns="53975" lIns="107950" spcFirstLastPara="1" rIns="107950" wrap="square" tIns="53975">
              <a:spAutoFit/>
            </a:bodyPr>
            <a:lstStyle/>
            <a:p>
              <a:pPr indent="0" lvl="0" marL="0" marR="0" rtl="0" algn="l">
                <a:lnSpc>
                  <a:spcPct val="35000"/>
                </a:lnSpc>
                <a:spcBef>
                  <a:spcPts val="0"/>
                </a:spcBef>
                <a:spcAft>
                  <a:spcPts val="0"/>
                </a:spcAft>
                <a:buNone/>
              </a:pPr>
              <a:r>
                <a:rPr b="0" lang="en-US" sz="1000">
                  <a:solidFill>
                    <a:schemeClr val="lt2"/>
                  </a:solidFill>
                  <a:latin typeface="Constantia"/>
                  <a:ea typeface="Constantia"/>
                  <a:cs typeface="Constantia"/>
                  <a:sym typeface="Constantia"/>
                </a:rPr>
                <a:t>(Optional)</a:t>
              </a:r>
              <a:endParaRPr/>
            </a:p>
          </p:txBody>
        </p:sp>
        <p:sp>
          <p:nvSpPr>
            <p:cNvPr id="209" name="Google Shape;209;p3"/>
            <p:cNvSpPr/>
            <p:nvPr/>
          </p:nvSpPr>
          <p:spPr>
            <a:xfrm>
              <a:off x="2366" y="889"/>
              <a:ext cx="282" cy="104"/>
            </a:xfrm>
            <a:custGeom>
              <a:rect b="b" l="l" r="r" t="t"/>
              <a:pathLst>
                <a:path extrusionOk="0" h="109" w="282">
                  <a:moveTo>
                    <a:pt x="282" y="0"/>
                  </a:moveTo>
                  <a:lnTo>
                    <a:pt x="0" y="0"/>
                  </a:lnTo>
                  <a:lnTo>
                    <a:pt x="0" y="109"/>
                  </a:lnTo>
                </a:path>
              </a:pathLst>
            </a:custGeom>
            <a:noFill/>
            <a:ln cap="flat" cmpd="sng" w="9525">
              <a:solidFill>
                <a:schemeClr val="lt2"/>
              </a:solidFill>
              <a:prstDash val="solid"/>
              <a:round/>
              <a:headEnd len="med" w="med" type="none"/>
              <a:tailEnd len="med" w="med" type="stealth"/>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210" name="Google Shape;210;p3"/>
            <p:cNvCxnSpPr/>
            <p:nvPr/>
          </p:nvCxnSpPr>
          <p:spPr>
            <a:xfrm>
              <a:off x="2785" y="685"/>
              <a:ext cx="0" cy="129"/>
            </a:xfrm>
            <a:prstGeom prst="straightConnector1">
              <a:avLst/>
            </a:prstGeom>
            <a:noFill/>
            <a:ln cap="flat" cmpd="sng" w="9525">
              <a:solidFill>
                <a:schemeClr val="lt2"/>
              </a:solidFill>
              <a:prstDash val="solid"/>
              <a:round/>
              <a:headEnd len="med" w="med" type="none"/>
              <a:tailEnd len="med" w="med" type="stealth"/>
            </a:ln>
          </p:spPr>
        </p:cxnSp>
        <p:sp>
          <p:nvSpPr>
            <p:cNvPr id="211" name="Google Shape;211;p3"/>
            <p:cNvSpPr/>
            <p:nvPr/>
          </p:nvSpPr>
          <p:spPr>
            <a:xfrm>
              <a:off x="2896" y="890"/>
              <a:ext cx="493" cy="105"/>
            </a:xfrm>
            <a:custGeom>
              <a:rect b="b" l="l" r="r" t="t"/>
              <a:pathLst>
                <a:path extrusionOk="0" h="112" w="493">
                  <a:moveTo>
                    <a:pt x="0" y="0"/>
                  </a:moveTo>
                  <a:lnTo>
                    <a:pt x="492" y="1"/>
                  </a:lnTo>
                  <a:lnTo>
                    <a:pt x="493" y="112"/>
                  </a:lnTo>
                </a:path>
              </a:pathLst>
            </a:custGeom>
            <a:noFill/>
            <a:ln cap="flat" cmpd="sng" w="9525">
              <a:solidFill>
                <a:schemeClr val="lt2"/>
              </a:solidFill>
              <a:prstDash val="solid"/>
              <a:round/>
              <a:headEnd len="med" w="med" type="none"/>
              <a:tailEnd len="med" w="med" type="stealth"/>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12" name="Google Shape;212;p3"/>
            <p:cNvSpPr/>
            <p:nvPr/>
          </p:nvSpPr>
          <p:spPr>
            <a:xfrm>
              <a:off x="2648" y="819"/>
              <a:ext cx="272" cy="124"/>
            </a:xfrm>
            <a:custGeom>
              <a:rect b="b" l="l" r="r" t="t"/>
              <a:pathLst>
                <a:path extrusionOk="0" h="240" w="528">
                  <a:moveTo>
                    <a:pt x="0" y="136"/>
                  </a:moveTo>
                  <a:lnTo>
                    <a:pt x="264" y="0"/>
                  </a:lnTo>
                  <a:lnTo>
                    <a:pt x="528" y="136"/>
                  </a:lnTo>
                  <a:lnTo>
                    <a:pt x="264" y="240"/>
                  </a:lnTo>
                  <a:lnTo>
                    <a:pt x="0" y="136"/>
                  </a:lnTo>
                  <a:close/>
                </a:path>
              </a:pathLst>
            </a:custGeom>
            <a:solidFill>
              <a:srgbClr val="FFCC99"/>
            </a:solidFill>
            <a:ln cap="flat" cmpd="sng" w="9525">
              <a:solidFill>
                <a:schemeClr val="lt2"/>
              </a:solidFill>
              <a:prstDash val="solid"/>
              <a:round/>
              <a:headEnd len="sm" w="sm" type="none"/>
              <a:tailEnd len="sm" w="sm" type="non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13" name="Google Shape;213;p3"/>
            <p:cNvSpPr/>
            <p:nvPr/>
          </p:nvSpPr>
          <p:spPr>
            <a:xfrm>
              <a:off x="2362" y="1408"/>
              <a:ext cx="280" cy="72"/>
            </a:xfrm>
            <a:custGeom>
              <a:rect b="b" l="l" r="r" t="t"/>
              <a:pathLst>
                <a:path extrusionOk="0" h="99" w="274">
                  <a:moveTo>
                    <a:pt x="1" y="0"/>
                  </a:moveTo>
                  <a:lnTo>
                    <a:pt x="0" y="99"/>
                  </a:lnTo>
                  <a:lnTo>
                    <a:pt x="274" y="99"/>
                  </a:lnTo>
                </a:path>
              </a:pathLst>
            </a:custGeom>
            <a:noFill/>
            <a:ln cap="flat" cmpd="sng" w="9525">
              <a:solidFill>
                <a:schemeClr val="lt2"/>
              </a:solidFill>
              <a:prstDash val="solid"/>
              <a:round/>
              <a:headEnd len="med" w="med" type="none"/>
              <a:tailEnd len="med" w="med" type="stealth"/>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214" name="Google Shape;214;p3"/>
            <p:cNvCxnSpPr/>
            <p:nvPr/>
          </p:nvCxnSpPr>
          <p:spPr>
            <a:xfrm>
              <a:off x="3397" y="1477"/>
              <a:ext cx="0" cy="144"/>
            </a:xfrm>
            <a:prstGeom prst="straightConnector1">
              <a:avLst/>
            </a:prstGeom>
            <a:noFill/>
            <a:ln cap="flat" cmpd="sng" w="9525">
              <a:solidFill>
                <a:schemeClr val="lt2"/>
              </a:solidFill>
              <a:prstDash val="solid"/>
              <a:round/>
              <a:headEnd len="med" w="med" type="none"/>
              <a:tailEnd len="med" w="med" type="stealth"/>
            </a:ln>
          </p:spPr>
        </p:cxnSp>
        <p:cxnSp>
          <p:nvCxnSpPr>
            <p:cNvPr id="215" name="Google Shape;215;p3"/>
            <p:cNvCxnSpPr/>
            <p:nvPr/>
          </p:nvCxnSpPr>
          <p:spPr>
            <a:xfrm>
              <a:off x="2785" y="946"/>
              <a:ext cx="0" cy="459"/>
            </a:xfrm>
            <a:prstGeom prst="straightConnector1">
              <a:avLst/>
            </a:prstGeom>
            <a:noFill/>
            <a:ln cap="flat" cmpd="sng" w="9525">
              <a:solidFill>
                <a:schemeClr val="lt2"/>
              </a:solidFill>
              <a:prstDash val="solid"/>
              <a:round/>
              <a:headEnd len="med" w="med" type="none"/>
              <a:tailEnd len="med" w="med" type="stealth"/>
            </a:ln>
          </p:spPr>
        </p:cxnSp>
        <p:cxnSp>
          <p:nvCxnSpPr>
            <p:cNvPr id="216" name="Google Shape;216;p3"/>
            <p:cNvCxnSpPr/>
            <p:nvPr/>
          </p:nvCxnSpPr>
          <p:spPr>
            <a:xfrm>
              <a:off x="2785" y="1537"/>
              <a:ext cx="0" cy="129"/>
            </a:xfrm>
            <a:prstGeom prst="straightConnector1">
              <a:avLst/>
            </a:prstGeom>
            <a:noFill/>
            <a:ln cap="flat" cmpd="sng" w="9525">
              <a:solidFill>
                <a:schemeClr val="lt2"/>
              </a:solidFill>
              <a:prstDash val="solid"/>
              <a:round/>
              <a:headEnd len="med" w="med" type="none"/>
              <a:tailEnd len="med" w="med" type="stealth"/>
            </a:ln>
          </p:spPr>
        </p:cxnSp>
        <p:sp>
          <p:nvSpPr>
            <p:cNvPr id="217" name="Google Shape;217;p3"/>
            <p:cNvSpPr/>
            <p:nvPr/>
          </p:nvSpPr>
          <p:spPr>
            <a:xfrm>
              <a:off x="2648" y="1409"/>
              <a:ext cx="272" cy="124"/>
            </a:xfrm>
            <a:custGeom>
              <a:rect b="b" l="l" r="r" t="t"/>
              <a:pathLst>
                <a:path extrusionOk="0" h="240" w="528">
                  <a:moveTo>
                    <a:pt x="0" y="136"/>
                  </a:moveTo>
                  <a:lnTo>
                    <a:pt x="264" y="0"/>
                  </a:lnTo>
                  <a:lnTo>
                    <a:pt x="528" y="136"/>
                  </a:lnTo>
                  <a:lnTo>
                    <a:pt x="264" y="240"/>
                  </a:lnTo>
                  <a:lnTo>
                    <a:pt x="0" y="136"/>
                  </a:lnTo>
                  <a:close/>
                </a:path>
              </a:pathLst>
            </a:custGeom>
            <a:solidFill>
              <a:srgbClr val="FFCC99"/>
            </a:solidFill>
            <a:ln cap="flat" cmpd="sng" w="9525">
              <a:solidFill>
                <a:schemeClr val="lt2"/>
              </a:solidFill>
              <a:prstDash val="solid"/>
              <a:round/>
              <a:headEnd len="sm" w="sm" type="none"/>
              <a:tailEnd len="sm" w="sm" type="non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218" name="Google Shape;218;p3"/>
            <p:cNvCxnSpPr/>
            <p:nvPr/>
          </p:nvCxnSpPr>
          <p:spPr>
            <a:xfrm>
              <a:off x="3121" y="1696"/>
              <a:ext cx="0" cy="177"/>
            </a:xfrm>
            <a:prstGeom prst="straightConnector1">
              <a:avLst/>
            </a:prstGeom>
            <a:noFill/>
            <a:ln cap="flat" cmpd="sng" w="9525">
              <a:solidFill>
                <a:schemeClr val="lt2"/>
              </a:solidFill>
              <a:prstDash val="solid"/>
              <a:round/>
              <a:headEnd len="med" w="med" type="none"/>
              <a:tailEnd len="med" w="med" type="stealth"/>
            </a:ln>
          </p:spPr>
        </p:cxnSp>
        <p:cxnSp>
          <p:nvCxnSpPr>
            <p:cNvPr id="219" name="Google Shape;219;p3"/>
            <p:cNvCxnSpPr/>
            <p:nvPr/>
          </p:nvCxnSpPr>
          <p:spPr>
            <a:xfrm>
              <a:off x="3121" y="2203"/>
              <a:ext cx="0" cy="114"/>
            </a:xfrm>
            <a:prstGeom prst="straightConnector1">
              <a:avLst/>
            </a:prstGeom>
            <a:noFill/>
            <a:ln cap="flat" cmpd="sng" w="9525">
              <a:solidFill>
                <a:schemeClr val="lt2"/>
              </a:solidFill>
              <a:prstDash val="solid"/>
              <a:round/>
              <a:headEnd len="med" w="med" type="none"/>
              <a:tailEnd len="med" w="med" type="stealth"/>
            </a:ln>
          </p:spPr>
        </p:cxnSp>
        <p:cxnSp>
          <p:nvCxnSpPr>
            <p:cNvPr id="220" name="Google Shape;220;p3"/>
            <p:cNvCxnSpPr/>
            <p:nvPr/>
          </p:nvCxnSpPr>
          <p:spPr>
            <a:xfrm>
              <a:off x="3529" y="2350"/>
              <a:ext cx="0" cy="366"/>
            </a:xfrm>
            <a:prstGeom prst="straightConnector1">
              <a:avLst/>
            </a:prstGeom>
            <a:noFill/>
            <a:ln cap="flat" cmpd="sng" w="9525">
              <a:solidFill>
                <a:schemeClr val="lt2"/>
              </a:solidFill>
              <a:prstDash val="solid"/>
              <a:round/>
              <a:headEnd len="med" w="med" type="none"/>
              <a:tailEnd len="med" w="med" type="stealth"/>
            </a:ln>
          </p:spPr>
        </p:cxnSp>
        <p:cxnSp>
          <p:nvCxnSpPr>
            <p:cNvPr id="221" name="Google Shape;221;p3"/>
            <p:cNvCxnSpPr/>
            <p:nvPr/>
          </p:nvCxnSpPr>
          <p:spPr>
            <a:xfrm>
              <a:off x="2713" y="2350"/>
              <a:ext cx="0" cy="366"/>
            </a:xfrm>
            <a:prstGeom prst="straightConnector1">
              <a:avLst/>
            </a:prstGeom>
            <a:noFill/>
            <a:ln cap="flat" cmpd="sng" w="9525">
              <a:solidFill>
                <a:schemeClr val="lt2"/>
              </a:solidFill>
              <a:prstDash val="solid"/>
              <a:round/>
              <a:headEnd len="med" w="med" type="none"/>
              <a:tailEnd len="med" w="med" type="stealth"/>
            </a:ln>
          </p:spPr>
        </p:cxnSp>
        <p:sp>
          <p:nvSpPr>
            <p:cNvPr id="222" name="Google Shape;222;p3"/>
            <p:cNvSpPr/>
            <p:nvPr/>
          </p:nvSpPr>
          <p:spPr>
            <a:xfrm>
              <a:off x="2570" y="2329"/>
              <a:ext cx="1091" cy="31"/>
            </a:xfrm>
            <a:prstGeom prst="rect">
              <a:avLst/>
            </a:prstGeom>
            <a:solidFill>
              <a:srgbClr val="1F6B60"/>
            </a:solidFill>
            <a:ln cap="flat" cmpd="sng" w="9525">
              <a:solidFill>
                <a:srgbClr val="1F6B60"/>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23" name="Google Shape;223;p3"/>
            <p:cNvSpPr/>
            <p:nvPr/>
          </p:nvSpPr>
          <p:spPr>
            <a:xfrm>
              <a:off x="2158" y="1696"/>
              <a:ext cx="312" cy="507"/>
            </a:xfrm>
            <a:custGeom>
              <a:rect b="b" l="l" r="r" t="t"/>
              <a:pathLst>
                <a:path extrusionOk="0" h="507" w="312">
                  <a:moveTo>
                    <a:pt x="312" y="0"/>
                  </a:moveTo>
                  <a:lnTo>
                    <a:pt x="312" y="240"/>
                  </a:lnTo>
                  <a:lnTo>
                    <a:pt x="0" y="240"/>
                  </a:lnTo>
                  <a:lnTo>
                    <a:pt x="0" y="507"/>
                  </a:lnTo>
                </a:path>
              </a:pathLst>
            </a:custGeom>
            <a:noFill/>
            <a:ln cap="flat" cmpd="sng" w="9525">
              <a:solidFill>
                <a:schemeClr val="lt2"/>
              </a:solidFill>
              <a:prstDash val="solid"/>
              <a:round/>
              <a:headEnd len="med" w="med" type="none"/>
              <a:tailEnd len="med" w="med" type="stealth"/>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24" name="Google Shape;224;p3"/>
            <p:cNvSpPr/>
            <p:nvPr/>
          </p:nvSpPr>
          <p:spPr>
            <a:xfrm>
              <a:off x="2357" y="1672"/>
              <a:ext cx="866" cy="30"/>
            </a:xfrm>
            <a:prstGeom prst="rect">
              <a:avLst/>
            </a:prstGeom>
            <a:solidFill>
              <a:srgbClr val="1F6B60"/>
            </a:solidFill>
            <a:ln cap="flat" cmpd="sng" w="9525">
              <a:solidFill>
                <a:srgbClr val="1F6B60"/>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nvGrpSpPr>
            <p:cNvPr id="225" name="Google Shape;225;p3"/>
            <p:cNvGrpSpPr/>
            <p:nvPr/>
          </p:nvGrpSpPr>
          <p:grpSpPr>
            <a:xfrm>
              <a:off x="2713" y="3130"/>
              <a:ext cx="816" cy="266"/>
              <a:chOff x="2745" y="3066"/>
              <a:chExt cx="816" cy="342"/>
            </a:xfrm>
          </p:grpSpPr>
          <p:cxnSp>
            <p:nvCxnSpPr>
              <p:cNvPr id="226" name="Google Shape;226;p3"/>
              <p:cNvCxnSpPr/>
              <p:nvPr/>
            </p:nvCxnSpPr>
            <p:spPr>
              <a:xfrm>
                <a:off x="3561" y="3066"/>
                <a:ext cx="0" cy="342"/>
              </a:xfrm>
              <a:prstGeom prst="straightConnector1">
                <a:avLst/>
              </a:prstGeom>
              <a:noFill/>
              <a:ln cap="flat" cmpd="sng" w="9525">
                <a:solidFill>
                  <a:schemeClr val="lt2"/>
                </a:solidFill>
                <a:prstDash val="solid"/>
                <a:round/>
                <a:headEnd len="med" w="med" type="none"/>
                <a:tailEnd len="med" w="med" type="stealth"/>
              </a:ln>
            </p:spPr>
          </p:cxnSp>
          <p:cxnSp>
            <p:nvCxnSpPr>
              <p:cNvPr id="227" name="Google Shape;227;p3"/>
              <p:cNvCxnSpPr/>
              <p:nvPr/>
            </p:nvCxnSpPr>
            <p:spPr>
              <a:xfrm>
                <a:off x="2745" y="3066"/>
                <a:ext cx="0" cy="342"/>
              </a:xfrm>
              <a:prstGeom prst="straightConnector1">
                <a:avLst/>
              </a:prstGeom>
              <a:noFill/>
              <a:ln cap="flat" cmpd="sng" w="9525">
                <a:solidFill>
                  <a:schemeClr val="lt2"/>
                </a:solidFill>
                <a:prstDash val="solid"/>
                <a:round/>
                <a:headEnd len="med" w="med" type="none"/>
                <a:tailEnd len="med" w="med" type="stealth"/>
              </a:ln>
            </p:spPr>
          </p:cxnSp>
        </p:grpSp>
        <p:cxnSp>
          <p:nvCxnSpPr>
            <p:cNvPr id="228" name="Google Shape;228;p3"/>
            <p:cNvCxnSpPr/>
            <p:nvPr/>
          </p:nvCxnSpPr>
          <p:spPr>
            <a:xfrm>
              <a:off x="3139" y="3428"/>
              <a:ext cx="0" cy="159"/>
            </a:xfrm>
            <a:prstGeom prst="straightConnector1">
              <a:avLst/>
            </a:prstGeom>
            <a:noFill/>
            <a:ln cap="flat" cmpd="sng" w="9525">
              <a:solidFill>
                <a:schemeClr val="lt2"/>
              </a:solidFill>
              <a:prstDash val="solid"/>
              <a:round/>
              <a:headEnd len="med" w="med" type="none"/>
              <a:tailEnd len="med" w="med" type="stealth"/>
            </a:ln>
          </p:spPr>
        </p:cxnSp>
        <p:cxnSp>
          <p:nvCxnSpPr>
            <p:cNvPr id="229" name="Google Shape;229;p3"/>
            <p:cNvCxnSpPr/>
            <p:nvPr/>
          </p:nvCxnSpPr>
          <p:spPr>
            <a:xfrm>
              <a:off x="2158" y="2617"/>
              <a:ext cx="0" cy="972"/>
            </a:xfrm>
            <a:prstGeom prst="straightConnector1">
              <a:avLst/>
            </a:prstGeom>
            <a:noFill/>
            <a:ln cap="flat" cmpd="sng" w="9525">
              <a:solidFill>
                <a:schemeClr val="lt2"/>
              </a:solidFill>
              <a:prstDash val="solid"/>
              <a:round/>
              <a:headEnd len="med" w="med" type="none"/>
              <a:tailEnd len="med" w="med" type="stealth"/>
            </a:ln>
          </p:spPr>
        </p:cxnSp>
        <p:cxnSp>
          <p:nvCxnSpPr>
            <p:cNvPr id="230" name="Google Shape;230;p3"/>
            <p:cNvCxnSpPr/>
            <p:nvPr/>
          </p:nvCxnSpPr>
          <p:spPr>
            <a:xfrm>
              <a:off x="2866" y="3617"/>
              <a:ext cx="0" cy="159"/>
            </a:xfrm>
            <a:prstGeom prst="straightConnector1">
              <a:avLst/>
            </a:prstGeom>
            <a:noFill/>
            <a:ln cap="flat" cmpd="sng" w="9525">
              <a:solidFill>
                <a:schemeClr val="lt2"/>
              </a:solidFill>
              <a:prstDash val="solid"/>
              <a:round/>
              <a:headEnd len="med" w="med" type="none"/>
              <a:tailEnd len="med" w="med" type="stealth"/>
            </a:ln>
          </p:spPr>
        </p:cxnSp>
        <p:sp>
          <p:nvSpPr>
            <p:cNvPr id="231" name="Google Shape;231;p3"/>
            <p:cNvSpPr/>
            <p:nvPr/>
          </p:nvSpPr>
          <p:spPr>
            <a:xfrm>
              <a:off x="2576" y="3401"/>
              <a:ext cx="1091" cy="31"/>
            </a:xfrm>
            <a:prstGeom prst="rect">
              <a:avLst/>
            </a:prstGeom>
            <a:solidFill>
              <a:srgbClr val="1F6B60"/>
            </a:solidFill>
            <a:ln cap="flat" cmpd="sng" w="9525">
              <a:solidFill>
                <a:srgbClr val="1F6B60"/>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32" name="Google Shape;232;p3"/>
            <p:cNvSpPr/>
            <p:nvPr/>
          </p:nvSpPr>
          <p:spPr>
            <a:xfrm>
              <a:off x="2040" y="3593"/>
              <a:ext cx="1232" cy="32"/>
            </a:xfrm>
            <a:prstGeom prst="rect">
              <a:avLst/>
            </a:prstGeom>
            <a:solidFill>
              <a:srgbClr val="1F6B60"/>
            </a:solidFill>
            <a:ln cap="flat" cmpd="sng" w="9525">
              <a:solidFill>
                <a:srgbClr val="1F6B60"/>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nvGrpSpPr>
          <p:cNvPr id="233" name="Google Shape;233;p3"/>
          <p:cNvGrpSpPr/>
          <p:nvPr/>
        </p:nvGrpSpPr>
        <p:grpSpPr>
          <a:xfrm>
            <a:off x="927534" y="3282809"/>
            <a:ext cx="3030112" cy="2764774"/>
            <a:chOff x="492" y="1852"/>
            <a:chExt cx="2011" cy="1983"/>
          </a:xfrm>
        </p:grpSpPr>
        <p:sp>
          <p:nvSpPr>
            <p:cNvPr id="234" name="Google Shape;234;p3"/>
            <p:cNvSpPr/>
            <p:nvPr/>
          </p:nvSpPr>
          <p:spPr>
            <a:xfrm rot="-8446413">
              <a:off x="739" y="2183"/>
              <a:ext cx="1517" cy="1321"/>
            </a:xfrm>
            <a:custGeom>
              <a:rect b="b" l="l" r="r" t="t"/>
              <a:pathLst>
                <a:path extrusionOk="0" h="21600" w="21600">
                  <a:moveTo>
                    <a:pt x="10800" y="0"/>
                  </a:moveTo>
                  <a:lnTo>
                    <a:pt x="0" y="21600"/>
                  </a:lnTo>
                  <a:lnTo>
                    <a:pt x="21600" y="10800"/>
                  </a:lnTo>
                  <a:close/>
                </a:path>
              </a:pathLst>
            </a:custGeom>
            <a:solidFill>
              <a:srgbClr val="D8EBB3"/>
            </a:solidFill>
            <a:ln cap="flat" cmpd="sng" w="9525">
              <a:solidFill>
                <a:srgbClr val="000000"/>
              </a:solidFill>
              <a:prstDash val="solid"/>
              <a:miter lim="800000"/>
              <a:headEnd len="sm" w="sm" type="none"/>
              <a:tailEnd len="sm" w="sm" type="none"/>
            </a:ln>
            <a:effectLst>
              <a:outerShdw rotWithShape="0" algn="ctr" dir="2700000" dist="107763">
                <a:srgbClr val="808080"/>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35" name="Google Shape;235;p3"/>
            <p:cNvSpPr/>
            <p:nvPr/>
          </p:nvSpPr>
          <p:spPr>
            <a:xfrm>
              <a:off x="1096" y="2860"/>
              <a:ext cx="200" cy="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000">
                  <a:solidFill>
                    <a:srgbClr val="25221E"/>
                  </a:solidFill>
                  <a:latin typeface="Constantia"/>
                  <a:ea typeface="Constantia"/>
                  <a:cs typeface="Constantia"/>
                  <a:sym typeface="Constantia"/>
                </a:rPr>
                <a:t>Class</a:t>
              </a:r>
              <a:endParaRPr b="0" sz="1000">
                <a:solidFill>
                  <a:schemeClr val="dk1"/>
                </a:solidFill>
                <a:latin typeface="Arial"/>
                <a:ea typeface="Arial"/>
                <a:cs typeface="Arial"/>
                <a:sym typeface="Arial"/>
              </a:endParaRPr>
            </a:p>
          </p:txBody>
        </p:sp>
        <p:sp>
          <p:nvSpPr>
            <p:cNvPr id="236" name="Google Shape;236;p3"/>
            <p:cNvSpPr/>
            <p:nvPr/>
          </p:nvSpPr>
          <p:spPr>
            <a:xfrm>
              <a:off x="1061" y="2946"/>
              <a:ext cx="248" cy="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000">
                  <a:solidFill>
                    <a:srgbClr val="25221E"/>
                  </a:solidFill>
                  <a:latin typeface="Constantia"/>
                  <a:ea typeface="Constantia"/>
                  <a:cs typeface="Constantia"/>
                  <a:sym typeface="Constantia"/>
                </a:rPr>
                <a:t>Design</a:t>
              </a:r>
              <a:endParaRPr b="0" sz="1000">
                <a:solidFill>
                  <a:schemeClr val="dk1"/>
                </a:solidFill>
                <a:latin typeface="Arial"/>
                <a:ea typeface="Arial"/>
                <a:cs typeface="Arial"/>
                <a:sym typeface="Arial"/>
              </a:endParaRPr>
            </a:p>
          </p:txBody>
        </p:sp>
        <p:sp>
          <p:nvSpPr>
            <p:cNvPr id="237" name="Google Shape;237;p3"/>
            <p:cNvSpPr/>
            <p:nvPr/>
          </p:nvSpPr>
          <p:spPr>
            <a:xfrm>
              <a:off x="1054" y="2648"/>
              <a:ext cx="271" cy="168"/>
            </a:xfrm>
            <a:custGeom>
              <a:rect b="b" l="l" r="r" t="t"/>
              <a:pathLst>
                <a:path extrusionOk="0" h="23" w="38">
                  <a:moveTo>
                    <a:pt x="0" y="0"/>
                  </a:moveTo>
                  <a:lnTo>
                    <a:pt x="26" y="0"/>
                  </a:lnTo>
                  <a:lnTo>
                    <a:pt x="38" y="11"/>
                  </a:lnTo>
                  <a:lnTo>
                    <a:pt x="26" y="23"/>
                  </a:lnTo>
                  <a:lnTo>
                    <a:pt x="0" y="23"/>
                  </a:lnTo>
                  <a:lnTo>
                    <a:pt x="0" y="0"/>
                  </a:lnTo>
                </a:path>
              </a:pathLst>
            </a:custGeom>
            <a:solidFill>
              <a:srgbClr val="C2C1C1"/>
            </a:solidFill>
            <a:ln cap="flat" cmpd="sng" w="9525">
              <a:solidFill>
                <a:srgbClr val="C2C1C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38" name="Google Shape;238;p3"/>
            <p:cNvSpPr/>
            <p:nvPr/>
          </p:nvSpPr>
          <p:spPr>
            <a:xfrm>
              <a:off x="1095" y="2645"/>
              <a:ext cx="271" cy="175"/>
            </a:xfrm>
            <a:custGeom>
              <a:rect b="b" l="l" r="r" t="t"/>
              <a:pathLst>
                <a:path extrusionOk="0" h="24" w="38">
                  <a:moveTo>
                    <a:pt x="0" y="0"/>
                  </a:moveTo>
                  <a:lnTo>
                    <a:pt x="26" y="0"/>
                  </a:lnTo>
                  <a:lnTo>
                    <a:pt x="38" y="12"/>
                  </a:lnTo>
                  <a:lnTo>
                    <a:pt x="26" y="24"/>
                  </a:lnTo>
                  <a:lnTo>
                    <a:pt x="0" y="24"/>
                  </a:lnTo>
                  <a:lnTo>
                    <a:pt x="0" y="0"/>
                  </a:lnTo>
                </a:path>
              </a:pathLst>
            </a:custGeom>
            <a:solidFill>
              <a:srgbClr val="FDFFC7"/>
            </a:solidFill>
            <a:ln cap="flat" cmpd="sng" w="9525">
              <a:solidFill>
                <a:srgbClr val="25221E"/>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39" name="Google Shape;239;p3"/>
            <p:cNvSpPr/>
            <p:nvPr/>
          </p:nvSpPr>
          <p:spPr>
            <a:xfrm>
              <a:off x="1677" y="2543"/>
              <a:ext cx="135" cy="132"/>
            </a:xfrm>
            <a:prstGeom prst="ellipse">
              <a:avLst/>
            </a:prstGeom>
            <a:solidFill>
              <a:srgbClr val="A9A8A7"/>
            </a:solidFill>
            <a:ln cap="flat" cmpd="sng" w="9525">
              <a:solidFill>
                <a:srgbClr val="C2C1C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40" name="Google Shape;240;p3"/>
            <p:cNvSpPr/>
            <p:nvPr/>
          </p:nvSpPr>
          <p:spPr>
            <a:xfrm>
              <a:off x="1591" y="2711"/>
              <a:ext cx="257" cy="206"/>
            </a:xfrm>
            <a:custGeom>
              <a:rect b="b" l="l" r="r" t="t"/>
              <a:pathLst>
                <a:path extrusionOk="0" h="28" w="36">
                  <a:moveTo>
                    <a:pt x="9" y="0"/>
                  </a:moveTo>
                  <a:lnTo>
                    <a:pt x="36" y="0"/>
                  </a:lnTo>
                  <a:lnTo>
                    <a:pt x="27" y="28"/>
                  </a:lnTo>
                  <a:lnTo>
                    <a:pt x="0" y="28"/>
                  </a:lnTo>
                  <a:lnTo>
                    <a:pt x="9" y="0"/>
                  </a:lnTo>
                </a:path>
              </a:pathLst>
            </a:custGeom>
            <a:solidFill>
              <a:srgbClr val="A9A8A7"/>
            </a:solidFill>
            <a:ln cap="flat" cmpd="sng" w="9525">
              <a:solidFill>
                <a:srgbClr val="C2C1C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41" name="Google Shape;241;p3"/>
            <p:cNvSpPr/>
            <p:nvPr/>
          </p:nvSpPr>
          <p:spPr>
            <a:xfrm>
              <a:off x="1676" y="2528"/>
              <a:ext cx="136" cy="132"/>
            </a:xfrm>
            <a:prstGeom prst="ellipse">
              <a:avLst/>
            </a:prstGeom>
            <a:solidFill>
              <a:srgbClr val="FBC88D"/>
            </a:solidFill>
            <a:ln cap="flat" cmpd="sng" w="9525">
              <a:solidFill>
                <a:srgbClr val="25221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42" name="Google Shape;242;p3"/>
            <p:cNvSpPr/>
            <p:nvPr/>
          </p:nvSpPr>
          <p:spPr>
            <a:xfrm>
              <a:off x="1591" y="2689"/>
              <a:ext cx="257" cy="206"/>
            </a:xfrm>
            <a:custGeom>
              <a:rect b="b" l="l" r="r" t="t"/>
              <a:pathLst>
                <a:path extrusionOk="0" h="28" w="36">
                  <a:moveTo>
                    <a:pt x="9" y="0"/>
                  </a:moveTo>
                  <a:lnTo>
                    <a:pt x="36" y="0"/>
                  </a:lnTo>
                  <a:lnTo>
                    <a:pt x="27" y="28"/>
                  </a:lnTo>
                  <a:lnTo>
                    <a:pt x="0" y="28"/>
                  </a:lnTo>
                  <a:lnTo>
                    <a:pt x="9" y="0"/>
                  </a:lnTo>
                </a:path>
              </a:pathLst>
            </a:custGeom>
            <a:solidFill>
              <a:srgbClr val="FBC88D"/>
            </a:solidFill>
            <a:ln cap="flat" cmpd="sng" w="9525">
              <a:solidFill>
                <a:srgbClr val="25221E"/>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43" name="Google Shape;243;p3"/>
            <p:cNvSpPr/>
            <p:nvPr/>
          </p:nvSpPr>
          <p:spPr>
            <a:xfrm>
              <a:off x="1128" y="2610"/>
              <a:ext cx="171" cy="203"/>
            </a:xfrm>
            <a:prstGeom prst="star5">
              <a:avLst>
                <a:gd fmla="val 19098" name="adj"/>
                <a:gd fmla="val 105146" name="hf"/>
                <a:gd fmla="val 110557" name="vf"/>
              </a:avLst>
            </a:prstGeom>
            <a:solidFill>
              <a:srgbClr val="FF00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44" name="Google Shape;244;p3"/>
            <p:cNvSpPr/>
            <p:nvPr/>
          </p:nvSpPr>
          <p:spPr>
            <a:xfrm>
              <a:off x="1586" y="2960"/>
              <a:ext cx="319" cy="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000">
                  <a:solidFill>
                    <a:srgbClr val="25221E"/>
                  </a:solidFill>
                  <a:latin typeface="Constantia"/>
                  <a:ea typeface="Constantia"/>
                  <a:cs typeface="Constantia"/>
                  <a:sym typeface="Constantia"/>
                </a:rPr>
                <a:t>Designer</a:t>
              </a:r>
              <a:endParaRPr b="0" sz="1000">
                <a:solidFill>
                  <a:schemeClr val="dk1"/>
                </a:solidFill>
                <a:latin typeface="Arial"/>
                <a:ea typeface="Arial"/>
                <a:cs typeface="Arial"/>
                <a:sym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
          <p:cNvSpPr txBox="1"/>
          <p:nvPr>
            <p:ph type="title"/>
          </p:nvPr>
        </p:nvSpPr>
        <p:spPr>
          <a:xfrm>
            <a:off x="457200" y="704088"/>
            <a:ext cx="8229600" cy="6675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600"/>
              <a:buFont typeface="Calibri"/>
              <a:buNone/>
            </a:pPr>
            <a:r>
              <a:rPr lang="en-US" sz="3600"/>
              <a:t>Tổng quan về thiết kế hệ thống con</a:t>
            </a:r>
            <a:endParaRPr sz="3600"/>
          </a:p>
        </p:txBody>
      </p:sp>
      <p:sp>
        <p:nvSpPr>
          <p:cNvPr id="250" name="Google Shape;250;p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pSp>
        <p:nvGrpSpPr>
          <p:cNvPr id="251" name="Google Shape;251;p4"/>
          <p:cNvGrpSpPr/>
          <p:nvPr/>
        </p:nvGrpSpPr>
        <p:grpSpPr>
          <a:xfrm>
            <a:off x="273058" y="1828800"/>
            <a:ext cx="7651742" cy="4311650"/>
            <a:chOff x="685809" y="1266825"/>
            <a:chExt cx="7651742" cy="4311650"/>
          </a:xfrm>
        </p:grpSpPr>
        <p:sp>
          <p:nvSpPr>
            <p:cNvPr id="252" name="Google Shape;252;p4"/>
            <p:cNvSpPr/>
            <p:nvPr/>
          </p:nvSpPr>
          <p:spPr>
            <a:xfrm>
              <a:off x="3398838" y="2759075"/>
              <a:ext cx="1751012" cy="966788"/>
            </a:xfrm>
            <a:prstGeom prst="homePlate">
              <a:avLst>
                <a:gd fmla="val 54955" name="adj"/>
              </a:avLst>
            </a:prstGeom>
            <a:solidFill>
              <a:srgbClr val="00CCFF"/>
            </a:solidFill>
            <a:ln cap="flat" cmpd="sng" w="28575">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53" name="Google Shape;253;p4"/>
            <p:cNvSpPr/>
            <p:nvPr/>
          </p:nvSpPr>
          <p:spPr>
            <a:xfrm>
              <a:off x="3260725" y="2897188"/>
              <a:ext cx="1751013" cy="966787"/>
            </a:xfrm>
            <a:prstGeom prst="homePlate">
              <a:avLst>
                <a:gd fmla="val 54956" name="adj"/>
              </a:avLst>
            </a:prstGeom>
            <a:solidFill>
              <a:srgbClr val="00CCFF"/>
            </a:solidFill>
            <a:ln cap="flat" cmpd="sng" w="28575">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54" name="Google Shape;254;p4"/>
            <p:cNvSpPr/>
            <p:nvPr/>
          </p:nvSpPr>
          <p:spPr>
            <a:xfrm>
              <a:off x="3148013" y="3035300"/>
              <a:ext cx="1752600" cy="966788"/>
            </a:xfrm>
            <a:prstGeom prst="homePlate">
              <a:avLst>
                <a:gd fmla="val 55005" name="adj"/>
              </a:avLst>
            </a:prstGeom>
            <a:solidFill>
              <a:srgbClr val="00CCFF"/>
            </a:solidFill>
            <a:ln cap="flat" cmpd="sng" w="28575">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2"/>
                  </a:solidFill>
                  <a:latin typeface="Constantia"/>
                  <a:ea typeface="Constantia"/>
                  <a:cs typeface="Constantia"/>
                  <a:sym typeface="Constantia"/>
                </a:rPr>
                <a:t>Thiết kế hệ</a:t>
              </a:r>
              <a:endParaRPr b="1" sz="2000">
                <a:solidFill>
                  <a:schemeClr val="lt2"/>
                </a:solidFill>
                <a:latin typeface="Constantia"/>
                <a:ea typeface="Constantia"/>
                <a:cs typeface="Constantia"/>
                <a:sym typeface="Constantia"/>
              </a:endParaRPr>
            </a:p>
            <a:p>
              <a:pPr indent="0" lvl="0" marL="0" marR="0" rtl="0" algn="ctr">
                <a:spcBef>
                  <a:spcPts val="0"/>
                </a:spcBef>
                <a:spcAft>
                  <a:spcPts val="0"/>
                </a:spcAft>
                <a:buNone/>
              </a:pPr>
              <a:r>
                <a:rPr b="1" lang="en-US" sz="2000">
                  <a:solidFill>
                    <a:schemeClr val="lt2"/>
                  </a:solidFill>
                  <a:latin typeface="Constantia"/>
                  <a:ea typeface="Constantia"/>
                  <a:cs typeface="Constantia"/>
                  <a:sym typeface="Constantia"/>
                </a:rPr>
                <a:t> thống con</a:t>
              </a:r>
              <a:endParaRPr sz="1800">
                <a:solidFill>
                  <a:schemeClr val="lt2"/>
                </a:solidFill>
                <a:latin typeface="Constantia"/>
                <a:ea typeface="Constantia"/>
                <a:cs typeface="Constantia"/>
                <a:sym typeface="Constantia"/>
              </a:endParaRPr>
            </a:p>
          </p:txBody>
        </p:sp>
        <p:cxnSp>
          <p:nvCxnSpPr>
            <p:cNvPr id="255" name="Google Shape;255;p4"/>
            <p:cNvCxnSpPr/>
            <p:nvPr/>
          </p:nvCxnSpPr>
          <p:spPr>
            <a:xfrm flipH="1" rot="10800000">
              <a:off x="4981575" y="2297113"/>
              <a:ext cx="700088" cy="712787"/>
            </a:xfrm>
            <a:prstGeom prst="straightConnector1">
              <a:avLst/>
            </a:prstGeom>
            <a:noFill/>
            <a:ln cap="flat" cmpd="sng" w="28575">
              <a:solidFill>
                <a:schemeClr val="hlink"/>
              </a:solidFill>
              <a:prstDash val="solid"/>
              <a:round/>
              <a:headEnd len="med" w="med" type="triangle"/>
              <a:tailEnd len="med" w="med" type="triangle"/>
            </a:ln>
          </p:spPr>
        </p:cxnSp>
        <p:grpSp>
          <p:nvGrpSpPr>
            <p:cNvPr id="256" name="Google Shape;256;p4"/>
            <p:cNvGrpSpPr/>
            <p:nvPr/>
          </p:nvGrpSpPr>
          <p:grpSpPr>
            <a:xfrm>
              <a:off x="5805488" y="1266825"/>
              <a:ext cx="2532063" cy="1627188"/>
              <a:chOff x="387" y="850"/>
              <a:chExt cx="1595" cy="1025"/>
            </a:xfrm>
          </p:grpSpPr>
          <p:grpSp>
            <p:nvGrpSpPr>
              <p:cNvPr id="257" name="Google Shape;257;p4"/>
              <p:cNvGrpSpPr/>
              <p:nvPr/>
            </p:nvGrpSpPr>
            <p:grpSpPr>
              <a:xfrm>
                <a:off x="387" y="850"/>
                <a:ext cx="1440" cy="574"/>
                <a:chOff x="144" y="1872"/>
                <a:chExt cx="1440" cy="574"/>
              </a:xfrm>
            </p:grpSpPr>
            <p:grpSp>
              <p:nvGrpSpPr>
                <p:cNvPr id="258" name="Google Shape;258;p4"/>
                <p:cNvGrpSpPr/>
                <p:nvPr/>
              </p:nvGrpSpPr>
              <p:grpSpPr>
                <a:xfrm>
                  <a:off x="625" y="1872"/>
                  <a:ext cx="959" cy="574"/>
                  <a:chOff x="3315" y="2345"/>
                  <a:chExt cx="678" cy="452"/>
                </a:xfrm>
              </p:grpSpPr>
              <p:sp>
                <p:nvSpPr>
                  <p:cNvPr id="259" name="Google Shape;259;p4"/>
                  <p:cNvSpPr/>
                  <p:nvPr/>
                </p:nvSpPr>
                <p:spPr>
                  <a:xfrm>
                    <a:off x="3315" y="2465"/>
                    <a:ext cx="678" cy="332"/>
                  </a:xfrm>
                  <a:prstGeom prst="rect">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60" name="Google Shape;260;p4"/>
                  <p:cNvSpPr/>
                  <p:nvPr/>
                </p:nvSpPr>
                <p:spPr>
                  <a:xfrm>
                    <a:off x="3315" y="2345"/>
                    <a:ext cx="237" cy="120"/>
                  </a:xfrm>
                  <a:prstGeom prst="rect">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
              <p:nvSpPr>
                <p:cNvPr id="261" name="Google Shape;261;p4"/>
                <p:cNvSpPr/>
                <p:nvPr/>
              </p:nvSpPr>
              <p:spPr>
                <a:xfrm>
                  <a:off x="144" y="2186"/>
                  <a:ext cx="131" cy="118"/>
                </a:xfrm>
                <a:prstGeom prst="ellipse">
                  <a:avLst/>
                </a:prstGeom>
                <a:no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262" name="Google Shape;262;p4"/>
                <p:cNvCxnSpPr/>
                <p:nvPr/>
              </p:nvCxnSpPr>
              <p:spPr>
                <a:xfrm>
                  <a:off x="275" y="2245"/>
                  <a:ext cx="350" cy="0"/>
                </a:xfrm>
                <a:prstGeom prst="straightConnector1">
                  <a:avLst/>
                </a:prstGeom>
                <a:noFill/>
                <a:ln cap="flat" cmpd="sng" w="28575">
                  <a:solidFill>
                    <a:schemeClr val="dk1"/>
                  </a:solidFill>
                  <a:prstDash val="solid"/>
                  <a:round/>
                  <a:headEnd len="sm" w="sm" type="none"/>
                  <a:tailEnd len="sm" w="sm" type="none"/>
                </a:ln>
              </p:spPr>
            </p:cxnSp>
            <p:sp>
              <p:nvSpPr>
                <p:cNvPr id="263" name="Google Shape;263;p4"/>
                <p:cNvSpPr/>
                <p:nvPr/>
              </p:nvSpPr>
              <p:spPr>
                <a:xfrm>
                  <a:off x="144" y="2049"/>
                  <a:ext cx="131" cy="117"/>
                </a:xfrm>
                <a:prstGeom prst="ellipse">
                  <a:avLst/>
                </a:prstGeom>
                <a:no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264" name="Google Shape;264;p4"/>
                <p:cNvCxnSpPr/>
                <p:nvPr/>
              </p:nvCxnSpPr>
              <p:spPr>
                <a:xfrm>
                  <a:off x="275" y="2107"/>
                  <a:ext cx="350" cy="0"/>
                </a:xfrm>
                <a:prstGeom prst="straightConnector1">
                  <a:avLst/>
                </a:prstGeom>
                <a:noFill/>
                <a:ln cap="flat" cmpd="sng" w="28575">
                  <a:solidFill>
                    <a:schemeClr val="dk1"/>
                  </a:solidFill>
                  <a:prstDash val="solid"/>
                  <a:round/>
                  <a:headEnd len="sm" w="sm" type="none"/>
                  <a:tailEnd len="sm" w="sm" type="none"/>
                </a:ln>
              </p:spPr>
            </p:cxnSp>
            <p:sp>
              <p:nvSpPr>
                <p:cNvPr id="265" name="Google Shape;265;p4"/>
                <p:cNvSpPr/>
                <p:nvPr/>
              </p:nvSpPr>
              <p:spPr>
                <a:xfrm>
                  <a:off x="144" y="2323"/>
                  <a:ext cx="131" cy="118"/>
                </a:xfrm>
                <a:prstGeom prst="ellipse">
                  <a:avLst/>
                </a:prstGeom>
                <a:no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266" name="Google Shape;266;p4"/>
                <p:cNvCxnSpPr/>
                <p:nvPr/>
              </p:nvCxnSpPr>
              <p:spPr>
                <a:xfrm>
                  <a:off x="275" y="2382"/>
                  <a:ext cx="350" cy="0"/>
                </a:xfrm>
                <a:prstGeom prst="straightConnector1">
                  <a:avLst/>
                </a:prstGeom>
                <a:noFill/>
                <a:ln cap="flat" cmpd="sng" w="28575">
                  <a:solidFill>
                    <a:schemeClr val="dk1"/>
                  </a:solidFill>
                  <a:prstDash val="solid"/>
                  <a:round/>
                  <a:headEnd len="sm" w="sm" type="none"/>
                  <a:tailEnd len="sm" w="sm" type="none"/>
                </a:ln>
              </p:spPr>
            </p:cxnSp>
          </p:grpSp>
          <p:sp>
            <p:nvSpPr>
              <p:cNvPr id="267" name="Google Shape;267;p4"/>
              <p:cNvSpPr txBox="1"/>
              <p:nvPr/>
            </p:nvSpPr>
            <p:spPr>
              <a:xfrm>
                <a:off x="468" y="1468"/>
                <a:ext cx="1514" cy="4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onstantia"/>
                    <a:ea typeface="Constantia"/>
                    <a:cs typeface="Constantia"/>
                    <a:sym typeface="Constantia"/>
                  </a:rPr>
                  <a:t>Thiết kế hệ thống con</a:t>
                </a:r>
                <a:endParaRPr/>
              </a:p>
              <a:p>
                <a:pPr indent="0" lvl="0" marL="0" marR="0" rtl="0" algn="ctr">
                  <a:spcBef>
                    <a:spcPts val="0"/>
                  </a:spcBef>
                  <a:spcAft>
                    <a:spcPts val="0"/>
                  </a:spcAft>
                  <a:buNone/>
                </a:pPr>
                <a:r>
                  <a:rPr lang="en-US" sz="1800">
                    <a:solidFill>
                      <a:schemeClr val="dk1"/>
                    </a:solidFill>
                    <a:latin typeface="Constantia"/>
                    <a:ea typeface="Constantia"/>
                    <a:cs typeface="Constantia"/>
                    <a:sym typeface="Constantia"/>
                  </a:rPr>
                  <a:t> và giao diên</a:t>
                </a:r>
                <a:endParaRPr sz="1800">
                  <a:solidFill>
                    <a:schemeClr val="dk1"/>
                  </a:solidFill>
                  <a:latin typeface="Constantia"/>
                  <a:ea typeface="Constantia"/>
                  <a:cs typeface="Constantia"/>
                  <a:sym typeface="Constantia"/>
                </a:endParaRPr>
              </a:p>
            </p:txBody>
          </p:sp>
        </p:grpSp>
        <p:cxnSp>
          <p:nvCxnSpPr>
            <p:cNvPr id="268" name="Google Shape;268;p4"/>
            <p:cNvCxnSpPr/>
            <p:nvPr/>
          </p:nvCxnSpPr>
          <p:spPr>
            <a:xfrm>
              <a:off x="5026025" y="3635375"/>
              <a:ext cx="741363" cy="739775"/>
            </a:xfrm>
            <a:prstGeom prst="straightConnector1">
              <a:avLst/>
            </a:prstGeom>
            <a:noFill/>
            <a:ln cap="flat" cmpd="sng" w="28575">
              <a:solidFill>
                <a:schemeClr val="hlink"/>
              </a:solidFill>
              <a:prstDash val="solid"/>
              <a:round/>
              <a:headEnd len="med" w="med" type="none"/>
              <a:tailEnd len="med" w="med" type="triangle"/>
            </a:ln>
          </p:spPr>
        </p:cxnSp>
        <p:grpSp>
          <p:nvGrpSpPr>
            <p:cNvPr id="269" name="Google Shape;269;p4"/>
            <p:cNvGrpSpPr/>
            <p:nvPr/>
          </p:nvGrpSpPr>
          <p:grpSpPr>
            <a:xfrm>
              <a:off x="5818188" y="4511675"/>
              <a:ext cx="1092200" cy="631825"/>
              <a:chOff x="3821" y="2842"/>
              <a:chExt cx="688" cy="398"/>
            </a:xfrm>
          </p:grpSpPr>
          <p:sp>
            <p:nvSpPr>
              <p:cNvPr id="270" name="Google Shape;270;p4"/>
              <p:cNvSpPr/>
              <p:nvPr/>
            </p:nvSpPr>
            <p:spPr>
              <a:xfrm>
                <a:off x="3821" y="2842"/>
                <a:ext cx="688" cy="398"/>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271" name="Google Shape;271;p4"/>
              <p:cNvCxnSpPr/>
              <p:nvPr/>
            </p:nvCxnSpPr>
            <p:spPr>
              <a:xfrm>
                <a:off x="3821" y="3131"/>
                <a:ext cx="688" cy="0"/>
              </a:xfrm>
              <a:prstGeom prst="straightConnector1">
                <a:avLst/>
              </a:prstGeom>
              <a:noFill/>
              <a:ln cap="flat" cmpd="sng" w="28575">
                <a:solidFill>
                  <a:schemeClr val="dk1"/>
                </a:solidFill>
                <a:prstDash val="solid"/>
                <a:round/>
                <a:headEnd len="sm" w="sm" type="none"/>
                <a:tailEnd len="sm" w="sm" type="none"/>
              </a:ln>
            </p:spPr>
          </p:cxnSp>
          <p:cxnSp>
            <p:nvCxnSpPr>
              <p:cNvPr id="272" name="Google Shape;272;p4"/>
              <p:cNvCxnSpPr/>
              <p:nvPr/>
            </p:nvCxnSpPr>
            <p:spPr>
              <a:xfrm>
                <a:off x="3821" y="3029"/>
                <a:ext cx="688" cy="0"/>
              </a:xfrm>
              <a:prstGeom prst="straightConnector1">
                <a:avLst/>
              </a:prstGeom>
              <a:noFill/>
              <a:ln cap="flat" cmpd="sng" w="28575">
                <a:solidFill>
                  <a:schemeClr val="dk1"/>
                </a:solidFill>
                <a:prstDash val="solid"/>
                <a:round/>
                <a:headEnd len="sm" w="sm" type="none"/>
                <a:tailEnd len="sm" w="sm" type="none"/>
              </a:ln>
            </p:spPr>
          </p:cxnSp>
        </p:grpSp>
        <p:grpSp>
          <p:nvGrpSpPr>
            <p:cNvPr id="273" name="Google Shape;273;p4"/>
            <p:cNvGrpSpPr/>
            <p:nvPr/>
          </p:nvGrpSpPr>
          <p:grpSpPr>
            <a:xfrm>
              <a:off x="7100888" y="4510088"/>
              <a:ext cx="1092200" cy="631825"/>
              <a:chOff x="4629" y="2841"/>
              <a:chExt cx="688" cy="398"/>
            </a:xfrm>
          </p:grpSpPr>
          <p:sp>
            <p:nvSpPr>
              <p:cNvPr id="274" name="Google Shape;274;p4"/>
              <p:cNvSpPr/>
              <p:nvPr/>
            </p:nvSpPr>
            <p:spPr>
              <a:xfrm>
                <a:off x="4629" y="2841"/>
                <a:ext cx="688" cy="398"/>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275" name="Google Shape;275;p4"/>
              <p:cNvCxnSpPr/>
              <p:nvPr/>
            </p:nvCxnSpPr>
            <p:spPr>
              <a:xfrm>
                <a:off x="4629" y="3130"/>
                <a:ext cx="688" cy="0"/>
              </a:xfrm>
              <a:prstGeom prst="straightConnector1">
                <a:avLst/>
              </a:prstGeom>
              <a:noFill/>
              <a:ln cap="flat" cmpd="sng" w="28575">
                <a:solidFill>
                  <a:schemeClr val="dk1"/>
                </a:solidFill>
                <a:prstDash val="solid"/>
                <a:round/>
                <a:headEnd len="sm" w="sm" type="none"/>
                <a:tailEnd len="sm" w="sm" type="none"/>
              </a:ln>
            </p:spPr>
          </p:cxnSp>
          <p:cxnSp>
            <p:nvCxnSpPr>
              <p:cNvPr id="276" name="Google Shape;276;p4"/>
              <p:cNvCxnSpPr/>
              <p:nvPr/>
            </p:nvCxnSpPr>
            <p:spPr>
              <a:xfrm>
                <a:off x="4629" y="3028"/>
                <a:ext cx="688" cy="0"/>
              </a:xfrm>
              <a:prstGeom prst="straightConnector1">
                <a:avLst/>
              </a:prstGeom>
              <a:noFill/>
              <a:ln cap="flat" cmpd="sng" w="28575">
                <a:solidFill>
                  <a:schemeClr val="dk1"/>
                </a:solidFill>
                <a:prstDash val="solid"/>
                <a:round/>
                <a:headEnd len="sm" w="sm" type="none"/>
                <a:tailEnd len="sm" w="sm" type="none"/>
              </a:ln>
            </p:spPr>
          </p:cxnSp>
        </p:grpSp>
        <p:sp>
          <p:nvSpPr>
            <p:cNvPr id="277" name="Google Shape;277;p4"/>
            <p:cNvSpPr txBox="1"/>
            <p:nvPr/>
          </p:nvSpPr>
          <p:spPr>
            <a:xfrm>
              <a:off x="5942013" y="5211763"/>
              <a:ext cx="2133600" cy="36671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onstantia"/>
                  <a:ea typeface="Constantia"/>
                  <a:cs typeface="Constantia"/>
                  <a:sym typeface="Constantia"/>
                </a:rPr>
                <a:t>Các lớp thiết kế</a:t>
              </a:r>
              <a:endParaRPr sz="1800">
                <a:solidFill>
                  <a:schemeClr val="dk1"/>
                </a:solidFill>
                <a:latin typeface="Constantia"/>
                <a:ea typeface="Constantia"/>
                <a:cs typeface="Constantia"/>
                <a:sym typeface="Constantia"/>
              </a:endParaRPr>
            </a:p>
          </p:txBody>
        </p:sp>
        <p:grpSp>
          <p:nvGrpSpPr>
            <p:cNvPr id="278" name="Google Shape;278;p4"/>
            <p:cNvGrpSpPr/>
            <p:nvPr/>
          </p:nvGrpSpPr>
          <p:grpSpPr>
            <a:xfrm>
              <a:off x="685809" y="2406651"/>
              <a:ext cx="2338391" cy="1865313"/>
              <a:chOff x="3959" y="1776"/>
              <a:chExt cx="1473" cy="1175"/>
            </a:xfrm>
          </p:grpSpPr>
          <p:grpSp>
            <p:nvGrpSpPr>
              <p:cNvPr id="279" name="Google Shape;279;p4"/>
              <p:cNvGrpSpPr/>
              <p:nvPr/>
            </p:nvGrpSpPr>
            <p:grpSpPr>
              <a:xfrm>
                <a:off x="4297" y="1776"/>
                <a:ext cx="432" cy="720"/>
                <a:chOff x="1249" y="2496"/>
                <a:chExt cx="432" cy="720"/>
              </a:xfrm>
            </p:grpSpPr>
            <p:sp>
              <p:nvSpPr>
                <p:cNvPr id="280" name="Google Shape;280;p4"/>
                <p:cNvSpPr/>
                <p:nvPr/>
              </p:nvSpPr>
              <p:spPr>
                <a:xfrm>
                  <a:off x="1249" y="2496"/>
                  <a:ext cx="432" cy="720"/>
                </a:xfrm>
                <a:prstGeom prst="rect">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281" name="Google Shape;281;p4"/>
                <p:cNvCxnSpPr/>
                <p:nvPr/>
              </p:nvCxnSpPr>
              <p:spPr>
                <a:xfrm>
                  <a:off x="1537" y="2496"/>
                  <a:ext cx="144" cy="144"/>
                </a:xfrm>
                <a:prstGeom prst="straightConnector1">
                  <a:avLst/>
                </a:prstGeom>
                <a:noFill/>
                <a:ln cap="flat" cmpd="sng" w="28575">
                  <a:solidFill>
                    <a:schemeClr val="dk1"/>
                  </a:solidFill>
                  <a:prstDash val="solid"/>
                  <a:round/>
                  <a:headEnd len="sm" w="sm" type="none"/>
                  <a:tailEnd len="sm" w="sm" type="none"/>
                </a:ln>
              </p:spPr>
            </p:cxnSp>
            <p:cxnSp>
              <p:nvCxnSpPr>
                <p:cNvPr id="282" name="Google Shape;282;p4"/>
                <p:cNvCxnSpPr/>
                <p:nvPr/>
              </p:nvCxnSpPr>
              <p:spPr>
                <a:xfrm>
                  <a:off x="1537" y="2496"/>
                  <a:ext cx="0" cy="144"/>
                </a:xfrm>
                <a:prstGeom prst="straightConnector1">
                  <a:avLst/>
                </a:prstGeom>
                <a:noFill/>
                <a:ln cap="flat" cmpd="sng" w="28575">
                  <a:solidFill>
                    <a:schemeClr val="dk1"/>
                  </a:solidFill>
                  <a:prstDash val="solid"/>
                  <a:round/>
                  <a:headEnd len="sm" w="sm" type="none"/>
                  <a:tailEnd len="sm" w="sm" type="none"/>
                </a:ln>
              </p:spPr>
            </p:cxnSp>
            <p:cxnSp>
              <p:nvCxnSpPr>
                <p:cNvPr id="283" name="Google Shape;283;p4"/>
                <p:cNvCxnSpPr/>
                <p:nvPr/>
              </p:nvCxnSpPr>
              <p:spPr>
                <a:xfrm rot="10800000">
                  <a:off x="1537" y="2640"/>
                  <a:ext cx="144" cy="0"/>
                </a:xfrm>
                <a:prstGeom prst="straightConnector1">
                  <a:avLst/>
                </a:prstGeom>
                <a:noFill/>
                <a:ln cap="flat" cmpd="sng" w="28575">
                  <a:solidFill>
                    <a:schemeClr val="dk1"/>
                  </a:solidFill>
                  <a:prstDash val="solid"/>
                  <a:round/>
                  <a:headEnd len="sm" w="sm" type="none"/>
                  <a:tailEnd len="sm" w="sm" type="none"/>
                </a:ln>
              </p:spPr>
            </p:cxnSp>
            <p:cxnSp>
              <p:nvCxnSpPr>
                <p:cNvPr id="284" name="Google Shape;284;p4"/>
                <p:cNvCxnSpPr/>
                <p:nvPr/>
              </p:nvCxnSpPr>
              <p:spPr>
                <a:xfrm>
                  <a:off x="1297" y="2736"/>
                  <a:ext cx="336" cy="0"/>
                </a:xfrm>
                <a:prstGeom prst="straightConnector1">
                  <a:avLst/>
                </a:prstGeom>
                <a:noFill/>
                <a:ln cap="flat" cmpd="sng" w="28575">
                  <a:solidFill>
                    <a:schemeClr val="dk1"/>
                  </a:solidFill>
                  <a:prstDash val="solid"/>
                  <a:round/>
                  <a:headEnd len="sm" w="sm" type="none"/>
                  <a:tailEnd len="sm" w="sm" type="none"/>
                </a:ln>
              </p:spPr>
            </p:cxnSp>
            <p:cxnSp>
              <p:nvCxnSpPr>
                <p:cNvPr id="285" name="Google Shape;285;p4"/>
                <p:cNvCxnSpPr/>
                <p:nvPr/>
              </p:nvCxnSpPr>
              <p:spPr>
                <a:xfrm>
                  <a:off x="1297" y="2784"/>
                  <a:ext cx="336" cy="0"/>
                </a:xfrm>
                <a:prstGeom prst="straightConnector1">
                  <a:avLst/>
                </a:prstGeom>
                <a:noFill/>
                <a:ln cap="flat" cmpd="sng" w="28575">
                  <a:solidFill>
                    <a:schemeClr val="dk1"/>
                  </a:solidFill>
                  <a:prstDash val="solid"/>
                  <a:round/>
                  <a:headEnd len="sm" w="sm" type="none"/>
                  <a:tailEnd len="sm" w="sm" type="none"/>
                </a:ln>
              </p:spPr>
            </p:cxnSp>
            <p:cxnSp>
              <p:nvCxnSpPr>
                <p:cNvPr id="286" name="Google Shape;286;p4"/>
                <p:cNvCxnSpPr/>
                <p:nvPr/>
              </p:nvCxnSpPr>
              <p:spPr>
                <a:xfrm>
                  <a:off x="1297" y="2832"/>
                  <a:ext cx="336" cy="0"/>
                </a:xfrm>
                <a:prstGeom prst="straightConnector1">
                  <a:avLst/>
                </a:prstGeom>
                <a:noFill/>
                <a:ln cap="flat" cmpd="sng" w="28575">
                  <a:solidFill>
                    <a:schemeClr val="dk1"/>
                  </a:solidFill>
                  <a:prstDash val="solid"/>
                  <a:round/>
                  <a:headEnd len="sm" w="sm" type="none"/>
                  <a:tailEnd len="sm" w="sm" type="none"/>
                </a:ln>
              </p:spPr>
            </p:cxnSp>
            <p:cxnSp>
              <p:nvCxnSpPr>
                <p:cNvPr id="287" name="Google Shape;287;p4"/>
                <p:cNvCxnSpPr/>
                <p:nvPr/>
              </p:nvCxnSpPr>
              <p:spPr>
                <a:xfrm>
                  <a:off x="1297" y="2928"/>
                  <a:ext cx="336" cy="0"/>
                </a:xfrm>
                <a:prstGeom prst="straightConnector1">
                  <a:avLst/>
                </a:prstGeom>
                <a:noFill/>
                <a:ln cap="flat" cmpd="sng" w="28575">
                  <a:solidFill>
                    <a:schemeClr val="dk1"/>
                  </a:solidFill>
                  <a:prstDash val="solid"/>
                  <a:round/>
                  <a:headEnd len="sm" w="sm" type="none"/>
                  <a:tailEnd len="sm" w="sm" type="none"/>
                </a:ln>
              </p:spPr>
            </p:cxnSp>
            <p:cxnSp>
              <p:nvCxnSpPr>
                <p:cNvPr id="288" name="Google Shape;288;p4"/>
                <p:cNvCxnSpPr/>
                <p:nvPr/>
              </p:nvCxnSpPr>
              <p:spPr>
                <a:xfrm>
                  <a:off x="1297" y="2880"/>
                  <a:ext cx="336" cy="0"/>
                </a:xfrm>
                <a:prstGeom prst="straightConnector1">
                  <a:avLst/>
                </a:prstGeom>
                <a:noFill/>
                <a:ln cap="flat" cmpd="sng" w="28575">
                  <a:solidFill>
                    <a:schemeClr val="dk1"/>
                  </a:solidFill>
                  <a:prstDash val="solid"/>
                  <a:round/>
                  <a:headEnd len="sm" w="sm" type="none"/>
                  <a:tailEnd len="sm" w="sm" type="none"/>
                </a:ln>
              </p:spPr>
            </p:cxnSp>
            <p:cxnSp>
              <p:nvCxnSpPr>
                <p:cNvPr id="289" name="Google Shape;289;p4"/>
                <p:cNvCxnSpPr/>
                <p:nvPr/>
              </p:nvCxnSpPr>
              <p:spPr>
                <a:xfrm>
                  <a:off x="1297" y="2976"/>
                  <a:ext cx="336" cy="0"/>
                </a:xfrm>
                <a:prstGeom prst="straightConnector1">
                  <a:avLst/>
                </a:prstGeom>
                <a:noFill/>
                <a:ln cap="flat" cmpd="sng" w="28575">
                  <a:solidFill>
                    <a:schemeClr val="dk1"/>
                  </a:solidFill>
                  <a:prstDash val="solid"/>
                  <a:round/>
                  <a:headEnd len="sm" w="sm" type="none"/>
                  <a:tailEnd len="sm" w="sm" type="none"/>
                </a:ln>
              </p:spPr>
            </p:cxnSp>
            <p:cxnSp>
              <p:nvCxnSpPr>
                <p:cNvPr id="290" name="Google Shape;290;p4"/>
                <p:cNvCxnSpPr/>
                <p:nvPr/>
              </p:nvCxnSpPr>
              <p:spPr>
                <a:xfrm>
                  <a:off x="1297" y="3024"/>
                  <a:ext cx="336" cy="0"/>
                </a:xfrm>
                <a:prstGeom prst="straightConnector1">
                  <a:avLst/>
                </a:prstGeom>
                <a:noFill/>
                <a:ln cap="flat" cmpd="sng" w="28575">
                  <a:solidFill>
                    <a:schemeClr val="dk1"/>
                  </a:solidFill>
                  <a:prstDash val="solid"/>
                  <a:round/>
                  <a:headEnd len="sm" w="sm" type="none"/>
                  <a:tailEnd len="sm" w="sm" type="none"/>
                </a:ln>
              </p:spPr>
            </p:cxnSp>
            <p:cxnSp>
              <p:nvCxnSpPr>
                <p:cNvPr id="291" name="Google Shape;291;p4"/>
                <p:cNvCxnSpPr/>
                <p:nvPr/>
              </p:nvCxnSpPr>
              <p:spPr>
                <a:xfrm>
                  <a:off x="1297" y="3072"/>
                  <a:ext cx="336" cy="0"/>
                </a:xfrm>
                <a:prstGeom prst="straightConnector1">
                  <a:avLst/>
                </a:prstGeom>
                <a:noFill/>
                <a:ln cap="flat" cmpd="sng" w="28575">
                  <a:solidFill>
                    <a:schemeClr val="dk1"/>
                  </a:solidFill>
                  <a:prstDash val="solid"/>
                  <a:round/>
                  <a:headEnd len="sm" w="sm" type="none"/>
                  <a:tailEnd len="sm" w="sm" type="none"/>
                </a:ln>
              </p:spPr>
            </p:cxnSp>
            <p:cxnSp>
              <p:nvCxnSpPr>
                <p:cNvPr id="292" name="Google Shape;292;p4"/>
                <p:cNvCxnSpPr/>
                <p:nvPr/>
              </p:nvCxnSpPr>
              <p:spPr>
                <a:xfrm>
                  <a:off x="1297" y="3120"/>
                  <a:ext cx="336" cy="0"/>
                </a:xfrm>
                <a:prstGeom prst="straightConnector1">
                  <a:avLst/>
                </a:prstGeom>
                <a:noFill/>
                <a:ln cap="flat" cmpd="sng" w="28575">
                  <a:solidFill>
                    <a:schemeClr val="dk1"/>
                  </a:solidFill>
                  <a:prstDash val="solid"/>
                  <a:round/>
                  <a:headEnd len="sm" w="sm" type="none"/>
                  <a:tailEnd len="sm" w="sm" type="none"/>
                </a:ln>
              </p:spPr>
            </p:cxnSp>
            <p:cxnSp>
              <p:nvCxnSpPr>
                <p:cNvPr id="293" name="Google Shape;293;p4"/>
                <p:cNvCxnSpPr/>
                <p:nvPr/>
              </p:nvCxnSpPr>
              <p:spPr>
                <a:xfrm>
                  <a:off x="1297" y="3168"/>
                  <a:ext cx="336" cy="0"/>
                </a:xfrm>
                <a:prstGeom prst="straightConnector1">
                  <a:avLst/>
                </a:prstGeom>
                <a:noFill/>
                <a:ln cap="flat" cmpd="sng" w="28575">
                  <a:solidFill>
                    <a:schemeClr val="dk1"/>
                  </a:solidFill>
                  <a:prstDash val="solid"/>
                  <a:round/>
                  <a:headEnd len="sm" w="sm" type="none"/>
                  <a:tailEnd len="sm" w="sm" type="none"/>
                </a:ln>
              </p:spPr>
            </p:cxnSp>
            <p:cxnSp>
              <p:nvCxnSpPr>
                <p:cNvPr id="294" name="Google Shape;294;p4"/>
                <p:cNvCxnSpPr/>
                <p:nvPr/>
              </p:nvCxnSpPr>
              <p:spPr>
                <a:xfrm>
                  <a:off x="1297" y="2688"/>
                  <a:ext cx="336" cy="0"/>
                </a:xfrm>
                <a:prstGeom prst="straightConnector1">
                  <a:avLst/>
                </a:prstGeom>
                <a:noFill/>
                <a:ln cap="flat" cmpd="sng" w="28575">
                  <a:solidFill>
                    <a:schemeClr val="dk1"/>
                  </a:solidFill>
                  <a:prstDash val="solid"/>
                  <a:round/>
                  <a:headEnd len="sm" w="sm" type="none"/>
                  <a:tailEnd len="sm" w="sm" type="none"/>
                </a:ln>
              </p:spPr>
            </p:cxnSp>
            <p:cxnSp>
              <p:nvCxnSpPr>
                <p:cNvPr id="295" name="Google Shape;295;p4"/>
                <p:cNvCxnSpPr/>
                <p:nvPr/>
              </p:nvCxnSpPr>
              <p:spPr>
                <a:xfrm>
                  <a:off x="1297" y="2592"/>
                  <a:ext cx="209" cy="0"/>
                </a:xfrm>
                <a:prstGeom prst="straightConnector1">
                  <a:avLst/>
                </a:prstGeom>
                <a:noFill/>
                <a:ln cap="flat" cmpd="sng" w="28575">
                  <a:solidFill>
                    <a:schemeClr val="dk1"/>
                  </a:solidFill>
                  <a:prstDash val="solid"/>
                  <a:round/>
                  <a:headEnd len="sm" w="sm" type="none"/>
                  <a:tailEnd len="sm" w="sm" type="none"/>
                </a:ln>
              </p:spPr>
            </p:cxnSp>
            <p:cxnSp>
              <p:nvCxnSpPr>
                <p:cNvPr id="296" name="Google Shape;296;p4"/>
                <p:cNvCxnSpPr/>
                <p:nvPr/>
              </p:nvCxnSpPr>
              <p:spPr>
                <a:xfrm>
                  <a:off x="1297" y="2544"/>
                  <a:ext cx="209" cy="0"/>
                </a:xfrm>
                <a:prstGeom prst="straightConnector1">
                  <a:avLst/>
                </a:prstGeom>
                <a:noFill/>
                <a:ln cap="flat" cmpd="sng" w="28575">
                  <a:solidFill>
                    <a:schemeClr val="dk1"/>
                  </a:solidFill>
                  <a:prstDash val="solid"/>
                  <a:round/>
                  <a:headEnd len="sm" w="sm" type="none"/>
                  <a:tailEnd len="sm" w="sm" type="none"/>
                </a:ln>
              </p:spPr>
            </p:cxnSp>
            <p:cxnSp>
              <p:nvCxnSpPr>
                <p:cNvPr id="297" name="Google Shape;297;p4"/>
                <p:cNvCxnSpPr/>
                <p:nvPr/>
              </p:nvCxnSpPr>
              <p:spPr>
                <a:xfrm>
                  <a:off x="1297" y="2640"/>
                  <a:ext cx="209" cy="0"/>
                </a:xfrm>
                <a:prstGeom prst="straightConnector1">
                  <a:avLst/>
                </a:prstGeom>
                <a:noFill/>
                <a:ln cap="flat" cmpd="sng" w="28575">
                  <a:solidFill>
                    <a:schemeClr val="dk1"/>
                  </a:solidFill>
                  <a:prstDash val="solid"/>
                  <a:round/>
                  <a:headEnd len="sm" w="sm" type="none"/>
                  <a:tailEnd len="sm" w="sm" type="none"/>
                </a:ln>
              </p:spPr>
            </p:cxnSp>
          </p:grpSp>
          <p:sp>
            <p:nvSpPr>
              <p:cNvPr id="298" name="Google Shape;298;p4"/>
              <p:cNvSpPr txBox="1"/>
              <p:nvPr/>
            </p:nvSpPr>
            <p:spPr>
              <a:xfrm>
                <a:off x="3959" y="2544"/>
                <a:ext cx="1473" cy="4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onstantia"/>
                    <a:ea typeface="Constantia"/>
                    <a:cs typeface="Constantia"/>
                    <a:sym typeface="Constantia"/>
                  </a:rPr>
                  <a:t>Tài liệu hướng dẫn</a:t>
                </a:r>
                <a:endParaRPr sz="1800">
                  <a:solidFill>
                    <a:schemeClr val="dk1"/>
                  </a:solidFill>
                  <a:latin typeface="Constantia"/>
                  <a:ea typeface="Constantia"/>
                  <a:cs typeface="Constantia"/>
                  <a:sym typeface="Constantia"/>
                </a:endParaRPr>
              </a:p>
              <a:p>
                <a:pPr indent="0" lvl="0" marL="0" marR="0" rtl="0" algn="ctr">
                  <a:spcBef>
                    <a:spcPts val="0"/>
                  </a:spcBef>
                  <a:spcAft>
                    <a:spcPts val="0"/>
                  </a:spcAft>
                  <a:buNone/>
                </a:pPr>
                <a:r>
                  <a:rPr lang="en-US" sz="1800">
                    <a:solidFill>
                      <a:schemeClr val="dk1"/>
                    </a:solidFill>
                    <a:latin typeface="Constantia"/>
                    <a:ea typeface="Constantia"/>
                    <a:cs typeface="Constantia"/>
                    <a:sym typeface="Constantia"/>
                  </a:rPr>
                  <a:t> đặc trưng cho dự án</a:t>
                </a:r>
                <a:endParaRPr sz="1800">
                  <a:solidFill>
                    <a:schemeClr val="dk1"/>
                  </a:solidFill>
                  <a:latin typeface="Constantia"/>
                  <a:ea typeface="Constantia"/>
                  <a:cs typeface="Constantia"/>
                  <a:sym typeface="Constantia"/>
                </a:endParaRPr>
              </a:p>
            </p:txBody>
          </p:sp>
        </p:grpSp>
        <p:cxnSp>
          <p:nvCxnSpPr>
            <p:cNvPr id="299" name="Google Shape;299;p4"/>
            <p:cNvCxnSpPr/>
            <p:nvPr/>
          </p:nvCxnSpPr>
          <p:spPr>
            <a:xfrm flipH="1">
              <a:off x="2401888" y="3506788"/>
              <a:ext cx="601662" cy="3175"/>
            </a:xfrm>
            <a:prstGeom prst="straightConnector1">
              <a:avLst/>
            </a:prstGeom>
            <a:noFill/>
            <a:ln cap="flat" cmpd="sng" w="28575">
              <a:solidFill>
                <a:schemeClr val="hlink"/>
              </a:solidFill>
              <a:prstDash val="solid"/>
              <a:round/>
              <a:headEnd len="med" w="med" type="triangle"/>
              <a:tailEnd len="med" w="med" type="none"/>
            </a:ln>
          </p:spPr>
        </p:cxn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5"/>
          <p:cNvSpPr txBox="1"/>
          <p:nvPr>
            <p:ph type="title"/>
          </p:nvPr>
        </p:nvSpPr>
        <p:spPr>
          <a:xfrm>
            <a:off x="457200" y="704088"/>
            <a:ext cx="8229600" cy="7437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600"/>
              <a:buFont typeface="Calibri"/>
              <a:buNone/>
            </a:pPr>
            <a:r>
              <a:rPr lang="en-US" sz="3600"/>
              <a:t>Các bước thiết kế hệ thống con</a:t>
            </a:r>
            <a:endParaRPr sz="3600"/>
          </a:p>
        </p:txBody>
      </p:sp>
      <p:sp>
        <p:nvSpPr>
          <p:cNvPr id="305" name="Google Shape;305;p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306" name="Google Shape;306;p5"/>
          <p:cNvSpPr txBox="1"/>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274320" lvl="0" marL="274320" marR="0" rtl="0" algn="l">
              <a:spcBef>
                <a:spcPts val="0"/>
              </a:spcBef>
              <a:spcAft>
                <a:spcPts val="0"/>
              </a:spcAft>
              <a:buClr>
                <a:schemeClr val="accent3"/>
              </a:buClr>
              <a:buSzPts val="2470"/>
              <a:buFont typeface="Noto Sans Symbols"/>
              <a:buChar char="⚫"/>
            </a:pPr>
            <a:r>
              <a:rPr lang="en-US" sz="2600">
                <a:solidFill>
                  <a:schemeClr val="dk1"/>
                </a:solidFill>
                <a:latin typeface="Constantia"/>
                <a:ea typeface="Constantia"/>
                <a:cs typeface="Constantia"/>
                <a:sym typeface="Constantia"/>
              </a:rPr>
              <a:t>Phân phối hành vi của hệ thống con vào trong các phần tử của nó</a:t>
            </a:r>
            <a:endParaRPr sz="2600">
              <a:solidFill>
                <a:schemeClr val="dk1"/>
              </a:solidFill>
              <a:latin typeface="Constantia"/>
              <a:ea typeface="Constantia"/>
              <a:cs typeface="Constantia"/>
              <a:sym typeface="Constantia"/>
            </a:endParaRPr>
          </a:p>
          <a:p>
            <a:pPr indent="-274320" lvl="0" marL="274320" marR="0" rtl="0" algn="l">
              <a:spcBef>
                <a:spcPts val="520"/>
              </a:spcBef>
              <a:spcAft>
                <a:spcPts val="0"/>
              </a:spcAft>
              <a:buClr>
                <a:schemeClr val="accent3"/>
              </a:buClr>
              <a:buSzPts val="2470"/>
              <a:buFont typeface="Noto Sans Symbols"/>
              <a:buChar char="⚫"/>
            </a:pPr>
            <a:r>
              <a:rPr lang="en-US" sz="2600">
                <a:solidFill>
                  <a:schemeClr val="dk1"/>
                </a:solidFill>
                <a:latin typeface="Constantia"/>
                <a:ea typeface="Constantia"/>
                <a:cs typeface="Constantia"/>
                <a:sym typeface="Constantia"/>
              </a:rPr>
              <a:t>Làm tài liệu về các phần tử của hệ thống con</a:t>
            </a:r>
            <a:endParaRPr/>
          </a:p>
          <a:p>
            <a:pPr indent="-274320" lvl="0" marL="274320" marR="0" rtl="0" algn="l">
              <a:spcBef>
                <a:spcPts val="520"/>
              </a:spcBef>
              <a:spcAft>
                <a:spcPts val="0"/>
              </a:spcAft>
              <a:buClr>
                <a:schemeClr val="accent3"/>
              </a:buClr>
              <a:buSzPts val="2470"/>
              <a:buFont typeface="Noto Sans Symbols"/>
              <a:buChar char="⚫"/>
            </a:pPr>
            <a:r>
              <a:rPr lang="en-US" sz="2600">
                <a:solidFill>
                  <a:schemeClr val="dk1"/>
                </a:solidFill>
                <a:latin typeface="Constantia"/>
                <a:ea typeface="Constantia"/>
                <a:cs typeface="Constantia"/>
                <a:sym typeface="Constantia"/>
              </a:rPr>
              <a:t>Mô tả sự phụ thuộc hệ thống con</a:t>
            </a:r>
            <a:endParaRPr/>
          </a:p>
          <a:p>
            <a:pPr indent="-274320" lvl="0" marL="274320" marR="0" rtl="0" algn="l">
              <a:spcBef>
                <a:spcPts val="520"/>
              </a:spcBef>
              <a:spcAft>
                <a:spcPts val="0"/>
              </a:spcAft>
              <a:buClr>
                <a:schemeClr val="accent3"/>
              </a:buClr>
              <a:buSzPts val="2470"/>
              <a:buFont typeface="Noto Sans Symbols"/>
              <a:buChar char="⚫"/>
            </a:pPr>
            <a:r>
              <a:rPr lang="en-US" sz="2600">
                <a:solidFill>
                  <a:schemeClr val="dk1"/>
                </a:solidFill>
                <a:latin typeface="Constantia"/>
                <a:ea typeface="Constantia"/>
                <a:cs typeface="Constantia"/>
                <a:sym typeface="Constantia"/>
              </a:rPr>
              <a:t>Checkpoints</a:t>
            </a:r>
            <a:endParaRPr sz="2600">
              <a:solidFill>
                <a:schemeClr val="dk1"/>
              </a:solidFill>
              <a:latin typeface="Constantia"/>
              <a:ea typeface="Constantia"/>
              <a:cs typeface="Constantia"/>
              <a:sym typeface="Constanti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6"/>
          <p:cNvSpPr txBox="1"/>
          <p:nvPr>
            <p:ph type="title"/>
          </p:nvPr>
        </p:nvSpPr>
        <p:spPr>
          <a:xfrm>
            <a:off x="457200" y="704088"/>
            <a:ext cx="8229600" cy="7437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600"/>
              <a:buFont typeface="Calibri"/>
              <a:buNone/>
            </a:pPr>
            <a:r>
              <a:rPr lang="en-US" sz="3600"/>
              <a:t>Các bước thiết kế hệ thống con</a:t>
            </a:r>
            <a:endParaRPr sz="3600"/>
          </a:p>
        </p:txBody>
      </p:sp>
      <p:sp>
        <p:nvSpPr>
          <p:cNvPr id="312" name="Google Shape;312;p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313" name="Google Shape;313;p6"/>
          <p:cNvSpPr txBox="1"/>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274320" lvl="0" marL="274320" marR="0" rtl="0" algn="l">
              <a:spcBef>
                <a:spcPts val="0"/>
              </a:spcBef>
              <a:spcAft>
                <a:spcPts val="0"/>
              </a:spcAft>
              <a:buClr>
                <a:schemeClr val="accent3"/>
              </a:buClr>
              <a:buSzPts val="2470"/>
              <a:buFont typeface="Noto Sans Symbols"/>
              <a:buChar char="⚫"/>
            </a:pPr>
            <a:r>
              <a:rPr lang="en-US" sz="2600">
                <a:solidFill>
                  <a:srgbClr val="FF0000"/>
                </a:solidFill>
                <a:latin typeface="Constantia"/>
                <a:ea typeface="Constantia"/>
                <a:cs typeface="Constantia"/>
                <a:sym typeface="Constantia"/>
              </a:rPr>
              <a:t>Phân phối hành vi của hệ thống con vào trong các phần tử của nó</a:t>
            </a:r>
            <a:endParaRPr sz="2600">
              <a:solidFill>
                <a:srgbClr val="FF0000"/>
              </a:solidFill>
              <a:latin typeface="Constantia"/>
              <a:ea typeface="Constantia"/>
              <a:cs typeface="Constantia"/>
              <a:sym typeface="Constantia"/>
            </a:endParaRPr>
          </a:p>
          <a:p>
            <a:pPr indent="-274320" lvl="0" marL="274320" marR="0" rtl="0" algn="l">
              <a:spcBef>
                <a:spcPts val="520"/>
              </a:spcBef>
              <a:spcAft>
                <a:spcPts val="0"/>
              </a:spcAft>
              <a:buClr>
                <a:schemeClr val="accent3"/>
              </a:buClr>
              <a:buSzPts val="2470"/>
              <a:buFont typeface="Noto Sans Symbols"/>
              <a:buChar char="⚫"/>
            </a:pPr>
            <a:r>
              <a:rPr lang="en-US" sz="2600">
                <a:solidFill>
                  <a:schemeClr val="dk1"/>
                </a:solidFill>
                <a:latin typeface="Constantia"/>
                <a:ea typeface="Constantia"/>
                <a:cs typeface="Constantia"/>
                <a:sym typeface="Constantia"/>
              </a:rPr>
              <a:t>Làm tài liệu về các phần tử của hệ thống con</a:t>
            </a:r>
            <a:endParaRPr/>
          </a:p>
          <a:p>
            <a:pPr indent="-274320" lvl="0" marL="274320" marR="0" rtl="0" algn="l">
              <a:spcBef>
                <a:spcPts val="520"/>
              </a:spcBef>
              <a:spcAft>
                <a:spcPts val="0"/>
              </a:spcAft>
              <a:buClr>
                <a:schemeClr val="accent3"/>
              </a:buClr>
              <a:buSzPts val="2470"/>
              <a:buFont typeface="Noto Sans Symbols"/>
              <a:buChar char="⚫"/>
            </a:pPr>
            <a:r>
              <a:rPr lang="en-US" sz="2600">
                <a:solidFill>
                  <a:schemeClr val="dk1"/>
                </a:solidFill>
                <a:latin typeface="Constantia"/>
                <a:ea typeface="Constantia"/>
                <a:cs typeface="Constantia"/>
                <a:sym typeface="Constantia"/>
              </a:rPr>
              <a:t>Mô tả sự phụ thuộc hệ thống con</a:t>
            </a:r>
            <a:endParaRPr/>
          </a:p>
          <a:p>
            <a:pPr indent="-274320" lvl="0" marL="274320" marR="0" rtl="0" algn="l">
              <a:spcBef>
                <a:spcPts val="520"/>
              </a:spcBef>
              <a:spcAft>
                <a:spcPts val="0"/>
              </a:spcAft>
              <a:buClr>
                <a:schemeClr val="accent3"/>
              </a:buClr>
              <a:buSzPts val="2470"/>
              <a:buFont typeface="Noto Sans Symbols"/>
              <a:buChar char="⚫"/>
            </a:pPr>
            <a:r>
              <a:rPr lang="en-US" sz="2600">
                <a:solidFill>
                  <a:schemeClr val="dk1"/>
                </a:solidFill>
                <a:latin typeface="Constantia"/>
                <a:ea typeface="Constantia"/>
                <a:cs typeface="Constantia"/>
                <a:sym typeface="Constantia"/>
              </a:rPr>
              <a:t>Checkpoints</a:t>
            </a:r>
            <a:endParaRPr sz="2600">
              <a:solidFill>
                <a:schemeClr val="dk1"/>
              </a:solidFill>
              <a:latin typeface="Constantia"/>
              <a:ea typeface="Constantia"/>
              <a:cs typeface="Constantia"/>
              <a:sym typeface="Constanti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7"/>
          <p:cNvSpPr txBox="1"/>
          <p:nvPr>
            <p:ph type="title"/>
          </p:nvPr>
        </p:nvSpPr>
        <p:spPr>
          <a:xfrm>
            <a:off x="457200" y="704088"/>
            <a:ext cx="8229600" cy="743712"/>
          </a:xfrm>
          <a:prstGeom prst="rect">
            <a:avLst/>
          </a:prstGeom>
          <a:noFill/>
          <a:ln>
            <a:noFill/>
          </a:ln>
        </p:spPr>
        <p:txBody>
          <a:bodyPr anchorCtr="0" anchor="b" bIns="0" lIns="0" spcFirstLastPara="1" rIns="0" wrap="square" tIns="45700">
            <a:normAutofit/>
          </a:bodyPr>
          <a:lstStyle/>
          <a:p>
            <a:pPr indent="0" lvl="0" marL="0" rtl="0" algn="l">
              <a:lnSpc>
                <a:spcPct val="70000"/>
              </a:lnSpc>
              <a:spcBef>
                <a:spcPts val="0"/>
              </a:spcBef>
              <a:spcAft>
                <a:spcPts val="0"/>
              </a:spcAft>
              <a:buClr>
                <a:schemeClr val="dk2"/>
              </a:buClr>
              <a:buSzPts val="4000"/>
              <a:buFont typeface="Calibri"/>
              <a:buNone/>
            </a:pPr>
            <a:r>
              <a:rPr lang="en-US" sz="4000"/>
              <a:t>Các trách nhiệm của hệ thống con</a:t>
            </a:r>
            <a:endParaRPr/>
          </a:p>
        </p:txBody>
      </p:sp>
      <p:sp>
        <p:nvSpPr>
          <p:cNvPr id="319" name="Google Shape;319;p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320" name="Google Shape;320;p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Các trách nhiệm của hệ thống con (Subsystem responsibilities) được xác định thông qua họt động của giao diện</a:t>
            </a:r>
            <a:endParaRPr/>
          </a:p>
          <a:p>
            <a:pPr indent="-246888" lvl="1" marL="640080" rtl="0" algn="l">
              <a:spcBef>
                <a:spcPts val="480"/>
              </a:spcBef>
              <a:spcAft>
                <a:spcPts val="0"/>
              </a:spcAft>
              <a:buSzPts val="2040"/>
              <a:buChar char="⚫"/>
            </a:pPr>
            <a:r>
              <a:rPr lang="en-US"/>
              <a:t>Mô hình hóa hiện thực hóa giao diện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8"/>
          <p:cNvSpPr txBox="1"/>
          <p:nvPr>
            <p:ph type="title"/>
          </p:nvPr>
        </p:nvSpPr>
        <p:spPr>
          <a:xfrm>
            <a:off x="457200" y="704088"/>
            <a:ext cx="8229600" cy="743712"/>
          </a:xfrm>
          <a:prstGeom prst="rect">
            <a:avLst/>
          </a:prstGeom>
          <a:noFill/>
          <a:ln>
            <a:noFill/>
          </a:ln>
        </p:spPr>
        <p:txBody>
          <a:bodyPr anchorCtr="0" anchor="b" bIns="0" lIns="0" spcFirstLastPara="1" rIns="0" wrap="square" tIns="45700">
            <a:normAutofit/>
          </a:bodyPr>
          <a:lstStyle/>
          <a:p>
            <a:pPr indent="0" lvl="0" marL="0" rtl="0" algn="l">
              <a:lnSpc>
                <a:spcPct val="70000"/>
              </a:lnSpc>
              <a:spcBef>
                <a:spcPts val="0"/>
              </a:spcBef>
              <a:spcAft>
                <a:spcPts val="0"/>
              </a:spcAft>
              <a:buClr>
                <a:schemeClr val="dk2"/>
              </a:buClr>
              <a:buSzPts val="4000"/>
              <a:buFont typeface="Calibri"/>
              <a:buNone/>
            </a:pPr>
            <a:r>
              <a:rPr lang="en-US" sz="4000"/>
              <a:t>Các trách nhiệm của hệ thống con</a:t>
            </a:r>
            <a:endParaRPr/>
          </a:p>
        </p:txBody>
      </p:sp>
      <p:sp>
        <p:nvSpPr>
          <p:cNvPr id="326" name="Google Shape;326;p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327" name="Google Shape;327;p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Hoạt động của giao diện có thể được hiện thực bởi</a:t>
            </a:r>
            <a:endParaRPr/>
          </a:p>
          <a:p>
            <a:pPr indent="-246888" lvl="1" marL="640080" rtl="0" algn="l">
              <a:spcBef>
                <a:spcPts val="480"/>
              </a:spcBef>
              <a:spcAft>
                <a:spcPts val="0"/>
              </a:spcAft>
              <a:buSzPts val="2040"/>
              <a:buChar char="⚫"/>
            </a:pPr>
            <a:r>
              <a:rPr lang="en-US"/>
              <a:t>Hoạt động bên trong (internal) của các lớp</a:t>
            </a:r>
            <a:endParaRPr/>
          </a:p>
          <a:p>
            <a:pPr indent="-246888" lvl="1" marL="640080" rtl="0" algn="l">
              <a:spcBef>
                <a:spcPts val="480"/>
              </a:spcBef>
              <a:spcAft>
                <a:spcPts val="0"/>
              </a:spcAft>
              <a:buSzPts val="2040"/>
              <a:buChar char="⚫"/>
            </a:pPr>
            <a:r>
              <a:rPr lang="en-US"/>
              <a:t>Hoạt động bên trong (internal) của các hệ thống con</a:t>
            </a:r>
            <a:endParaRPr/>
          </a:p>
          <a:p>
            <a:pPr indent="-117475" lvl="0" marL="274320" rtl="0" algn="l">
              <a:spcBef>
                <a:spcPts val="520"/>
              </a:spcBef>
              <a:spcAft>
                <a:spcPts val="0"/>
              </a:spcAft>
              <a:buSzPts val="2470"/>
              <a:buNone/>
            </a:pPr>
            <a:r>
              <a:t/>
            </a:r>
            <a:endParaRPr/>
          </a:p>
        </p:txBody>
      </p:sp>
      <p:grpSp>
        <p:nvGrpSpPr>
          <p:cNvPr id="328" name="Google Shape;328;p8"/>
          <p:cNvGrpSpPr/>
          <p:nvPr/>
        </p:nvGrpSpPr>
        <p:grpSpPr>
          <a:xfrm>
            <a:off x="1335087" y="3846319"/>
            <a:ext cx="6750051" cy="1910003"/>
            <a:chOff x="1335087" y="4265613"/>
            <a:chExt cx="6750051" cy="1910003"/>
          </a:xfrm>
        </p:grpSpPr>
        <p:grpSp>
          <p:nvGrpSpPr>
            <p:cNvPr id="329" name="Google Shape;329;p8"/>
            <p:cNvGrpSpPr/>
            <p:nvPr/>
          </p:nvGrpSpPr>
          <p:grpSpPr>
            <a:xfrm>
              <a:off x="5486400" y="4265613"/>
              <a:ext cx="2598738" cy="1155700"/>
              <a:chOff x="3696" y="760"/>
              <a:chExt cx="1584" cy="824"/>
            </a:xfrm>
          </p:grpSpPr>
          <p:sp>
            <p:nvSpPr>
              <p:cNvPr id="330" name="Google Shape;330;p8"/>
              <p:cNvSpPr/>
              <p:nvPr/>
            </p:nvSpPr>
            <p:spPr>
              <a:xfrm>
                <a:off x="3696" y="937"/>
                <a:ext cx="1584" cy="647"/>
              </a:xfrm>
              <a:prstGeom prst="rect">
                <a:avLst/>
              </a:prstGeom>
              <a:solidFill>
                <a:srgbClr val="FFFFCC"/>
              </a:solidFill>
              <a:ln cap="flat" cmpd="sng" w="12700">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331" name="Google Shape;331;p8"/>
              <p:cNvSpPr/>
              <p:nvPr/>
            </p:nvSpPr>
            <p:spPr>
              <a:xfrm>
                <a:off x="3696" y="760"/>
                <a:ext cx="635" cy="177"/>
              </a:xfrm>
              <a:prstGeom prst="rect">
                <a:avLst/>
              </a:prstGeom>
              <a:solidFill>
                <a:srgbClr val="FFFFCC"/>
              </a:solidFill>
              <a:ln cap="flat" cmpd="sng" w="12700">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
          <p:nvSpPr>
            <p:cNvPr id="332" name="Google Shape;332;p8"/>
            <p:cNvSpPr/>
            <p:nvPr/>
          </p:nvSpPr>
          <p:spPr>
            <a:xfrm>
              <a:off x="5680075" y="4754563"/>
              <a:ext cx="2165350" cy="244475"/>
            </a:xfrm>
            <a:prstGeom prst="rect">
              <a:avLst/>
            </a:prstGeom>
            <a:solidFill>
              <a:srgbClr val="FFFFCC"/>
            </a:solid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600">
                  <a:solidFill>
                    <a:schemeClr val="dk1"/>
                  </a:solidFill>
                  <a:latin typeface="Constantia"/>
                  <a:ea typeface="Constantia"/>
                  <a:cs typeface="Constantia"/>
                  <a:sym typeface="Constantia"/>
                </a:rPr>
                <a:t>CourseCatalogSystem</a:t>
              </a:r>
              <a:endParaRPr/>
            </a:p>
          </p:txBody>
        </p:sp>
        <p:sp>
          <p:nvSpPr>
            <p:cNvPr id="333" name="Google Shape;333;p8"/>
            <p:cNvSpPr/>
            <p:nvPr/>
          </p:nvSpPr>
          <p:spPr>
            <a:xfrm>
              <a:off x="6164263" y="4532313"/>
              <a:ext cx="1272784" cy="215444"/>
            </a:xfrm>
            <a:prstGeom prst="rect">
              <a:avLst/>
            </a:prstGeom>
            <a:solidFill>
              <a:srgbClr val="FFFFCC"/>
            </a:solid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400">
                  <a:solidFill>
                    <a:schemeClr val="dk1"/>
                  </a:solidFill>
                  <a:latin typeface="Constantia"/>
                  <a:ea typeface="Constantia"/>
                  <a:cs typeface="Constantia"/>
                  <a:sym typeface="Constantia"/>
                </a:rPr>
                <a:t>&lt;&lt;subsystem&gt;&gt;</a:t>
              </a:r>
              <a:endParaRPr/>
            </a:p>
          </p:txBody>
        </p:sp>
        <p:sp>
          <p:nvSpPr>
            <p:cNvPr id="334" name="Google Shape;334;p8"/>
            <p:cNvSpPr/>
            <p:nvPr/>
          </p:nvSpPr>
          <p:spPr>
            <a:xfrm>
              <a:off x="1447800" y="4265613"/>
              <a:ext cx="2484438" cy="1135062"/>
            </a:xfrm>
            <a:prstGeom prst="rect">
              <a:avLst/>
            </a:prstGeom>
            <a:solidFill>
              <a:srgbClr val="FFFFCC"/>
            </a:solidFill>
            <a:ln cap="flat" cmpd="sng" w="12700">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335" name="Google Shape;335;p8"/>
            <p:cNvSpPr/>
            <p:nvPr/>
          </p:nvSpPr>
          <p:spPr>
            <a:xfrm>
              <a:off x="1579563" y="4548188"/>
              <a:ext cx="2222500" cy="244475"/>
            </a:xfrm>
            <a:prstGeom prst="rect">
              <a:avLst/>
            </a:prstGeom>
            <a:solidFill>
              <a:srgbClr val="FFFFCC"/>
            </a:solid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chemeClr val="dk1"/>
                  </a:solidFill>
                  <a:latin typeface="Constantia"/>
                  <a:ea typeface="Constantia"/>
                  <a:cs typeface="Constantia"/>
                  <a:sym typeface="Constantia"/>
                </a:rPr>
                <a:t>ICourseCatalogSystem</a:t>
              </a:r>
              <a:endParaRPr b="1" sz="1600">
                <a:solidFill>
                  <a:schemeClr val="dk1"/>
                </a:solidFill>
                <a:latin typeface="Arial"/>
                <a:ea typeface="Arial"/>
                <a:cs typeface="Arial"/>
                <a:sym typeface="Arial"/>
              </a:endParaRPr>
            </a:p>
          </p:txBody>
        </p:sp>
        <p:sp>
          <p:nvSpPr>
            <p:cNvPr id="336" name="Google Shape;336;p8"/>
            <p:cNvSpPr/>
            <p:nvPr/>
          </p:nvSpPr>
          <p:spPr>
            <a:xfrm>
              <a:off x="1447800" y="4810125"/>
              <a:ext cx="2484438" cy="590550"/>
            </a:xfrm>
            <a:prstGeom prst="rect">
              <a:avLst/>
            </a:prstGeom>
            <a:solidFill>
              <a:srgbClr val="FFFFCC"/>
            </a:solidFill>
            <a:ln cap="flat" cmpd="sng" w="12700">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337" name="Google Shape;337;p8"/>
            <p:cNvSpPr/>
            <p:nvPr/>
          </p:nvSpPr>
          <p:spPr>
            <a:xfrm>
              <a:off x="1447800" y="4927600"/>
              <a:ext cx="2484438" cy="473075"/>
            </a:xfrm>
            <a:prstGeom prst="rect">
              <a:avLst/>
            </a:prstGeom>
            <a:solidFill>
              <a:srgbClr val="FFFFCC"/>
            </a:solidFill>
            <a:ln cap="flat" cmpd="sng" w="12700">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338" name="Google Shape;338;p8"/>
            <p:cNvSpPr/>
            <p:nvPr/>
          </p:nvSpPr>
          <p:spPr>
            <a:xfrm>
              <a:off x="1498600" y="5038725"/>
              <a:ext cx="1898650" cy="244475"/>
            </a:xfrm>
            <a:prstGeom prst="rect">
              <a:avLst/>
            </a:prstGeom>
            <a:solidFill>
              <a:srgbClr val="FFFFCC"/>
            </a:solid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chemeClr val="dk1"/>
                  </a:solidFill>
                  <a:latin typeface="Constantia"/>
                  <a:ea typeface="Constantia"/>
                  <a:cs typeface="Constantia"/>
                  <a:sym typeface="Constantia"/>
                </a:rPr>
                <a:t>getCourseOfferings()</a:t>
              </a:r>
              <a:endParaRPr sz="1600">
                <a:solidFill>
                  <a:schemeClr val="dk1"/>
                </a:solidFill>
                <a:latin typeface="Arial"/>
                <a:ea typeface="Arial"/>
                <a:cs typeface="Arial"/>
                <a:sym typeface="Arial"/>
              </a:endParaRPr>
            </a:p>
          </p:txBody>
        </p:sp>
        <p:sp>
          <p:nvSpPr>
            <p:cNvPr id="339" name="Google Shape;339;p8"/>
            <p:cNvSpPr/>
            <p:nvPr/>
          </p:nvSpPr>
          <p:spPr>
            <a:xfrm>
              <a:off x="2181225" y="4295775"/>
              <a:ext cx="1102866" cy="215444"/>
            </a:xfrm>
            <a:prstGeom prst="rect">
              <a:avLst/>
            </a:prstGeom>
            <a:solidFill>
              <a:srgbClr val="FFFFCC"/>
            </a:solidFill>
            <a:ln>
              <a:noFill/>
            </a:ln>
          </p:spPr>
          <p:txBody>
            <a:bodyPr anchorCtr="0" anchor="t" bIns="0" lIns="0" spcFirstLastPara="1" rIns="0" wrap="square" tIns="0">
              <a:spAutoFit/>
            </a:bodyPr>
            <a:lstStyle/>
            <a:p>
              <a:pPr indent="0" lvl="0" marL="0" marR="0" rtl="0" algn="l">
                <a:spcBef>
                  <a:spcPts val="0"/>
                </a:spcBef>
                <a:spcAft>
                  <a:spcPts val="0"/>
                </a:spcAft>
                <a:buNone/>
              </a:pPr>
              <a:r>
                <a:rPr lang="en-US" sz="1400">
                  <a:solidFill>
                    <a:schemeClr val="dk1"/>
                  </a:solidFill>
                  <a:latin typeface="Constantia"/>
                  <a:ea typeface="Constantia"/>
                  <a:cs typeface="Constantia"/>
                  <a:sym typeface="Constantia"/>
                </a:rPr>
                <a:t>&lt;&lt;interface&gt;&gt;</a:t>
              </a:r>
              <a:endParaRPr sz="1400">
                <a:solidFill>
                  <a:schemeClr val="dk1"/>
                </a:solidFill>
                <a:latin typeface="Arial"/>
                <a:ea typeface="Arial"/>
                <a:cs typeface="Arial"/>
                <a:sym typeface="Arial"/>
              </a:endParaRPr>
            </a:p>
          </p:txBody>
        </p:sp>
        <p:cxnSp>
          <p:nvCxnSpPr>
            <p:cNvPr id="340" name="Google Shape;340;p8"/>
            <p:cNvCxnSpPr/>
            <p:nvPr/>
          </p:nvCxnSpPr>
          <p:spPr>
            <a:xfrm rot="10800000">
              <a:off x="4254500" y="4837113"/>
              <a:ext cx="1219200" cy="0"/>
            </a:xfrm>
            <a:prstGeom prst="straightConnector1">
              <a:avLst/>
            </a:prstGeom>
            <a:noFill/>
            <a:ln cap="flat" cmpd="sng" w="12700">
              <a:solidFill>
                <a:schemeClr val="dk1"/>
              </a:solidFill>
              <a:prstDash val="dash"/>
              <a:round/>
              <a:headEnd len="sm" w="sm" type="none"/>
              <a:tailEnd len="med" w="med" type="none"/>
            </a:ln>
          </p:spPr>
        </p:cxnSp>
        <p:sp>
          <p:nvSpPr>
            <p:cNvPr id="341" name="Google Shape;341;p8"/>
            <p:cNvSpPr/>
            <p:nvPr/>
          </p:nvSpPr>
          <p:spPr>
            <a:xfrm rot="-5400000">
              <a:off x="3968750" y="4678363"/>
              <a:ext cx="266700" cy="304800"/>
            </a:xfrm>
            <a:prstGeom prst="triangle">
              <a:avLst>
                <a:gd fmla="val 50000" name="adj"/>
              </a:avLst>
            </a:prstGeom>
            <a:noFill/>
            <a:ln cap="flat" cmpd="sng" w="12700">
              <a:solidFill>
                <a:schemeClr val="dk1"/>
              </a:solidFill>
              <a:prstDash val="solid"/>
              <a:miter lim="800000"/>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342" name="Google Shape;342;p8"/>
            <p:cNvSpPr txBox="1"/>
            <p:nvPr/>
          </p:nvSpPr>
          <p:spPr>
            <a:xfrm>
              <a:off x="1335087" y="5789613"/>
              <a:ext cx="3614599" cy="386003"/>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i="1" lang="en-US" sz="1800">
                  <a:solidFill>
                    <a:srgbClr val="0000FF"/>
                  </a:solidFill>
                  <a:latin typeface="Constantia"/>
                  <a:ea typeface="Constantia"/>
                  <a:cs typeface="Constantia"/>
                  <a:sym typeface="Constantia"/>
                </a:rPr>
                <a:t>Trách nhiệm của giao diện</a:t>
              </a:r>
              <a:endParaRPr i="1" sz="1800">
                <a:solidFill>
                  <a:srgbClr val="0000FF"/>
                </a:solidFill>
                <a:latin typeface="Constantia"/>
                <a:ea typeface="Constantia"/>
                <a:cs typeface="Constantia"/>
                <a:sym typeface="Constantia"/>
              </a:endParaRPr>
            </a:p>
          </p:txBody>
        </p:sp>
        <p:cxnSp>
          <p:nvCxnSpPr>
            <p:cNvPr id="343" name="Google Shape;343;p8"/>
            <p:cNvCxnSpPr/>
            <p:nvPr/>
          </p:nvCxnSpPr>
          <p:spPr>
            <a:xfrm rot="10800000">
              <a:off x="2698750" y="5462588"/>
              <a:ext cx="0" cy="363537"/>
            </a:xfrm>
            <a:prstGeom prst="straightConnector1">
              <a:avLst/>
            </a:prstGeom>
            <a:noFill/>
            <a:ln cap="flat" cmpd="sng" w="44450">
              <a:solidFill>
                <a:schemeClr val="hlink"/>
              </a:solidFill>
              <a:prstDash val="solid"/>
              <a:round/>
              <a:headEnd len="med" w="med" type="none"/>
              <a:tailEnd len="med" w="med" type="triangle"/>
            </a:ln>
          </p:spPr>
        </p:cxn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9"/>
          <p:cNvSpPr txBox="1"/>
          <p:nvPr>
            <p:ph type="title"/>
          </p:nvPr>
        </p:nvSpPr>
        <p:spPr>
          <a:xfrm>
            <a:off x="457200" y="437622"/>
            <a:ext cx="8229600" cy="743700"/>
          </a:xfrm>
          <a:prstGeom prst="rect">
            <a:avLst/>
          </a:prstGeom>
          <a:noFill/>
          <a:ln>
            <a:noFill/>
          </a:ln>
        </p:spPr>
        <p:txBody>
          <a:bodyPr anchorCtr="0" anchor="b" bIns="0" lIns="0" spcFirstLastPara="1" rIns="0" wrap="square" tIns="45700">
            <a:normAutofit/>
          </a:bodyPr>
          <a:lstStyle/>
          <a:p>
            <a:pPr indent="0" lvl="0" marL="0" rtl="0" algn="l">
              <a:lnSpc>
                <a:spcPct val="70000"/>
              </a:lnSpc>
              <a:spcBef>
                <a:spcPts val="0"/>
              </a:spcBef>
              <a:spcAft>
                <a:spcPts val="0"/>
              </a:spcAft>
              <a:buClr>
                <a:schemeClr val="dk2"/>
              </a:buClr>
              <a:buSzPts val="3600"/>
              <a:buFont typeface="Calibri"/>
              <a:buNone/>
            </a:pPr>
            <a:r>
              <a:rPr lang="en-US" sz="3600"/>
              <a:t>Phân phối trách nhiệm của các hệ thống con</a:t>
            </a:r>
            <a:endParaRPr/>
          </a:p>
        </p:txBody>
      </p:sp>
      <p:sp>
        <p:nvSpPr>
          <p:cNvPr id="349" name="Google Shape;349;p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350" name="Google Shape;350;p9"/>
          <p:cNvSpPr txBox="1"/>
          <p:nvPr>
            <p:ph idx="1" type="body"/>
          </p:nvPr>
        </p:nvSpPr>
        <p:spPr>
          <a:xfrm>
            <a:off x="242625" y="1358859"/>
            <a:ext cx="8229600" cy="492960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196"/>
              <a:buChar char="⚫"/>
            </a:pPr>
            <a:r>
              <a:rPr lang="en-US" sz="2312"/>
              <a:t>Xác định phần tử thiết kế mới hoặc tái sử dụng phần tử đã </a:t>
            </a:r>
            <a:endParaRPr sz="2312"/>
          </a:p>
          <a:p>
            <a:pPr indent="0" lvl="0" marL="0" rtl="0" algn="l">
              <a:lnSpc>
                <a:spcPct val="100000"/>
              </a:lnSpc>
              <a:spcBef>
                <a:spcPts val="0"/>
              </a:spcBef>
              <a:spcAft>
                <a:spcPts val="0"/>
              </a:spcAft>
              <a:buNone/>
            </a:pPr>
            <a:r>
              <a:rPr lang="en-US" sz="2312"/>
              <a:t>    tồn tại (ví dụ, các lớp và/hoặc hệ thống con)</a:t>
            </a:r>
            <a:endParaRPr sz="2312"/>
          </a:p>
          <a:p>
            <a:pPr indent="-274320" lvl="0" marL="274320" rtl="0" algn="l">
              <a:lnSpc>
                <a:spcPct val="100000"/>
              </a:lnSpc>
              <a:spcBef>
                <a:spcPts val="462"/>
              </a:spcBef>
              <a:spcAft>
                <a:spcPts val="0"/>
              </a:spcAft>
              <a:buSzPts val="2196"/>
              <a:buChar char="⚫"/>
            </a:pPr>
            <a:r>
              <a:rPr lang="en-US" sz="2312"/>
              <a:t>Phân phối các trách nhiệm của hệ thống con tới các phần tử</a:t>
            </a:r>
            <a:endParaRPr sz="2312"/>
          </a:p>
          <a:p>
            <a:pPr indent="0" lvl="0" marL="274320" rtl="0" algn="l">
              <a:lnSpc>
                <a:spcPct val="100000"/>
              </a:lnSpc>
              <a:spcBef>
                <a:spcPts val="462"/>
              </a:spcBef>
              <a:spcAft>
                <a:spcPts val="0"/>
              </a:spcAft>
              <a:buNone/>
            </a:pPr>
            <a:r>
              <a:rPr lang="en-US" sz="2312"/>
              <a:t> thiết kế</a:t>
            </a:r>
            <a:endParaRPr sz="2312"/>
          </a:p>
          <a:p>
            <a:pPr indent="-274320" lvl="0" marL="274320" rtl="0" algn="l">
              <a:lnSpc>
                <a:spcPct val="100000"/>
              </a:lnSpc>
              <a:spcBef>
                <a:spcPts val="462"/>
              </a:spcBef>
              <a:spcAft>
                <a:spcPts val="0"/>
              </a:spcAft>
              <a:buSzPts val="2196"/>
              <a:buChar char="⚫"/>
            </a:pPr>
            <a:r>
              <a:rPr lang="en-US" sz="2312"/>
              <a:t>Phối hợp các cơ chế có thể áp dụng được (ví dụ, lưu trữ bền</a:t>
            </a:r>
            <a:endParaRPr sz="2312"/>
          </a:p>
          <a:p>
            <a:pPr indent="0" lvl="0" marL="274320" rtl="0" algn="l">
              <a:lnSpc>
                <a:spcPct val="100000"/>
              </a:lnSpc>
              <a:spcBef>
                <a:spcPts val="462"/>
              </a:spcBef>
              <a:spcAft>
                <a:spcPts val="0"/>
              </a:spcAft>
              <a:buNone/>
            </a:pPr>
            <a:r>
              <a:rPr lang="en-US" sz="2312"/>
              <a:t> vững, phân tán)</a:t>
            </a:r>
            <a:endParaRPr sz="2312"/>
          </a:p>
          <a:p>
            <a:pPr indent="-274320" lvl="0" marL="274320" rtl="0" algn="l">
              <a:lnSpc>
                <a:spcPct val="100000"/>
              </a:lnSpc>
              <a:spcBef>
                <a:spcPts val="462"/>
              </a:spcBef>
              <a:spcAft>
                <a:spcPts val="0"/>
              </a:spcAft>
              <a:buSzPts val="2196"/>
              <a:buChar char="⚫"/>
            </a:pPr>
            <a:r>
              <a:rPr lang="en-US" sz="2312"/>
              <a:t>Làm tài liệu sự cộng tác các phần tử thiết kế trong “các hiện thực hóa giao diện”</a:t>
            </a:r>
            <a:endParaRPr sz="1942"/>
          </a:p>
          <a:p>
            <a:pPr indent="-343865" lvl="1" marL="685800" rtl="0" algn="l">
              <a:lnSpc>
                <a:spcPct val="100000"/>
              </a:lnSpc>
              <a:spcBef>
                <a:spcPts val="462"/>
              </a:spcBef>
              <a:spcAft>
                <a:spcPts val="0"/>
              </a:spcAft>
              <a:buSzPts val="1965"/>
              <a:buChar char="⚫"/>
            </a:pPr>
            <a:r>
              <a:rPr lang="en-US" sz="2312"/>
              <a:t>Lược đồ lớp chứa đựng các mối quan hệ của các phần tử </a:t>
            </a:r>
            <a:r>
              <a:rPr lang="en-US" sz="2312"/>
              <a:t>thiết</a:t>
            </a:r>
            <a:r>
              <a:rPr lang="en-US" sz="2312"/>
              <a:t> kế cần thiết</a:t>
            </a:r>
            <a:endParaRPr sz="2312"/>
          </a:p>
          <a:p>
            <a:pPr indent="-274523" lvl="1" marL="640080" rtl="0" algn="l">
              <a:lnSpc>
                <a:spcPct val="100000"/>
              </a:lnSpc>
              <a:spcBef>
                <a:spcPts val="388"/>
              </a:spcBef>
              <a:spcAft>
                <a:spcPts val="0"/>
              </a:spcAft>
              <a:buSzPts val="1965"/>
              <a:buChar char="⚫"/>
            </a:pPr>
            <a:r>
              <a:rPr lang="en-US" sz="1942"/>
              <a:t>Một hoặc nhiều lược đồ tương tác trên mỗi hoạt động của giao diện</a:t>
            </a:r>
            <a:endParaRPr sz="1942"/>
          </a:p>
          <a:p>
            <a:pPr indent="-274320" lvl="0" marL="274320" rtl="0" algn="l">
              <a:lnSpc>
                <a:spcPct val="100000"/>
              </a:lnSpc>
              <a:spcBef>
                <a:spcPts val="462"/>
              </a:spcBef>
              <a:spcAft>
                <a:spcPts val="0"/>
              </a:spcAft>
              <a:buSzPts val="2196"/>
              <a:buChar char="⚫"/>
            </a:pPr>
            <a:r>
              <a:rPr lang="en-US" sz="2312"/>
              <a:t>Xem lại “Xác định các phần tử thiết kế”</a:t>
            </a:r>
            <a:endParaRPr/>
          </a:p>
          <a:p>
            <a:pPr indent="-342900" lvl="1" marL="798513" rtl="0" algn="l">
              <a:lnSpc>
                <a:spcPct val="100000"/>
              </a:lnSpc>
              <a:spcBef>
                <a:spcPts val="462"/>
              </a:spcBef>
              <a:spcAft>
                <a:spcPts val="0"/>
              </a:spcAft>
              <a:buSzPts val="1965"/>
              <a:buChar char="⚫"/>
            </a:pPr>
            <a:r>
              <a:rPr lang="en-US" sz="2312"/>
              <a:t>Điều chỉnh biên của các hệ thống con và sự phụ thuộc, cũng như những thứ cần thiết khác</a:t>
            </a:r>
            <a:endParaRPr sz="2312"/>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10"/>
          <p:cNvSpPr txBox="1"/>
          <p:nvPr>
            <p:ph type="title"/>
          </p:nvPr>
        </p:nvSpPr>
        <p:spPr>
          <a:xfrm>
            <a:off x="152400" y="704088"/>
            <a:ext cx="8991600" cy="743712"/>
          </a:xfrm>
          <a:prstGeom prst="rect">
            <a:avLst/>
          </a:prstGeom>
          <a:noFill/>
          <a:ln>
            <a:noFill/>
          </a:ln>
        </p:spPr>
        <p:txBody>
          <a:bodyPr anchorCtr="0" anchor="b" bIns="0" lIns="0" spcFirstLastPara="1" rIns="0" wrap="square" tIns="45700">
            <a:normAutofit/>
          </a:bodyPr>
          <a:lstStyle/>
          <a:p>
            <a:pPr indent="0" lvl="0" marL="0" rtl="0" algn="l">
              <a:lnSpc>
                <a:spcPct val="70000"/>
              </a:lnSpc>
              <a:spcBef>
                <a:spcPts val="0"/>
              </a:spcBef>
              <a:spcAft>
                <a:spcPts val="0"/>
              </a:spcAft>
              <a:buClr>
                <a:schemeClr val="dk2"/>
              </a:buClr>
              <a:buSzPts val="3600"/>
              <a:buFont typeface="Calibri"/>
              <a:buNone/>
            </a:pPr>
            <a:r>
              <a:rPr lang="en-US" sz="3600"/>
              <a:t>Qui tắc mô hình hóa: Các lược đồ tương tác hệ thống con</a:t>
            </a:r>
            <a:endParaRPr sz="3600"/>
          </a:p>
        </p:txBody>
      </p:sp>
      <p:sp>
        <p:nvSpPr>
          <p:cNvPr id="356" name="Google Shape;356;p1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pSp>
        <p:nvGrpSpPr>
          <p:cNvPr id="357" name="Google Shape;357;p10"/>
          <p:cNvGrpSpPr/>
          <p:nvPr/>
        </p:nvGrpSpPr>
        <p:grpSpPr>
          <a:xfrm>
            <a:off x="296863" y="1597082"/>
            <a:ext cx="8351837" cy="5260918"/>
            <a:chOff x="350838" y="1317625"/>
            <a:chExt cx="8351837" cy="5260918"/>
          </a:xfrm>
        </p:grpSpPr>
        <p:cxnSp>
          <p:nvCxnSpPr>
            <p:cNvPr id="358" name="Google Shape;358;p10"/>
            <p:cNvCxnSpPr/>
            <p:nvPr/>
          </p:nvCxnSpPr>
          <p:spPr>
            <a:xfrm>
              <a:off x="5014913" y="1778000"/>
              <a:ext cx="0" cy="676275"/>
            </a:xfrm>
            <a:prstGeom prst="straightConnector1">
              <a:avLst/>
            </a:prstGeom>
            <a:noFill/>
            <a:ln cap="flat" cmpd="sng" w="12700">
              <a:solidFill>
                <a:schemeClr val="dk1"/>
              </a:solidFill>
              <a:prstDash val="dash"/>
              <a:round/>
              <a:headEnd len="med" w="med" type="none"/>
              <a:tailEnd len="med" w="med" type="none"/>
            </a:ln>
          </p:spPr>
        </p:cxnSp>
        <p:sp>
          <p:nvSpPr>
            <p:cNvPr id="359" name="Google Shape;359;p10"/>
            <p:cNvSpPr/>
            <p:nvPr/>
          </p:nvSpPr>
          <p:spPr>
            <a:xfrm>
              <a:off x="6894513" y="2022475"/>
              <a:ext cx="371475" cy="2895600"/>
            </a:xfrm>
            <a:prstGeom prst="rightBrace">
              <a:avLst>
                <a:gd fmla="val 64957" name="adj1"/>
                <a:gd fmla="val 50000" name="adj2"/>
              </a:avLst>
            </a:prstGeom>
            <a:noFill/>
            <a:ln cap="flat" cmpd="sng" w="28575">
              <a:solidFill>
                <a:schemeClr val="hlink"/>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360" name="Google Shape;360;p10"/>
            <p:cNvSpPr txBox="1"/>
            <p:nvPr/>
          </p:nvSpPr>
          <p:spPr>
            <a:xfrm>
              <a:off x="7332663" y="3035300"/>
              <a:ext cx="1370012" cy="132343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600">
                  <a:solidFill>
                    <a:schemeClr val="hlink"/>
                  </a:solidFill>
                  <a:latin typeface="Constantia"/>
                  <a:ea typeface="Constantia"/>
                  <a:cs typeface="Constantia"/>
                  <a:sym typeface="Constantia"/>
                </a:rPr>
                <a:t>Những tương tác bên trong hệ thống con</a:t>
              </a:r>
              <a:endParaRPr b="1" i="1" sz="1600">
                <a:solidFill>
                  <a:schemeClr val="hlink"/>
                </a:solidFill>
                <a:latin typeface="Constantia"/>
                <a:ea typeface="Constantia"/>
                <a:cs typeface="Constantia"/>
                <a:sym typeface="Constantia"/>
              </a:endParaRPr>
            </a:p>
          </p:txBody>
        </p:sp>
        <p:sp>
          <p:nvSpPr>
            <p:cNvPr id="361" name="Google Shape;361;p10"/>
            <p:cNvSpPr txBox="1"/>
            <p:nvPr/>
          </p:nvSpPr>
          <p:spPr>
            <a:xfrm>
              <a:off x="350838" y="2681288"/>
              <a:ext cx="1547812" cy="830997"/>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i="1" lang="en-US" sz="1600">
                  <a:solidFill>
                    <a:srgbClr val="0000FF"/>
                  </a:solidFill>
                  <a:latin typeface="Constantia"/>
                  <a:ea typeface="Constantia"/>
                  <a:cs typeface="Constantia"/>
                  <a:sym typeface="Constantia"/>
                </a:rPr>
                <a:t>Trách nhiệm của hệ thống con</a:t>
              </a:r>
              <a:endParaRPr b="1" i="1" sz="1600">
                <a:solidFill>
                  <a:srgbClr val="0000FF"/>
                </a:solidFill>
                <a:latin typeface="Constantia"/>
                <a:ea typeface="Constantia"/>
                <a:cs typeface="Constantia"/>
                <a:sym typeface="Constantia"/>
              </a:endParaRPr>
            </a:p>
          </p:txBody>
        </p:sp>
        <p:cxnSp>
          <p:nvCxnSpPr>
            <p:cNvPr id="362" name="Google Shape;362;p10"/>
            <p:cNvCxnSpPr/>
            <p:nvPr/>
          </p:nvCxnSpPr>
          <p:spPr>
            <a:xfrm flipH="1" rot="10800000">
              <a:off x="1303338" y="2192338"/>
              <a:ext cx="498475" cy="495300"/>
            </a:xfrm>
            <a:prstGeom prst="straightConnector1">
              <a:avLst/>
            </a:prstGeom>
            <a:noFill/>
            <a:ln cap="flat" cmpd="sng" w="28575">
              <a:solidFill>
                <a:schemeClr val="hlink"/>
              </a:solidFill>
              <a:prstDash val="solid"/>
              <a:round/>
              <a:headEnd len="sm" w="sm" type="none"/>
              <a:tailEnd len="med" w="med" type="triangle"/>
            </a:ln>
          </p:spPr>
        </p:cxnSp>
        <p:sp>
          <p:nvSpPr>
            <p:cNvPr id="363" name="Google Shape;363;p10"/>
            <p:cNvSpPr/>
            <p:nvPr/>
          </p:nvSpPr>
          <p:spPr>
            <a:xfrm>
              <a:off x="1457325" y="1322388"/>
              <a:ext cx="1119188" cy="458787"/>
            </a:xfrm>
            <a:prstGeom prst="rect">
              <a:avLst/>
            </a:prstGeom>
            <a:noFill/>
            <a:ln cap="flat" cmpd="sng" w="12700">
              <a:solidFill>
                <a:srgbClr val="C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364" name="Google Shape;364;p10"/>
            <p:cNvSpPr/>
            <p:nvPr/>
          </p:nvSpPr>
          <p:spPr>
            <a:xfrm>
              <a:off x="1571625" y="1339850"/>
              <a:ext cx="886461" cy="430887"/>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400" u="sng">
                  <a:solidFill>
                    <a:schemeClr val="dk1"/>
                  </a:solidFill>
                  <a:latin typeface="Constantia"/>
                  <a:ea typeface="Constantia"/>
                  <a:cs typeface="Constantia"/>
                  <a:sym typeface="Constantia"/>
                </a:rPr>
                <a:t>Subsystem</a:t>
              </a:r>
              <a:endParaRPr/>
            </a:p>
            <a:p>
              <a:pPr indent="0" lvl="0" marL="0" marR="0" rtl="0" algn="ctr">
                <a:spcBef>
                  <a:spcPts val="0"/>
                </a:spcBef>
                <a:spcAft>
                  <a:spcPts val="0"/>
                </a:spcAft>
                <a:buNone/>
              </a:pPr>
              <a:r>
                <a:rPr lang="en-US" sz="1400" u="sng">
                  <a:solidFill>
                    <a:schemeClr val="dk1"/>
                  </a:solidFill>
                  <a:latin typeface="Constantia"/>
                  <a:ea typeface="Constantia"/>
                  <a:cs typeface="Constantia"/>
                  <a:sym typeface="Constantia"/>
                </a:rPr>
                <a:t>Client</a:t>
              </a:r>
              <a:endParaRPr sz="1400">
                <a:solidFill>
                  <a:schemeClr val="dk1"/>
                </a:solidFill>
                <a:latin typeface="Arial"/>
                <a:ea typeface="Arial"/>
                <a:cs typeface="Arial"/>
                <a:sym typeface="Arial"/>
              </a:endParaRPr>
            </a:p>
          </p:txBody>
        </p:sp>
        <p:cxnSp>
          <p:nvCxnSpPr>
            <p:cNvPr id="365" name="Google Shape;365;p10"/>
            <p:cNvCxnSpPr/>
            <p:nvPr/>
          </p:nvCxnSpPr>
          <p:spPr>
            <a:xfrm>
              <a:off x="2016125" y="1781175"/>
              <a:ext cx="0" cy="466725"/>
            </a:xfrm>
            <a:prstGeom prst="straightConnector1">
              <a:avLst/>
            </a:prstGeom>
            <a:noFill/>
            <a:ln cap="flat" cmpd="sng" w="12700">
              <a:solidFill>
                <a:schemeClr val="dk1"/>
              </a:solidFill>
              <a:prstDash val="dash"/>
              <a:round/>
              <a:headEnd len="med" w="med" type="none"/>
              <a:tailEnd len="med" w="med" type="none"/>
            </a:ln>
          </p:spPr>
        </p:cxnSp>
        <p:sp>
          <p:nvSpPr>
            <p:cNvPr id="366" name="Google Shape;366;p10"/>
            <p:cNvSpPr/>
            <p:nvPr/>
          </p:nvSpPr>
          <p:spPr>
            <a:xfrm>
              <a:off x="1976438" y="2246313"/>
              <a:ext cx="82550" cy="2741612"/>
            </a:xfrm>
            <a:prstGeom prst="rect">
              <a:avLst/>
            </a:prstGeom>
            <a:noFill/>
            <a:ln cap="flat" cmpd="sng" w="12700">
              <a:solidFill>
                <a:srgbClr val="C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367" name="Google Shape;367;p10"/>
            <p:cNvCxnSpPr/>
            <p:nvPr/>
          </p:nvCxnSpPr>
          <p:spPr>
            <a:xfrm>
              <a:off x="2019300" y="5013325"/>
              <a:ext cx="0" cy="523875"/>
            </a:xfrm>
            <a:prstGeom prst="straightConnector1">
              <a:avLst/>
            </a:prstGeom>
            <a:noFill/>
            <a:ln cap="flat" cmpd="sng" w="12700">
              <a:solidFill>
                <a:schemeClr val="dk1"/>
              </a:solidFill>
              <a:prstDash val="dash"/>
              <a:round/>
              <a:headEnd len="med" w="med" type="none"/>
              <a:tailEnd len="med" w="med" type="none"/>
            </a:ln>
          </p:spPr>
        </p:cxnSp>
        <p:sp>
          <p:nvSpPr>
            <p:cNvPr id="368" name="Google Shape;368;p10"/>
            <p:cNvSpPr/>
            <p:nvPr/>
          </p:nvSpPr>
          <p:spPr>
            <a:xfrm>
              <a:off x="2954338" y="1317625"/>
              <a:ext cx="1119187" cy="458788"/>
            </a:xfrm>
            <a:prstGeom prst="rect">
              <a:avLst/>
            </a:prstGeom>
            <a:noFill/>
            <a:ln cap="flat" cmpd="sng" w="12700">
              <a:solidFill>
                <a:srgbClr val="C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369" name="Google Shape;369;p10"/>
            <p:cNvSpPr/>
            <p:nvPr/>
          </p:nvSpPr>
          <p:spPr>
            <a:xfrm>
              <a:off x="3065463" y="1335088"/>
              <a:ext cx="886461" cy="430887"/>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400" u="sng">
                  <a:solidFill>
                    <a:schemeClr val="dk1"/>
                  </a:solidFill>
                  <a:latin typeface="Constantia"/>
                  <a:ea typeface="Constantia"/>
                  <a:cs typeface="Constantia"/>
                  <a:sym typeface="Constantia"/>
                </a:rPr>
                <a:t>Subsystem</a:t>
              </a:r>
              <a:endParaRPr/>
            </a:p>
            <a:p>
              <a:pPr indent="0" lvl="0" marL="0" marR="0" rtl="0" algn="ctr">
                <a:spcBef>
                  <a:spcPts val="0"/>
                </a:spcBef>
                <a:spcAft>
                  <a:spcPts val="0"/>
                </a:spcAft>
                <a:buNone/>
              </a:pPr>
              <a:r>
                <a:rPr lang="en-US" sz="1400" u="sng">
                  <a:solidFill>
                    <a:schemeClr val="dk1"/>
                  </a:solidFill>
                  <a:latin typeface="Constantia"/>
                  <a:ea typeface="Constantia"/>
                  <a:cs typeface="Constantia"/>
                  <a:sym typeface="Constantia"/>
                </a:rPr>
                <a:t>Proxy</a:t>
              </a:r>
              <a:endParaRPr sz="1400">
                <a:solidFill>
                  <a:schemeClr val="dk1"/>
                </a:solidFill>
                <a:latin typeface="Arial"/>
                <a:ea typeface="Arial"/>
                <a:cs typeface="Arial"/>
                <a:sym typeface="Arial"/>
              </a:endParaRPr>
            </a:p>
          </p:txBody>
        </p:sp>
        <p:sp>
          <p:nvSpPr>
            <p:cNvPr id="370" name="Google Shape;370;p10"/>
            <p:cNvSpPr/>
            <p:nvPr/>
          </p:nvSpPr>
          <p:spPr>
            <a:xfrm>
              <a:off x="4452938" y="1317625"/>
              <a:ext cx="1119187" cy="458788"/>
            </a:xfrm>
            <a:prstGeom prst="rect">
              <a:avLst/>
            </a:prstGeom>
            <a:noFill/>
            <a:ln cap="flat" cmpd="sng" w="12700">
              <a:solidFill>
                <a:srgbClr val="C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371" name="Google Shape;371;p10"/>
            <p:cNvSpPr/>
            <p:nvPr/>
          </p:nvSpPr>
          <p:spPr>
            <a:xfrm>
              <a:off x="4640263" y="1335088"/>
              <a:ext cx="756617" cy="430887"/>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400" u="sng">
                  <a:solidFill>
                    <a:schemeClr val="dk1"/>
                  </a:solidFill>
                  <a:latin typeface="Constantia"/>
                  <a:ea typeface="Constantia"/>
                  <a:cs typeface="Constantia"/>
                  <a:sym typeface="Constantia"/>
                </a:rPr>
                <a:t>Design</a:t>
              </a:r>
              <a:endParaRPr/>
            </a:p>
            <a:p>
              <a:pPr indent="0" lvl="0" marL="0" marR="0" rtl="0" algn="ctr">
                <a:spcBef>
                  <a:spcPts val="0"/>
                </a:spcBef>
                <a:spcAft>
                  <a:spcPts val="0"/>
                </a:spcAft>
                <a:buNone/>
              </a:pPr>
              <a:r>
                <a:rPr lang="en-US" sz="1400" u="sng">
                  <a:solidFill>
                    <a:schemeClr val="dk1"/>
                  </a:solidFill>
                  <a:latin typeface="Constantia"/>
                  <a:ea typeface="Constantia"/>
                  <a:cs typeface="Constantia"/>
                  <a:sym typeface="Constantia"/>
                </a:rPr>
                <a:t>Element1</a:t>
              </a:r>
              <a:endParaRPr sz="1400">
                <a:solidFill>
                  <a:schemeClr val="dk1"/>
                </a:solidFill>
                <a:latin typeface="Arial"/>
                <a:ea typeface="Arial"/>
                <a:cs typeface="Arial"/>
                <a:sym typeface="Arial"/>
              </a:endParaRPr>
            </a:p>
          </p:txBody>
        </p:sp>
        <p:sp>
          <p:nvSpPr>
            <p:cNvPr id="372" name="Google Shape;372;p10"/>
            <p:cNvSpPr/>
            <p:nvPr/>
          </p:nvSpPr>
          <p:spPr>
            <a:xfrm>
              <a:off x="5948363" y="1317625"/>
              <a:ext cx="1119187" cy="458788"/>
            </a:xfrm>
            <a:prstGeom prst="rect">
              <a:avLst/>
            </a:prstGeom>
            <a:noFill/>
            <a:ln cap="flat" cmpd="sng" w="12700">
              <a:solidFill>
                <a:srgbClr val="C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373" name="Google Shape;373;p10"/>
            <p:cNvSpPr/>
            <p:nvPr/>
          </p:nvSpPr>
          <p:spPr>
            <a:xfrm>
              <a:off x="6135688" y="1335088"/>
              <a:ext cx="756617" cy="430887"/>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400" u="sng">
                  <a:solidFill>
                    <a:schemeClr val="dk1"/>
                  </a:solidFill>
                  <a:latin typeface="Constantia"/>
                  <a:ea typeface="Constantia"/>
                  <a:cs typeface="Constantia"/>
                  <a:sym typeface="Constantia"/>
                </a:rPr>
                <a:t>Design</a:t>
              </a:r>
              <a:endParaRPr/>
            </a:p>
            <a:p>
              <a:pPr indent="0" lvl="0" marL="0" marR="0" rtl="0" algn="ctr">
                <a:spcBef>
                  <a:spcPts val="0"/>
                </a:spcBef>
                <a:spcAft>
                  <a:spcPts val="0"/>
                </a:spcAft>
                <a:buNone/>
              </a:pPr>
              <a:r>
                <a:rPr lang="en-US" sz="1400" u="sng">
                  <a:solidFill>
                    <a:schemeClr val="dk1"/>
                  </a:solidFill>
                  <a:latin typeface="Constantia"/>
                  <a:ea typeface="Constantia"/>
                  <a:cs typeface="Constantia"/>
                  <a:sym typeface="Constantia"/>
                </a:rPr>
                <a:t>Element2</a:t>
              </a:r>
              <a:endParaRPr sz="1400">
                <a:solidFill>
                  <a:schemeClr val="dk1"/>
                </a:solidFill>
                <a:latin typeface="Arial"/>
                <a:ea typeface="Arial"/>
                <a:cs typeface="Arial"/>
                <a:sym typeface="Arial"/>
              </a:endParaRPr>
            </a:p>
          </p:txBody>
        </p:sp>
        <p:cxnSp>
          <p:nvCxnSpPr>
            <p:cNvPr id="374" name="Google Shape;374;p10"/>
            <p:cNvCxnSpPr/>
            <p:nvPr/>
          </p:nvCxnSpPr>
          <p:spPr>
            <a:xfrm>
              <a:off x="3514725" y="1778000"/>
              <a:ext cx="0" cy="482600"/>
            </a:xfrm>
            <a:prstGeom prst="straightConnector1">
              <a:avLst/>
            </a:prstGeom>
            <a:noFill/>
            <a:ln cap="flat" cmpd="sng" w="12700">
              <a:solidFill>
                <a:schemeClr val="dk1"/>
              </a:solidFill>
              <a:prstDash val="dash"/>
              <a:round/>
              <a:headEnd len="med" w="med" type="none"/>
              <a:tailEnd len="med" w="med" type="none"/>
            </a:ln>
          </p:spPr>
        </p:cxnSp>
        <p:sp>
          <p:nvSpPr>
            <p:cNvPr id="375" name="Google Shape;375;p10"/>
            <p:cNvSpPr/>
            <p:nvPr/>
          </p:nvSpPr>
          <p:spPr>
            <a:xfrm>
              <a:off x="3475038" y="2259013"/>
              <a:ext cx="82550" cy="2514600"/>
            </a:xfrm>
            <a:prstGeom prst="rect">
              <a:avLst/>
            </a:prstGeom>
            <a:noFill/>
            <a:ln cap="flat" cmpd="sng" w="12700">
              <a:solidFill>
                <a:srgbClr val="C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376" name="Google Shape;376;p10"/>
            <p:cNvCxnSpPr/>
            <p:nvPr/>
          </p:nvCxnSpPr>
          <p:spPr>
            <a:xfrm>
              <a:off x="3517900" y="4772025"/>
              <a:ext cx="0" cy="765175"/>
            </a:xfrm>
            <a:prstGeom prst="straightConnector1">
              <a:avLst/>
            </a:prstGeom>
            <a:noFill/>
            <a:ln cap="flat" cmpd="sng" w="12700">
              <a:solidFill>
                <a:schemeClr val="dk1"/>
              </a:solidFill>
              <a:prstDash val="dash"/>
              <a:round/>
              <a:headEnd len="med" w="med" type="none"/>
              <a:tailEnd len="med" w="med" type="none"/>
            </a:ln>
          </p:spPr>
        </p:cxnSp>
        <p:sp>
          <p:nvSpPr>
            <p:cNvPr id="377" name="Google Shape;377;p10"/>
            <p:cNvSpPr/>
            <p:nvPr/>
          </p:nvSpPr>
          <p:spPr>
            <a:xfrm>
              <a:off x="4973638" y="2449513"/>
              <a:ext cx="82550" cy="274637"/>
            </a:xfrm>
            <a:prstGeom prst="rect">
              <a:avLst/>
            </a:prstGeom>
            <a:noFill/>
            <a:ln cap="flat" cmpd="sng" w="12700">
              <a:solidFill>
                <a:srgbClr val="C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378" name="Google Shape;378;p10"/>
            <p:cNvCxnSpPr/>
            <p:nvPr/>
          </p:nvCxnSpPr>
          <p:spPr>
            <a:xfrm>
              <a:off x="5014913" y="4022725"/>
              <a:ext cx="0" cy="1514475"/>
            </a:xfrm>
            <a:prstGeom prst="straightConnector1">
              <a:avLst/>
            </a:prstGeom>
            <a:noFill/>
            <a:ln cap="flat" cmpd="sng" w="12700">
              <a:solidFill>
                <a:schemeClr val="dk1"/>
              </a:solidFill>
              <a:prstDash val="dash"/>
              <a:round/>
              <a:headEnd len="med" w="med" type="none"/>
              <a:tailEnd len="med" w="med" type="none"/>
            </a:ln>
          </p:spPr>
        </p:cxnSp>
        <p:sp>
          <p:nvSpPr>
            <p:cNvPr id="379" name="Google Shape;379;p10"/>
            <p:cNvSpPr/>
            <p:nvPr/>
          </p:nvSpPr>
          <p:spPr>
            <a:xfrm>
              <a:off x="4973638" y="3719513"/>
              <a:ext cx="82550" cy="274637"/>
            </a:xfrm>
            <a:prstGeom prst="rect">
              <a:avLst/>
            </a:prstGeom>
            <a:noFill/>
            <a:ln cap="flat" cmpd="sng" w="12700">
              <a:solidFill>
                <a:srgbClr val="C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380" name="Google Shape;380;p10"/>
            <p:cNvCxnSpPr/>
            <p:nvPr/>
          </p:nvCxnSpPr>
          <p:spPr>
            <a:xfrm>
              <a:off x="5014913" y="2803525"/>
              <a:ext cx="0" cy="927100"/>
            </a:xfrm>
            <a:prstGeom prst="straightConnector1">
              <a:avLst/>
            </a:prstGeom>
            <a:noFill/>
            <a:ln cap="flat" cmpd="sng" w="12700">
              <a:solidFill>
                <a:schemeClr val="dk1"/>
              </a:solidFill>
              <a:prstDash val="dash"/>
              <a:round/>
              <a:headEnd len="med" w="med" type="none"/>
              <a:tailEnd len="med" w="med" type="none"/>
            </a:ln>
          </p:spPr>
        </p:cxnSp>
        <p:cxnSp>
          <p:nvCxnSpPr>
            <p:cNvPr id="381" name="Google Shape;381;p10"/>
            <p:cNvCxnSpPr/>
            <p:nvPr/>
          </p:nvCxnSpPr>
          <p:spPr>
            <a:xfrm>
              <a:off x="6513513" y="1782763"/>
              <a:ext cx="0" cy="1290637"/>
            </a:xfrm>
            <a:prstGeom prst="straightConnector1">
              <a:avLst/>
            </a:prstGeom>
            <a:noFill/>
            <a:ln cap="flat" cmpd="sng" w="12700">
              <a:solidFill>
                <a:schemeClr val="dk1"/>
              </a:solidFill>
              <a:prstDash val="dash"/>
              <a:round/>
              <a:headEnd len="med" w="med" type="none"/>
              <a:tailEnd len="med" w="med" type="none"/>
            </a:ln>
          </p:spPr>
        </p:cxnSp>
        <p:sp>
          <p:nvSpPr>
            <p:cNvPr id="382" name="Google Shape;382;p10"/>
            <p:cNvSpPr/>
            <p:nvPr/>
          </p:nvSpPr>
          <p:spPr>
            <a:xfrm>
              <a:off x="6472238" y="3084513"/>
              <a:ext cx="82550" cy="274637"/>
            </a:xfrm>
            <a:prstGeom prst="rect">
              <a:avLst/>
            </a:prstGeom>
            <a:noFill/>
            <a:ln cap="flat" cmpd="sng" w="12700">
              <a:solidFill>
                <a:srgbClr val="C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383" name="Google Shape;383;p10"/>
            <p:cNvCxnSpPr/>
            <p:nvPr/>
          </p:nvCxnSpPr>
          <p:spPr>
            <a:xfrm>
              <a:off x="6513513" y="4648200"/>
              <a:ext cx="0" cy="889000"/>
            </a:xfrm>
            <a:prstGeom prst="straightConnector1">
              <a:avLst/>
            </a:prstGeom>
            <a:noFill/>
            <a:ln cap="flat" cmpd="sng" w="12700">
              <a:solidFill>
                <a:schemeClr val="dk1"/>
              </a:solidFill>
              <a:prstDash val="dash"/>
              <a:round/>
              <a:headEnd len="med" w="med" type="none"/>
              <a:tailEnd len="med" w="med" type="none"/>
            </a:ln>
          </p:spPr>
        </p:cxnSp>
        <p:sp>
          <p:nvSpPr>
            <p:cNvPr id="384" name="Google Shape;384;p10"/>
            <p:cNvSpPr/>
            <p:nvPr/>
          </p:nvSpPr>
          <p:spPr>
            <a:xfrm>
              <a:off x="6472238" y="4354513"/>
              <a:ext cx="82550" cy="274637"/>
            </a:xfrm>
            <a:prstGeom prst="rect">
              <a:avLst/>
            </a:prstGeom>
            <a:noFill/>
            <a:ln cap="flat" cmpd="sng" w="12700">
              <a:solidFill>
                <a:srgbClr val="C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385" name="Google Shape;385;p10"/>
            <p:cNvCxnSpPr/>
            <p:nvPr/>
          </p:nvCxnSpPr>
          <p:spPr>
            <a:xfrm>
              <a:off x="6513513" y="3371850"/>
              <a:ext cx="0" cy="984250"/>
            </a:xfrm>
            <a:prstGeom prst="straightConnector1">
              <a:avLst/>
            </a:prstGeom>
            <a:noFill/>
            <a:ln cap="flat" cmpd="sng" w="12700">
              <a:solidFill>
                <a:schemeClr val="dk1"/>
              </a:solidFill>
              <a:prstDash val="dash"/>
              <a:round/>
              <a:headEnd len="med" w="med" type="none"/>
              <a:tailEnd len="med" w="med" type="none"/>
            </a:ln>
          </p:spPr>
        </p:cxnSp>
        <p:sp>
          <p:nvSpPr>
            <p:cNvPr id="386" name="Google Shape;386;p10"/>
            <p:cNvSpPr/>
            <p:nvPr/>
          </p:nvSpPr>
          <p:spPr>
            <a:xfrm>
              <a:off x="1817700" y="1966918"/>
              <a:ext cx="21342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performResponsibility( )</a:t>
              </a:r>
              <a:endParaRPr/>
            </a:p>
          </p:txBody>
        </p:sp>
        <p:sp>
          <p:nvSpPr>
            <p:cNvPr id="387" name="Google Shape;387;p10"/>
            <p:cNvSpPr/>
            <p:nvPr/>
          </p:nvSpPr>
          <p:spPr>
            <a:xfrm>
              <a:off x="4116408" y="2157418"/>
              <a:ext cx="647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Op1( )</a:t>
              </a:r>
              <a:endParaRPr sz="1200">
                <a:solidFill>
                  <a:schemeClr val="dk1"/>
                </a:solidFill>
                <a:latin typeface="Arial"/>
                <a:ea typeface="Arial"/>
                <a:cs typeface="Arial"/>
                <a:sym typeface="Arial"/>
              </a:endParaRPr>
            </a:p>
          </p:txBody>
        </p:sp>
        <p:sp>
          <p:nvSpPr>
            <p:cNvPr id="388" name="Google Shape;388;p10"/>
            <p:cNvSpPr/>
            <p:nvPr/>
          </p:nvSpPr>
          <p:spPr>
            <a:xfrm>
              <a:off x="4116407" y="3427418"/>
              <a:ext cx="6075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Op3( )</a:t>
              </a:r>
              <a:endParaRPr sz="1200">
                <a:solidFill>
                  <a:schemeClr val="dk1"/>
                </a:solidFill>
                <a:latin typeface="Arial"/>
                <a:ea typeface="Arial"/>
                <a:cs typeface="Arial"/>
                <a:sym typeface="Arial"/>
              </a:endParaRPr>
            </a:p>
          </p:txBody>
        </p:sp>
        <p:sp>
          <p:nvSpPr>
            <p:cNvPr id="389" name="Google Shape;389;p10"/>
            <p:cNvSpPr/>
            <p:nvPr/>
          </p:nvSpPr>
          <p:spPr>
            <a:xfrm>
              <a:off x="4789507" y="2814643"/>
              <a:ext cx="6075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Op2( )</a:t>
              </a:r>
              <a:endParaRPr sz="1200">
                <a:solidFill>
                  <a:schemeClr val="dk1"/>
                </a:solidFill>
                <a:latin typeface="Arial"/>
                <a:ea typeface="Arial"/>
                <a:cs typeface="Arial"/>
                <a:sym typeface="Arial"/>
              </a:endParaRPr>
            </a:p>
          </p:txBody>
        </p:sp>
        <p:sp>
          <p:nvSpPr>
            <p:cNvPr id="390" name="Google Shape;390;p10"/>
            <p:cNvSpPr/>
            <p:nvPr/>
          </p:nvSpPr>
          <p:spPr>
            <a:xfrm>
              <a:off x="4789512" y="4087818"/>
              <a:ext cx="7566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Op4( )</a:t>
              </a:r>
              <a:endParaRPr sz="1200">
                <a:solidFill>
                  <a:schemeClr val="dk1"/>
                </a:solidFill>
                <a:latin typeface="Arial"/>
                <a:ea typeface="Arial"/>
                <a:cs typeface="Arial"/>
                <a:sym typeface="Arial"/>
              </a:endParaRPr>
            </a:p>
          </p:txBody>
        </p:sp>
        <p:cxnSp>
          <p:nvCxnSpPr>
            <p:cNvPr id="391" name="Google Shape;391;p10"/>
            <p:cNvCxnSpPr/>
            <p:nvPr/>
          </p:nvCxnSpPr>
          <p:spPr>
            <a:xfrm>
              <a:off x="2044700" y="2247900"/>
              <a:ext cx="1422400" cy="0"/>
            </a:xfrm>
            <a:prstGeom prst="straightConnector1">
              <a:avLst/>
            </a:prstGeom>
            <a:noFill/>
            <a:ln cap="flat" cmpd="sng" w="12700">
              <a:solidFill>
                <a:schemeClr val="dk1"/>
              </a:solidFill>
              <a:prstDash val="solid"/>
              <a:round/>
              <a:headEnd len="med" w="med" type="none"/>
              <a:tailEnd len="med" w="med" type="triangle"/>
            </a:ln>
          </p:spPr>
        </p:cxnSp>
        <p:cxnSp>
          <p:nvCxnSpPr>
            <p:cNvPr id="392" name="Google Shape;392;p10"/>
            <p:cNvCxnSpPr/>
            <p:nvPr/>
          </p:nvCxnSpPr>
          <p:spPr>
            <a:xfrm>
              <a:off x="3559175" y="2447925"/>
              <a:ext cx="1422400" cy="0"/>
            </a:xfrm>
            <a:prstGeom prst="straightConnector1">
              <a:avLst/>
            </a:prstGeom>
            <a:noFill/>
            <a:ln cap="flat" cmpd="sng" w="12700">
              <a:solidFill>
                <a:schemeClr val="dk1"/>
              </a:solidFill>
              <a:prstDash val="solid"/>
              <a:round/>
              <a:headEnd len="med" w="med" type="none"/>
              <a:tailEnd len="med" w="med" type="triangle"/>
            </a:ln>
          </p:spPr>
        </p:cxnSp>
        <p:cxnSp>
          <p:nvCxnSpPr>
            <p:cNvPr id="393" name="Google Shape;393;p10"/>
            <p:cNvCxnSpPr/>
            <p:nvPr/>
          </p:nvCxnSpPr>
          <p:spPr>
            <a:xfrm>
              <a:off x="3578225" y="3076575"/>
              <a:ext cx="2898775" cy="0"/>
            </a:xfrm>
            <a:prstGeom prst="straightConnector1">
              <a:avLst/>
            </a:prstGeom>
            <a:noFill/>
            <a:ln cap="flat" cmpd="sng" w="12700">
              <a:solidFill>
                <a:schemeClr val="dk1"/>
              </a:solidFill>
              <a:prstDash val="solid"/>
              <a:round/>
              <a:headEnd len="med" w="med" type="none"/>
              <a:tailEnd len="med" w="med" type="triangle"/>
            </a:ln>
          </p:spPr>
        </p:cxnSp>
        <p:cxnSp>
          <p:nvCxnSpPr>
            <p:cNvPr id="394" name="Google Shape;394;p10"/>
            <p:cNvCxnSpPr/>
            <p:nvPr/>
          </p:nvCxnSpPr>
          <p:spPr>
            <a:xfrm>
              <a:off x="3559175" y="3714750"/>
              <a:ext cx="1422400" cy="0"/>
            </a:xfrm>
            <a:prstGeom prst="straightConnector1">
              <a:avLst/>
            </a:prstGeom>
            <a:noFill/>
            <a:ln cap="flat" cmpd="sng" w="12700">
              <a:solidFill>
                <a:schemeClr val="dk1"/>
              </a:solidFill>
              <a:prstDash val="solid"/>
              <a:round/>
              <a:headEnd len="med" w="med" type="none"/>
              <a:tailEnd len="med" w="med" type="triangle"/>
            </a:ln>
          </p:spPr>
        </p:cxnSp>
        <p:cxnSp>
          <p:nvCxnSpPr>
            <p:cNvPr id="395" name="Google Shape;395;p10"/>
            <p:cNvCxnSpPr/>
            <p:nvPr/>
          </p:nvCxnSpPr>
          <p:spPr>
            <a:xfrm>
              <a:off x="3578225" y="4352925"/>
              <a:ext cx="2898775" cy="0"/>
            </a:xfrm>
            <a:prstGeom prst="straightConnector1">
              <a:avLst/>
            </a:prstGeom>
            <a:noFill/>
            <a:ln cap="flat" cmpd="sng" w="12700">
              <a:solidFill>
                <a:schemeClr val="dk1"/>
              </a:solidFill>
              <a:prstDash val="solid"/>
              <a:round/>
              <a:headEnd len="med" w="med" type="none"/>
              <a:tailEnd len="med" w="med" type="triangle"/>
            </a:ln>
          </p:spPr>
        </p:cxnSp>
        <p:sp>
          <p:nvSpPr>
            <p:cNvPr id="396" name="Google Shape;396;p10"/>
            <p:cNvSpPr txBox="1"/>
            <p:nvPr/>
          </p:nvSpPr>
          <p:spPr>
            <a:xfrm>
              <a:off x="2168525" y="5730875"/>
              <a:ext cx="4802188" cy="847668"/>
            </a:xfrm>
            <a:prstGeom prst="rect">
              <a:avLst/>
            </a:prstGeom>
            <a:noFill/>
            <a:ln>
              <a:noFill/>
            </a:ln>
          </p:spPr>
          <p:txBody>
            <a:bodyPr anchorCtr="0" anchor="t" bIns="53975" lIns="107950" spcFirstLastPara="1" rIns="107950" wrap="square" tIns="53975">
              <a:spAutoFit/>
            </a:bodyPr>
            <a:lstStyle/>
            <a:p>
              <a:pPr indent="0" lvl="0" marL="0" marR="0" rtl="0" algn="ctr">
                <a:spcBef>
                  <a:spcPts val="0"/>
                </a:spcBef>
                <a:spcAft>
                  <a:spcPts val="0"/>
                </a:spcAft>
                <a:buNone/>
              </a:pPr>
              <a:r>
                <a:rPr i="1" lang="en-US" sz="2400">
                  <a:solidFill>
                    <a:schemeClr val="hlink"/>
                  </a:solidFill>
                  <a:latin typeface="Constantia"/>
                  <a:ea typeface="Constantia"/>
                  <a:cs typeface="Constantia"/>
                  <a:sym typeface="Constantia"/>
                </a:rPr>
                <a:t>Giao diện của hệ thống con không được thể hiện</a:t>
              </a:r>
              <a:endParaRPr i="1" sz="2400">
                <a:solidFill>
                  <a:schemeClr val="hlink"/>
                </a:solidFill>
                <a:latin typeface="Constantia"/>
                <a:ea typeface="Constantia"/>
                <a:cs typeface="Constantia"/>
                <a:sym typeface="Constantia"/>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11"/>
          <p:cNvSpPr txBox="1"/>
          <p:nvPr>
            <p:ph type="title"/>
          </p:nvPr>
        </p:nvSpPr>
        <p:spPr>
          <a:xfrm>
            <a:off x="152400" y="457200"/>
            <a:ext cx="8991600" cy="743712"/>
          </a:xfrm>
          <a:prstGeom prst="rect">
            <a:avLst/>
          </a:prstGeom>
          <a:noFill/>
          <a:ln>
            <a:noFill/>
          </a:ln>
        </p:spPr>
        <p:txBody>
          <a:bodyPr anchorCtr="0" anchor="b" bIns="0" lIns="0" spcFirstLastPara="1" rIns="0" wrap="square" tIns="45700">
            <a:normAutofit/>
          </a:bodyPr>
          <a:lstStyle/>
          <a:p>
            <a:pPr indent="0" lvl="0" marL="0" rtl="0" algn="l">
              <a:lnSpc>
                <a:spcPct val="70000"/>
              </a:lnSpc>
              <a:spcBef>
                <a:spcPts val="0"/>
              </a:spcBef>
              <a:spcAft>
                <a:spcPts val="0"/>
              </a:spcAft>
              <a:buClr>
                <a:schemeClr val="dk2"/>
              </a:buClr>
              <a:buSzPts val="3600"/>
              <a:buFont typeface="Calibri"/>
              <a:buNone/>
            </a:pPr>
            <a:r>
              <a:rPr lang="en-US" sz="3600"/>
              <a:t>Phối hợp các cơ chế kiến trúc: Lưu trữ bền vững</a:t>
            </a:r>
            <a:endParaRPr sz="3600"/>
          </a:p>
        </p:txBody>
      </p:sp>
      <p:sp>
        <p:nvSpPr>
          <p:cNvPr id="402" name="Google Shape;402;p1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403" name="Google Shape;403;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Từ hoạt động Phân tích ca sử dụng, tạo ánh xạ Lớp phân tích đến Cơ chế kiến trúc</a:t>
            </a:r>
            <a:endParaRPr/>
          </a:p>
        </p:txBody>
      </p:sp>
      <p:sp>
        <p:nvSpPr>
          <p:cNvPr id="404" name="Google Shape;404;p11"/>
          <p:cNvSpPr txBox="1"/>
          <p:nvPr/>
        </p:nvSpPr>
        <p:spPr>
          <a:xfrm>
            <a:off x="1809750" y="5275270"/>
            <a:ext cx="3621088" cy="940001"/>
          </a:xfrm>
          <a:prstGeom prst="rect">
            <a:avLst/>
          </a:prstGeom>
          <a:noFill/>
          <a:ln>
            <a:noFill/>
          </a:ln>
        </p:spPr>
        <p:txBody>
          <a:bodyPr anchorCtr="0" anchor="t" bIns="53975" lIns="107950" spcFirstLastPara="1" rIns="107950" wrap="square" tIns="53975">
            <a:spAutoFit/>
          </a:bodyPr>
          <a:lstStyle/>
          <a:p>
            <a:pPr indent="0" lvl="0" marL="0" marR="0" rtl="0" algn="ctr">
              <a:spcBef>
                <a:spcPts val="0"/>
              </a:spcBef>
              <a:spcAft>
                <a:spcPts val="0"/>
              </a:spcAft>
              <a:buNone/>
            </a:pPr>
            <a:r>
              <a:rPr i="1" lang="en-US" sz="1800">
                <a:solidFill>
                  <a:srgbClr val="FF0000"/>
                </a:solidFill>
                <a:latin typeface="Constantia"/>
                <a:ea typeface="Constantia"/>
                <a:cs typeface="Constantia"/>
                <a:sym typeface="Constantia"/>
              </a:rPr>
              <a:t>OODBMS Lữu trữ bền vững được thảo luận trong Thiết kế Ca sử dụng</a:t>
            </a:r>
            <a:endParaRPr i="1" sz="1800">
              <a:solidFill>
                <a:srgbClr val="FF0000"/>
              </a:solidFill>
              <a:latin typeface="Constantia"/>
              <a:ea typeface="Constantia"/>
              <a:cs typeface="Constantia"/>
              <a:sym typeface="Constantia"/>
            </a:endParaRPr>
          </a:p>
        </p:txBody>
      </p:sp>
      <p:grpSp>
        <p:nvGrpSpPr>
          <p:cNvPr id="405" name="Google Shape;405;p11"/>
          <p:cNvGrpSpPr/>
          <p:nvPr/>
        </p:nvGrpSpPr>
        <p:grpSpPr>
          <a:xfrm>
            <a:off x="742949" y="2386020"/>
            <a:ext cx="8401051" cy="2628900"/>
            <a:chOff x="742950" y="2171700"/>
            <a:chExt cx="7667612" cy="2628900"/>
          </a:xfrm>
        </p:grpSpPr>
        <p:cxnSp>
          <p:nvCxnSpPr>
            <p:cNvPr id="406" name="Google Shape;406;p11"/>
            <p:cNvCxnSpPr/>
            <p:nvPr/>
          </p:nvCxnSpPr>
          <p:spPr>
            <a:xfrm>
              <a:off x="3272925" y="2171700"/>
              <a:ext cx="0" cy="2628900"/>
            </a:xfrm>
            <a:prstGeom prst="straightConnector1">
              <a:avLst/>
            </a:prstGeom>
            <a:noFill/>
            <a:ln cap="flat" cmpd="sng" w="28575">
              <a:solidFill>
                <a:schemeClr val="dk1"/>
              </a:solidFill>
              <a:prstDash val="solid"/>
              <a:round/>
              <a:headEnd len="sm" w="sm" type="none"/>
              <a:tailEnd len="sm" w="sm" type="none"/>
            </a:ln>
          </p:spPr>
        </p:cxnSp>
        <p:sp>
          <p:nvSpPr>
            <p:cNvPr id="407" name="Google Shape;407;p11"/>
            <p:cNvSpPr/>
            <p:nvPr/>
          </p:nvSpPr>
          <p:spPr>
            <a:xfrm>
              <a:off x="742950" y="2171700"/>
              <a:ext cx="6400800" cy="2628900"/>
            </a:xfrm>
            <a:prstGeom prst="rect">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408" name="Google Shape;408;p11"/>
            <p:cNvCxnSpPr/>
            <p:nvPr/>
          </p:nvCxnSpPr>
          <p:spPr>
            <a:xfrm>
              <a:off x="742950" y="2781300"/>
              <a:ext cx="6400800" cy="0"/>
            </a:xfrm>
            <a:prstGeom prst="straightConnector1">
              <a:avLst/>
            </a:prstGeom>
            <a:noFill/>
            <a:ln cap="flat" cmpd="sng" w="28575">
              <a:solidFill>
                <a:schemeClr val="dk1"/>
              </a:solidFill>
              <a:prstDash val="solid"/>
              <a:round/>
              <a:headEnd len="sm" w="sm" type="none"/>
              <a:tailEnd len="sm" w="sm" type="none"/>
            </a:ln>
          </p:spPr>
        </p:cxnSp>
        <p:sp>
          <p:nvSpPr>
            <p:cNvPr id="409" name="Google Shape;409;p11"/>
            <p:cNvSpPr txBox="1"/>
            <p:nvPr/>
          </p:nvSpPr>
          <p:spPr>
            <a:xfrm>
              <a:off x="893717" y="2324100"/>
              <a:ext cx="2398713" cy="36671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Constantia"/>
                  <a:ea typeface="Constantia"/>
                  <a:cs typeface="Constantia"/>
                  <a:sym typeface="Constantia"/>
                </a:rPr>
                <a:t>Lớp phân tích</a:t>
              </a:r>
              <a:endParaRPr b="1" sz="1800">
                <a:solidFill>
                  <a:schemeClr val="dk1"/>
                </a:solidFill>
                <a:latin typeface="Constantia"/>
                <a:ea typeface="Constantia"/>
                <a:cs typeface="Constantia"/>
                <a:sym typeface="Constantia"/>
              </a:endParaRPr>
            </a:p>
          </p:txBody>
        </p:sp>
        <p:sp>
          <p:nvSpPr>
            <p:cNvPr id="410" name="Google Shape;410;p11"/>
            <p:cNvSpPr txBox="1"/>
            <p:nvPr/>
          </p:nvSpPr>
          <p:spPr>
            <a:xfrm>
              <a:off x="3326447" y="2324100"/>
              <a:ext cx="2895600" cy="36671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Constantia"/>
                  <a:ea typeface="Constantia"/>
                  <a:cs typeface="Constantia"/>
                  <a:sym typeface="Constantia"/>
                </a:rPr>
                <a:t>Các cơ chế phân tích</a:t>
              </a:r>
              <a:endParaRPr b="1" sz="1800">
                <a:solidFill>
                  <a:schemeClr val="dk1"/>
                </a:solidFill>
                <a:latin typeface="Constantia"/>
                <a:ea typeface="Constantia"/>
                <a:cs typeface="Constantia"/>
                <a:sym typeface="Constantia"/>
              </a:endParaRPr>
            </a:p>
          </p:txBody>
        </p:sp>
        <p:sp>
          <p:nvSpPr>
            <p:cNvPr id="411" name="Google Shape;411;p11"/>
            <p:cNvSpPr txBox="1"/>
            <p:nvPr/>
          </p:nvSpPr>
          <p:spPr>
            <a:xfrm>
              <a:off x="742950" y="2795588"/>
              <a:ext cx="1905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Student</a:t>
              </a:r>
              <a:endParaRPr/>
            </a:p>
          </p:txBody>
        </p:sp>
        <p:cxnSp>
          <p:nvCxnSpPr>
            <p:cNvPr id="412" name="Google Shape;412;p11"/>
            <p:cNvCxnSpPr/>
            <p:nvPr/>
          </p:nvCxnSpPr>
          <p:spPr>
            <a:xfrm>
              <a:off x="742950" y="3557588"/>
              <a:ext cx="6400800" cy="0"/>
            </a:xfrm>
            <a:prstGeom prst="straightConnector1">
              <a:avLst/>
            </a:prstGeom>
            <a:noFill/>
            <a:ln cap="flat" cmpd="sng" w="28575">
              <a:solidFill>
                <a:schemeClr val="dk1"/>
              </a:solidFill>
              <a:prstDash val="solid"/>
              <a:round/>
              <a:headEnd len="sm" w="sm" type="none"/>
              <a:tailEnd len="sm" w="sm" type="none"/>
            </a:ln>
          </p:spPr>
        </p:cxnSp>
        <p:sp>
          <p:nvSpPr>
            <p:cNvPr id="413" name="Google Shape;413;p11"/>
            <p:cNvSpPr txBox="1"/>
            <p:nvPr/>
          </p:nvSpPr>
          <p:spPr>
            <a:xfrm>
              <a:off x="742950" y="3595688"/>
              <a:ext cx="1905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CourseOffering</a:t>
              </a:r>
              <a:endParaRPr/>
            </a:p>
          </p:txBody>
        </p:sp>
        <p:cxnSp>
          <p:nvCxnSpPr>
            <p:cNvPr id="414" name="Google Shape;414;p11"/>
            <p:cNvCxnSpPr/>
            <p:nvPr/>
          </p:nvCxnSpPr>
          <p:spPr>
            <a:xfrm>
              <a:off x="742950" y="3962400"/>
              <a:ext cx="6400800" cy="0"/>
            </a:xfrm>
            <a:prstGeom prst="straightConnector1">
              <a:avLst/>
            </a:prstGeom>
            <a:noFill/>
            <a:ln cap="flat" cmpd="sng" w="28575">
              <a:solidFill>
                <a:schemeClr val="dk1"/>
              </a:solidFill>
              <a:prstDash val="solid"/>
              <a:round/>
              <a:headEnd len="sm" w="sm" type="none"/>
              <a:tailEnd len="sm" w="sm" type="none"/>
            </a:ln>
          </p:spPr>
        </p:cxnSp>
        <p:sp>
          <p:nvSpPr>
            <p:cNvPr id="415" name="Google Shape;415;p11"/>
            <p:cNvSpPr txBox="1"/>
            <p:nvPr/>
          </p:nvSpPr>
          <p:spPr>
            <a:xfrm>
              <a:off x="742950" y="3962400"/>
              <a:ext cx="190500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Course</a:t>
              </a:r>
              <a:endParaRPr/>
            </a:p>
          </p:txBody>
        </p:sp>
        <p:cxnSp>
          <p:nvCxnSpPr>
            <p:cNvPr id="416" name="Google Shape;416;p11"/>
            <p:cNvCxnSpPr/>
            <p:nvPr/>
          </p:nvCxnSpPr>
          <p:spPr>
            <a:xfrm>
              <a:off x="742950" y="4329113"/>
              <a:ext cx="6400800" cy="0"/>
            </a:xfrm>
            <a:prstGeom prst="straightConnector1">
              <a:avLst/>
            </a:prstGeom>
            <a:noFill/>
            <a:ln cap="flat" cmpd="sng" w="28575">
              <a:solidFill>
                <a:schemeClr val="dk1"/>
              </a:solidFill>
              <a:prstDash val="solid"/>
              <a:round/>
              <a:headEnd len="sm" w="sm" type="none"/>
              <a:tailEnd len="sm" w="sm" type="none"/>
            </a:ln>
          </p:spPr>
        </p:cxnSp>
        <p:sp>
          <p:nvSpPr>
            <p:cNvPr id="417" name="Google Shape;417;p11"/>
            <p:cNvSpPr txBox="1"/>
            <p:nvPr/>
          </p:nvSpPr>
          <p:spPr>
            <a:xfrm>
              <a:off x="742950" y="4357688"/>
              <a:ext cx="25908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RegistrationController</a:t>
              </a:r>
              <a:endParaRPr/>
            </a:p>
          </p:txBody>
        </p:sp>
        <p:sp>
          <p:nvSpPr>
            <p:cNvPr id="418" name="Google Shape;418;p11"/>
            <p:cNvSpPr txBox="1"/>
            <p:nvPr/>
          </p:nvSpPr>
          <p:spPr>
            <a:xfrm>
              <a:off x="3425324" y="2795588"/>
              <a:ext cx="339074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folHlink"/>
                  </a:solidFill>
                  <a:latin typeface="Constantia"/>
                  <a:ea typeface="Constantia"/>
                  <a:cs typeface="Constantia"/>
                  <a:sym typeface="Constantia"/>
                </a:rPr>
                <a:t>Lưu trữ bền vững</a:t>
              </a:r>
              <a:r>
                <a:rPr lang="en-US" sz="1800">
                  <a:solidFill>
                    <a:schemeClr val="dk1"/>
                  </a:solidFill>
                  <a:latin typeface="Constantia"/>
                  <a:ea typeface="Constantia"/>
                  <a:cs typeface="Constantia"/>
                  <a:sym typeface="Constantia"/>
                </a:rPr>
                <a:t>, an ninh</a:t>
              </a:r>
              <a:endParaRPr sz="1800">
                <a:solidFill>
                  <a:schemeClr val="dk1"/>
                </a:solidFill>
                <a:latin typeface="Constantia"/>
                <a:ea typeface="Constantia"/>
                <a:cs typeface="Constantia"/>
                <a:sym typeface="Constantia"/>
              </a:endParaRPr>
            </a:p>
          </p:txBody>
        </p:sp>
        <p:sp>
          <p:nvSpPr>
            <p:cNvPr id="419" name="Google Shape;419;p11"/>
            <p:cNvSpPr txBox="1"/>
            <p:nvPr/>
          </p:nvSpPr>
          <p:spPr>
            <a:xfrm>
              <a:off x="3403143" y="3595689"/>
              <a:ext cx="364045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rgbClr val="00CCFF"/>
                  </a:solidFill>
                  <a:latin typeface="Constantia"/>
                  <a:ea typeface="Constantia"/>
                  <a:cs typeface="Constantia"/>
                  <a:sym typeface="Constantia"/>
                </a:rPr>
                <a:t>Lưu trữ bền vững, kế thừa giao diện</a:t>
              </a:r>
              <a:endParaRPr sz="1800">
                <a:solidFill>
                  <a:srgbClr val="00CCFF"/>
                </a:solidFill>
                <a:latin typeface="Constantia"/>
                <a:ea typeface="Constantia"/>
                <a:cs typeface="Constantia"/>
                <a:sym typeface="Constantia"/>
              </a:endParaRPr>
            </a:p>
          </p:txBody>
        </p:sp>
        <p:sp>
          <p:nvSpPr>
            <p:cNvPr id="420" name="Google Shape;420;p11"/>
            <p:cNvSpPr txBox="1"/>
            <p:nvPr/>
          </p:nvSpPr>
          <p:spPr>
            <a:xfrm>
              <a:off x="3359976" y="3962400"/>
              <a:ext cx="360600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rgbClr val="00CCFF"/>
                  </a:solidFill>
                  <a:latin typeface="Constantia"/>
                  <a:ea typeface="Constantia"/>
                  <a:cs typeface="Constantia"/>
                  <a:sym typeface="Constantia"/>
                </a:rPr>
                <a:t>Lưu trữ bền vững, kế thừa giao diện</a:t>
              </a:r>
              <a:endParaRPr sz="1800">
                <a:solidFill>
                  <a:srgbClr val="00CCFF"/>
                </a:solidFill>
                <a:latin typeface="Constantia"/>
                <a:ea typeface="Constantia"/>
                <a:cs typeface="Constantia"/>
                <a:sym typeface="Constantia"/>
              </a:endParaRPr>
            </a:p>
          </p:txBody>
        </p:sp>
        <p:sp>
          <p:nvSpPr>
            <p:cNvPr id="421" name="Google Shape;421;p11"/>
            <p:cNvSpPr txBox="1"/>
            <p:nvPr/>
          </p:nvSpPr>
          <p:spPr>
            <a:xfrm>
              <a:off x="3425326" y="4357688"/>
              <a:ext cx="1868488"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Phân tán</a:t>
              </a:r>
              <a:endParaRPr sz="1800">
                <a:solidFill>
                  <a:schemeClr val="dk1"/>
                </a:solidFill>
                <a:latin typeface="Constantia"/>
                <a:ea typeface="Constantia"/>
                <a:cs typeface="Constantia"/>
                <a:sym typeface="Constantia"/>
              </a:endParaRPr>
            </a:p>
          </p:txBody>
        </p:sp>
        <p:cxnSp>
          <p:nvCxnSpPr>
            <p:cNvPr id="422" name="Google Shape;422;p11"/>
            <p:cNvCxnSpPr/>
            <p:nvPr/>
          </p:nvCxnSpPr>
          <p:spPr>
            <a:xfrm>
              <a:off x="742950" y="3151188"/>
              <a:ext cx="6400800" cy="0"/>
            </a:xfrm>
            <a:prstGeom prst="straightConnector1">
              <a:avLst/>
            </a:prstGeom>
            <a:noFill/>
            <a:ln cap="flat" cmpd="sng" w="28575">
              <a:solidFill>
                <a:schemeClr val="dk1"/>
              </a:solidFill>
              <a:prstDash val="solid"/>
              <a:round/>
              <a:headEnd len="sm" w="sm" type="none"/>
              <a:tailEnd len="sm" w="sm" type="none"/>
            </a:ln>
          </p:spPr>
        </p:cxnSp>
        <p:sp>
          <p:nvSpPr>
            <p:cNvPr id="423" name="Google Shape;423;p11"/>
            <p:cNvSpPr txBox="1"/>
            <p:nvPr/>
          </p:nvSpPr>
          <p:spPr>
            <a:xfrm>
              <a:off x="742950" y="3151188"/>
              <a:ext cx="1905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Schedule</a:t>
              </a:r>
              <a:endParaRPr/>
            </a:p>
          </p:txBody>
        </p:sp>
        <p:sp>
          <p:nvSpPr>
            <p:cNvPr id="424" name="Google Shape;424;p11"/>
            <p:cNvSpPr txBox="1"/>
            <p:nvPr/>
          </p:nvSpPr>
          <p:spPr>
            <a:xfrm>
              <a:off x="3345587" y="3151188"/>
              <a:ext cx="353972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folHlink"/>
                  </a:solidFill>
                  <a:latin typeface="Constantia"/>
                  <a:ea typeface="Constantia"/>
                  <a:cs typeface="Constantia"/>
                  <a:sym typeface="Constantia"/>
                </a:rPr>
                <a:t>Lưu trữ bền vững</a:t>
              </a:r>
              <a:r>
                <a:rPr lang="en-US" sz="1800">
                  <a:solidFill>
                    <a:schemeClr val="dk1"/>
                  </a:solidFill>
                  <a:latin typeface="Constantia"/>
                  <a:ea typeface="Constantia"/>
                  <a:cs typeface="Constantia"/>
                  <a:sym typeface="Constantia"/>
                </a:rPr>
                <a:t>, an ninh</a:t>
              </a:r>
              <a:endParaRPr sz="1800">
                <a:solidFill>
                  <a:schemeClr val="dk1"/>
                </a:solidFill>
                <a:latin typeface="Constantia"/>
                <a:ea typeface="Constantia"/>
                <a:cs typeface="Constantia"/>
                <a:sym typeface="Constantia"/>
              </a:endParaRPr>
            </a:p>
          </p:txBody>
        </p:sp>
        <p:sp>
          <p:nvSpPr>
            <p:cNvPr id="425" name="Google Shape;425;p11"/>
            <p:cNvSpPr txBox="1"/>
            <p:nvPr/>
          </p:nvSpPr>
          <p:spPr>
            <a:xfrm>
              <a:off x="7143750" y="2637933"/>
              <a:ext cx="1266812" cy="940001"/>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b="1" i="1" lang="en-US" sz="1800">
                  <a:solidFill>
                    <a:schemeClr val="folHlink"/>
                  </a:solidFill>
                  <a:latin typeface="Constantia"/>
                  <a:ea typeface="Constantia"/>
                  <a:cs typeface="Constantia"/>
                  <a:sym typeface="Constantia"/>
                </a:rPr>
                <a:t>OODBMS lưu trữ bền vững</a:t>
              </a:r>
              <a:endParaRPr b="1" i="1" sz="1800">
                <a:solidFill>
                  <a:schemeClr val="dk2"/>
                </a:solidFill>
                <a:latin typeface="Constantia"/>
                <a:ea typeface="Constantia"/>
                <a:cs typeface="Constantia"/>
                <a:sym typeface="Constantia"/>
              </a:endParaRPr>
            </a:p>
          </p:txBody>
        </p:sp>
        <p:sp>
          <p:nvSpPr>
            <p:cNvPr id="426" name="Google Shape;426;p11"/>
            <p:cNvSpPr txBox="1"/>
            <p:nvPr/>
          </p:nvSpPr>
          <p:spPr>
            <a:xfrm>
              <a:off x="7119939" y="3545760"/>
              <a:ext cx="1290623" cy="940001"/>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b="1" i="1" lang="en-US" sz="1800">
                  <a:solidFill>
                    <a:srgbClr val="00CCFF"/>
                  </a:solidFill>
                  <a:latin typeface="Constantia"/>
                  <a:ea typeface="Constantia"/>
                  <a:cs typeface="Constantia"/>
                  <a:sym typeface="Constantia"/>
                </a:rPr>
                <a:t>RDBMS lưu trữ bền vững</a:t>
              </a:r>
              <a:endParaRPr b="1" i="1" sz="1800">
                <a:solidFill>
                  <a:srgbClr val="00CCFF"/>
                </a:solidFill>
                <a:latin typeface="Constantia"/>
                <a:ea typeface="Constantia"/>
                <a:cs typeface="Constantia"/>
                <a:sym typeface="Constantia"/>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12"/>
          <p:cNvSpPr txBox="1"/>
          <p:nvPr>
            <p:ph type="title"/>
          </p:nvPr>
        </p:nvSpPr>
        <p:spPr>
          <a:xfrm>
            <a:off x="457200" y="704088"/>
            <a:ext cx="8229600" cy="7437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600"/>
              <a:buFont typeface="Calibri"/>
              <a:buNone/>
            </a:pPr>
            <a:r>
              <a:rPr lang="en-US" sz="3600"/>
              <a:t>Các bước thiết kế hệ thống con</a:t>
            </a:r>
            <a:endParaRPr sz="3600"/>
          </a:p>
        </p:txBody>
      </p:sp>
      <p:sp>
        <p:nvSpPr>
          <p:cNvPr id="432" name="Google Shape;432;p1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433" name="Google Shape;433;p12"/>
          <p:cNvSpPr txBox="1"/>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274320" lvl="0" marL="274320" marR="0" rtl="0" algn="l">
              <a:spcBef>
                <a:spcPts val="0"/>
              </a:spcBef>
              <a:spcAft>
                <a:spcPts val="0"/>
              </a:spcAft>
              <a:buClr>
                <a:schemeClr val="accent3"/>
              </a:buClr>
              <a:buSzPts val="2470"/>
              <a:buFont typeface="Noto Sans Symbols"/>
              <a:buChar char="⚫"/>
            </a:pPr>
            <a:r>
              <a:rPr lang="en-US" sz="2600">
                <a:solidFill>
                  <a:schemeClr val="dk1"/>
                </a:solidFill>
                <a:latin typeface="Constantia"/>
                <a:ea typeface="Constantia"/>
                <a:cs typeface="Constantia"/>
                <a:sym typeface="Constantia"/>
              </a:rPr>
              <a:t>Phân phối hành vi của hệ thống con vào trong các phần tử của nó</a:t>
            </a:r>
            <a:endParaRPr sz="2600">
              <a:solidFill>
                <a:schemeClr val="dk1"/>
              </a:solidFill>
              <a:latin typeface="Constantia"/>
              <a:ea typeface="Constantia"/>
              <a:cs typeface="Constantia"/>
              <a:sym typeface="Constantia"/>
            </a:endParaRPr>
          </a:p>
          <a:p>
            <a:pPr indent="-274320" lvl="0" marL="274320" marR="0" rtl="0" algn="l">
              <a:spcBef>
                <a:spcPts val="520"/>
              </a:spcBef>
              <a:spcAft>
                <a:spcPts val="0"/>
              </a:spcAft>
              <a:buClr>
                <a:schemeClr val="accent3"/>
              </a:buClr>
              <a:buSzPts val="2470"/>
              <a:buFont typeface="Noto Sans Symbols"/>
              <a:buChar char="⚫"/>
            </a:pPr>
            <a:r>
              <a:rPr lang="en-US" sz="2600">
                <a:solidFill>
                  <a:srgbClr val="FF0000"/>
                </a:solidFill>
                <a:latin typeface="Constantia"/>
                <a:ea typeface="Constantia"/>
                <a:cs typeface="Constantia"/>
                <a:sym typeface="Constantia"/>
              </a:rPr>
              <a:t>Làm tài liệu về các phần tử của hệ thống con</a:t>
            </a:r>
            <a:endParaRPr/>
          </a:p>
          <a:p>
            <a:pPr indent="-274320" lvl="0" marL="274320" marR="0" rtl="0" algn="l">
              <a:spcBef>
                <a:spcPts val="520"/>
              </a:spcBef>
              <a:spcAft>
                <a:spcPts val="0"/>
              </a:spcAft>
              <a:buClr>
                <a:schemeClr val="accent3"/>
              </a:buClr>
              <a:buSzPts val="2470"/>
              <a:buFont typeface="Noto Sans Symbols"/>
              <a:buChar char="⚫"/>
            </a:pPr>
            <a:r>
              <a:rPr lang="en-US" sz="2600">
                <a:solidFill>
                  <a:schemeClr val="dk1"/>
                </a:solidFill>
                <a:latin typeface="Constantia"/>
                <a:ea typeface="Constantia"/>
                <a:cs typeface="Constantia"/>
                <a:sym typeface="Constantia"/>
              </a:rPr>
              <a:t>Mô tả sự phụ thuộc hệ thống con</a:t>
            </a:r>
            <a:endParaRPr/>
          </a:p>
          <a:p>
            <a:pPr indent="-274320" lvl="0" marL="274320" marR="0" rtl="0" algn="l">
              <a:spcBef>
                <a:spcPts val="520"/>
              </a:spcBef>
              <a:spcAft>
                <a:spcPts val="0"/>
              </a:spcAft>
              <a:buClr>
                <a:schemeClr val="accent3"/>
              </a:buClr>
              <a:buSzPts val="2470"/>
              <a:buFont typeface="Noto Sans Symbols"/>
              <a:buChar char="⚫"/>
            </a:pPr>
            <a:r>
              <a:rPr lang="en-US" sz="2600">
                <a:solidFill>
                  <a:schemeClr val="dk1"/>
                </a:solidFill>
                <a:latin typeface="Constantia"/>
                <a:ea typeface="Constantia"/>
                <a:cs typeface="Constantia"/>
                <a:sym typeface="Constantia"/>
              </a:rPr>
              <a:t>Checkpoints</a:t>
            </a:r>
            <a:endParaRPr sz="2600">
              <a:solidFill>
                <a:schemeClr val="dk1"/>
              </a:solidFill>
              <a:latin typeface="Constantia"/>
              <a:ea typeface="Constantia"/>
              <a:cs typeface="Constantia"/>
              <a:sym typeface="Constanti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cxnSp>
        <p:nvCxnSpPr>
          <p:cNvPr id="441" name="Google Shape;441;p13"/>
          <p:cNvCxnSpPr/>
          <p:nvPr/>
        </p:nvCxnSpPr>
        <p:spPr>
          <a:xfrm flipH="1">
            <a:off x="6462713" y="3025775"/>
            <a:ext cx="3175" cy="363538"/>
          </a:xfrm>
          <a:prstGeom prst="straightConnector1">
            <a:avLst/>
          </a:prstGeom>
          <a:noFill/>
          <a:ln cap="flat" cmpd="sng" w="12700">
            <a:solidFill>
              <a:schemeClr val="dk1"/>
            </a:solidFill>
            <a:prstDash val="lgDash"/>
            <a:round/>
            <a:headEnd len="med" w="med" type="none"/>
            <a:tailEnd len="lg" w="lg" type="stealth"/>
          </a:ln>
        </p:spPr>
      </p:cxnSp>
      <p:cxnSp>
        <p:nvCxnSpPr>
          <p:cNvPr id="442" name="Google Shape;442;p13"/>
          <p:cNvCxnSpPr/>
          <p:nvPr/>
        </p:nvCxnSpPr>
        <p:spPr>
          <a:xfrm>
            <a:off x="5524500" y="5545138"/>
            <a:ext cx="439738" cy="212725"/>
          </a:xfrm>
          <a:prstGeom prst="straightConnector1">
            <a:avLst/>
          </a:prstGeom>
          <a:noFill/>
          <a:ln cap="flat" cmpd="sng" w="12700">
            <a:solidFill>
              <a:schemeClr val="dk1"/>
            </a:solidFill>
            <a:prstDash val="lgDash"/>
            <a:round/>
            <a:headEnd len="med" w="med" type="none"/>
            <a:tailEnd len="lg" w="lg" type="stealth"/>
          </a:ln>
        </p:spPr>
      </p:cxnSp>
      <p:cxnSp>
        <p:nvCxnSpPr>
          <p:cNvPr id="443" name="Google Shape;443;p13"/>
          <p:cNvCxnSpPr/>
          <p:nvPr/>
        </p:nvCxnSpPr>
        <p:spPr>
          <a:xfrm>
            <a:off x="7197725" y="5688013"/>
            <a:ext cx="439738" cy="212725"/>
          </a:xfrm>
          <a:prstGeom prst="straightConnector1">
            <a:avLst/>
          </a:prstGeom>
          <a:noFill/>
          <a:ln cap="flat" cmpd="sng" w="12700">
            <a:solidFill>
              <a:schemeClr val="dk1"/>
            </a:solidFill>
            <a:prstDash val="lgDash"/>
            <a:round/>
            <a:headEnd len="med" w="med" type="none"/>
            <a:tailEnd len="lg" w="lg" type="stealth"/>
          </a:ln>
        </p:spPr>
      </p:cxnSp>
      <p:sp>
        <p:nvSpPr>
          <p:cNvPr id="444" name="Google Shape;444;p13"/>
          <p:cNvSpPr/>
          <p:nvPr/>
        </p:nvSpPr>
        <p:spPr>
          <a:xfrm>
            <a:off x="549275" y="944563"/>
            <a:ext cx="4560888" cy="1035050"/>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45" name="Google Shape;445;p13"/>
          <p:cNvSpPr/>
          <p:nvPr/>
        </p:nvSpPr>
        <p:spPr>
          <a:xfrm>
            <a:off x="549275" y="1525588"/>
            <a:ext cx="4560888" cy="454025"/>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46" name="Google Shape;446;p13"/>
          <p:cNvSpPr/>
          <p:nvPr/>
        </p:nvSpPr>
        <p:spPr>
          <a:xfrm>
            <a:off x="549275" y="1624013"/>
            <a:ext cx="4560888" cy="355600"/>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47" name="Google Shape;447;p13"/>
          <p:cNvSpPr txBox="1"/>
          <p:nvPr>
            <p:ph type="title"/>
          </p:nvPr>
        </p:nvSpPr>
        <p:spPr>
          <a:xfrm>
            <a:off x="479424" y="-66674"/>
            <a:ext cx="8740775"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2800"/>
              <a:buFont typeface="Calibri"/>
              <a:buNone/>
            </a:pPr>
            <a:r>
              <a:rPr lang="en-US" sz="2800"/>
              <a:t>Ví dụ: Các phần tử của hệ thống con CourseCatalogSystem</a:t>
            </a:r>
            <a:endParaRPr/>
          </a:p>
        </p:txBody>
      </p:sp>
      <p:sp>
        <p:nvSpPr>
          <p:cNvPr id="448" name="Google Shape;448;p13"/>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2/26/2014</a:t>
            </a:r>
            <a:endParaRPr/>
          </a:p>
        </p:txBody>
      </p:sp>
      <p:sp>
        <p:nvSpPr>
          <p:cNvPr id="449" name="Google Shape;449;p13"/>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pttk2014wru - v0.1: Subsystem Design</a:t>
            </a:r>
            <a:endParaRPr/>
          </a:p>
        </p:txBody>
      </p:sp>
      <p:sp>
        <p:nvSpPr>
          <p:cNvPr id="450" name="Google Shape;450;p1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451" name="Google Shape;451;p13"/>
          <p:cNvSpPr txBox="1"/>
          <p:nvPr/>
        </p:nvSpPr>
        <p:spPr>
          <a:xfrm>
            <a:off x="6811963" y="1308100"/>
            <a:ext cx="1820862"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600">
                <a:solidFill>
                  <a:srgbClr val="0000FF"/>
                </a:solidFill>
                <a:latin typeface="Constantia"/>
                <a:ea typeface="Constantia"/>
                <a:cs typeface="Constantia"/>
                <a:sym typeface="Constantia"/>
              </a:rPr>
              <a:t>Subsystem Proxy</a:t>
            </a:r>
            <a:endParaRPr/>
          </a:p>
        </p:txBody>
      </p:sp>
      <p:sp>
        <p:nvSpPr>
          <p:cNvPr id="452" name="Google Shape;452;p13"/>
          <p:cNvSpPr txBox="1"/>
          <p:nvPr/>
        </p:nvSpPr>
        <p:spPr>
          <a:xfrm>
            <a:off x="452438" y="2463800"/>
            <a:ext cx="2201862"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600">
                <a:solidFill>
                  <a:srgbClr val="0000FF"/>
                </a:solidFill>
                <a:latin typeface="Constantia"/>
                <a:ea typeface="Constantia"/>
                <a:cs typeface="Constantia"/>
                <a:sym typeface="Constantia"/>
              </a:rPr>
              <a:t>Subsystem Interface</a:t>
            </a:r>
            <a:endParaRPr/>
          </a:p>
        </p:txBody>
      </p:sp>
      <p:cxnSp>
        <p:nvCxnSpPr>
          <p:cNvPr id="453" name="Google Shape;453;p13"/>
          <p:cNvCxnSpPr/>
          <p:nvPr/>
        </p:nvCxnSpPr>
        <p:spPr>
          <a:xfrm rot="10800000">
            <a:off x="1422400" y="2057400"/>
            <a:ext cx="0" cy="431800"/>
          </a:xfrm>
          <a:prstGeom prst="straightConnector1">
            <a:avLst/>
          </a:prstGeom>
          <a:noFill/>
          <a:ln cap="flat" cmpd="sng" w="28575">
            <a:solidFill>
              <a:schemeClr val="hlink"/>
            </a:solidFill>
            <a:prstDash val="solid"/>
            <a:round/>
            <a:headEnd len="sm" w="sm" type="none"/>
            <a:tailEnd len="med" w="med" type="triangle"/>
          </a:ln>
        </p:spPr>
      </p:cxnSp>
      <p:sp>
        <p:nvSpPr>
          <p:cNvPr id="454" name="Google Shape;454;p13"/>
          <p:cNvSpPr/>
          <p:nvPr/>
        </p:nvSpPr>
        <p:spPr>
          <a:xfrm>
            <a:off x="4884738" y="3440113"/>
            <a:ext cx="3336925" cy="854075"/>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55" name="Google Shape;455;p13"/>
          <p:cNvSpPr/>
          <p:nvPr/>
        </p:nvSpPr>
        <p:spPr>
          <a:xfrm>
            <a:off x="4884738" y="3676650"/>
            <a:ext cx="3336925" cy="617538"/>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56" name="Google Shape;456;p13"/>
          <p:cNvSpPr/>
          <p:nvPr/>
        </p:nvSpPr>
        <p:spPr>
          <a:xfrm>
            <a:off x="4884738" y="3765550"/>
            <a:ext cx="3336925" cy="528638"/>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57" name="Google Shape;457;p13"/>
          <p:cNvSpPr/>
          <p:nvPr/>
        </p:nvSpPr>
        <p:spPr>
          <a:xfrm>
            <a:off x="2011363" y="1169988"/>
            <a:ext cx="1681551"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chemeClr val="dk1"/>
                </a:solidFill>
                <a:latin typeface="Constantia"/>
                <a:ea typeface="Constantia"/>
                <a:cs typeface="Constantia"/>
                <a:sym typeface="Constantia"/>
              </a:rPr>
              <a:t>ICourseCatalogSystem</a:t>
            </a:r>
            <a:endParaRPr b="1" sz="1800">
              <a:solidFill>
                <a:schemeClr val="dk1"/>
              </a:solidFill>
              <a:latin typeface="Arial"/>
              <a:ea typeface="Arial"/>
              <a:cs typeface="Arial"/>
              <a:sym typeface="Arial"/>
            </a:endParaRPr>
          </a:p>
        </p:txBody>
      </p:sp>
      <p:sp>
        <p:nvSpPr>
          <p:cNvPr id="458" name="Google Shape;458;p13"/>
          <p:cNvSpPr/>
          <p:nvPr/>
        </p:nvSpPr>
        <p:spPr>
          <a:xfrm>
            <a:off x="581025" y="1720850"/>
            <a:ext cx="4460452"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getCourseOfferings(forSemester : Semester) : CourseOfferingList</a:t>
            </a:r>
            <a:endParaRPr sz="1800">
              <a:solidFill>
                <a:schemeClr val="dk1"/>
              </a:solidFill>
              <a:latin typeface="Arial"/>
              <a:ea typeface="Arial"/>
              <a:cs typeface="Arial"/>
              <a:sym typeface="Arial"/>
            </a:endParaRPr>
          </a:p>
        </p:txBody>
      </p:sp>
      <p:sp>
        <p:nvSpPr>
          <p:cNvPr id="459" name="Google Shape;459;p13"/>
          <p:cNvSpPr/>
          <p:nvPr/>
        </p:nvSpPr>
        <p:spPr>
          <a:xfrm>
            <a:off x="1962150" y="1360488"/>
            <a:ext cx="1718419" cy="13849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900">
                <a:solidFill>
                  <a:schemeClr val="dk1"/>
                </a:solidFill>
                <a:latin typeface="Constantia"/>
                <a:ea typeface="Constantia"/>
                <a:cs typeface="Constantia"/>
                <a:sym typeface="Constantia"/>
              </a:rPr>
              <a:t>(from External System Interfaces)</a:t>
            </a:r>
            <a:endParaRPr sz="1800">
              <a:solidFill>
                <a:schemeClr val="dk1"/>
              </a:solidFill>
              <a:latin typeface="Arial"/>
              <a:ea typeface="Arial"/>
              <a:cs typeface="Arial"/>
              <a:sym typeface="Arial"/>
            </a:endParaRPr>
          </a:p>
        </p:txBody>
      </p:sp>
      <p:sp>
        <p:nvSpPr>
          <p:cNvPr id="460" name="Google Shape;460;p13"/>
          <p:cNvSpPr/>
          <p:nvPr/>
        </p:nvSpPr>
        <p:spPr>
          <a:xfrm>
            <a:off x="2336800" y="989013"/>
            <a:ext cx="956993"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&lt;&lt;Interface&gt;&gt;</a:t>
            </a:r>
            <a:endParaRPr sz="1800">
              <a:solidFill>
                <a:schemeClr val="dk1"/>
              </a:solidFill>
              <a:latin typeface="Arial"/>
              <a:ea typeface="Arial"/>
              <a:cs typeface="Arial"/>
              <a:sym typeface="Arial"/>
            </a:endParaRPr>
          </a:p>
        </p:txBody>
      </p:sp>
      <p:sp>
        <p:nvSpPr>
          <p:cNvPr id="461" name="Google Shape;461;p13"/>
          <p:cNvSpPr/>
          <p:nvPr/>
        </p:nvSpPr>
        <p:spPr>
          <a:xfrm>
            <a:off x="4257675" y="2147888"/>
            <a:ext cx="4492625" cy="866775"/>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62" name="Google Shape;462;p13"/>
          <p:cNvSpPr/>
          <p:nvPr/>
        </p:nvSpPr>
        <p:spPr>
          <a:xfrm>
            <a:off x="4257675" y="2563813"/>
            <a:ext cx="4492625" cy="450850"/>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63" name="Google Shape;463;p13"/>
          <p:cNvSpPr/>
          <p:nvPr/>
        </p:nvSpPr>
        <p:spPr>
          <a:xfrm>
            <a:off x="4257675" y="2654300"/>
            <a:ext cx="4492625" cy="360363"/>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464" name="Google Shape;464;p13"/>
          <p:cNvCxnSpPr/>
          <p:nvPr/>
        </p:nvCxnSpPr>
        <p:spPr>
          <a:xfrm flipH="1">
            <a:off x="5346700" y="1477963"/>
            <a:ext cx="1111250" cy="1587"/>
          </a:xfrm>
          <a:prstGeom prst="straightConnector1">
            <a:avLst/>
          </a:prstGeom>
          <a:noFill/>
          <a:ln cap="flat" cmpd="sng" w="12700">
            <a:solidFill>
              <a:schemeClr val="dk1"/>
            </a:solidFill>
            <a:prstDash val="dash"/>
            <a:round/>
            <a:headEnd len="med" w="med" type="none"/>
            <a:tailEnd len="med" w="med" type="none"/>
          </a:ln>
        </p:spPr>
      </p:cxnSp>
      <p:sp>
        <p:nvSpPr>
          <p:cNvPr id="465" name="Google Shape;465;p13"/>
          <p:cNvSpPr/>
          <p:nvPr/>
        </p:nvSpPr>
        <p:spPr>
          <a:xfrm>
            <a:off x="5135563" y="1398588"/>
            <a:ext cx="212725" cy="157162"/>
          </a:xfrm>
          <a:custGeom>
            <a:rect b="b" l="l" r="r" t="t"/>
            <a:pathLst>
              <a:path extrusionOk="0" h="99" w="134">
                <a:moveTo>
                  <a:pt x="0" y="50"/>
                </a:moveTo>
                <a:lnTo>
                  <a:pt x="134" y="99"/>
                </a:lnTo>
                <a:lnTo>
                  <a:pt x="134" y="0"/>
                </a:lnTo>
                <a:lnTo>
                  <a:pt x="0" y="50"/>
                </a:lnTo>
                <a:close/>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66" name="Google Shape;466;p13"/>
          <p:cNvSpPr/>
          <p:nvPr/>
        </p:nvSpPr>
        <p:spPr>
          <a:xfrm>
            <a:off x="5980113" y="5230813"/>
            <a:ext cx="1214437" cy="979487"/>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67" name="Google Shape;467;p13"/>
          <p:cNvSpPr/>
          <p:nvPr/>
        </p:nvSpPr>
        <p:spPr>
          <a:xfrm>
            <a:off x="5980113" y="5624513"/>
            <a:ext cx="1214437" cy="585787"/>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68" name="Google Shape;468;p13"/>
          <p:cNvSpPr/>
          <p:nvPr/>
        </p:nvSpPr>
        <p:spPr>
          <a:xfrm>
            <a:off x="5980113" y="5715000"/>
            <a:ext cx="1214437" cy="495300"/>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69" name="Google Shape;469;p13"/>
          <p:cNvSpPr/>
          <p:nvPr/>
        </p:nvSpPr>
        <p:spPr>
          <a:xfrm>
            <a:off x="4144963" y="5087938"/>
            <a:ext cx="1385887" cy="855662"/>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70" name="Google Shape;470;p13"/>
          <p:cNvSpPr/>
          <p:nvPr/>
        </p:nvSpPr>
        <p:spPr>
          <a:xfrm>
            <a:off x="4144963" y="5481638"/>
            <a:ext cx="1385887" cy="461962"/>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71" name="Google Shape;471;p13"/>
          <p:cNvSpPr/>
          <p:nvPr/>
        </p:nvSpPr>
        <p:spPr>
          <a:xfrm>
            <a:off x="4144963" y="5572125"/>
            <a:ext cx="1385887" cy="371475"/>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472" name="Google Shape;472;p13"/>
          <p:cNvCxnSpPr/>
          <p:nvPr/>
        </p:nvCxnSpPr>
        <p:spPr>
          <a:xfrm flipH="1">
            <a:off x="4800600" y="4322763"/>
            <a:ext cx="590550" cy="752475"/>
          </a:xfrm>
          <a:prstGeom prst="straightConnector1">
            <a:avLst/>
          </a:prstGeom>
          <a:noFill/>
          <a:ln cap="flat" cmpd="sng" w="12700">
            <a:solidFill>
              <a:schemeClr val="dk1"/>
            </a:solidFill>
            <a:prstDash val="solid"/>
            <a:round/>
            <a:headEnd len="med" w="med" type="none"/>
            <a:tailEnd len="lg" w="lg" type="stealth"/>
          </a:ln>
        </p:spPr>
      </p:cxnSp>
      <p:sp>
        <p:nvSpPr>
          <p:cNvPr id="473" name="Google Shape;473;p13"/>
          <p:cNvSpPr/>
          <p:nvPr/>
        </p:nvSpPr>
        <p:spPr>
          <a:xfrm>
            <a:off x="5035550" y="4846638"/>
            <a:ext cx="84960"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1</a:t>
            </a:r>
            <a:endParaRPr sz="1800">
              <a:solidFill>
                <a:schemeClr val="dk1"/>
              </a:solidFill>
              <a:latin typeface="Arial"/>
              <a:ea typeface="Arial"/>
              <a:cs typeface="Arial"/>
              <a:sym typeface="Arial"/>
            </a:endParaRPr>
          </a:p>
        </p:txBody>
      </p:sp>
      <p:sp>
        <p:nvSpPr>
          <p:cNvPr id="474" name="Google Shape;474;p13"/>
          <p:cNvSpPr/>
          <p:nvPr/>
        </p:nvSpPr>
        <p:spPr>
          <a:xfrm>
            <a:off x="5437188" y="4359275"/>
            <a:ext cx="84960"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1</a:t>
            </a:r>
            <a:endParaRPr sz="1800">
              <a:solidFill>
                <a:schemeClr val="dk1"/>
              </a:solidFill>
              <a:latin typeface="Arial"/>
              <a:ea typeface="Arial"/>
              <a:cs typeface="Arial"/>
              <a:sym typeface="Arial"/>
            </a:endParaRPr>
          </a:p>
        </p:txBody>
      </p:sp>
      <p:cxnSp>
        <p:nvCxnSpPr>
          <p:cNvPr id="475" name="Google Shape;475;p13"/>
          <p:cNvCxnSpPr/>
          <p:nvPr/>
        </p:nvCxnSpPr>
        <p:spPr>
          <a:xfrm>
            <a:off x="6499225" y="4306888"/>
            <a:ext cx="93663" cy="898525"/>
          </a:xfrm>
          <a:prstGeom prst="straightConnector1">
            <a:avLst/>
          </a:prstGeom>
          <a:noFill/>
          <a:ln cap="flat" cmpd="sng" w="12700">
            <a:solidFill>
              <a:schemeClr val="dk1"/>
            </a:solidFill>
            <a:prstDash val="lgDash"/>
            <a:round/>
            <a:headEnd len="med" w="med" type="none"/>
            <a:tailEnd len="lg" w="lg" type="stealth"/>
          </a:ln>
        </p:spPr>
      </p:cxnSp>
      <p:sp>
        <p:nvSpPr>
          <p:cNvPr id="476" name="Google Shape;476;p13"/>
          <p:cNvSpPr/>
          <p:nvPr/>
        </p:nvSpPr>
        <p:spPr>
          <a:xfrm>
            <a:off x="1751013" y="3319463"/>
            <a:ext cx="1395412" cy="1012825"/>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77" name="Google Shape;477;p13"/>
          <p:cNvSpPr/>
          <p:nvPr/>
        </p:nvSpPr>
        <p:spPr>
          <a:xfrm>
            <a:off x="1831975" y="3365500"/>
            <a:ext cx="1276440"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CourseOfferingList</a:t>
            </a:r>
            <a:endParaRPr sz="1800">
              <a:solidFill>
                <a:schemeClr val="dk1"/>
              </a:solidFill>
              <a:latin typeface="Arial"/>
              <a:ea typeface="Arial"/>
              <a:cs typeface="Arial"/>
              <a:sym typeface="Arial"/>
            </a:endParaRPr>
          </a:p>
        </p:txBody>
      </p:sp>
      <p:sp>
        <p:nvSpPr>
          <p:cNvPr id="478" name="Google Shape;478;p13"/>
          <p:cNvSpPr/>
          <p:nvPr/>
        </p:nvSpPr>
        <p:spPr>
          <a:xfrm>
            <a:off x="1751013" y="3713163"/>
            <a:ext cx="1395412" cy="619125"/>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79" name="Google Shape;479;p13"/>
          <p:cNvSpPr/>
          <p:nvPr/>
        </p:nvSpPr>
        <p:spPr>
          <a:xfrm>
            <a:off x="1751013" y="3803650"/>
            <a:ext cx="1395412" cy="528638"/>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80" name="Google Shape;480;p13"/>
          <p:cNvSpPr/>
          <p:nvPr/>
        </p:nvSpPr>
        <p:spPr>
          <a:xfrm>
            <a:off x="1846289" y="3916375"/>
            <a:ext cx="8319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new()</a:t>
            </a:r>
            <a:endParaRPr sz="1800">
              <a:solidFill>
                <a:schemeClr val="dk1"/>
              </a:solidFill>
              <a:latin typeface="Arial"/>
              <a:ea typeface="Arial"/>
              <a:cs typeface="Arial"/>
              <a:sym typeface="Arial"/>
            </a:endParaRPr>
          </a:p>
        </p:txBody>
      </p:sp>
      <p:sp>
        <p:nvSpPr>
          <p:cNvPr id="481" name="Google Shape;481;p13"/>
          <p:cNvSpPr/>
          <p:nvPr/>
        </p:nvSpPr>
        <p:spPr>
          <a:xfrm>
            <a:off x="1846283" y="4095750"/>
            <a:ext cx="5907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add()</a:t>
            </a:r>
            <a:endParaRPr sz="1800">
              <a:solidFill>
                <a:schemeClr val="dk1"/>
              </a:solidFill>
              <a:latin typeface="Arial"/>
              <a:ea typeface="Arial"/>
              <a:cs typeface="Arial"/>
              <a:sym typeface="Arial"/>
            </a:endParaRPr>
          </a:p>
        </p:txBody>
      </p:sp>
      <p:sp>
        <p:nvSpPr>
          <p:cNvPr id="482" name="Google Shape;482;p13"/>
          <p:cNvSpPr/>
          <p:nvPr/>
        </p:nvSpPr>
        <p:spPr>
          <a:xfrm>
            <a:off x="1816100" y="3567125"/>
            <a:ext cx="1638300" cy="1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900">
                <a:solidFill>
                  <a:schemeClr val="dk1"/>
                </a:solidFill>
                <a:latin typeface="Constantia"/>
                <a:ea typeface="Constantia"/>
                <a:cs typeface="Constantia"/>
                <a:sym typeface="Constantia"/>
              </a:rPr>
              <a:t>(from University Artifacts)</a:t>
            </a:r>
            <a:endParaRPr sz="1800">
              <a:solidFill>
                <a:schemeClr val="dk1"/>
              </a:solidFill>
              <a:latin typeface="Arial"/>
              <a:ea typeface="Arial"/>
              <a:cs typeface="Arial"/>
              <a:sym typeface="Arial"/>
            </a:endParaRPr>
          </a:p>
        </p:txBody>
      </p:sp>
      <p:sp>
        <p:nvSpPr>
          <p:cNvPr id="483" name="Google Shape;483;p13"/>
          <p:cNvSpPr/>
          <p:nvPr/>
        </p:nvSpPr>
        <p:spPr>
          <a:xfrm>
            <a:off x="1771650" y="4948238"/>
            <a:ext cx="1455738" cy="1214437"/>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84" name="Google Shape;484;p13"/>
          <p:cNvSpPr/>
          <p:nvPr/>
        </p:nvSpPr>
        <p:spPr>
          <a:xfrm>
            <a:off x="1771650" y="5521325"/>
            <a:ext cx="1455738" cy="641350"/>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85" name="Google Shape;485;p13"/>
          <p:cNvSpPr/>
          <p:nvPr/>
        </p:nvSpPr>
        <p:spPr>
          <a:xfrm>
            <a:off x="1771650" y="5611813"/>
            <a:ext cx="1455738" cy="550862"/>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486" name="Google Shape;486;p13"/>
          <p:cNvCxnSpPr/>
          <p:nvPr/>
        </p:nvCxnSpPr>
        <p:spPr>
          <a:xfrm flipH="1">
            <a:off x="3227388" y="4205288"/>
            <a:ext cx="1876425" cy="963612"/>
          </a:xfrm>
          <a:prstGeom prst="straightConnector1">
            <a:avLst/>
          </a:prstGeom>
          <a:noFill/>
          <a:ln cap="flat" cmpd="sng" w="12700">
            <a:solidFill>
              <a:schemeClr val="dk1"/>
            </a:solidFill>
            <a:prstDash val="lgDash"/>
            <a:round/>
            <a:headEnd len="med" w="med" type="none"/>
            <a:tailEnd len="lg" w="lg" type="stealth"/>
          </a:ln>
        </p:spPr>
      </p:cxnSp>
      <p:cxnSp>
        <p:nvCxnSpPr>
          <p:cNvPr id="487" name="Google Shape;487;p13"/>
          <p:cNvCxnSpPr/>
          <p:nvPr/>
        </p:nvCxnSpPr>
        <p:spPr>
          <a:xfrm>
            <a:off x="2498725" y="1978025"/>
            <a:ext cx="1588" cy="1316038"/>
          </a:xfrm>
          <a:prstGeom prst="straightConnector1">
            <a:avLst/>
          </a:prstGeom>
          <a:noFill/>
          <a:ln cap="flat" cmpd="sng" w="12700">
            <a:solidFill>
              <a:schemeClr val="dk1"/>
            </a:solidFill>
            <a:prstDash val="lgDash"/>
            <a:round/>
            <a:headEnd len="med" w="med" type="none"/>
            <a:tailEnd len="lg" w="lg" type="stealth"/>
          </a:ln>
        </p:spPr>
      </p:cxnSp>
      <p:cxnSp>
        <p:nvCxnSpPr>
          <p:cNvPr id="488" name="Google Shape;488;p13"/>
          <p:cNvCxnSpPr/>
          <p:nvPr/>
        </p:nvCxnSpPr>
        <p:spPr>
          <a:xfrm flipH="1">
            <a:off x="3146425" y="3887788"/>
            <a:ext cx="1954213" cy="1587"/>
          </a:xfrm>
          <a:prstGeom prst="straightConnector1">
            <a:avLst/>
          </a:prstGeom>
          <a:noFill/>
          <a:ln cap="flat" cmpd="sng" w="12700">
            <a:solidFill>
              <a:schemeClr val="dk1"/>
            </a:solidFill>
            <a:prstDash val="lgDash"/>
            <a:round/>
            <a:headEnd len="med" w="med" type="none"/>
            <a:tailEnd len="lg" w="lg" type="stealth"/>
          </a:ln>
        </p:spPr>
      </p:cxnSp>
      <p:sp>
        <p:nvSpPr>
          <p:cNvPr id="489" name="Google Shape;489;p13"/>
          <p:cNvSpPr/>
          <p:nvPr/>
        </p:nvSpPr>
        <p:spPr>
          <a:xfrm>
            <a:off x="7662863" y="5359400"/>
            <a:ext cx="831850" cy="831850"/>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90" name="Google Shape;490;p13"/>
          <p:cNvSpPr/>
          <p:nvPr/>
        </p:nvSpPr>
        <p:spPr>
          <a:xfrm>
            <a:off x="7662863" y="5753100"/>
            <a:ext cx="831850" cy="438150"/>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91" name="Google Shape;491;p13"/>
          <p:cNvSpPr/>
          <p:nvPr/>
        </p:nvSpPr>
        <p:spPr>
          <a:xfrm>
            <a:off x="7662863" y="5842000"/>
            <a:ext cx="831850" cy="349250"/>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492" name="Google Shape;492;p13"/>
          <p:cNvCxnSpPr/>
          <p:nvPr/>
        </p:nvCxnSpPr>
        <p:spPr>
          <a:xfrm>
            <a:off x="7693025" y="4344988"/>
            <a:ext cx="401638" cy="976312"/>
          </a:xfrm>
          <a:prstGeom prst="straightConnector1">
            <a:avLst/>
          </a:prstGeom>
          <a:noFill/>
          <a:ln cap="flat" cmpd="sng" w="12700">
            <a:solidFill>
              <a:schemeClr val="dk1"/>
            </a:solidFill>
            <a:prstDash val="lgDash"/>
            <a:round/>
            <a:headEnd len="med" w="med" type="none"/>
            <a:tailEnd len="lg" w="lg" type="stealth"/>
          </a:ln>
        </p:spPr>
      </p:cxnSp>
      <p:cxnSp>
        <p:nvCxnSpPr>
          <p:cNvPr id="493" name="Google Shape;493;p13"/>
          <p:cNvCxnSpPr/>
          <p:nvPr/>
        </p:nvCxnSpPr>
        <p:spPr>
          <a:xfrm flipH="1">
            <a:off x="3159125" y="3013075"/>
            <a:ext cx="1473200" cy="615950"/>
          </a:xfrm>
          <a:prstGeom prst="straightConnector1">
            <a:avLst/>
          </a:prstGeom>
          <a:noFill/>
          <a:ln cap="flat" cmpd="sng" w="12700">
            <a:solidFill>
              <a:schemeClr val="dk1"/>
            </a:solidFill>
            <a:prstDash val="lgDash"/>
            <a:round/>
            <a:headEnd len="med" w="med" type="none"/>
            <a:tailEnd len="lg" w="lg" type="stealth"/>
          </a:ln>
        </p:spPr>
      </p:cxnSp>
      <p:sp>
        <p:nvSpPr>
          <p:cNvPr id="494" name="Google Shape;494;p13"/>
          <p:cNvSpPr/>
          <p:nvPr/>
        </p:nvSpPr>
        <p:spPr>
          <a:xfrm>
            <a:off x="2636838" y="4370388"/>
            <a:ext cx="84960"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1</a:t>
            </a:r>
            <a:endParaRPr sz="1800">
              <a:solidFill>
                <a:schemeClr val="dk1"/>
              </a:solidFill>
              <a:latin typeface="Arial"/>
              <a:ea typeface="Arial"/>
              <a:cs typeface="Arial"/>
              <a:sym typeface="Arial"/>
            </a:endParaRPr>
          </a:p>
        </p:txBody>
      </p:sp>
      <p:sp>
        <p:nvSpPr>
          <p:cNvPr id="495" name="Google Shape;495;p13"/>
          <p:cNvSpPr/>
          <p:nvPr/>
        </p:nvSpPr>
        <p:spPr>
          <a:xfrm>
            <a:off x="2449513" y="4341813"/>
            <a:ext cx="109537" cy="180975"/>
          </a:xfrm>
          <a:custGeom>
            <a:rect b="b" l="l" r="r" t="t"/>
            <a:pathLst>
              <a:path extrusionOk="0" h="114" w="69">
                <a:moveTo>
                  <a:pt x="37" y="0"/>
                </a:moveTo>
                <a:lnTo>
                  <a:pt x="69" y="54"/>
                </a:lnTo>
                <a:lnTo>
                  <a:pt x="36" y="114"/>
                </a:lnTo>
                <a:lnTo>
                  <a:pt x="0" y="54"/>
                </a:lnTo>
                <a:lnTo>
                  <a:pt x="37" y="0"/>
                </a:lnTo>
                <a:close/>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96" name="Google Shape;496;p13"/>
          <p:cNvSpPr/>
          <p:nvPr/>
        </p:nvSpPr>
        <p:spPr>
          <a:xfrm>
            <a:off x="2624138" y="4740275"/>
            <a:ext cx="230832"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0..*</a:t>
            </a:r>
            <a:endParaRPr sz="1800">
              <a:solidFill>
                <a:schemeClr val="dk1"/>
              </a:solidFill>
              <a:latin typeface="Arial"/>
              <a:ea typeface="Arial"/>
              <a:cs typeface="Arial"/>
              <a:sym typeface="Arial"/>
            </a:endParaRPr>
          </a:p>
        </p:txBody>
      </p:sp>
      <p:cxnSp>
        <p:nvCxnSpPr>
          <p:cNvPr id="497" name="Google Shape;497;p13"/>
          <p:cNvCxnSpPr/>
          <p:nvPr/>
        </p:nvCxnSpPr>
        <p:spPr>
          <a:xfrm>
            <a:off x="2505075" y="4522788"/>
            <a:ext cx="0" cy="390525"/>
          </a:xfrm>
          <a:prstGeom prst="straightConnector1">
            <a:avLst/>
          </a:prstGeom>
          <a:noFill/>
          <a:ln cap="flat" cmpd="sng" w="12700">
            <a:solidFill>
              <a:schemeClr val="dk1"/>
            </a:solidFill>
            <a:prstDash val="solid"/>
            <a:round/>
            <a:headEnd len="med" w="med" type="none"/>
            <a:tailEnd len="lg" w="lg" type="stealth"/>
          </a:ln>
        </p:spPr>
      </p:cxnSp>
      <p:cxnSp>
        <p:nvCxnSpPr>
          <p:cNvPr id="498" name="Google Shape;498;p13"/>
          <p:cNvCxnSpPr/>
          <p:nvPr/>
        </p:nvCxnSpPr>
        <p:spPr>
          <a:xfrm>
            <a:off x="7734300" y="1651000"/>
            <a:ext cx="0" cy="457200"/>
          </a:xfrm>
          <a:prstGeom prst="straightConnector1">
            <a:avLst/>
          </a:prstGeom>
          <a:noFill/>
          <a:ln cap="flat" cmpd="sng" w="28575">
            <a:solidFill>
              <a:schemeClr val="hlink"/>
            </a:solidFill>
            <a:prstDash val="solid"/>
            <a:round/>
            <a:headEnd len="sm" w="sm" type="none"/>
            <a:tailEnd len="med" w="med" type="triangle"/>
          </a:ln>
        </p:spPr>
      </p:cxnSp>
      <p:cxnSp>
        <p:nvCxnSpPr>
          <p:cNvPr id="499" name="Google Shape;499;p13"/>
          <p:cNvCxnSpPr/>
          <p:nvPr/>
        </p:nvCxnSpPr>
        <p:spPr>
          <a:xfrm>
            <a:off x="6459538" y="1477963"/>
            <a:ext cx="0" cy="663575"/>
          </a:xfrm>
          <a:prstGeom prst="straightConnector1">
            <a:avLst/>
          </a:prstGeom>
          <a:noFill/>
          <a:ln cap="flat" cmpd="sng" w="12700">
            <a:solidFill>
              <a:schemeClr val="dk1"/>
            </a:solidFill>
            <a:prstDash val="lgDash"/>
            <a:round/>
            <a:headEnd len="med" w="med" type="none"/>
            <a:tailEnd len="sm" w="sm" type="none"/>
          </a:ln>
        </p:spPr>
      </p:cxnSp>
      <p:sp>
        <p:nvSpPr>
          <p:cNvPr id="500" name="Google Shape;500;p13"/>
          <p:cNvSpPr/>
          <p:nvPr/>
        </p:nvSpPr>
        <p:spPr>
          <a:xfrm>
            <a:off x="1957388" y="5172075"/>
            <a:ext cx="1128514"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chemeClr val="dk1"/>
                </a:solidFill>
                <a:latin typeface="Constantia"/>
                <a:ea typeface="Constantia"/>
                <a:cs typeface="Constantia"/>
                <a:sym typeface="Constantia"/>
              </a:rPr>
              <a:t>CourseOffering</a:t>
            </a:r>
            <a:endParaRPr b="1" sz="1800">
              <a:solidFill>
                <a:schemeClr val="dk1"/>
              </a:solidFill>
              <a:latin typeface="Arial"/>
              <a:ea typeface="Arial"/>
              <a:cs typeface="Arial"/>
              <a:sym typeface="Arial"/>
            </a:endParaRPr>
          </a:p>
        </p:txBody>
      </p:sp>
      <p:sp>
        <p:nvSpPr>
          <p:cNvPr id="501" name="Google Shape;501;p13"/>
          <p:cNvSpPr/>
          <p:nvPr/>
        </p:nvSpPr>
        <p:spPr>
          <a:xfrm>
            <a:off x="1905000" y="5724525"/>
            <a:ext cx="5907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new()</a:t>
            </a:r>
            <a:endParaRPr sz="1800">
              <a:solidFill>
                <a:schemeClr val="dk1"/>
              </a:solidFill>
              <a:latin typeface="Arial"/>
              <a:ea typeface="Arial"/>
              <a:cs typeface="Arial"/>
              <a:sym typeface="Arial"/>
            </a:endParaRPr>
          </a:p>
        </p:txBody>
      </p:sp>
      <p:sp>
        <p:nvSpPr>
          <p:cNvPr id="502" name="Google Shape;502;p13"/>
          <p:cNvSpPr/>
          <p:nvPr/>
        </p:nvSpPr>
        <p:spPr>
          <a:xfrm>
            <a:off x="1905000" y="5903913"/>
            <a:ext cx="631583"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setData()</a:t>
            </a:r>
            <a:endParaRPr sz="1800">
              <a:solidFill>
                <a:schemeClr val="dk1"/>
              </a:solidFill>
              <a:latin typeface="Arial"/>
              <a:ea typeface="Arial"/>
              <a:cs typeface="Arial"/>
              <a:sym typeface="Arial"/>
            </a:endParaRPr>
          </a:p>
        </p:txBody>
      </p:sp>
      <p:sp>
        <p:nvSpPr>
          <p:cNvPr id="503" name="Google Shape;503;p13"/>
          <p:cNvSpPr/>
          <p:nvPr/>
        </p:nvSpPr>
        <p:spPr>
          <a:xfrm>
            <a:off x="1866900" y="5364175"/>
            <a:ext cx="1638300" cy="1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900">
                <a:solidFill>
                  <a:schemeClr val="dk1"/>
                </a:solidFill>
                <a:latin typeface="Constantia"/>
                <a:ea typeface="Constantia"/>
                <a:cs typeface="Constantia"/>
                <a:sym typeface="Constantia"/>
              </a:rPr>
              <a:t>(from University Artifacts)</a:t>
            </a:r>
            <a:endParaRPr sz="1800">
              <a:solidFill>
                <a:schemeClr val="dk1"/>
              </a:solidFill>
              <a:latin typeface="Arial"/>
              <a:ea typeface="Arial"/>
              <a:cs typeface="Arial"/>
              <a:sym typeface="Arial"/>
            </a:endParaRPr>
          </a:p>
        </p:txBody>
      </p:sp>
      <p:sp>
        <p:nvSpPr>
          <p:cNvPr id="504" name="Google Shape;504;p13"/>
          <p:cNvSpPr/>
          <p:nvPr/>
        </p:nvSpPr>
        <p:spPr>
          <a:xfrm>
            <a:off x="2208213" y="4992688"/>
            <a:ext cx="743793"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&lt;&lt;Entity&gt;&gt;</a:t>
            </a:r>
            <a:endParaRPr sz="1800">
              <a:solidFill>
                <a:schemeClr val="dk1"/>
              </a:solidFill>
              <a:latin typeface="Arial"/>
              <a:ea typeface="Arial"/>
              <a:cs typeface="Arial"/>
              <a:sym typeface="Arial"/>
            </a:endParaRPr>
          </a:p>
        </p:txBody>
      </p:sp>
      <p:sp>
        <p:nvSpPr>
          <p:cNvPr id="505" name="Google Shape;505;p13"/>
          <p:cNvSpPr/>
          <p:nvPr/>
        </p:nvSpPr>
        <p:spPr>
          <a:xfrm>
            <a:off x="6267450" y="5275263"/>
            <a:ext cx="700513"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Statement</a:t>
            </a:r>
            <a:endParaRPr sz="1800">
              <a:solidFill>
                <a:schemeClr val="dk1"/>
              </a:solidFill>
              <a:latin typeface="Arial"/>
              <a:ea typeface="Arial"/>
              <a:cs typeface="Arial"/>
              <a:sym typeface="Arial"/>
            </a:endParaRPr>
          </a:p>
        </p:txBody>
      </p:sp>
      <p:sp>
        <p:nvSpPr>
          <p:cNvPr id="506" name="Google Shape;506;p13"/>
          <p:cNvSpPr/>
          <p:nvPr/>
        </p:nvSpPr>
        <p:spPr>
          <a:xfrm>
            <a:off x="6011863" y="5827713"/>
            <a:ext cx="1057982"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executeQuery()</a:t>
            </a:r>
            <a:endParaRPr sz="1800">
              <a:solidFill>
                <a:schemeClr val="dk1"/>
              </a:solidFill>
              <a:latin typeface="Arial"/>
              <a:ea typeface="Arial"/>
              <a:cs typeface="Arial"/>
              <a:sym typeface="Arial"/>
            </a:endParaRPr>
          </a:p>
        </p:txBody>
      </p:sp>
      <p:sp>
        <p:nvSpPr>
          <p:cNvPr id="507" name="Google Shape;507;p13"/>
          <p:cNvSpPr/>
          <p:nvPr/>
        </p:nvSpPr>
        <p:spPr>
          <a:xfrm>
            <a:off x="6011863" y="6007100"/>
            <a:ext cx="1133324"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executeUpdate()</a:t>
            </a:r>
            <a:endParaRPr sz="1800">
              <a:solidFill>
                <a:schemeClr val="dk1"/>
              </a:solidFill>
              <a:latin typeface="Arial"/>
              <a:ea typeface="Arial"/>
              <a:cs typeface="Arial"/>
              <a:sym typeface="Arial"/>
            </a:endParaRPr>
          </a:p>
        </p:txBody>
      </p:sp>
      <p:sp>
        <p:nvSpPr>
          <p:cNvPr id="508" name="Google Shape;508;p13"/>
          <p:cNvSpPr/>
          <p:nvPr/>
        </p:nvSpPr>
        <p:spPr>
          <a:xfrm>
            <a:off x="6246813" y="5478463"/>
            <a:ext cx="730969" cy="13849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900">
                <a:solidFill>
                  <a:schemeClr val="dk1"/>
                </a:solidFill>
                <a:latin typeface="Constantia"/>
                <a:ea typeface="Constantia"/>
                <a:cs typeface="Constantia"/>
                <a:sym typeface="Constantia"/>
              </a:rPr>
              <a:t>(from java.sql)</a:t>
            </a:r>
            <a:endParaRPr sz="1800">
              <a:solidFill>
                <a:schemeClr val="dk1"/>
              </a:solidFill>
              <a:latin typeface="Arial"/>
              <a:ea typeface="Arial"/>
              <a:cs typeface="Arial"/>
              <a:sym typeface="Arial"/>
            </a:endParaRPr>
          </a:p>
        </p:txBody>
      </p:sp>
      <p:sp>
        <p:nvSpPr>
          <p:cNvPr id="509" name="Google Shape;509;p13"/>
          <p:cNvSpPr/>
          <p:nvPr/>
        </p:nvSpPr>
        <p:spPr>
          <a:xfrm>
            <a:off x="4497388" y="5132388"/>
            <a:ext cx="774251"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Connection</a:t>
            </a:r>
            <a:endParaRPr sz="1800">
              <a:solidFill>
                <a:schemeClr val="dk1"/>
              </a:solidFill>
              <a:latin typeface="Arial"/>
              <a:ea typeface="Arial"/>
              <a:cs typeface="Arial"/>
              <a:sym typeface="Arial"/>
            </a:endParaRPr>
          </a:p>
        </p:txBody>
      </p:sp>
      <p:sp>
        <p:nvSpPr>
          <p:cNvPr id="510" name="Google Shape;510;p13"/>
          <p:cNvSpPr/>
          <p:nvPr/>
        </p:nvSpPr>
        <p:spPr>
          <a:xfrm>
            <a:off x="4187825" y="5684838"/>
            <a:ext cx="1229504"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createStatement()</a:t>
            </a:r>
            <a:endParaRPr sz="1800">
              <a:solidFill>
                <a:schemeClr val="dk1"/>
              </a:solidFill>
              <a:latin typeface="Arial"/>
              <a:ea typeface="Arial"/>
              <a:cs typeface="Arial"/>
              <a:sym typeface="Arial"/>
            </a:endParaRPr>
          </a:p>
        </p:txBody>
      </p:sp>
      <p:sp>
        <p:nvSpPr>
          <p:cNvPr id="511" name="Google Shape;511;p13"/>
          <p:cNvSpPr/>
          <p:nvPr/>
        </p:nvSpPr>
        <p:spPr>
          <a:xfrm>
            <a:off x="4497388" y="5335588"/>
            <a:ext cx="730969" cy="13849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900">
                <a:solidFill>
                  <a:schemeClr val="dk1"/>
                </a:solidFill>
                <a:latin typeface="Constantia"/>
                <a:ea typeface="Constantia"/>
                <a:cs typeface="Constantia"/>
                <a:sym typeface="Constantia"/>
              </a:rPr>
              <a:t>(from java.sql)</a:t>
            </a:r>
            <a:endParaRPr sz="1800">
              <a:solidFill>
                <a:schemeClr val="dk1"/>
              </a:solidFill>
              <a:latin typeface="Arial"/>
              <a:ea typeface="Arial"/>
              <a:cs typeface="Arial"/>
              <a:sym typeface="Arial"/>
            </a:endParaRPr>
          </a:p>
        </p:txBody>
      </p:sp>
      <p:sp>
        <p:nvSpPr>
          <p:cNvPr id="512" name="Google Shape;512;p13"/>
          <p:cNvSpPr/>
          <p:nvPr/>
        </p:nvSpPr>
        <p:spPr>
          <a:xfrm>
            <a:off x="7742238" y="5416550"/>
            <a:ext cx="665247"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ResultSet</a:t>
            </a:r>
            <a:endParaRPr sz="1800">
              <a:solidFill>
                <a:schemeClr val="dk1"/>
              </a:solidFill>
              <a:latin typeface="Arial"/>
              <a:ea typeface="Arial"/>
              <a:cs typeface="Arial"/>
              <a:sym typeface="Arial"/>
            </a:endParaRPr>
          </a:p>
        </p:txBody>
      </p:sp>
      <p:sp>
        <p:nvSpPr>
          <p:cNvPr id="513" name="Google Shape;513;p13"/>
          <p:cNvSpPr/>
          <p:nvPr/>
        </p:nvSpPr>
        <p:spPr>
          <a:xfrm>
            <a:off x="7694613" y="5954713"/>
            <a:ext cx="716543"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getString()</a:t>
            </a:r>
            <a:endParaRPr sz="1800">
              <a:solidFill>
                <a:schemeClr val="dk1"/>
              </a:solidFill>
              <a:latin typeface="Arial"/>
              <a:ea typeface="Arial"/>
              <a:cs typeface="Arial"/>
              <a:sym typeface="Arial"/>
            </a:endParaRPr>
          </a:p>
        </p:txBody>
      </p:sp>
      <p:sp>
        <p:nvSpPr>
          <p:cNvPr id="514" name="Google Shape;514;p13"/>
          <p:cNvSpPr/>
          <p:nvPr/>
        </p:nvSpPr>
        <p:spPr>
          <a:xfrm>
            <a:off x="7715250" y="5605463"/>
            <a:ext cx="730969" cy="13849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900">
                <a:solidFill>
                  <a:schemeClr val="dk1"/>
                </a:solidFill>
                <a:latin typeface="Constantia"/>
                <a:ea typeface="Constantia"/>
                <a:cs typeface="Constantia"/>
                <a:sym typeface="Constantia"/>
              </a:rPr>
              <a:t>(from java.sql)</a:t>
            </a:r>
            <a:endParaRPr sz="1800">
              <a:solidFill>
                <a:schemeClr val="dk1"/>
              </a:solidFill>
              <a:latin typeface="Arial"/>
              <a:ea typeface="Arial"/>
              <a:cs typeface="Arial"/>
              <a:sym typeface="Arial"/>
            </a:endParaRPr>
          </a:p>
        </p:txBody>
      </p:sp>
      <p:sp>
        <p:nvSpPr>
          <p:cNvPr id="515" name="Google Shape;515;p13"/>
          <p:cNvSpPr/>
          <p:nvPr/>
        </p:nvSpPr>
        <p:spPr>
          <a:xfrm>
            <a:off x="5888038" y="3495675"/>
            <a:ext cx="1302088"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DBCourseOfferring</a:t>
            </a:r>
            <a:endParaRPr sz="1800">
              <a:solidFill>
                <a:schemeClr val="dk1"/>
              </a:solidFill>
              <a:latin typeface="Arial"/>
              <a:ea typeface="Arial"/>
              <a:cs typeface="Arial"/>
              <a:sym typeface="Arial"/>
            </a:endParaRPr>
          </a:p>
        </p:txBody>
      </p:sp>
      <p:sp>
        <p:nvSpPr>
          <p:cNvPr id="516" name="Google Shape;516;p13"/>
          <p:cNvSpPr/>
          <p:nvPr/>
        </p:nvSpPr>
        <p:spPr>
          <a:xfrm>
            <a:off x="4916488" y="3889375"/>
            <a:ext cx="1696426"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create() : CourseOffering</a:t>
            </a:r>
            <a:endParaRPr sz="1800">
              <a:solidFill>
                <a:schemeClr val="dk1"/>
              </a:solidFill>
              <a:latin typeface="Arial"/>
              <a:ea typeface="Arial"/>
              <a:cs typeface="Arial"/>
              <a:sym typeface="Arial"/>
            </a:endParaRPr>
          </a:p>
        </p:txBody>
      </p:sp>
      <p:sp>
        <p:nvSpPr>
          <p:cNvPr id="517" name="Google Shape;517;p13"/>
          <p:cNvSpPr/>
          <p:nvPr/>
        </p:nvSpPr>
        <p:spPr>
          <a:xfrm>
            <a:off x="4916488" y="4070350"/>
            <a:ext cx="3273781"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read(searchCriteria : string) : CourseOfferingList</a:t>
            </a:r>
            <a:endParaRPr sz="1800">
              <a:solidFill>
                <a:schemeClr val="dk1"/>
              </a:solidFill>
              <a:latin typeface="Arial"/>
              <a:ea typeface="Arial"/>
              <a:cs typeface="Arial"/>
              <a:sym typeface="Arial"/>
            </a:endParaRPr>
          </a:p>
        </p:txBody>
      </p:sp>
      <p:sp>
        <p:nvSpPr>
          <p:cNvPr id="518" name="Google Shape;518;p13"/>
          <p:cNvSpPr/>
          <p:nvPr/>
        </p:nvSpPr>
        <p:spPr>
          <a:xfrm>
            <a:off x="5654675" y="2373313"/>
            <a:ext cx="1638269"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chemeClr val="dk1"/>
                </a:solidFill>
                <a:latin typeface="Constantia"/>
                <a:ea typeface="Constantia"/>
                <a:cs typeface="Constantia"/>
                <a:sym typeface="Constantia"/>
              </a:rPr>
              <a:t>CourseCatalogSystem</a:t>
            </a:r>
            <a:endParaRPr b="1" sz="1800">
              <a:solidFill>
                <a:schemeClr val="dk1"/>
              </a:solidFill>
              <a:latin typeface="Arial"/>
              <a:ea typeface="Arial"/>
              <a:cs typeface="Arial"/>
              <a:sym typeface="Arial"/>
            </a:endParaRPr>
          </a:p>
        </p:txBody>
      </p:sp>
      <p:sp>
        <p:nvSpPr>
          <p:cNvPr id="519" name="Google Shape;519;p13"/>
          <p:cNvSpPr/>
          <p:nvPr/>
        </p:nvSpPr>
        <p:spPr>
          <a:xfrm>
            <a:off x="4291013" y="2778125"/>
            <a:ext cx="4460452"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getCourseOfferings(forSemester : Semester) : CourseOfferingList</a:t>
            </a:r>
            <a:endParaRPr sz="1800">
              <a:solidFill>
                <a:schemeClr val="dk1"/>
              </a:solidFill>
              <a:latin typeface="Arial"/>
              <a:ea typeface="Arial"/>
              <a:cs typeface="Arial"/>
              <a:sym typeface="Arial"/>
            </a:endParaRPr>
          </a:p>
        </p:txBody>
      </p:sp>
      <p:sp>
        <p:nvSpPr>
          <p:cNvPr id="520" name="Google Shape;520;p13"/>
          <p:cNvSpPr/>
          <p:nvPr/>
        </p:nvSpPr>
        <p:spPr>
          <a:xfrm>
            <a:off x="5711825" y="2193925"/>
            <a:ext cx="1511632"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&lt;&lt;subsystem proxy&gt;&gt;</a:t>
            </a:r>
            <a:endParaRPr sz="1800">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cxnSp>
        <p:nvCxnSpPr>
          <p:cNvPr id="528" name="Google Shape;528;p14"/>
          <p:cNvCxnSpPr/>
          <p:nvPr/>
        </p:nvCxnSpPr>
        <p:spPr>
          <a:xfrm>
            <a:off x="5843588" y="2616200"/>
            <a:ext cx="979487" cy="628650"/>
          </a:xfrm>
          <a:prstGeom prst="straightConnector1">
            <a:avLst/>
          </a:prstGeom>
          <a:noFill/>
          <a:ln cap="flat" cmpd="sng" w="12700">
            <a:solidFill>
              <a:schemeClr val="dk1"/>
            </a:solidFill>
            <a:prstDash val="lgDash"/>
            <a:round/>
            <a:headEnd len="med" w="med" type="none"/>
            <a:tailEnd len="lg" w="lg" type="stealth"/>
          </a:ln>
        </p:spPr>
      </p:cxnSp>
      <p:cxnSp>
        <p:nvCxnSpPr>
          <p:cNvPr id="529" name="Google Shape;529;p14"/>
          <p:cNvCxnSpPr/>
          <p:nvPr/>
        </p:nvCxnSpPr>
        <p:spPr>
          <a:xfrm flipH="1" rot="10800000">
            <a:off x="4125913" y="2603500"/>
            <a:ext cx="596900" cy="592138"/>
          </a:xfrm>
          <a:prstGeom prst="straightConnector1">
            <a:avLst/>
          </a:prstGeom>
          <a:noFill/>
          <a:ln cap="flat" cmpd="sng" w="12700">
            <a:solidFill>
              <a:schemeClr val="dk1"/>
            </a:solidFill>
            <a:prstDash val="lgDash"/>
            <a:round/>
            <a:headEnd len="med" w="med" type="none"/>
            <a:tailEnd len="lg" w="lg" type="stealth"/>
          </a:ln>
        </p:spPr>
      </p:cxnSp>
      <p:cxnSp>
        <p:nvCxnSpPr>
          <p:cNvPr id="530" name="Google Shape;530;p14"/>
          <p:cNvCxnSpPr/>
          <p:nvPr/>
        </p:nvCxnSpPr>
        <p:spPr>
          <a:xfrm rot="10800000">
            <a:off x="2640013" y="2376488"/>
            <a:ext cx="0" cy="831850"/>
          </a:xfrm>
          <a:prstGeom prst="straightConnector1">
            <a:avLst/>
          </a:prstGeom>
          <a:noFill/>
          <a:ln cap="flat" cmpd="sng" w="12700">
            <a:solidFill>
              <a:schemeClr val="dk1"/>
            </a:solidFill>
            <a:prstDash val="lgDash"/>
            <a:round/>
            <a:headEnd len="med" w="med" type="none"/>
            <a:tailEnd len="med" w="med" type="none"/>
          </a:ln>
        </p:spPr>
      </p:cxnSp>
      <p:sp>
        <p:nvSpPr>
          <p:cNvPr id="531" name="Google Shape;531;p14"/>
          <p:cNvSpPr/>
          <p:nvPr/>
        </p:nvSpPr>
        <p:spPr>
          <a:xfrm>
            <a:off x="2562225" y="2151063"/>
            <a:ext cx="157163" cy="225425"/>
          </a:xfrm>
          <a:custGeom>
            <a:rect b="b" l="l" r="r" t="t"/>
            <a:pathLst>
              <a:path extrusionOk="0" h="142" w="99">
                <a:moveTo>
                  <a:pt x="49" y="0"/>
                </a:moveTo>
                <a:lnTo>
                  <a:pt x="99" y="142"/>
                </a:lnTo>
                <a:lnTo>
                  <a:pt x="0" y="142"/>
                </a:lnTo>
                <a:lnTo>
                  <a:pt x="49" y="0"/>
                </a:lnTo>
                <a:close/>
              </a:path>
            </a:pathLst>
          </a:cu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32" name="Google Shape;532;p14"/>
          <p:cNvSpPr/>
          <p:nvPr/>
        </p:nvSpPr>
        <p:spPr>
          <a:xfrm>
            <a:off x="3540125" y="1641475"/>
            <a:ext cx="4040188" cy="1479550"/>
          </a:xfrm>
          <a:custGeom>
            <a:rect b="b" l="l" r="r" t="t"/>
            <a:pathLst>
              <a:path extrusionOk="0" h="133" w="472">
                <a:moveTo>
                  <a:pt x="0" y="0"/>
                </a:moveTo>
                <a:lnTo>
                  <a:pt x="472" y="0"/>
                </a:lnTo>
                <a:lnTo>
                  <a:pt x="472" y="133"/>
                </a:lnTo>
              </a:path>
            </a:pathLst>
          </a:custGeom>
          <a:noFill/>
          <a:ln cap="flat" cmpd="sng" w="12700">
            <a:solidFill>
              <a:schemeClr val="dk1"/>
            </a:solidFill>
            <a:prstDash val="lgDash"/>
            <a:round/>
            <a:headEnd len="sm" w="sm" type="none"/>
            <a:tailEnd len="lg" w="lg" type="stealth"/>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533" name="Google Shape;533;p14"/>
          <p:cNvCxnSpPr/>
          <p:nvPr/>
        </p:nvCxnSpPr>
        <p:spPr>
          <a:xfrm>
            <a:off x="3789363" y="4070350"/>
            <a:ext cx="898525" cy="901700"/>
          </a:xfrm>
          <a:prstGeom prst="straightConnector1">
            <a:avLst/>
          </a:prstGeom>
          <a:noFill/>
          <a:ln cap="flat" cmpd="sng" w="12700">
            <a:solidFill>
              <a:schemeClr val="dk1"/>
            </a:solidFill>
            <a:prstDash val="solid"/>
            <a:round/>
            <a:headEnd len="med" w="med" type="none"/>
            <a:tailEnd len="lg" w="lg" type="stealth"/>
          </a:ln>
        </p:spPr>
      </p:cxnSp>
      <p:cxnSp>
        <p:nvCxnSpPr>
          <p:cNvPr id="534" name="Google Shape;534;p14"/>
          <p:cNvCxnSpPr/>
          <p:nvPr/>
        </p:nvCxnSpPr>
        <p:spPr>
          <a:xfrm>
            <a:off x="4373563" y="3648075"/>
            <a:ext cx="2436812" cy="1588"/>
          </a:xfrm>
          <a:prstGeom prst="straightConnector1">
            <a:avLst/>
          </a:prstGeom>
          <a:noFill/>
          <a:ln cap="flat" cmpd="sng" w="12700">
            <a:solidFill>
              <a:schemeClr val="dk1"/>
            </a:solidFill>
            <a:prstDash val="lgDash"/>
            <a:round/>
            <a:headEnd len="med" w="med" type="none"/>
            <a:tailEnd len="lg" w="lg" type="stealth"/>
          </a:ln>
        </p:spPr>
      </p:cxnSp>
      <p:sp>
        <p:nvSpPr>
          <p:cNvPr id="535" name="Google Shape;535;p14"/>
          <p:cNvSpPr txBox="1"/>
          <p:nvPr>
            <p:ph type="title"/>
          </p:nvPr>
        </p:nvSpPr>
        <p:spPr>
          <a:xfrm>
            <a:off x="420688" y="-11905"/>
            <a:ext cx="8534400" cy="746918"/>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200"/>
              <a:buFont typeface="Calibri"/>
              <a:buNone/>
            </a:pPr>
            <a:r>
              <a:rPr lang="en-US" sz="3200"/>
              <a:t>Vị dụ: Các phần tử của hệ thống con Billing System</a:t>
            </a:r>
            <a:endParaRPr sz="3200"/>
          </a:p>
        </p:txBody>
      </p:sp>
      <p:sp>
        <p:nvSpPr>
          <p:cNvPr id="536" name="Google Shape;536;p14"/>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2/26/2014</a:t>
            </a:r>
            <a:endParaRPr/>
          </a:p>
        </p:txBody>
      </p:sp>
      <p:sp>
        <p:nvSpPr>
          <p:cNvPr id="537" name="Google Shape;537;p14"/>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pttk2014wru - v0.1: Subsystem Design</a:t>
            </a:r>
            <a:endParaRPr/>
          </a:p>
        </p:txBody>
      </p:sp>
      <p:sp>
        <p:nvSpPr>
          <p:cNvPr id="538" name="Google Shape;538;p1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539" name="Google Shape;539;p14"/>
          <p:cNvSpPr txBox="1"/>
          <p:nvPr/>
        </p:nvSpPr>
        <p:spPr>
          <a:xfrm>
            <a:off x="495300" y="2530475"/>
            <a:ext cx="2111375"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600">
                <a:solidFill>
                  <a:srgbClr val="0000FF"/>
                </a:solidFill>
                <a:latin typeface="Constantia"/>
                <a:ea typeface="Constantia"/>
                <a:cs typeface="Constantia"/>
                <a:sym typeface="Constantia"/>
              </a:rPr>
              <a:t>Subsystem Interface</a:t>
            </a:r>
            <a:endParaRPr/>
          </a:p>
        </p:txBody>
      </p:sp>
      <p:sp>
        <p:nvSpPr>
          <p:cNvPr id="540" name="Google Shape;540;p14"/>
          <p:cNvSpPr/>
          <p:nvPr/>
        </p:nvSpPr>
        <p:spPr>
          <a:xfrm>
            <a:off x="3881438" y="1928813"/>
            <a:ext cx="3330575" cy="663575"/>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41" name="Google Shape;541;p14"/>
          <p:cNvSpPr/>
          <p:nvPr/>
        </p:nvSpPr>
        <p:spPr>
          <a:xfrm>
            <a:off x="3881438" y="2165350"/>
            <a:ext cx="3330575" cy="427038"/>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42" name="Google Shape;542;p14"/>
          <p:cNvSpPr/>
          <p:nvPr/>
        </p:nvSpPr>
        <p:spPr>
          <a:xfrm>
            <a:off x="3881438" y="2255838"/>
            <a:ext cx="3330575" cy="336550"/>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43" name="Google Shape;543;p14"/>
          <p:cNvSpPr/>
          <p:nvPr/>
        </p:nvSpPr>
        <p:spPr>
          <a:xfrm>
            <a:off x="6848475" y="3130550"/>
            <a:ext cx="1439863" cy="1035050"/>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44" name="Google Shape;544;p14"/>
          <p:cNvSpPr/>
          <p:nvPr/>
        </p:nvSpPr>
        <p:spPr>
          <a:xfrm>
            <a:off x="6848475" y="3703638"/>
            <a:ext cx="1439863" cy="461962"/>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45" name="Google Shape;545;p14"/>
          <p:cNvSpPr/>
          <p:nvPr/>
        </p:nvSpPr>
        <p:spPr>
          <a:xfrm>
            <a:off x="6848475" y="3794125"/>
            <a:ext cx="1439863" cy="371475"/>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46" name="Google Shape;546;p14"/>
          <p:cNvSpPr/>
          <p:nvPr/>
        </p:nvSpPr>
        <p:spPr>
          <a:xfrm>
            <a:off x="896938" y="3208338"/>
            <a:ext cx="3476625" cy="866775"/>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47" name="Google Shape;547;p14"/>
          <p:cNvSpPr/>
          <p:nvPr/>
        </p:nvSpPr>
        <p:spPr>
          <a:xfrm>
            <a:off x="896938" y="3636963"/>
            <a:ext cx="3476625" cy="438150"/>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48" name="Google Shape;548;p14"/>
          <p:cNvSpPr/>
          <p:nvPr/>
        </p:nvSpPr>
        <p:spPr>
          <a:xfrm>
            <a:off x="896938" y="3725863"/>
            <a:ext cx="3476625" cy="349250"/>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49" name="Google Shape;549;p14"/>
          <p:cNvSpPr/>
          <p:nvPr/>
        </p:nvSpPr>
        <p:spPr>
          <a:xfrm>
            <a:off x="3781425" y="5005388"/>
            <a:ext cx="3463925" cy="663575"/>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50" name="Google Shape;550;p14"/>
          <p:cNvSpPr/>
          <p:nvPr/>
        </p:nvSpPr>
        <p:spPr>
          <a:xfrm>
            <a:off x="3781425" y="5241925"/>
            <a:ext cx="3463925" cy="427038"/>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51" name="Google Shape;551;p14"/>
          <p:cNvSpPr/>
          <p:nvPr/>
        </p:nvSpPr>
        <p:spPr>
          <a:xfrm>
            <a:off x="3781425" y="5332413"/>
            <a:ext cx="3463925" cy="336550"/>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52" name="Google Shape;552;p14"/>
          <p:cNvSpPr/>
          <p:nvPr/>
        </p:nvSpPr>
        <p:spPr>
          <a:xfrm>
            <a:off x="4794250" y="4751388"/>
            <a:ext cx="256480"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0..1</a:t>
            </a:r>
            <a:endParaRPr sz="1800">
              <a:solidFill>
                <a:schemeClr val="dk1"/>
              </a:solidFill>
              <a:latin typeface="Arial"/>
              <a:ea typeface="Arial"/>
              <a:cs typeface="Arial"/>
              <a:sym typeface="Arial"/>
            </a:endParaRPr>
          </a:p>
        </p:txBody>
      </p:sp>
      <p:sp>
        <p:nvSpPr>
          <p:cNvPr id="553" name="Google Shape;553;p14"/>
          <p:cNvSpPr/>
          <p:nvPr/>
        </p:nvSpPr>
        <p:spPr>
          <a:xfrm>
            <a:off x="4149725" y="4143375"/>
            <a:ext cx="84960"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1</a:t>
            </a:r>
            <a:endParaRPr sz="1800">
              <a:solidFill>
                <a:schemeClr val="dk1"/>
              </a:solidFill>
              <a:latin typeface="Arial"/>
              <a:ea typeface="Arial"/>
              <a:cs typeface="Arial"/>
              <a:sym typeface="Arial"/>
            </a:endParaRPr>
          </a:p>
        </p:txBody>
      </p:sp>
      <p:sp>
        <p:nvSpPr>
          <p:cNvPr id="554" name="Google Shape;554;p14"/>
          <p:cNvSpPr/>
          <p:nvPr/>
        </p:nvSpPr>
        <p:spPr>
          <a:xfrm>
            <a:off x="1728788" y="1117600"/>
            <a:ext cx="1811337" cy="1033463"/>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55" name="Google Shape;555;p14"/>
          <p:cNvSpPr/>
          <p:nvPr/>
        </p:nvSpPr>
        <p:spPr>
          <a:xfrm>
            <a:off x="1728788" y="1690688"/>
            <a:ext cx="1811337" cy="460375"/>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56" name="Google Shape;556;p14"/>
          <p:cNvSpPr/>
          <p:nvPr/>
        </p:nvSpPr>
        <p:spPr>
          <a:xfrm>
            <a:off x="1728788" y="1792288"/>
            <a:ext cx="1811337" cy="358775"/>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57" name="Google Shape;557;p14"/>
          <p:cNvSpPr txBox="1"/>
          <p:nvPr/>
        </p:nvSpPr>
        <p:spPr>
          <a:xfrm>
            <a:off x="495300" y="4479925"/>
            <a:ext cx="1828800"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600">
                <a:solidFill>
                  <a:srgbClr val="0000FF"/>
                </a:solidFill>
                <a:latin typeface="Constantia"/>
                <a:ea typeface="Constantia"/>
                <a:cs typeface="Constantia"/>
                <a:sym typeface="Constantia"/>
              </a:rPr>
              <a:t>Subsystem Proxy</a:t>
            </a:r>
            <a:endParaRPr/>
          </a:p>
        </p:txBody>
      </p:sp>
      <p:cxnSp>
        <p:nvCxnSpPr>
          <p:cNvPr id="558" name="Google Shape;558;p14"/>
          <p:cNvCxnSpPr/>
          <p:nvPr/>
        </p:nvCxnSpPr>
        <p:spPr>
          <a:xfrm flipH="1" rot="10800000">
            <a:off x="1574800" y="2222500"/>
            <a:ext cx="330200" cy="330200"/>
          </a:xfrm>
          <a:prstGeom prst="straightConnector1">
            <a:avLst/>
          </a:prstGeom>
          <a:noFill/>
          <a:ln cap="flat" cmpd="sng" w="28575">
            <a:solidFill>
              <a:schemeClr val="hlink"/>
            </a:solidFill>
            <a:prstDash val="solid"/>
            <a:round/>
            <a:headEnd len="sm" w="sm" type="none"/>
            <a:tailEnd len="med" w="med" type="triangle"/>
          </a:ln>
        </p:spPr>
      </p:cxnSp>
      <p:cxnSp>
        <p:nvCxnSpPr>
          <p:cNvPr id="559" name="Google Shape;559;p14"/>
          <p:cNvCxnSpPr/>
          <p:nvPr/>
        </p:nvCxnSpPr>
        <p:spPr>
          <a:xfrm flipH="1" rot="10800000">
            <a:off x="1574800" y="4127500"/>
            <a:ext cx="330200" cy="330200"/>
          </a:xfrm>
          <a:prstGeom prst="straightConnector1">
            <a:avLst/>
          </a:prstGeom>
          <a:noFill/>
          <a:ln cap="flat" cmpd="sng" w="28575">
            <a:solidFill>
              <a:schemeClr val="hlink"/>
            </a:solidFill>
            <a:prstDash val="solid"/>
            <a:round/>
            <a:headEnd len="sm" w="sm" type="none"/>
            <a:tailEnd len="med" w="med" type="triangle"/>
          </a:ln>
        </p:spPr>
      </p:cxnSp>
      <p:sp>
        <p:nvSpPr>
          <p:cNvPr id="560" name="Google Shape;560;p14"/>
          <p:cNvSpPr/>
          <p:nvPr/>
        </p:nvSpPr>
        <p:spPr>
          <a:xfrm>
            <a:off x="4724400" y="1973263"/>
            <a:ext cx="1731949"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StudentBillingTransaction</a:t>
            </a:r>
            <a:endParaRPr sz="1800">
              <a:solidFill>
                <a:schemeClr val="dk1"/>
              </a:solidFill>
              <a:latin typeface="Arial"/>
              <a:ea typeface="Arial"/>
              <a:cs typeface="Arial"/>
              <a:sym typeface="Arial"/>
            </a:endParaRPr>
          </a:p>
        </p:txBody>
      </p:sp>
      <p:sp>
        <p:nvSpPr>
          <p:cNvPr id="561" name="Google Shape;561;p14"/>
          <p:cNvSpPr/>
          <p:nvPr/>
        </p:nvSpPr>
        <p:spPr>
          <a:xfrm>
            <a:off x="3914775" y="2378075"/>
            <a:ext cx="3279744"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create(forStudent : Student, forAmount : double)</a:t>
            </a:r>
            <a:endParaRPr sz="1800">
              <a:solidFill>
                <a:schemeClr val="dk1"/>
              </a:solidFill>
              <a:latin typeface="Arial"/>
              <a:ea typeface="Arial"/>
              <a:cs typeface="Arial"/>
              <a:sym typeface="Arial"/>
            </a:endParaRPr>
          </a:p>
        </p:txBody>
      </p:sp>
      <p:sp>
        <p:nvSpPr>
          <p:cNvPr id="562" name="Google Shape;562;p14"/>
          <p:cNvSpPr/>
          <p:nvPr/>
        </p:nvSpPr>
        <p:spPr>
          <a:xfrm>
            <a:off x="7259638" y="3355975"/>
            <a:ext cx="573875"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chemeClr val="dk1"/>
                </a:solidFill>
                <a:latin typeface="Constantia"/>
                <a:ea typeface="Constantia"/>
                <a:cs typeface="Constantia"/>
                <a:sym typeface="Constantia"/>
              </a:rPr>
              <a:t>Student</a:t>
            </a:r>
            <a:endParaRPr b="1" sz="1800">
              <a:solidFill>
                <a:schemeClr val="dk1"/>
              </a:solidFill>
              <a:latin typeface="Arial"/>
              <a:ea typeface="Arial"/>
              <a:cs typeface="Arial"/>
              <a:sym typeface="Arial"/>
            </a:endParaRPr>
          </a:p>
        </p:txBody>
      </p:sp>
      <p:sp>
        <p:nvSpPr>
          <p:cNvPr id="563" name="Google Shape;563;p14"/>
          <p:cNvSpPr/>
          <p:nvPr/>
        </p:nvSpPr>
        <p:spPr>
          <a:xfrm>
            <a:off x="6881828" y="3917950"/>
            <a:ext cx="16128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 get contact info()</a:t>
            </a:r>
            <a:endParaRPr sz="1800">
              <a:solidFill>
                <a:schemeClr val="dk1"/>
              </a:solidFill>
              <a:latin typeface="Arial"/>
              <a:ea typeface="Arial"/>
              <a:cs typeface="Arial"/>
              <a:sym typeface="Arial"/>
            </a:endParaRPr>
          </a:p>
        </p:txBody>
      </p:sp>
      <p:sp>
        <p:nvSpPr>
          <p:cNvPr id="564" name="Google Shape;564;p14"/>
          <p:cNvSpPr/>
          <p:nvPr/>
        </p:nvSpPr>
        <p:spPr>
          <a:xfrm>
            <a:off x="6926263" y="3557588"/>
            <a:ext cx="1295226" cy="13849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900">
                <a:solidFill>
                  <a:schemeClr val="dk1"/>
                </a:solidFill>
                <a:latin typeface="Constantia"/>
                <a:ea typeface="Constantia"/>
                <a:cs typeface="Constantia"/>
                <a:sym typeface="Constantia"/>
              </a:rPr>
              <a:t>(from University Artifacts)</a:t>
            </a:r>
            <a:endParaRPr sz="1800">
              <a:solidFill>
                <a:schemeClr val="dk1"/>
              </a:solidFill>
              <a:latin typeface="Arial"/>
              <a:ea typeface="Arial"/>
              <a:cs typeface="Arial"/>
              <a:sym typeface="Arial"/>
            </a:endParaRPr>
          </a:p>
        </p:txBody>
      </p:sp>
      <p:sp>
        <p:nvSpPr>
          <p:cNvPr id="565" name="Google Shape;565;p14"/>
          <p:cNvSpPr/>
          <p:nvPr/>
        </p:nvSpPr>
        <p:spPr>
          <a:xfrm>
            <a:off x="7207250" y="3175000"/>
            <a:ext cx="743793"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&lt;&lt;Entity&gt;&gt;</a:t>
            </a:r>
            <a:endParaRPr sz="1800">
              <a:solidFill>
                <a:schemeClr val="dk1"/>
              </a:solidFill>
              <a:latin typeface="Arial"/>
              <a:ea typeface="Arial"/>
              <a:cs typeface="Arial"/>
              <a:sym typeface="Arial"/>
            </a:endParaRPr>
          </a:p>
        </p:txBody>
      </p:sp>
      <p:sp>
        <p:nvSpPr>
          <p:cNvPr id="566" name="Google Shape;566;p14"/>
          <p:cNvSpPr/>
          <p:nvPr/>
        </p:nvSpPr>
        <p:spPr>
          <a:xfrm>
            <a:off x="2124075" y="3433763"/>
            <a:ext cx="1017907"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chemeClr val="dk1"/>
                </a:solidFill>
                <a:latin typeface="Constantia"/>
                <a:ea typeface="Constantia"/>
                <a:cs typeface="Constantia"/>
                <a:sym typeface="Constantia"/>
              </a:rPr>
              <a:t>BillingSystem</a:t>
            </a:r>
            <a:endParaRPr b="1" sz="1800">
              <a:solidFill>
                <a:schemeClr val="dk1"/>
              </a:solidFill>
              <a:latin typeface="Arial"/>
              <a:ea typeface="Arial"/>
              <a:cs typeface="Arial"/>
              <a:sym typeface="Arial"/>
            </a:endParaRPr>
          </a:p>
        </p:txBody>
      </p:sp>
      <p:sp>
        <p:nvSpPr>
          <p:cNvPr id="567" name="Google Shape;567;p14"/>
          <p:cNvSpPr/>
          <p:nvPr/>
        </p:nvSpPr>
        <p:spPr>
          <a:xfrm>
            <a:off x="941388" y="3838575"/>
            <a:ext cx="3434338"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submitBill(forStudent : Student, forTuition : double)</a:t>
            </a:r>
            <a:endParaRPr sz="1800">
              <a:solidFill>
                <a:schemeClr val="dk1"/>
              </a:solidFill>
              <a:latin typeface="Arial"/>
              <a:ea typeface="Arial"/>
              <a:cs typeface="Arial"/>
              <a:sym typeface="Arial"/>
            </a:endParaRPr>
          </a:p>
        </p:txBody>
      </p:sp>
      <p:sp>
        <p:nvSpPr>
          <p:cNvPr id="568" name="Google Shape;568;p14"/>
          <p:cNvSpPr/>
          <p:nvPr/>
        </p:nvSpPr>
        <p:spPr>
          <a:xfrm>
            <a:off x="1898650" y="3254375"/>
            <a:ext cx="1511632"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&lt;&lt;subsystem proxy&gt;&gt;</a:t>
            </a:r>
            <a:endParaRPr sz="1800">
              <a:solidFill>
                <a:schemeClr val="dk1"/>
              </a:solidFill>
              <a:latin typeface="Arial"/>
              <a:ea typeface="Arial"/>
              <a:cs typeface="Arial"/>
              <a:sym typeface="Arial"/>
            </a:endParaRPr>
          </a:p>
        </p:txBody>
      </p:sp>
      <p:sp>
        <p:nvSpPr>
          <p:cNvPr id="569" name="Google Shape;569;p14"/>
          <p:cNvSpPr/>
          <p:nvPr/>
        </p:nvSpPr>
        <p:spPr>
          <a:xfrm>
            <a:off x="4794250" y="5051425"/>
            <a:ext cx="1518044"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BillingSystemInterface</a:t>
            </a:r>
            <a:endParaRPr sz="1800">
              <a:solidFill>
                <a:schemeClr val="dk1"/>
              </a:solidFill>
              <a:latin typeface="Arial"/>
              <a:ea typeface="Arial"/>
              <a:cs typeface="Arial"/>
              <a:sym typeface="Arial"/>
            </a:endParaRPr>
          </a:p>
        </p:txBody>
      </p:sp>
      <p:sp>
        <p:nvSpPr>
          <p:cNvPr id="570" name="Google Shape;570;p14"/>
          <p:cNvSpPr/>
          <p:nvPr/>
        </p:nvSpPr>
        <p:spPr>
          <a:xfrm>
            <a:off x="3814763" y="5445125"/>
            <a:ext cx="3425425"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submit(theTransaction : StudentBillingTransaction)</a:t>
            </a:r>
            <a:endParaRPr sz="1800">
              <a:solidFill>
                <a:schemeClr val="dk1"/>
              </a:solidFill>
              <a:latin typeface="Arial"/>
              <a:ea typeface="Arial"/>
              <a:cs typeface="Arial"/>
              <a:sym typeface="Arial"/>
            </a:endParaRPr>
          </a:p>
        </p:txBody>
      </p:sp>
      <p:sp>
        <p:nvSpPr>
          <p:cNvPr id="571" name="Google Shape;571;p14"/>
          <p:cNvSpPr/>
          <p:nvPr/>
        </p:nvSpPr>
        <p:spPr>
          <a:xfrm>
            <a:off x="2111375" y="1341438"/>
            <a:ext cx="1061188"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chemeClr val="dk1"/>
                </a:solidFill>
                <a:latin typeface="Constantia"/>
                <a:ea typeface="Constantia"/>
                <a:cs typeface="Constantia"/>
                <a:sym typeface="Constantia"/>
              </a:rPr>
              <a:t>IBillingSystem</a:t>
            </a:r>
            <a:endParaRPr b="1" sz="1800">
              <a:solidFill>
                <a:schemeClr val="dk1"/>
              </a:solidFill>
              <a:latin typeface="Arial"/>
              <a:ea typeface="Arial"/>
              <a:cs typeface="Arial"/>
              <a:sym typeface="Arial"/>
            </a:endParaRPr>
          </a:p>
        </p:txBody>
      </p:sp>
      <p:sp>
        <p:nvSpPr>
          <p:cNvPr id="572" name="Google Shape;572;p14"/>
          <p:cNvSpPr/>
          <p:nvPr/>
        </p:nvSpPr>
        <p:spPr>
          <a:xfrm>
            <a:off x="1774825" y="1905000"/>
            <a:ext cx="12951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submitBill()</a:t>
            </a:r>
            <a:endParaRPr sz="1800">
              <a:solidFill>
                <a:schemeClr val="dk1"/>
              </a:solidFill>
              <a:latin typeface="Arial"/>
              <a:ea typeface="Arial"/>
              <a:cs typeface="Arial"/>
              <a:sym typeface="Arial"/>
            </a:endParaRPr>
          </a:p>
        </p:txBody>
      </p:sp>
      <p:sp>
        <p:nvSpPr>
          <p:cNvPr id="573" name="Google Shape;573;p14"/>
          <p:cNvSpPr/>
          <p:nvPr/>
        </p:nvSpPr>
        <p:spPr>
          <a:xfrm>
            <a:off x="1774825" y="1544638"/>
            <a:ext cx="1718419" cy="13849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900">
                <a:solidFill>
                  <a:schemeClr val="dk1"/>
                </a:solidFill>
                <a:latin typeface="Constantia"/>
                <a:ea typeface="Constantia"/>
                <a:cs typeface="Constantia"/>
                <a:sym typeface="Constantia"/>
              </a:rPr>
              <a:t>(from External System Interfaces)</a:t>
            </a:r>
            <a:endParaRPr sz="1800">
              <a:solidFill>
                <a:schemeClr val="dk1"/>
              </a:solidFill>
              <a:latin typeface="Arial"/>
              <a:ea typeface="Arial"/>
              <a:cs typeface="Arial"/>
              <a:sym typeface="Arial"/>
            </a:endParaRPr>
          </a:p>
        </p:txBody>
      </p:sp>
      <p:sp>
        <p:nvSpPr>
          <p:cNvPr id="574" name="Google Shape;574;p14"/>
          <p:cNvSpPr/>
          <p:nvPr/>
        </p:nvSpPr>
        <p:spPr>
          <a:xfrm>
            <a:off x="2179638" y="1162050"/>
            <a:ext cx="956993"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&lt;&lt;Interface&gt;&gt;</a:t>
            </a:r>
            <a:endParaRPr sz="1800">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15"/>
          <p:cNvSpPr txBox="1"/>
          <p:nvPr>
            <p:ph type="title"/>
          </p:nvPr>
        </p:nvSpPr>
        <p:spPr>
          <a:xfrm>
            <a:off x="457200" y="704088"/>
            <a:ext cx="8229600" cy="7437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600"/>
              <a:buFont typeface="Calibri"/>
              <a:buNone/>
            </a:pPr>
            <a:r>
              <a:rPr lang="en-US" sz="3600"/>
              <a:t>Các bước thiết kế hệ thống con</a:t>
            </a:r>
            <a:endParaRPr sz="3600"/>
          </a:p>
        </p:txBody>
      </p:sp>
      <p:sp>
        <p:nvSpPr>
          <p:cNvPr id="580" name="Google Shape;580;p1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581" name="Google Shape;581;p15"/>
          <p:cNvSpPr txBox="1"/>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274320" lvl="0" marL="274320" marR="0" rtl="0" algn="l">
              <a:spcBef>
                <a:spcPts val="0"/>
              </a:spcBef>
              <a:spcAft>
                <a:spcPts val="0"/>
              </a:spcAft>
              <a:buClr>
                <a:schemeClr val="accent3"/>
              </a:buClr>
              <a:buSzPts val="2470"/>
              <a:buFont typeface="Noto Sans Symbols"/>
              <a:buChar char="⚫"/>
            </a:pPr>
            <a:r>
              <a:rPr lang="en-US" sz="2600">
                <a:solidFill>
                  <a:schemeClr val="dk1"/>
                </a:solidFill>
                <a:latin typeface="Constantia"/>
                <a:ea typeface="Constantia"/>
                <a:cs typeface="Constantia"/>
                <a:sym typeface="Constantia"/>
              </a:rPr>
              <a:t>Phân phối hành vi của hệ thống con vào trong các phần tử của nó</a:t>
            </a:r>
            <a:endParaRPr sz="2600">
              <a:solidFill>
                <a:schemeClr val="dk1"/>
              </a:solidFill>
              <a:latin typeface="Constantia"/>
              <a:ea typeface="Constantia"/>
              <a:cs typeface="Constantia"/>
              <a:sym typeface="Constantia"/>
            </a:endParaRPr>
          </a:p>
          <a:p>
            <a:pPr indent="-274320" lvl="0" marL="274320" marR="0" rtl="0" algn="l">
              <a:spcBef>
                <a:spcPts val="520"/>
              </a:spcBef>
              <a:spcAft>
                <a:spcPts val="0"/>
              </a:spcAft>
              <a:buClr>
                <a:schemeClr val="accent3"/>
              </a:buClr>
              <a:buSzPts val="2470"/>
              <a:buFont typeface="Noto Sans Symbols"/>
              <a:buChar char="⚫"/>
            </a:pPr>
            <a:r>
              <a:rPr lang="en-US" sz="2600">
                <a:solidFill>
                  <a:schemeClr val="dk1"/>
                </a:solidFill>
                <a:latin typeface="Constantia"/>
                <a:ea typeface="Constantia"/>
                <a:cs typeface="Constantia"/>
                <a:sym typeface="Constantia"/>
              </a:rPr>
              <a:t>Làm tài liệu về các phần tử của hệ thống con</a:t>
            </a:r>
            <a:endParaRPr/>
          </a:p>
          <a:p>
            <a:pPr indent="-274320" lvl="0" marL="274320" marR="0" rtl="0" algn="l">
              <a:spcBef>
                <a:spcPts val="520"/>
              </a:spcBef>
              <a:spcAft>
                <a:spcPts val="0"/>
              </a:spcAft>
              <a:buClr>
                <a:schemeClr val="accent3"/>
              </a:buClr>
              <a:buSzPts val="2470"/>
              <a:buFont typeface="Noto Sans Symbols"/>
              <a:buChar char="⚫"/>
            </a:pPr>
            <a:r>
              <a:rPr lang="en-US" sz="2600">
                <a:solidFill>
                  <a:srgbClr val="FF0000"/>
                </a:solidFill>
                <a:latin typeface="Constantia"/>
                <a:ea typeface="Constantia"/>
                <a:cs typeface="Constantia"/>
                <a:sym typeface="Constantia"/>
              </a:rPr>
              <a:t>Mô tả sự phụ thuộc hệ thống con</a:t>
            </a:r>
            <a:endParaRPr/>
          </a:p>
          <a:p>
            <a:pPr indent="-274320" lvl="0" marL="274320" marR="0" rtl="0" algn="l">
              <a:spcBef>
                <a:spcPts val="520"/>
              </a:spcBef>
              <a:spcAft>
                <a:spcPts val="0"/>
              </a:spcAft>
              <a:buClr>
                <a:schemeClr val="accent3"/>
              </a:buClr>
              <a:buSzPts val="2470"/>
              <a:buFont typeface="Noto Sans Symbols"/>
              <a:buChar char="⚫"/>
            </a:pPr>
            <a:r>
              <a:rPr lang="en-US" sz="2600">
                <a:solidFill>
                  <a:schemeClr val="dk1"/>
                </a:solidFill>
                <a:latin typeface="Constantia"/>
                <a:ea typeface="Constantia"/>
                <a:cs typeface="Constantia"/>
                <a:sym typeface="Constantia"/>
              </a:rPr>
              <a:t>Checkpoints</a:t>
            </a:r>
            <a:endParaRPr sz="2600">
              <a:solidFill>
                <a:schemeClr val="dk1"/>
              </a:solidFill>
              <a:latin typeface="Constantia"/>
              <a:ea typeface="Constantia"/>
              <a:cs typeface="Constantia"/>
              <a:sym typeface="Constanti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16"/>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alibri"/>
              <a:buNone/>
            </a:pPr>
            <a:r>
              <a:rPr lang="en-US" sz="4500"/>
              <a:t>Sự phụ thuộc của hệ thống con: Những hướng dẫn</a:t>
            </a:r>
            <a:endParaRPr sz="4500"/>
          </a:p>
        </p:txBody>
      </p:sp>
      <p:sp>
        <p:nvSpPr>
          <p:cNvPr id="590" name="Google Shape;590;p16"/>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Một hệ thống con phụ thuộc vào một hệ thống con</a:t>
            </a:r>
            <a:endParaRPr/>
          </a:p>
          <a:p>
            <a:pPr indent="-117475" lvl="0" marL="274320" rtl="0" algn="l">
              <a:spcBef>
                <a:spcPts val="520"/>
              </a:spcBef>
              <a:spcAft>
                <a:spcPts val="0"/>
              </a:spcAft>
              <a:buSzPts val="2470"/>
              <a:buNone/>
            </a:pPr>
            <a:r>
              <a:t/>
            </a:r>
            <a:endParaRPr/>
          </a:p>
          <a:p>
            <a:pPr indent="-117475" lvl="0" marL="274320" rtl="0" algn="l">
              <a:spcBef>
                <a:spcPts val="520"/>
              </a:spcBef>
              <a:spcAft>
                <a:spcPts val="0"/>
              </a:spcAft>
              <a:buSzPts val="2470"/>
              <a:buNone/>
            </a:pPr>
            <a:r>
              <a:t/>
            </a:r>
            <a:endParaRPr/>
          </a:p>
          <a:p>
            <a:pPr indent="-274320" lvl="0" marL="274320" rtl="0" algn="l">
              <a:spcBef>
                <a:spcPts val="520"/>
              </a:spcBef>
              <a:spcAft>
                <a:spcPts val="0"/>
              </a:spcAft>
              <a:buSzPts val="2470"/>
              <a:buFont typeface="Noto Sans Symbols"/>
              <a:buNone/>
            </a:pPr>
            <a:r>
              <a:t/>
            </a:r>
            <a:endParaRPr/>
          </a:p>
          <a:p>
            <a:pPr indent="-274320" lvl="0" marL="274320" rtl="0" algn="l">
              <a:spcBef>
                <a:spcPts val="520"/>
              </a:spcBef>
              <a:spcAft>
                <a:spcPts val="0"/>
              </a:spcAft>
              <a:buSzPts val="2470"/>
              <a:buChar char="⚫"/>
            </a:pPr>
            <a:r>
              <a:rPr lang="en-US"/>
              <a:t>Một hệ thống con phụ thuộc vào một gói</a:t>
            </a:r>
            <a:endParaRPr/>
          </a:p>
        </p:txBody>
      </p:sp>
      <p:sp>
        <p:nvSpPr>
          <p:cNvPr id="591" name="Google Shape;591;p16"/>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2/26/2014</a:t>
            </a:r>
            <a:endParaRPr/>
          </a:p>
        </p:txBody>
      </p:sp>
      <p:sp>
        <p:nvSpPr>
          <p:cNvPr id="592" name="Google Shape;592;p16"/>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pttk2014wru - v0.1: Subsystem Design</a:t>
            </a:r>
            <a:endParaRPr/>
          </a:p>
        </p:txBody>
      </p:sp>
      <p:sp>
        <p:nvSpPr>
          <p:cNvPr id="593" name="Google Shape;593;p1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cxnSp>
        <p:nvCxnSpPr>
          <p:cNvPr id="594" name="Google Shape;594;p16"/>
          <p:cNvCxnSpPr/>
          <p:nvPr/>
        </p:nvCxnSpPr>
        <p:spPr>
          <a:xfrm>
            <a:off x="2519363" y="3155481"/>
            <a:ext cx="1350962" cy="0"/>
          </a:xfrm>
          <a:prstGeom prst="straightConnector1">
            <a:avLst/>
          </a:prstGeom>
          <a:noFill/>
          <a:ln cap="flat" cmpd="sng" w="12700">
            <a:solidFill>
              <a:schemeClr val="dk1"/>
            </a:solidFill>
            <a:prstDash val="lgDash"/>
            <a:round/>
            <a:headEnd len="sm" w="sm" type="none"/>
            <a:tailEnd len="lg" w="lg" type="stealth"/>
          </a:ln>
        </p:spPr>
      </p:cxnSp>
      <p:cxnSp>
        <p:nvCxnSpPr>
          <p:cNvPr id="595" name="Google Shape;595;p16"/>
          <p:cNvCxnSpPr/>
          <p:nvPr/>
        </p:nvCxnSpPr>
        <p:spPr>
          <a:xfrm>
            <a:off x="4029075" y="3155481"/>
            <a:ext cx="1014413" cy="0"/>
          </a:xfrm>
          <a:prstGeom prst="straightConnector1">
            <a:avLst/>
          </a:prstGeom>
          <a:noFill/>
          <a:ln cap="flat" cmpd="sng" w="12700">
            <a:solidFill>
              <a:schemeClr val="dk1"/>
            </a:solidFill>
            <a:prstDash val="solid"/>
            <a:round/>
            <a:headEnd len="med" w="med" type="none"/>
            <a:tailEnd len="med" w="med" type="none"/>
          </a:ln>
        </p:spPr>
      </p:cxnSp>
      <p:cxnSp>
        <p:nvCxnSpPr>
          <p:cNvPr id="596" name="Google Shape;596;p16"/>
          <p:cNvCxnSpPr/>
          <p:nvPr/>
        </p:nvCxnSpPr>
        <p:spPr>
          <a:xfrm>
            <a:off x="2979738" y="5507440"/>
            <a:ext cx="1417637" cy="0"/>
          </a:xfrm>
          <a:prstGeom prst="straightConnector1">
            <a:avLst/>
          </a:prstGeom>
          <a:noFill/>
          <a:ln cap="flat" cmpd="sng" w="12700">
            <a:solidFill>
              <a:schemeClr val="dk1"/>
            </a:solidFill>
            <a:prstDash val="lgDash"/>
            <a:round/>
            <a:headEnd len="med" w="med" type="none"/>
            <a:tailEnd len="lg" w="lg" type="stealth"/>
          </a:ln>
        </p:spPr>
      </p:cxnSp>
      <p:sp>
        <p:nvSpPr>
          <p:cNvPr id="597" name="Google Shape;597;p16"/>
          <p:cNvSpPr txBox="1"/>
          <p:nvPr/>
        </p:nvSpPr>
        <p:spPr>
          <a:xfrm>
            <a:off x="6716109" y="2747493"/>
            <a:ext cx="2191407" cy="1200329"/>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i="1" lang="en-US" sz="2400">
                <a:solidFill>
                  <a:srgbClr val="00CCFF"/>
                </a:solidFill>
                <a:latin typeface="Constantia"/>
                <a:ea typeface="Constantia"/>
                <a:cs typeface="Constantia"/>
                <a:sym typeface="Constantia"/>
              </a:rPr>
              <a:t>Mềm dẻo, thường được dùng</a:t>
            </a:r>
            <a:endParaRPr i="1" sz="2400">
              <a:solidFill>
                <a:srgbClr val="00CCFF"/>
              </a:solidFill>
              <a:latin typeface="Constantia"/>
              <a:ea typeface="Constantia"/>
              <a:cs typeface="Constantia"/>
              <a:sym typeface="Constantia"/>
            </a:endParaRPr>
          </a:p>
        </p:txBody>
      </p:sp>
      <p:sp>
        <p:nvSpPr>
          <p:cNvPr id="598" name="Google Shape;598;p16"/>
          <p:cNvSpPr/>
          <p:nvPr/>
        </p:nvSpPr>
        <p:spPr>
          <a:xfrm>
            <a:off x="3914775" y="3025306"/>
            <a:ext cx="254000" cy="252412"/>
          </a:xfrm>
          <a:prstGeom prst="ellipse">
            <a:avLst/>
          </a:prstGeom>
          <a:solidFill>
            <a:srgbClr val="FFFFCC"/>
          </a:solidFill>
          <a:ln cap="flat" cmpd="sng" w="9525">
            <a:solidFill>
              <a:srgbClr val="8A0E5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99" name="Google Shape;599;p16"/>
          <p:cNvSpPr/>
          <p:nvPr/>
        </p:nvSpPr>
        <p:spPr>
          <a:xfrm>
            <a:off x="3773488" y="3390431"/>
            <a:ext cx="604333" cy="24622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chemeClr val="dk1"/>
                </a:solidFill>
                <a:latin typeface="Constantia"/>
                <a:ea typeface="Constantia"/>
                <a:cs typeface="Constantia"/>
                <a:sym typeface="Constantia"/>
              </a:rPr>
              <a:t>Server</a:t>
            </a:r>
            <a:endParaRPr sz="1800">
              <a:solidFill>
                <a:schemeClr val="dk1"/>
              </a:solidFill>
              <a:latin typeface="Constantia"/>
              <a:ea typeface="Constantia"/>
              <a:cs typeface="Constantia"/>
              <a:sym typeface="Constantia"/>
            </a:endParaRPr>
          </a:p>
        </p:txBody>
      </p:sp>
      <p:sp>
        <p:nvSpPr>
          <p:cNvPr id="600" name="Google Shape;600;p16"/>
          <p:cNvSpPr txBox="1"/>
          <p:nvPr/>
        </p:nvSpPr>
        <p:spPr>
          <a:xfrm>
            <a:off x="6238875" y="5253440"/>
            <a:ext cx="2244725" cy="830997"/>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i="1" lang="en-US" sz="2400">
                <a:solidFill>
                  <a:srgbClr val="00CCFF"/>
                </a:solidFill>
                <a:latin typeface="Constantia"/>
                <a:ea typeface="Constantia"/>
                <a:cs typeface="Constantia"/>
                <a:sym typeface="Constantia"/>
              </a:rPr>
              <a:t>Sử dụng với sự cẩn trọng</a:t>
            </a:r>
            <a:endParaRPr i="1" sz="2400">
              <a:solidFill>
                <a:srgbClr val="00CCFF"/>
              </a:solidFill>
              <a:latin typeface="Constantia"/>
              <a:ea typeface="Constantia"/>
              <a:cs typeface="Constantia"/>
              <a:sym typeface="Constantia"/>
            </a:endParaRPr>
          </a:p>
        </p:txBody>
      </p:sp>
      <p:sp>
        <p:nvSpPr>
          <p:cNvPr id="601" name="Google Shape;601;p16"/>
          <p:cNvSpPr/>
          <p:nvPr/>
        </p:nvSpPr>
        <p:spPr>
          <a:xfrm>
            <a:off x="1381125" y="5050240"/>
            <a:ext cx="1598613" cy="911225"/>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02" name="Google Shape;602;p16"/>
          <p:cNvSpPr/>
          <p:nvPr/>
        </p:nvSpPr>
        <p:spPr>
          <a:xfrm>
            <a:off x="1381125" y="4781953"/>
            <a:ext cx="642938" cy="268287"/>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03" name="Google Shape;603;p16"/>
          <p:cNvSpPr/>
          <p:nvPr/>
        </p:nvSpPr>
        <p:spPr>
          <a:xfrm>
            <a:off x="1474788" y="5332815"/>
            <a:ext cx="1400175" cy="244475"/>
          </a:xfrm>
          <a:prstGeom prst="rect">
            <a:avLst/>
          </a:prstGeom>
          <a:solidFill>
            <a:srgbClr val="FFFFCC"/>
          </a:solid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chemeClr val="dk1"/>
                </a:solidFill>
                <a:latin typeface="Constantia"/>
                <a:ea typeface="Constantia"/>
                <a:cs typeface="Constantia"/>
                <a:sym typeface="Constantia"/>
              </a:rPr>
              <a:t>Client Support</a:t>
            </a:r>
            <a:endParaRPr/>
          </a:p>
        </p:txBody>
      </p:sp>
      <p:sp>
        <p:nvSpPr>
          <p:cNvPr id="604" name="Google Shape;604;p16"/>
          <p:cNvSpPr/>
          <p:nvPr/>
        </p:nvSpPr>
        <p:spPr>
          <a:xfrm>
            <a:off x="1543050" y="5080403"/>
            <a:ext cx="1272784" cy="215444"/>
          </a:xfrm>
          <a:prstGeom prst="rect">
            <a:avLst/>
          </a:prstGeom>
          <a:solidFill>
            <a:srgbClr val="FFFFCC"/>
          </a:solidFill>
          <a:ln>
            <a:noFill/>
          </a:ln>
        </p:spPr>
        <p:txBody>
          <a:bodyPr anchorCtr="0" anchor="t" bIns="0" lIns="0" spcFirstLastPara="1" rIns="0" wrap="square" tIns="0">
            <a:spAutoFit/>
          </a:bodyPr>
          <a:lstStyle/>
          <a:p>
            <a:pPr indent="0" lvl="0" marL="0" marR="0" rtl="0" algn="l">
              <a:spcBef>
                <a:spcPts val="0"/>
              </a:spcBef>
              <a:spcAft>
                <a:spcPts val="0"/>
              </a:spcAft>
              <a:buNone/>
            </a:pPr>
            <a:r>
              <a:rPr lang="en-US" sz="1400">
                <a:solidFill>
                  <a:schemeClr val="dk1"/>
                </a:solidFill>
                <a:latin typeface="Constantia"/>
                <a:ea typeface="Constantia"/>
                <a:cs typeface="Constantia"/>
                <a:sym typeface="Constantia"/>
              </a:rPr>
              <a:t>&lt;&lt;subsystem&gt;&gt;</a:t>
            </a:r>
            <a:endParaRPr/>
          </a:p>
        </p:txBody>
      </p:sp>
      <p:grpSp>
        <p:nvGrpSpPr>
          <p:cNvPr id="605" name="Google Shape;605;p16"/>
          <p:cNvGrpSpPr/>
          <p:nvPr/>
        </p:nvGrpSpPr>
        <p:grpSpPr>
          <a:xfrm>
            <a:off x="4422775" y="4781953"/>
            <a:ext cx="1614488" cy="1179512"/>
            <a:chOff x="2551" y="1350"/>
            <a:chExt cx="1017" cy="743"/>
          </a:xfrm>
        </p:grpSpPr>
        <p:sp>
          <p:nvSpPr>
            <p:cNvPr id="606" name="Google Shape;606;p16"/>
            <p:cNvSpPr/>
            <p:nvPr/>
          </p:nvSpPr>
          <p:spPr>
            <a:xfrm>
              <a:off x="2551" y="1519"/>
              <a:ext cx="1017" cy="574"/>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07" name="Google Shape;607;p16"/>
            <p:cNvSpPr/>
            <p:nvPr/>
          </p:nvSpPr>
          <p:spPr>
            <a:xfrm>
              <a:off x="2551" y="1350"/>
              <a:ext cx="404" cy="169"/>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
        <p:nvSpPr>
          <p:cNvPr id="608" name="Google Shape;608;p16"/>
          <p:cNvSpPr/>
          <p:nvPr/>
        </p:nvSpPr>
        <p:spPr>
          <a:xfrm>
            <a:off x="4714875" y="5228040"/>
            <a:ext cx="1050925" cy="488950"/>
          </a:xfrm>
          <a:prstGeom prst="rect">
            <a:avLst/>
          </a:prstGeom>
          <a:solidFill>
            <a:srgbClr val="FFFFCC"/>
          </a:solid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600">
                <a:solidFill>
                  <a:schemeClr val="dk1"/>
                </a:solidFill>
                <a:latin typeface="Constantia"/>
                <a:ea typeface="Constantia"/>
                <a:cs typeface="Constantia"/>
                <a:sym typeface="Constantia"/>
              </a:rPr>
              <a:t>Supporting</a:t>
            </a:r>
            <a:br>
              <a:rPr lang="en-US" sz="1600">
                <a:solidFill>
                  <a:schemeClr val="dk1"/>
                </a:solidFill>
                <a:latin typeface="Constantia"/>
                <a:ea typeface="Constantia"/>
                <a:cs typeface="Constantia"/>
                <a:sym typeface="Constantia"/>
              </a:rPr>
            </a:br>
            <a:r>
              <a:rPr lang="en-US" sz="1600">
                <a:solidFill>
                  <a:schemeClr val="dk1"/>
                </a:solidFill>
                <a:latin typeface="Constantia"/>
                <a:ea typeface="Constantia"/>
                <a:cs typeface="Constantia"/>
                <a:sym typeface="Constantia"/>
              </a:rPr>
              <a:t>Types</a:t>
            </a:r>
            <a:endParaRPr sz="1800">
              <a:solidFill>
                <a:schemeClr val="dk1"/>
              </a:solidFill>
              <a:latin typeface="Constantia"/>
              <a:ea typeface="Constantia"/>
              <a:cs typeface="Constantia"/>
              <a:sym typeface="Constantia"/>
            </a:endParaRPr>
          </a:p>
        </p:txBody>
      </p:sp>
      <p:sp>
        <p:nvSpPr>
          <p:cNvPr id="609" name="Google Shape;609;p16"/>
          <p:cNvSpPr/>
          <p:nvPr/>
        </p:nvSpPr>
        <p:spPr>
          <a:xfrm>
            <a:off x="1398588" y="2747493"/>
            <a:ext cx="1652587" cy="811213"/>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10" name="Google Shape;610;p16"/>
          <p:cNvSpPr/>
          <p:nvPr/>
        </p:nvSpPr>
        <p:spPr>
          <a:xfrm>
            <a:off x="1397000" y="2509368"/>
            <a:ext cx="612775" cy="238125"/>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11" name="Google Shape;611;p16"/>
          <p:cNvSpPr/>
          <p:nvPr/>
        </p:nvSpPr>
        <p:spPr>
          <a:xfrm>
            <a:off x="1520825" y="3001493"/>
            <a:ext cx="1400175" cy="244475"/>
          </a:xfrm>
          <a:prstGeom prst="rect">
            <a:avLst/>
          </a:prstGeom>
          <a:solidFill>
            <a:srgbClr val="FFFFCC"/>
          </a:solid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chemeClr val="dk1"/>
                </a:solidFill>
                <a:latin typeface="Constantia"/>
                <a:ea typeface="Constantia"/>
                <a:cs typeface="Constantia"/>
                <a:sym typeface="Constantia"/>
              </a:rPr>
              <a:t>Client Support</a:t>
            </a:r>
            <a:endParaRPr/>
          </a:p>
        </p:txBody>
      </p:sp>
      <p:sp>
        <p:nvSpPr>
          <p:cNvPr id="612" name="Google Shape;612;p16"/>
          <p:cNvSpPr/>
          <p:nvPr/>
        </p:nvSpPr>
        <p:spPr>
          <a:xfrm>
            <a:off x="1582738" y="2776068"/>
            <a:ext cx="1272784" cy="215444"/>
          </a:xfrm>
          <a:prstGeom prst="rect">
            <a:avLst/>
          </a:prstGeom>
          <a:solidFill>
            <a:srgbClr val="FFFFCC"/>
          </a:solidFill>
          <a:ln>
            <a:noFill/>
          </a:ln>
        </p:spPr>
        <p:txBody>
          <a:bodyPr anchorCtr="0" anchor="t" bIns="0" lIns="0" spcFirstLastPara="1" rIns="0" wrap="square" tIns="0">
            <a:spAutoFit/>
          </a:bodyPr>
          <a:lstStyle/>
          <a:p>
            <a:pPr indent="0" lvl="0" marL="0" marR="0" rtl="0" algn="l">
              <a:spcBef>
                <a:spcPts val="0"/>
              </a:spcBef>
              <a:spcAft>
                <a:spcPts val="0"/>
              </a:spcAft>
              <a:buNone/>
            </a:pPr>
            <a:r>
              <a:rPr lang="en-US" sz="1400">
                <a:solidFill>
                  <a:schemeClr val="dk1"/>
                </a:solidFill>
                <a:latin typeface="Constantia"/>
                <a:ea typeface="Constantia"/>
                <a:cs typeface="Constantia"/>
                <a:sym typeface="Constantia"/>
              </a:rPr>
              <a:t>&lt;&lt;subsystem&gt;&gt;</a:t>
            </a:r>
            <a:endParaRPr/>
          </a:p>
        </p:txBody>
      </p:sp>
      <p:sp>
        <p:nvSpPr>
          <p:cNvPr id="613" name="Google Shape;613;p16"/>
          <p:cNvSpPr/>
          <p:nvPr/>
        </p:nvSpPr>
        <p:spPr>
          <a:xfrm>
            <a:off x="4929188" y="2747493"/>
            <a:ext cx="1652587" cy="811213"/>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14" name="Google Shape;614;p16"/>
          <p:cNvSpPr/>
          <p:nvPr/>
        </p:nvSpPr>
        <p:spPr>
          <a:xfrm>
            <a:off x="4929188" y="2509368"/>
            <a:ext cx="611187" cy="238125"/>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15" name="Google Shape;615;p16"/>
          <p:cNvSpPr/>
          <p:nvPr/>
        </p:nvSpPr>
        <p:spPr>
          <a:xfrm>
            <a:off x="5013325" y="3001493"/>
            <a:ext cx="1466850" cy="244475"/>
          </a:xfrm>
          <a:prstGeom prst="rect">
            <a:avLst/>
          </a:prstGeom>
          <a:solidFill>
            <a:srgbClr val="FFFFCC"/>
          </a:solid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chemeClr val="dk1"/>
                </a:solidFill>
                <a:latin typeface="Constantia"/>
                <a:ea typeface="Constantia"/>
                <a:cs typeface="Constantia"/>
                <a:sym typeface="Constantia"/>
              </a:rPr>
              <a:t>Server Support</a:t>
            </a:r>
            <a:endParaRPr/>
          </a:p>
        </p:txBody>
      </p:sp>
      <p:sp>
        <p:nvSpPr>
          <p:cNvPr id="616" name="Google Shape;616;p16"/>
          <p:cNvSpPr/>
          <p:nvPr/>
        </p:nvSpPr>
        <p:spPr>
          <a:xfrm>
            <a:off x="5153025" y="2776068"/>
            <a:ext cx="1272784" cy="215444"/>
          </a:xfrm>
          <a:prstGeom prst="rect">
            <a:avLst/>
          </a:prstGeom>
          <a:solidFill>
            <a:srgbClr val="FFFFCC"/>
          </a:solidFill>
          <a:ln>
            <a:noFill/>
          </a:ln>
        </p:spPr>
        <p:txBody>
          <a:bodyPr anchorCtr="0" anchor="t" bIns="0" lIns="0" spcFirstLastPara="1" rIns="0" wrap="square" tIns="0">
            <a:spAutoFit/>
          </a:bodyPr>
          <a:lstStyle/>
          <a:p>
            <a:pPr indent="0" lvl="0" marL="0" marR="0" rtl="0" algn="l">
              <a:spcBef>
                <a:spcPts val="0"/>
              </a:spcBef>
              <a:spcAft>
                <a:spcPts val="0"/>
              </a:spcAft>
              <a:buNone/>
            </a:pPr>
            <a:r>
              <a:rPr lang="en-US" sz="1400">
                <a:solidFill>
                  <a:schemeClr val="dk1"/>
                </a:solidFill>
                <a:latin typeface="Constantia"/>
                <a:ea typeface="Constantia"/>
                <a:cs typeface="Constantia"/>
                <a:sym typeface="Constantia"/>
              </a:rPr>
              <a:t>&lt;&lt;subsystem&gt;&gt;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17"/>
          <p:cNvSpPr txBox="1"/>
          <p:nvPr>
            <p:ph type="title"/>
          </p:nvPr>
        </p:nvSpPr>
        <p:spPr>
          <a:xfrm>
            <a:off x="423074" y="549828"/>
            <a:ext cx="83058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200"/>
              <a:buFont typeface="Calibri"/>
              <a:buNone/>
            </a:pPr>
            <a:r>
              <a:rPr lang="en-US" sz="3200"/>
              <a:t>Ví dụ: Sự phụ thuộc của hệ thống con CourseCatalogSystem</a:t>
            </a:r>
            <a:endParaRPr/>
          </a:p>
        </p:txBody>
      </p:sp>
      <p:sp>
        <p:nvSpPr>
          <p:cNvPr id="625" name="Google Shape;625;p1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626" name="Google Shape;626;p17"/>
          <p:cNvPicPr preferRelativeResize="0"/>
          <p:nvPr/>
        </p:nvPicPr>
        <p:blipFill>
          <a:blip r:embed="rId3">
            <a:alphaModFix/>
          </a:blip>
          <a:stretch>
            <a:fillRect/>
          </a:stretch>
        </p:blipFill>
        <p:spPr>
          <a:xfrm>
            <a:off x="2452688" y="1985482"/>
            <a:ext cx="4238625" cy="41529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18"/>
          <p:cNvSpPr txBox="1"/>
          <p:nvPr>
            <p:ph type="title"/>
          </p:nvPr>
        </p:nvSpPr>
        <p:spPr>
          <a:xfrm>
            <a:off x="457200" y="760185"/>
            <a:ext cx="83058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alibri"/>
              <a:buNone/>
            </a:pPr>
            <a:r>
              <a:rPr lang="en-US" sz="4500"/>
              <a:t>Ví dụ: Sự phụ thuộc của hệ thống con BillingSystem</a:t>
            </a:r>
            <a:endParaRPr sz="4500"/>
          </a:p>
        </p:txBody>
      </p:sp>
      <p:sp>
        <p:nvSpPr>
          <p:cNvPr id="635" name="Google Shape;635;p1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636" name="Google Shape;636;p18"/>
          <p:cNvPicPr preferRelativeResize="0"/>
          <p:nvPr/>
        </p:nvPicPr>
        <p:blipFill>
          <a:blip r:embed="rId3">
            <a:alphaModFix/>
          </a:blip>
          <a:stretch>
            <a:fillRect/>
          </a:stretch>
        </p:blipFill>
        <p:spPr>
          <a:xfrm>
            <a:off x="1947550" y="2448285"/>
            <a:ext cx="4381500" cy="30575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19"/>
          <p:cNvSpPr txBox="1"/>
          <p:nvPr>
            <p:ph type="title"/>
          </p:nvPr>
        </p:nvSpPr>
        <p:spPr>
          <a:xfrm>
            <a:off x="457200" y="704088"/>
            <a:ext cx="8229600" cy="7437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600"/>
              <a:buFont typeface="Calibri"/>
              <a:buNone/>
            </a:pPr>
            <a:r>
              <a:rPr lang="en-US" sz="3600"/>
              <a:t>Các bước thiết kế hệ thống con</a:t>
            </a:r>
            <a:endParaRPr sz="3600"/>
          </a:p>
        </p:txBody>
      </p:sp>
      <p:sp>
        <p:nvSpPr>
          <p:cNvPr id="642" name="Google Shape;642;p1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643" name="Google Shape;643;p19"/>
          <p:cNvSpPr txBox="1"/>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274320" lvl="0" marL="274320" marR="0" rtl="0" algn="l">
              <a:spcBef>
                <a:spcPts val="0"/>
              </a:spcBef>
              <a:spcAft>
                <a:spcPts val="0"/>
              </a:spcAft>
              <a:buClr>
                <a:schemeClr val="accent3"/>
              </a:buClr>
              <a:buSzPts val="2470"/>
              <a:buFont typeface="Noto Sans Symbols"/>
              <a:buChar char="⚫"/>
            </a:pPr>
            <a:r>
              <a:rPr lang="en-US" sz="2600">
                <a:solidFill>
                  <a:schemeClr val="dk1"/>
                </a:solidFill>
                <a:latin typeface="Constantia"/>
                <a:ea typeface="Constantia"/>
                <a:cs typeface="Constantia"/>
                <a:sym typeface="Constantia"/>
              </a:rPr>
              <a:t>Phân phối hành vi của hệ thống con vào trong các phần tử của nó</a:t>
            </a:r>
            <a:endParaRPr sz="2600">
              <a:solidFill>
                <a:schemeClr val="dk1"/>
              </a:solidFill>
              <a:latin typeface="Constantia"/>
              <a:ea typeface="Constantia"/>
              <a:cs typeface="Constantia"/>
              <a:sym typeface="Constantia"/>
            </a:endParaRPr>
          </a:p>
          <a:p>
            <a:pPr indent="-274320" lvl="0" marL="274320" marR="0" rtl="0" algn="l">
              <a:spcBef>
                <a:spcPts val="520"/>
              </a:spcBef>
              <a:spcAft>
                <a:spcPts val="0"/>
              </a:spcAft>
              <a:buClr>
                <a:schemeClr val="accent3"/>
              </a:buClr>
              <a:buSzPts val="2470"/>
              <a:buFont typeface="Noto Sans Symbols"/>
              <a:buChar char="⚫"/>
            </a:pPr>
            <a:r>
              <a:rPr lang="en-US" sz="2600">
                <a:solidFill>
                  <a:schemeClr val="dk1"/>
                </a:solidFill>
                <a:latin typeface="Constantia"/>
                <a:ea typeface="Constantia"/>
                <a:cs typeface="Constantia"/>
                <a:sym typeface="Constantia"/>
              </a:rPr>
              <a:t>Làm tài liệu về các phần tử của hệ thống con</a:t>
            </a:r>
            <a:endParaRPr/>
          </a:p>
          <a:p>
            <a:pPr indent="-274320" lvl="0" marL="274320" marR="0" rtl="0" algn="l">
              <a:spcBef>
                <a:spcPts val="520"/>
              </a:spcBef>
              <a:spcAft>
                <a:spcPts val="0"/>
              </a:spcAft>
              <a:buClr>
                <a:schemeClr val="accent3"/>
              </a:buClr>
              <a:buSzPts val="2470"/>
              <a:buFont typeface="Noto Sans Symbols"/>
              <a:buChar char="⚫"/>
            </a:pPr>
            <a:r>
              <a:rPr lang="en-US" sz="2600">
                <a:solidFill>
                  <a:schemeClr val="dk1"/>
                </a:solidFill>
                <a:latin typeface="Constantia"/>
                <a:ea typeface="Constantia"/>
                <a:cs typeface="Constantia"/>
                <a:sym typeface="Constantia"/>
              </a:rPr>
              <a:t>Mô tả sự phụ thuộc hệ thống con</a:t>
            </a:r>
            <a:endParaRPr/>
          </a:p>
          <a:p>
            <a:pPr indent="-274320" lvl="0" marL="274320" marR="0" rtl="0" algn="l">
              <a:spcBef>
                <a:spcPts val="520"/>
              </a:spcBef>
              <a:spcAft>
                <a:spcPts val="0"/>
              </a:spcAft>
              <a:buClr>
                <a:schemeClr val="accent3"/>
              </a:buClr>
              <a:buSzPts val="2470"/>
              <a:buFont typeface="Noto Sans Symbols"/>
              <a:buChar char="⚫"/>
            </a:pPr>
            <a:r>
              <a:rPr lang="en-US" sz="2600">
                <a:solidFill>
                  <a:srgbClr val="FF0000"/>
                </a:solidFill>
                <a:latin typeface="Constantia"/>
                <a:ea typeface="Constantia"/>
                <a:cs typeface="Constantia"/>
                <a:sym typeface="Constantia"/>
              </a:rPr>
              <a:t>Checkpoints</a:t>
            </a:r>
            <a:endParaRPr sz="2600">
              <a:solidFill>
                <a:srgbClr val="FF0000"/>
              </a:solidFill>
              <a:latin typeface="Constantia"/>
              <a:ea typeface="Constantia"/>
              <a:cs typeface="Constantia"/>
              <a:sym typeface="Constanti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20"/>
          <p:cNvSpPr txBox="1"/>
          <p:nvPr>
            <p:ph type="title"/>
          </p:nvPr>
        </p:nvSpPr>
        <p:spPr>
          <a:xfrm>
            <a:off x="438150" y="-28575"/>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alibri"/>
              <a:buNone/>
            </a:pPr>
            <a:r>
              <a:rPr lang="en-US" sz="4500"/>
              <a:t>Checkpoints: Design Subsystems</a:t>
            </a:r>
            <a:endParaRPr/>
          </a:p>
        </p:txBody>
      </p:sp>
      <p:sp>
        <p:nvSpPr>
          <p:cNvPr id="651" name="Google Shape;651;p20"/>
          <p:cNvSpPr txBox="1"/>
          <p:nvPr>
            <p:ph idx="1" type="body"/>
          </p:nvPr>
        </p:nvSpPr>
        <p:spPr>
          <a:xfrm>
            <a:off x="457200" y="1213644"/>
            <a:ext cx="8229600" cy="5043487"/>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280"/>
              <a:buChar char="⚫"/>
            </a:pPr>
            <a:r>
              <a:rPr lang="en-US" sz="2400"/>
              <a:t>Is a realization association defined for each interface offered by the subsystem?</a:t>
            </a:r>
            <a:endParaRPr/>
          </a:p>
          <a:p>
            <a:pPr indent="-274320" lvl="0" marL="274320" rtl="0" algn="l">
              <a:spcBef>
                <a:spcPts val="480"/>
              </a:spcBef>
              <a:spcAft>
                <a:spcPts val="0"/>
              </a:spcAft>
              <a:buSzPts val="2280"/>
              <a:buChar char="⚫"/>
            </a:pPr>
            <a:r>
              <a:rPr lang="en-US" sz="2400"/>
              <a:t>Is a dependency association defined for each interface used by the subsystem?</a:t>
            </a:r>
            <a:endParaRPr/>
          </a:p>
          <a:p>
            <a:pPr indent="-274320" lvl="0" marL="274320" rtl="0" algn="l">
              <a:spcBef>
                <a:spcPts val="480"/>
              </a:spcBef>
              <a:spcAft>
                <a:spcPts val="0"/>
              </a:spcAft>
              <a:buSzPts val="2280"/>
              <a:buChar char="⚫"/>
            </a:pPr>
            <a:r>
              <a:rPr lang="en-US" sz="2400"/>
              <a:t>Are you sure that none of the elements within the subsystem have public visibility?</a:t>
            </a:r>
            <a:endParaRPr/>
          </a:p>
          <a:p>
            <a:pPr indent="-274320" lvl="0" marL="274320" rtl="0" algn="l">
              <a:spcBef>
                <a:spcPts val="480"/>
              </a:spcBef>
              <a:spcAft>
                <a:spcPts val="0"/>
              </a:spcAft>
              <a:buSzPts val="2280"/>
              <a:buChar char="⚫"/>
            </a:pPr>
            <a:r>
              <a:rPr lang="en-US" sz="2400"/>
              <a:t>Is each operation on an interface realized by the subsystem documented in a interaction diagram? If not, is the operation realized by a single class, so that it is easy to see that there is a simple 1:1 mapping between the class operation and the interface operation?</a:t>
            </a:r>
            <a:endParaRPr/>
          </a:p>
        </p:txBody>
      </p:sp>
      <p:sp>
        <p:nvSpPr>
          <p:cNvPr id="652" name="Google Shape;652;p2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21"/>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Review: Subsystem Design</a:t>
            </a:r>
            <a:endParaRPr/>
          </a:p>
        </p:txBody>
      </p:sp>
      <p:sp>
        <p:nvSpPr>
          <p:cNvPr id="661" name="Google Shape;661;p21"/>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What is the purpose of Subsystem Design?</a:t>
            </a:r>
            <a:endParaRPr/>
          </a:p>
          <a:p>
            <a:pPr indent="-274320" lvl="0" marL="274320" rtl="0" algn="l">
              <a:spcBef>
                <a:spcPts val="520"/>
              </a:spcBef>
              <a:spcAft>
                <a:spcPts val="0"/>
              </a:spcAft>
              <a:buSzPts val="2470"/>
              <a:buChar char="⚫"/>
            </a:pPr>
            <a:r>
              <a:rPr lang="en-US"/>
              <a:t>How many interaction diagrams </a:t>
            </a:r>
            <a:endParaRPr/>
          </a:p>
          <a:p>
            <a:pPr indent="0" lvl="0" marL="274320" rtl="0" algn="l">
              <a:spcBef>
                <a:spcPts val="520"/>
              </a:spcBef>
              <a:spcAft>
                <a:spcPts val="0"/>
              </a:spcAft>
              <a:buNone/>
            </a:pPr>
            <a:r>
              <a:rPr lang="en-US"/>
              <a:t>should be produced during </a:t>
            </a:r>
            <a:endParaRPr/>
          </a:p>
          <a:p>
            <a:pPr indent="0" lvl="0" marL="274320" rtl="0" algn="l">
              <a:spcBef>
                <a:spcPts val="520"/>
              </a:spcBef>
              <a:spcAft>
                <a:spcPts val="0"/>
              </a:spcAft>
              <a:buNone/>
            </a:pPr>
            <a:r>
              <a:rPr lang="en-US"/>
              <a:t>Subsystem Design?  </a:t>
            </a:r>
            <a:endParaRPr/>
          </a:p>
          <a:p>
            <a:pPr indent="-274320" lvl="0" marL="274320" rtl="0" algn="l">
              <a:spcBef>
                <a:spcPts val="520"/>
              </a:spcBef>
              <a:spcAft>
                <a:spcPts val="0"/>
              </a:spcAft>
              <a:buSzPts val="2470"/>
              <a:buChar char="⚫"/>
            </a:pPr>
            <a:r>
              <a:rPr lang="en-US"/>
              <a:t>Why should dependencies                                                on a subsystem be on the                            subsystem interface?</a:t>
            </a:r>
            <a:endParaRPr/>
          </a:p>
        </p:txBody>
      </p:sp>
      <p:sp>
        <p:nvSpPr>
          <p:cNvPr id="662" name="Google Shape;662;p21"/>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2/26/2014</a:t>
            </a:r>
            <a:endParaRPr/>
          </a:p>
        </p:txBody>
      </p:sp>
      <p:sp>
        <p:nvSpPr>
          <p:cNvPr id="663" name="Google Shape;663;p21"/>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pttk2014wru - v0.1: Subsystem Design</a:t>
            </a:r>
            <a:endParaRPr/>
          </a:p>
        </p:txBody>
      </p:sp>
      <p:sp>
        <p:nvSpPr>
          <p:cNvPr id="664" name="Google Shape;664;p2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descr="C:\Documents and Settings\dmachado\My Documents\GIFs\Review.gif" id="665" name="Google Shape;665;p21"/>
          <p:cNvPicPr preferRelativeResize="0"/>
          <p:nvPr/>
        </p:nvPicPr>
        <p:blipFill rotWithShape="1">
          <a:blip r:embed="rId3">
            <a:alphaModFix/>
          </a:blip>
          <a:srcRect b="0" l="0" r="0" t="0"/>
          <a:stretch/>
        </p:blipFill>
        <p:spPr>
          <a:xfrm>
            <a:off x="6365875" y="2619375"/>
            <a:ext cx="2281238" cy="22193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22"/>
          <p:cNvSpPr txBox="1"/>
          <p:nvPr>
            <p:ph type="title"/>
          </p:nvPr>
        </p:nvSpPr>
        <p:spPr>
          <a:xfrm>
            <a:off x="685800" y="-104775"/>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Exercise: Subsystem Design</a:t>
            </a:r>
            <a:endParaRPr/>
          </a:p>
        </p:txBody>
      </p:sp>
      <p:sp>
        <p:nvSpPr>
          <p:cNvPr id="674" name="Google Shape;674;p22"/>
          <p:cNvSpPr txBox="1"/>
          <p:nvPr>
            <p:ph idx="1" type="body"/>
          </p:nvPr>
        </p:nvSpPr>
        <p:spPr>
          <a:xfrm>
            <a:off x="361950" y="1052513"/>
            <a:ext cx="6153150" cy="5043487"/>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Given the following:</a:t>
            </a:r>
            <a:endParaRPr/>
          </a:p>
          <a:p>
            <a:pPr indent="-246888" lvl="1" marL="640080" rtl="0" algn="l">
              <a:spcBef>
                <a:spcPts val="480"/>
              </a:spcBef>
              <a:spcAft>
                <a:spcPts val="0"/>
              </a:spcAft>
              <a:buSzPts val="2040"/>
              <a:buChar char="⚫"/>
            </a:pPr>
            <a:r>
              <a:rPr lang="en-US"/>
              <a:t>The defined subsystems, their interfaces and their relationships with other design elements (the subsystem context diagrams)</a:t>
            </a:r>
            <a:endParaRPr/>
          </a:p>
          <a:p>
            <a:pPr indent="-246888" lvl="1" marL="640080" rtl="0" algn="l">
              <a:spcBef>
                <a:spcPts val="480"/>
              </a:spcBef>
              <a:spcAft>
                <a:spcPts val="0"/>
              </a:spcAft>
              <a:buSzPts val="2040"/>
              <a:buChar char="⚫"/>
            </a:pPr>
            <a:r>
              <a:rPr lang="en-US"/>
              <a:t>Patterns of use for the architectural mechanisms</a:t>
            </a:r>
            <a:endParaRPr/>
          </a:p>
        </p:txBody>
      </p:sp>
      <p:sp>
        <p:nvSpPr>
          <p:cNvPr id="675" name="Google Shape;675;p22"/>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2/26/2014</a:t>
            </a:r>
            <a:endParaRPr/>
          </a:p>
        </p:txBody>
      </p:sp>
      <p:sp>
        <p:nvSpPr>
          <p:cNvPr id="676" name="Google Shape;676;p22"/>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pttk2014wru - v0.1: Subsystem Design</a:t>
            </a:r>
            <a:endParaRPr/>
          </a:p>
        </p:txBody>
      </p:sp>
      <p:sp>
        <p:nvSpPr>
          <p:cNvPr id="677" name="Google Shape;677;p2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descr="c:\Program Files\Microsoft Office\Clipart\standard\stddir1\bd05097_.wmf" id="678" name="Google Shape;678;p22"/>
          <p:cNvPicPr preferRelativeResize="0"/>
          <p:nvPr/>
        </p:nvPicPr>
        <p:blipFill rotWithShape="1">
          <a:blip r:embed="rId3">
            <a:alphaModFix/>
          </a:blip>
          <a:srcRect b="0" l="0" r="0" t="0"/>
          <a:stretch/>
        </p:blipFill>
        <p:spPr>
          <a:xfrm>
            <a:off x="6213475" y="3003550"/>
            <a:ext cx="2371725" cy="2443163"/>
          </a:xfrm>
          <a:prstGeom prst="rect">
            <a:avLst/>
          </a:prstGeom>
          <a:noFill/>
          <a:ln>
            <a:noFill/>
          </a:ln>
        </p:spPr>
      </p:pic>
      <p:sp>
        <p:nvSpPr>
          <p:cNvPr id="679" name="Google Shape;679;p22"/>
          <p:cNvSpPr txBox="1"/>
          <p:nvPr/>
        </p:nvSpPr>
        <p:spPr>
          <a:xfrm>
            <a:off x="6629400" y="5729288"/>
            <a:ext cx="14605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rgbClr val="99CCFF"/>
                </a:solidFill>
                <a:latin typeface="Constantia"/>
                <a:ea typeface="Constantia"/>
                <a:cs typeface="Constantia"/>
                <a:sym typeface="Constantia"/>
              </a:rPr>
              <a:t>(continued)</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23"/>
          <p:cNvSpPr txBox="1"/>
          <p:nvPr/>
        </p:nvSpPr>
        <p:spPr>
          <a:xfrm>
            <a:off x="6629400" y="5729288"/>
            <a:ext cx="14605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rgbClr val="99CCFF"/>
                </a:solidFill>
                <a:latin typeface="Constantia"/>
                <a:ea typeface="Constantia"/>
                <a:cs typeface="Constantia"/>
                <a:sym typeface="Constantia"/>
              </a:rPr>
              <a:t>(continued)</a:t>
            </a:r>
            <a:endParaRPr/>
          </a:p>
        </p:txBody>
      </p:sp>
      <p:sp>
        <p:nvSpPr>
          <p:cNvPr id="688" name="Google Shape;688;p23"/>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alibri"/>
              <a:buNone/>
            </a:pPr>
            <a:r>
              <a:rPr lang="en-US" sz="4500"/>
              <a:t>Exercise: Subsystem Design (cont.)</a:t>
            </a:r>
            <a:endParaRPr/>
          </a:p>
        </p:txBody>
      </p:sp>
      <p:sp>
        <p:nvSpPr>
          <p:cNvPr id="689" name="Google Shape;689;p23"/>
          <p:cNvSpPr txBox="1"/>
          <p:nvPr>
            <p:ph idx="1" type="body"/>
          </p:nvPr>
        </p:nvSpPr>
        <p:spPr>
          <a:xfrm>
            <a:off x="361950" y="1964102"/>
            <a:ext cx="6254700" cy="40020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Identify the following for a particular subsystem(s):</a:t>
            </a:r>
            <a:endParaRPr/>
          </a:p>
          <a:p>
            <a:pPr indent="-246888" lvl="1" marL="640080" rtl="0" algn="l">
              <a:spcBef>
                <a:spcPts val="480"/>
              </a:spcBef>
              <a:spcAft>
                <a:spcPts val="0"/>
              </a:spcAft>
              <a:buSzPts val="2040"/>
              <a:buChar char="⚫"/>
            </a:pPr>
            <a:r>
              <a:rPr lang="en-US"/>
              <a:t>The design elements contained within the subsystem and their relationships</a:t>
            </a:r>
            <a:endParaRPr/>
          </a:p>
          <a:p>
            <a:pPr indent="-246888" lvl="1" marL="640080" rtl="0" algn="l">
              <a:spcBef>
                <a:spcPts val="480"/>
              </a:spcBef>
              <a:spcAft>
                <a:spcPts val="0"/>
              </a:spcAft>
              <a:buSzPts val="2040"/>
              <a:buChar char="⚫"/>
            </a:pPr>
            <a:r>
              <a:rPr lang="en-US"/>
              <a:t>The applicable architectural mechanisms </a:t>
            </a:r>
            <a:endParaRPr/>
          </a:p>
          <a:p>
            <a:pPr indent="-246888" lvl="1" marL="640080" rtl="0" algn="l">
              <a:spcBef>
                <a:spcPts val="480"/>
              </a:spcBef>
              <a:spcAft>
                <a:spcPts val="0"/>
              </a:spcAft>
              <a:buSzPts val="2040"/>
              <a:buChar char="⚫"/>
            </a:pPr>
            <a:r>
              <a:rPr lang="en-US"/>
              <a:t>The interactions needed to implement the subsystem interface operations</a:t>
            </a:r>
            <a:endParaRPr/>
          </a:p>
        </p:txBody>
      </p:sp>
      <p:sp>
        <p:nvSpPr>
          <p:cNvPr id="690" name="Google Shape;690;p2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descr="c:\Program Files\Microsoft Office\Clipart\standard\stddir4\pe02106_.wmf" id="691" name="Google Shape;691;p23"/>
          <p:cNvPicPr preferRelativeResize="0"/>
          <p:nvPr/>
        </p:nvPicPr>
        <p:blipFill rotWithShape="1">
          <a:blip r:embed="rId3">
            <a:alphaModFix/>
          </a:blip>
          <a:srcRect b="0" l="0" r="0" t="0"/>
          <a:stretch/>
        </p:blipFill>
        <p:spPr>
          <a:xfrm>
            <a:off x="5907088" y="3122613"/>
            <a:ext cx="2817812" cy="2420937"/>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24"/>
          <p:cNvSpPr txBox="1"/>
          <p:nvPr>
            <p:ph type="title"/>
          </p:nvPr>
        </p:nvSpPr>
        <p:spPr>
          <a:xfrm>
            <a:off x="457200" y="-90487"/>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alibri"/>
              <a:buNone/>
            </a:pPr>
            <a:r>
              <a:rPr lang="en-US" sz="4500"/>
              <a:t>Exercise: Subsystem Design (cont.)</a:t>
            </a:r>
            <a:endParaRPr/>
          </a:p>
        </p:txBody>
      </p:sp>
      <p:sp>
        <p:nvSpPr>
          <p:cNvPr id="700" name="Google Shape;700;p24"/>
          <p:cNvSpPr txBox="1"/>
          <p:nvPr>
            <p:ph idx="1" type="body"/>
          </p:nvPr>
        </p:nvSpPr>
        <p:spPr>
          <a:xfrm>
            <a:off x="361950" y="1052513"/>
            <a:ext cx="7334250" cy="5043487"/>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660"/>
              <a:buChar char="⚫"/>
            </a:pPr>
            <a:r>
              <a:rPr lang="en-US" sz="2800"/>
              <a:t>Produce the following diagrams for a particular subsystem(s):</a:t>
            </a:r>
            <a:endParaRPr/>
          </a:p>
          <a:p>
            <a:pPr indent="-246888" lvl="1" marL="640080" rtl="0" algn="l">
              <a:spcBef>
                <a:spcPts val="480"/>
              </a:spcBef>
              <a:spcAft>
                <a:spcPts val="0"/>
              </a:spcAft>
              <a:buSzPts val="2040"/>
              <a:buChar char="⚫"/>
            </a:pPr>
            <a:r>
              <a:rPr lang="en-US" sz="2400"/>
              <a:t>“Interface realizations”</a:t>
            </a:r>
            <a:endParaRPr/>
          </a:p>
          <a:p>
            <a:pPr indent="-246888" lvl="2" marL="914400" rtl="0" algn="l">
              <a:spcBef>
                <a:spcPts val="480"/>
              </a:spcBef>
              <a:spcAft>
                <a:spcPts val="0"/>
              </a:spcAft>
              <a:buSzPts val="1680"/>
              <a:buChar char="⚫"/>
            </a:pPr>
            <a:r>
              <a:rPr lang="en-US" sz="2400"/>
              <a:t>Interaction diagram for each interface operation</a:t>
            </a:r>
            <a:endParaRPr/>
          </a:p>
          <a:p>
            <a:pPr indent="-246888" lvl="2" marL="914400" rtl="0" algn="l">
              <a:spcBef>
                <a:spcPts val="480"/>
              </a:spcBef>
              <a:spcAft>
                <a:spcPts val="0"/>
              </a:spcAft>
              <a:buSzPts val="1680"/>
              <a:buChar char="⚫"/>
            </a:pPr>
            <a:r>
              <a:rPr lang="en-US" sz="2400"/>
              <a:t>Class diagram containing the subsystem design elements that realize the interface responsibilities and their relationships</a:t>
            </a:r>
            <a:endParaRPr/>
          </a:p>
          <a:p>
            <a:pPr indent="-246888" lvl="1" marL="640080" rtl="0" algn="l">
              <a:spcBef>
                <a:spcPts val="480"/>
              </a:spcBef>
              <a:spcAft>
                <a:spcPts val="0"/>
              </a:spcAft>
              <a:buSzPts val="2040"/>
              <a:buChar char="⚫"/>
            </a:pPr>
            <a:r>
              <a:rPr lang="en-US" sz="2400"/>
              <a:t>Class diagram that shows the subsystem and any dependencies on external package(s) and/or subsystem(s) (subsystem dependencies class diagram)</a:t>
            </a:r>
            <a:endParaRPr/>
          </a:p>
        </p:txBody>
      </p:sp>
      <p:sp>
        <p:nvSpPr>
          <p:cNvPr id="701" name="Google Shape;701;p2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25"/>
          <p:cNvSpPr txBox="1"/>
          <p:nvPr>
            <p:ph type="title"/>
          </p:nvPr>
        </p:nvSpPr>
        <p:spPr>
          <a:xfrm>
            <a:off x="457200" y="-201546"/>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Exercise: Review</a:t>
            </a:r>
            <a:endParaRPr/>
          </a:p>
        </p:txBody>
      </p:sp>
      <p:sp>
        <p:nvSpPr>
          <p:cNvPr id="709" name="Google Shape;709;p25"/>
          <p:cNvSpPr txBox="1"/>
          <p:nvPr>
            <p:ph idx="1" type="body"/>
          </p:nvPr>
        </p:nvSpPr>
        <p:spPr>
          <a:xfrm>
            <a:off x="270455" y="1300766"/>
            <a:ext cx="6316083" cy="5061397"/>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Compare your Subsystem Interface Realizations</a:t>
            </a:r>
            <a:endParaRPr/>
          </a:p>
          <a:p>
            <a:pPr indent="-246888" lvl="1" marL="640080" rtl="0" algn="l">
              <a:spcBef>
                <a:spcPts val="480"/>
              </a:spcBef>
              <a:spcAft>
                <a:spcPts val="0"/>
              </a:spcAft>
              <a:buSzPts val="2040"/>
              <a:buChar char="⚫"/>
            </a:pPr>
            <a:r>
              <a:rPr lang="en-US"/>
              <a:t>Have all the main and/or subflows for the interface operations been handled?</a:t>
            </a:r>
            <a:endParaRPr/>
          </a:p>
          <a:p>
            <a:pPr indent="-246888" lvl="1" marL="640080" rtl="0" algn="l">
              <a:spcBef>
                <a:spcPts val="480"/>
              </a:spcBef>
              <a:spcAft>
                <a:spcPts val="0"/>
              </a:spcAft>
              <a:buSzPts val="2040"/>
              <a:buChar char="⚫"/>
            </a:pPr>
            <a:r>
              <a:rPr lang="en-US"/>
              <a:t>Has all behavior been distributed among the participating design elements?</a:t>
            </a:r>
            <a:endParaRPr/>
          </a:p>
          <a:p>
            <a:pPr indent="-246888" lvl="1" marL="640080" rtl="0" algn="l">
              <a:spcBef>
                <a:spcPts val="480"/>
              </a:spcBef>
              <a:spcAft>
                <a:spcPts val="0"/>
              </a:spcAft>
              <a:buSzPts val="2040"/>
              <a:buChar char="⚫"/>
            </a:pPr>
            <a:r>
              <a:rPr lang="en-US"/>
              <a:t>Has behavior been distributed to the right design elements?</a:t>
            </a:r>
            <a:endParaRPr/>
          </a:p>
          <a:p>
            <a:pPr indent="-246888" lvl="1" marL="640080" rtl="0" algn="l">
              <a:spcBef>
                <a:spcPts val="480"/>
              </a:spcBef>
              <a:spcAft>
                <a:spcPts val="0"/>
              </a:spcAft>
              <a:buSzPts val="2040"/>
              <a:buChar char="⚫"/>
            </a:pPr>
            <a:r>
              <a:rPr lang="en-US"/>
              <a:t>Are there any messages coming from the interfaces?</a:t>
            </a:r>
            <a:endParaRPr/>
          </a:p>
          <a:p>
            <a:pPr indent="-117475" lvl="0" marL="274320" rtl="0" algn="l">
              <a:spcBef>
                <a:spcPts val="520"/>
              </a:spcBef>
              <a:spcAft>
                <a:spcPts val="0"/>
              </a:spcAft>
              <a:buSzPts val="2470"/>
              <a:buNone/>
            </a:pPr>
            <a:r>
              <a:t/>
            </a:r>
            <a:endParaRPr/>
          </a:p>
          <a:p>
            <a:pPr indent="-117475" lvl="0" marL="274320" rtl="0" algn="l">
              <a:spcBef>
                <a:spcPts val="520"/>
              </a:spcBef>
              <a:spcAft>
                <a:spcPts val="0"/>
              </a:spcAft>
              <a:buSzPts val="2470"/>
              <a:buNone/>
            </a:pPr>
            <a:r>
              <a:t/>
            </a:r>
            <a:endParaRPr/>
          </a:p>
        </p:txBody>
      </p:sp>
      <p:sp>
        <p:nvSpPr>
          <p:cNvPr id="710" name="Google Shape;710;p2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descr="\\reba\office 2000\09prood02\PFiles\MSOffice\Clipart\standard\stddir1\bd05028_.wmf" id="711" name="Google Shape;711;p25"/>
          <p:cNvPicPr preferRelativeResize="0"/>
          <p:nvPr/>
        </p:nvPicPr>
        <p:blipFill rotWithShape="1">
          <a:blip r:embed="rId3">
            <a:alphaModFix/>
          </a:blip>
          <a:srcRect b="0" l="0" r="0" t="0"/>
          <a:stretch/>
        </p:blipFill>
        <p:spPr>
          <a:xfrm>
            <a:off x="6732588" y="1889125"/>
            <a:ext cx="1768475" cy="21272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26"/>
          <p:cNvSpPr txBox="1"/>
          <p:nvPr>
            <p:ph type="title"/>
          </p:nvPr>
        </p:nvSpPr>
        <p:spPr>
          <a:xfrm>
            <a:off x="2895600" y="24384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The End.</a:t>
            </a:r>
            <a:endParaRPr/>
          </a:p>
        </p:txBody>
      </p:sp>
      <p:sp>
        <p:nvSpPr>
          <p:cNvPr id="717" name="Google Shape;717;p2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2017-11-13T20:26:15Z</dcterms:created>
  <dc:creator>ThuGiang</dc:creator>
</cp:coreProperties>
</file>