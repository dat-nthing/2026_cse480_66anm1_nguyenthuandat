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6858000" cx="9144000"/>
  <p:notesSz cx="6858000" cy="9144000"/>
  <p:embeddedFontLst>
    <p:embeddedFont>
      <p:font typeface="Constantia"/>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5" roundtripDataSignature="AMtx7miT1r+mLUfzVvUXbfuq6PNs3ZmV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12DDE5-19F5-45B2-A244-E41F75C2E334}">
  <a:tblStyle styleId="{2512DDE5-19F5-45B2-A244-E41F75C2E33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B19B0F7-09EF-4793-AC1F-CE748EABF03A}" styleName="Table_1">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b="off" i="off"/>
      <a:tcStyle>
        <a:fill>
          <a:solidFill>
            <a:srgbClr val="CAD4EA"/>
          </a:solidFill>
        </a:fill>
      </a:tcStyle>
    </a:band1H>
    <a:band2H>
      <a:tcTxStyle b="off" i="off"/>
    </a:band2H>
    <a:band1V>
      <a:tcTxStyle b="off" i="off"/>
      <a:tcStyle>
        <a:fill>
          <a:solidFill>
            <a:srgbClr val="CAD4EA"/>
          </a:solidFill>
        </a:fill>
      </a:tcStyle>
    </a:band1V>
    <a:band2V>
      <a:tcTxStyle b="off" i="off"/>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Constantia-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Constantia-italic.fntdata"/><Relationship Id="rId10" Type="http://schemas.openxmlformats.org/officeDocument/2006/relationships/slide" Target="slides/slide3.xml"/><Relationship Id="rId32" Type="http://schemas.openxmlformats.org/officeDocument/2006/relationships/font" Target="fonts/Constantia-bold.fntdata"/><Relationship Id="rId13" Type="http://schemas.openxmlformats.org/officeDocument/2006/relationships/slide" Target="slides/slide6.xml"/><Relationship Id="rId35" Type="http://customschemas.google.com/relationships/presentationmetadata" Target="metadata"/><Relationship Id="rId12" Type="http://schemas.openxmlformats.org/officeDocument/2006/relationships/slide" Target="slides/slide5.xml"/><Relationship Id="rId34" Type="http://schemas.openxmlformats.org/officeDocument/2006/relationships/font" Target="fonts/Constantia-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25"/>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Autofit/>
          </a:bodyPr>
          <a:lstStyle>
            <a:lvl1pPr lvl="0" algn="r">
              <a:lnSpc>
                <a:spcPct val="100000"/>
              </a:lnSpc>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5"/>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lnSpc>
                <a:spcPct val="100000"/>
              </a:lnSpc>
              <a:spcBef>
                <a:spcPts val="520"/>
              </a:spcBef>
              <a:spcAft>
                <a:spcPts val="0"/>
              </a:spcAft>
              <a:buSzPts val="2470"/>
              <a:buNone/>
              <a:defRPr>
                <a:solidFill>
                  <a:schemeClr val="lt1"/>
                </a:solidFill>
              </a:defRPr>
            </a:lvl1pPr>
            <a:lvl2pPr lvl="1" algn="ctr">
              <a:lnSpc>
                <a:spcPct val="100000"/>
              </a:lnSpc>
              <a:spcBef>
                <a:spcPts val="360"/>
              </a:spcBef>
              <a:spcAft>
                <a:spcPts val="0"/>
              </a:spcAft>
              <a:buSzPts val="1530"/>
              <a:buNone/>
              <a:defRPr/>
            </a:lvl2pPr>
            <a:lvl3pPr lvl="2" algn="ctr">
              <a:lnSpc>
                <a:spcPct val="100000"/>
              </a:lnSpc>
              <a:spcBef>
                <a:spcPts val="360"/>
              </a:spcBef>
              <a:spcAft>
                <a:spcPts val="0"/>
              </a:spcAft>
              <a:buSzPts val="1260"/>
              <a:buNone/>
              <a:defRPr/>
            </a:lvl3pPr>
            <a:lvl4pPr lvl="3" algn="ctr">
              <a:lnSpc>
                <a:spcPct val="100000"/>
              </a:lnSpc>
              <a:spcBef>
                <a:spcPts val="360"/>
              </a:spcBef>
              <a:spcAft>
                <a:spcPts val="0"/>
              </a:spcAft>
              <a:buSzPts val="1170"/>
              <a:buNone/>
              <a:defRPr/>
            </a:lvl4pPr>
            <a:lvl5pPr lvl="4" algn="ctr">
              <a:lnSpc>
                <a:spcPct val="100000"/>
              </a:lnSpc>
              <a:spcBef>
                <a:spcPts val="360"/>
              </a:spcBef>
              <a:spcAft>
                <a:spcPts val="0"/>
              </a:spcAft>
              <a:buSzPts val="1170"/>
              <a:buNone/>
              <a:defRPr/>
            </a:lvl5pPr>
            <a:lvl6pPr lvl="5" algn="ctr">
              <a:lnSpc>
                <a:spcPct val="100000"/>
              </a:lnSpc>
              <a:spcBef>
                <a:spcPts val="360"/>
              </a:spcBef>
              <a:spcAft>
                <a:spcPts val="0"/>
              </a:spcAft>
              <a:buSzPts val="1440"/>
              <a:buNone/>
              <a:defRPr/>
            </a:lvl6pPr>
            <a:lvl7pPr lvl="6" algn="ctr">
              <a:lnSpc>
                <a:spcPct val="100000"/>
              </a:lnSpc>
              <a:spcBef>
                <a:spcPts val="360"/>
              </a:spcBef>
              <a:spcAft>
                <a:spcPts val="0"/>
              </a:spcAft>
              <a:buSzPts val="144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3" name="Google Shape;23;p2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27"/>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0" name="Google Shape;40;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28"/>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8"/>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Autofit/>
          </a:bodyPr>
          <a:lstStyle>
            <a:lvl1pPr indent="-228600" lvl="0" marL="457200" algn="l">
              <a:lnSpc>
                <a:spcPct val="100000"/>
              </a:lnSpc>
              <a:spcBef>
                <a:spcPts val="440"/>
              </a:spcBef>
              <a:spcAft>
                <a:spcPts val="0"/>
              </a:spcAft>
              <a:buSzPts val="2090"/>
              <a:buNone/>
              <a:defRPr sz="2200">
                <a:solidFill>
                  <a:schemeClr val="lt1"/>
                </a:solidFill>
              </a:defRPr>
            </a:lvl1pPr>
            <a:lvl2pPr indent="-228600" lvl="1" marL="914400" algn="l">
              <a:lnSpc>
                <a:spcPct val="100000"/>
              </a:lnSpc>
              <a:spcBef>
                <a:spcPts val="360"/>
              </a:spcBef>
              <a:spcAft>
                <a:spcPts val="0"/>
              </a:spcAft>
              <a:buSzPts val="1530"/>
              <a:buNone/>
              <a:defRPr sz="1800">
                <a:solidFill>
                  <a:schemeClr val="lt1"/>
                </a:solidFill>
              </a:defRPr>
            </a:lvl2pPr>
            <a:lvl3pPr indent="-228600" lvl="2" marL="1371600" algn="l">
              <a:lnSpc>
                <a:spcPct val="100000"/>
              </a:lnSpc>
              <a:spcBef>
                <a:spcPts val="320"/>
              </a:spcBef>
              <a:spcAft>
                <a:spcPts val="0"/>
              </a:spcAft>
              <a:buSzPts val="1120"/>
              <a:buNone/>
              <a:defRPr sz="1600">
                <a:solidFill>
                  <a:schemeClr val="lt1"/>
                </a:solidFill>
              </a:defRPr>
            </a:lvl3pPr>
            <a:lvl4pPr indent="-228600" lvl="3" marL="1828800" algn="l">
              <a:lnSpc>
                <a:spcPct val="100000"/>
              </a:lnSpc>
              <a:spcBef>
                <a:spcPts val="280"/>
              </a:spcBef>
              <a:spcAft>
                <a:spcPts val="0"/>
              </a:spcAft>
              <a:buSzPts val="910"/>
              <a:buNone/>
              <a:defRPr sz="1400">
                <a:solidFill>
                  <a:schemeClr val="lt1"/>
                </a:solidFill>
              </a:defRPr>
            </a:lvl4pPr>
            <a:lvl5pPr indent="-228600" lvl="4" marL="2286000" algn="l">
              <a:lnSpc>
                <a:spcPct val="100000"/>
              </a:lnSpc>
              <a:spcBef>
                <a:spcPts val="280"/>
              </a:spcBef>
              <a:spcAft>
                <a:spcPts val="0"/>
              </a:spcAft>
              <a:buSzPts val="910"/>
              <a:buNone/>
              <a:defRPr sz="1400">
                <a:solidFill>
                  <a:schemeClr val="lt1"/>
                </a:solidFill>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6" name="Google Shape;46;p2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29"/>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9"/>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2" name="Google Shape;52;p29"/>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3" name="Google Shape;53;p2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30"/>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5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0"/>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9" name="Google Shape;59;p30"/>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0" name="Google Shape;60;p30"/>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1" name="Google Shape;61;p30"/>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2" name="Google Shape;62;p3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31"/>
          <p:cNvSpPr txBox="1"/>
          <p:nvPr>
            <p:ph type="title"/>
          </p:nvPr>
        </p:nvSpPr>
        <p:spPr>
          <a:xfrm>
            <a:off x="457200" y="704088"/>
            <a:ext cx="8305800" cy="11430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3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33"/>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3"/>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lnSpc>
                <a:spcPct val="100000"/>
              </a:lnSpc>
              <a:spcBef>
                <a:spcPts val="280"/>
              </a:spcBef>
              <a:spcAft>
                <a:spcPts val="0"/>
              </a:spcAft>
              <a:buSzPts val="133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585"/>
              <a:buNone/>
              <a:defRPr sz="900"/>
            </a:lvl4pPr>
            <a:lvl5pPr indent="-228600" lvl="4" marL="2286000" algn="l">
              <a:lnSpc>
                <a:spcPct val="100000"/>
              </a:lnSpc>
              <a:spcBef>
                <a:spcPts val="180"/>
              </a:spcBef>
              <a:spcAft>
                <a:spcPts val="0"/>
              </a:spcAft>
              <a:buSzPts val="585"/>
              <a:buNone/>
              <a:defRPr sz="9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7" name="Google Shape;77;p33"/>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lnSpc>
                <a:spcPct val="100000"/>
              </a:lnSpc>
              <a:spcBef>
                <a:spcPts val="560"/>
              </a:spcBef>
              <a:spcAft>
                <a:spcPts val="0"/>
              </a:spcAft>
              <a:buSzPts val="2660"/>
              <a:buChar char="●"/>
              <a:defRPr sz="2800"/>
            </a:lvl1pPr>
            <a:lvl2pPr indent="-368935" lvl="1" marL="914400" algn="l">
              <a:lnSpc>
                <a:spcPct val="100000"/>
              </a:lnSpc>
              <a:spcBef>
                <a:spcPts val="520"/>
              </a:spcBef>
              <a:spcAft>
                <a:spcPts val="0"/>
              </a:spcAft>
              <a:buSzPts val="2210"/>
              <a:buChar char="●"/>
              <a:defRPr sz="2600"/>
            </a:lvl2pPr>
            <a:lvl3pPr indent="-335280" lvl="2" marL="1371600" algn="l">
              <a:lnSpc>
                <a:spcPct val="100000"/>
              </a:lnSpc>
              <a:spcBef>
                <a:spcPts val="480"/>
              </a:spcBef>
              <a:spcAft>
                <a:spcPts val="0"/>
              </a:spcAft>
              <a:buSzPts val="1680"/>
              <a:buChar char="●"/>
              <a:defRPr sz="2400"/>
            </a:lvl3pPr>
            <a:lvl4pPr indent="-311150" lvl="3" marL="1828800" algn="l">
              <a:lnSpc>
                <a:spcPct val="100000"/>
              </a:lnSpc>
              <a:spcBef>
                <a:spcPts val="400"/>
              </a:spcBef>
              <a:spcAft>
                <a:spcPts val="0"/>
              </a:spcAft>
              <a:buSzPts val="1300"/>
              <a:buChar char="●"/>
              <a:defRPr sz="20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8" name="Google Shape;78;p3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1" name="Shape 81"/>
        <p:cNvGrpSpPr/>
        <p:nvPr/>
      </p:nvGrpSpPr>
      <p:grpSpPr>
        <a:xfrm>
          <a:off x="0" y="0"/>
          <a:ext cx="0" cy="0"/>
          <a:chOff x="0" y="0"/>
          <a:chExt cx="0" cy="0"/>
        </a:xfrm>
      </p:grpSpPr>
      <p:sp>
        <p:nvSpPr>
          <p:cNvPr id="82" name="Google Shape;82;p34"/>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31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83" name="Google Shape;83;p34"/>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27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84" name="Google Shape;84;p34"/>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Autofit/>
          </a:bodyPr>
          <a:lstStyle>
            <a:lvl1pPr lvl="0" algn="l">
              <a:lnSpc>
                <a:spcPct val="100000"/>
              </a:lnSpc>
              <a:spcBef>
                <a:spcPts val="0"/>
              </a:spcBef>
              <a:spcAft>
                <a:spcPts val="0"/>
              </a:spcAft>
              <a:buClr>
                <a:schemeClr val="dk2"/>
              </a:buClr>
              <a:buSzPts val="2000"/>
              <a:buFont typeface="Calibri"/>
              <a:buNone/>
              <a:defRPr b="1" sz="2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4"/>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Autofit/>
          </a:bodyPr>
          <a:lstStyle>
            <a:lvl1pPr indent="-228600" lvl="0" marL="457200" algn="l">
              <a:lnSpc>
                <a:spcPct val="100000"/>
              </a:lnSpc>
              <a:spcBef>
                <a:spcPts val="250"/>
              </a:spcBef>
              <a:spcAft>
                <a:spcPts val="0"/>
              </a:spcAft>
              <a:buSzPts val="1235"/>
              <a:buFont typeface="Constantia"/>
              <a:buNone/>
              <a:defRPr sz="1300"/>
            </a:lvl1pPr>
            <a:lvl2pPr indent="-293370" lvl="1" marL="914400" algn="l">
              <a:lnSpc>
                <a:spcPct val="100000"/>
              </a:lnSpc>
              <a:spcBef>
                <a:spcPts val="240"/>
              </a:spcBef>
              <a:spcAft>
                <a:spcPts val="0"/>
              </a:spcAft>
              <a:buSzPts val="1020"/>
              <a:buChar char="●"/>
              <a:defRPr sz="1200"/>
            </a:lvl2pPr>
            <a:lvl3pPr indent="-273050" lvl="2" marL="1371600" algn="l">
              <a:lnSpc>
                <a:spcPct val="100000"/>
              </a:lnSpc>
              <a:spcBef>
                <a:spcPts val="200"/>
              </a:spcBef>
              <a:spcAft>
                <a:spcPts val="0"/>
              </a:spcAft>
              <a:buSzPts val="700"/>
              <a:buChar char="●"/>
              <a:defRPr sz="1000"/>
            </a:lvl3pPr>
            <a:lvl4pPr indent="-265748" lvl="3" marL="1828800" algn="l">
              <a:lnSpc>
                <a:spcPct val="100000"/>
              </a:lnSpc>
              <a:spcBef>
                <a:spcPts val="180"/>
              </a:spcBef>
              <a:spcAft>
                <a:spcPts val="0"/>
              </a:spcAft>
              <a:buSzPts val="585"/>
              <a:buChar char="●"/>
              <a:defRPr sz="900"/>
            </a:lvl4pPr>
            <a:lvl5pPr indent="-265748" lvl="4" marL="2286000" algn="l">
              <a:lnSpc>
                <a:spcPct val="100000"/>
              </a:lnSpc>
              <a:spcBef>
                <a:spcPts val="180"/>
              </a:spcBef>
              <a:spcAft>
                <a:spcPts val="0"/>
              </a:spcAft>
              <a:buSzPts val="585"/>
              <a:buChar char="●"/>
              <a:defRPr sz="9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6" name="Google Shape;86;p3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4"/>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34"/>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Autofit/>
          </a:bodyPr>
          <a:lstStyle>
            <a:lvl1pPr lvl="0" marR="0" rtl="0" algn="l">
              <a:lnSpc>
                <a:spcPct val="100000"/>
              </a:lnSpc>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lnSpc>
                <a:spcPct val="100000"/>
              </a:lnSpc>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lnSpc>
                <a:spcPct val="100000"/>
              </a:lnSpc>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0" name="Google Shape;90;p34"/>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91" name="Google Shape;91;p34"/>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35"/>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5"/>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5" name="Google Shape;95;p3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36"/>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6"/>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1" name="Google Shape;101;p3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24"/>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24"/>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24"/>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2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lvl1pPr indent="-385445" lvl="0" marL="457200" marR="0" rtl="0" algn="l">
              <a:lnSpc>
                <a:spcPct val="100000"/>
              </a:lnSpc>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5" lvl="2" marL="1371600"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40" lvl="5" marL="2743200"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80" lvl="6" marL="3200400"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lnSpc>
                <a:spcPct val="100000"/>
              </a:lnSpc>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lnSpc>
                <a:spcPct val="100000"/>
              </a:lnSpc>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2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D0E9ED"/>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2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D0E9ED"/>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24"/>
          <p:cNvGrpSpPr/>
          <p:nvPr/>
        </p:nvGrpSpPr>
        <p:grpSpPr>
          <a:xfrm>
            <a:off x="-29294" y="-16113"/>
            <a:ext cx="9198255" cy="1086266"/>
            <a:chOff x="-29322" y="-1971"/>
            <a:chExt cx="9198255" cy="1086266"/>
          </a:xfrm>
        </p:grpSpPr>
        <p:sp>
          <p:nvSpPr>
            <p:cNvPr id="18" name="Google Shape;18;p24"/>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9" name="Google Shape;19;p24"/>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26"/>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28" name="Google Shape;28;p26"/>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29" name="Google Shape;29;p26"/>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marR="0" rtl="0" algn="l">
              <a:lnSpc>
                <a:spcPct val="100000"/>
              </a:lnSpc>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Google Shape;30;p2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lvl1pPr indent="-385445" lvl="0" marL="457200" marR="0" rtl="0" algn="l">
              <a:lnSpc>
                <a:spcPct val="100000"/>
              </a:lnSpc>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5" lvl="2" marL="1371600"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40" lvl="5" marL="2743200"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80" lvl="6" marL="3200400"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lnSpc>
                <a:spcPct val="100000"/>
              </a:lnSpc>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lnSpc>
                <a:spcPct val="100000"/>
              </a:lnSpc>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2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2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26"/>
          <p:cNvGrpSpPr/>
          <p:nvPr/>
        </p:nvGrpSpPr>
        <p:grpSpPr>
          <a:xfrm>
            <a:off x="-29294" y="-16113"/>
            <a:ext cx="9198255" cy="1086266"/>
            <a:chOff x="-29322" y="-1971"/>
            <a:chExt cx="9198255" cy="1086266"/>
          </a:xfrm>
        </p:grpSpPr>
        <p:sp>
          <p:nvSpPr>
            <p:cNvPr id="35" name="Google Shape;35;p2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36" name="Google Shape;36;p2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Autofit/>
          </a:bodyPr>
          <a:lstStyle/>
          <a:p>
            <a:pPr indent="0" lvl="0" marL="0" rtl="0" algn="r">
              <a:lnSpc>
                <a:spcPct val="100000"/>
              </a:lnSpc>
              <a:spcBef>
                <a:spcPts val="0"/>
              </a:spcBef>
              <a:spcAft>
                <a:spcPts val="0"/>
              </a:spcAft>
              <a:buClr>
                <a:srgbClr val="4CE0EA"/>
              </a:buClr>
              <a:buSzPts val="5600"/>
              <a:buFont typeface="Calibri"/>
              <a:buNone/>
            </a:pPr>
            <a:r>
              <a:rPr lang="en-US"/>
              <a:t>Phân tích Thiết kế HTTT</a:t>
            </a:r>
            <a:endParaRPr/>
          </a:p>
        </p:txBody>
      </p:sp>
      <p:sp>
        <p:nvSpPr>
          <p:cNvPr id="109" name="Google Shape;109;p1"/>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p>
            <a:pPr indent="0" lvl="0" marL="0" marR="45720" rtl="0" algn="r">
              <a:lnSpc>
                <a:spcPct val="100000"/>
              </a:lnSpc>
              <a:spcBef>
                <a:spcPts val="0"/>
              </a:spcBef>
              <a:spcAft>
                <a:spcPts val="0"/>
              </a:spcAft>
              <a:buSzPts val="2470"/>
              <a:buNone/>
            </a:pPr>
            <a:r>
              <a:rPr lang="en-US"/>
              <a:t>Ths. Nguyễn Văn Nam</a:t>
            </a:r>
            <a:endParaRPr/>
          </a:p>
          <a:p>
            <a:pPr indent="0" lvl="0" marL="0" marR="45720" rtl="0" algn="r">
              <a:lnSpc>
                <a:spcPct val="100000"/>
              </a:lnSpc>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lnSpc>
                <a:spcPct val="100000"/>
              </a:lnSpc>
              <a:spcBef>
                <a:spcPts val="520"/>
              </a:spcBef>
              <a:spcAft>
                <a:spcPts val="0"/>
              </a:spcAft>
              <a:buSzPts val="2470"/>
              <a:buNone/>
            </a:pPr>
            <a:r>
              <a:t/>
            </a:r>
            <a:endParaRPr/>
          </a:p>
        </p:txBody>
      </p:sp>
      <p:sp>
        <p:nvSpPr>
          <p:cNvPr id="110" name="Google Shape;110;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Giới thiệu môn học</a:t>
            </a:r>
            <a:endParaRPr/>
          </a:p>
        </p:txBody>
      </p:sp>
      <p:sp>
        <p:nvSpPr>
          <p:cNvPr id="117" name="Google Shape;117;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2461"/>
              <a:buChar char="●"/>
            </a:pPr>
            <a:r>
              <a:rPr b="1" lang="en-US" sz="2590"/>
              <a:t>Số tín chỉ</a:t>
            </a:r>
            <a:r>
              <a:rPr lang="en-US" sz="2590"/>
              <a:t>: 3 tín chỉ  (LT: 2; TH/BT/TL: 1)</a:t>
            </a:r>
            <a:endParaRPr sz="2590"/>
          </a:p>
          <a:p>
            <a:pPr indent="-274320" lvl="0" marL="274320" rtl="0" algn="l">
              <a:lnSpc>
                <a:spcPct val="100000"/>
              </a:lnSpc>
              <a:spcBef>
                <a:spcPts val="481"/>
              </a:spcBef>
              <a:spcAft>
                <a:spcPts val="0"/>
              </a:spcAft>
              <a:buSzPts val="2285"/>
              <a:buChar char="●"/>
            </a:pPr>
            <a:r>
              <a:rPr lang="en-US" sz="2405"/>
              <a:t>Giảng viên:</a:t>
            </a:r>
            <a:endParaRPr/>
          </a:p>
          <a:p>
            <a:pPr indent="-246888" lvl="1" marL="640080" rtl="0" algn="l">
              <a:lnSpc>
                <a:spcPct val="100000"/>
              </a:lnSpc>
              <a:spcBef>
                <a:spcPts val="444"/>
              </a:spcBef>
              <a:spcAft>
                <a:spcPts val="0"/>
              </a:spcAft>
              <a:buSzPts val="1887"/>
              <a:buChar char="●"/>
            </a:pPr>
            <a:r>
              <a:rPr lang="en-US" sz="2220"/>
              <a:t>Ths. Nguyễn Văn Nam</a:t>
            </a:r>
            <a:endParaRPr/>
          </a:p>
          <a:p>
            <a:pPr indent="-246888" lvl="1" marL="640080" rtl="0" algn="l">
              <a:lnSpc>
                <a:spcPct val="100000"/>
              </a:lnSpc>
              <a:spcBef>
                <a:spcPts val="444"/>
              </a:spcBef>
              <a:spcAft>
                <a:spcPts val="0"/>
              </a:spcAft>
              <a:buSzPts val="1887"/>
              <a:buChar char="●"/>
            </a:pPr>
            <a:r>
              <a:rPr lang="en-US" sz="2220"/>
              <a:t>Ts. Trần Mạnh Tuấn</a:t>
            </a:r>
            <a:endParaRPr sz="2220"/>
          </a:p>
          <a:p>
            <a:pPr indent="-268033" lvl="1" marL="640080" rtl="0" algn="l">
              <a:lnSpc>
                <a:spcPct val="100000"/>
              </a:lnSpc>
              <a:spcBef>
                <a:spcPts val="444"/>
              </a:spcBef>
              <a:spcAft>
                <a:spcPts val="0"/>
              </a:spcAft>
              <a:buSzPts val="2220"/>
              <a:buChar char="●"/>
            </a:pPr>
            <a:r>
              <a:rPr lang="en-US" sz="2220"/>
              <a:t>Ts. Nguyễn Tu Trung</a:t>
            </a:r>
            <a:endParaRPr sz="2220"/>
          </a:p>
          <a:p>
            <a:pPr indent="-274320" lvl="0" marL="274320" rtl="0" algn="l">
              <a:lnSpc>
                <a:spcPct val="100000"/>
              </a:lnSpc>
              <a:spcBef>
                <a:spcPts val="481"/>
              </a:spcBef>
              <a:spcAft>
                <a:spcPts val="0"/>
              </a:spcAft>
              <a:buSzPts val="2285"/>
              <a:buChar char="●"/>
            </a:pPr>
            <a:r>
              <a:rPr lang="en-US" sz="2405"/>
              <a:t>Tài liệu:</a:t>
            </a:r>
            <a:endParaRPr/>
          </a:p>
          <a:p>
            <a:pPr indent="-246888" lvl="1" marL="640080" rtl="0" algn="l">
              <a:lnSpc>
                <a:spcPct val="100000"/>
              </a:lnSpc>
              <a:spcBef>
                <a:spcPts val="444"/>
              </a:spcBef>
              <a:spcAft>
                <a:spcPts val="0"/>
              </a:spcAft>
              <a:buSzPts val="1887"/>
              <a:buChar char="●"/>
            </a:pPr>
            <a:r>
              <a:rPr lang="en-US" sz="2220"/>
              <a:t>Giáo trình: Phân tích và Thiết kế hướng đối tượng – Trương Ninh Thuận – Đặng Đức Hạnh – ĐHQG Hà Nội.</a:t>
            </a:r>
            <a:endParaRPr/>
          </a:p>
          <a:p>
            <a:pPr indent="-246888" lvl="1" marL="640080" rtl="0" algn="l">
              <a:lnSpc>
                <a:spcPct val="100000"/>
              </a:lnSpc>
              <a:spcBef>
                <a:spcPts val="444"/>
              </a:spcBef>
              <a:spcAft>
                <a:spcPts val="0"/>
              </a:spcAft>
              <a:buSzPts val="1887"/>
              <a:buChar char="●"/>
            </a:pPr>
            <a:r>
              <a:rPr lang="en-US" sz="2220"/>
              <a:t>Ian Sommerville: Software Engineering, 10th  Edition, 2015</a:t>
            </a:r>
            <a:endParaRPr/>
          </a:p>
          <a:p>
            <a:pPr indent="-246888" lvl="1" marL="640080" rtl="0" algn="l">
              <a:lnSpc>
                <a:spcPct val="100000"/>
              </a:lnSpc>
              <a:spcBef>
                <a:spcPts val="444"/>
              </a:spcBef>
              <a:spcAft>
                <a:spcPts val="0"/>
              </a:spcAft>
              <a:buSzPts val="1887"/>
              <a:buChar char="●"/>
            </a:pPr>
            <a:r>
              <a:rPr lang="en-US" sz="2220"/>
              <a:t>Software Modeling and Design: UML, Use Cases, Patterns &amp; Software Architectures - H. Gomaa </a:t>
            </a:r>
            <a:br>
              <a:rPr lang="en-US" sz="2220"/>
            </a:br>
            <a:endParaRPr sz="2220"/>
          </a:p>
          <a:p>
            <a:pPr indent="-127063" lvl="1" marL="640080" rtl="0" algn="l">
              <a:lnSpc>
                <a:spcPct val="100000"/>
              </a:lnSpc>
              <a:spcBef>
                <a:spcPts val="444"/>
              </a:spcBef>
              <a:spcAft>
                <a:spcPts val="0"/>
              </a:spcAft>
              <a:buSzPts val="1887"/>
              <a:buNone/>
            </a:pPr>
            <a:r>
              <a:t/>
            </a:r>
            <a:endParaRPr sz="2220"/>
          </a:p>
        </p:txBody>
      </p:sp>
      <p:sp>
        <p:nvSpPr>
          <p:cNvPr id="118" name="Google Shape;118;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Đánh giá kết quả học tập</a:t>
            </a:r>
            <a:endParaRPr/>
          </a:p>
        </p:txBody>
      </p:sp>
      <p:sp>
        <p:nvSpPr>
          <p:cNvPr id="124" name="Google Shape;124;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90000"/>
              </a:lnSpc>
              <a:spcBef>
                <a:spcPts val="0"/>
              </a:spcBef>
              <a:spcAft>
                <a:spcPts val="0"/>
              </a:spcAft>
              <a:buSzPts val="2470"/>
              <a:buChar char="●"/>
            </a:pPr>
            <a:r>
              <a:rPr lang="en-US"/>
              <a:t>Điểm quá trình (30%)</a:t>
            </a:r>
            <a:endParaRPr/>
          </a:p>
          <a:p>
            <a:pPr indent="-246888" lvl="1" marL="640080" rtl="0" algn="l">
              <a:lnSpc>
                <a:spcPct val="90000"/>
              </a:lnSpc>
              <a:spcBef>
                <a:spcPts val="480"/>
              </a:spcBef>
              <a:spcAft>
                <a:spcPts val="0"/>
              </a:spcAft>
              <a:buSzPts val="2040"/>
              <a:buChar char="●"/>
            </a:pPr>
            <a:r>
              <a:rPr lang="en-US"/>
              <a:t>Chuyên cần, ý thức: 25%</a:t>
            </a:r>
            <a:endParaRPr/>
          </a:p>
          <a:p>
            <a:pPr indent="-246888" lvl="1" marL="640080" rtl="0" algn="l">
              <a:lnSpc>
                <a:spcPct val="90000"/>
              </a:lnSpc>
              <a:spcBef>
                <a:spcPts val="480"/>
              </a:spcBef>
              <a:spcAft>
                <a:spcPts val="0"/>
              </a:spcAft>
              <a:buSzPts val="2040"/>
              <a:buChar char="●"/>
            </a:pPr>
            <a:r>
              <a:rPr lang="en-US"/>
              <a:t>Bài tập thực hành: 25%</a:t>
            </a:r>
            <a:endParaRPr/>
          </a:p>
          <a:p>
            <a:pPr indent="-246888" lvl="1" marL="640080" rtl="0" algn="l">
              <a:lnSpc>
                <a:spcPct val="90000"/>
              </a:lnSpc>
              <a:spcBef>
                <a:spcPts val="480"/>
              </a:spcBef>
              <a:spcAft>
                <a:spcPts val="0"/>
              </a:spcAft>
              <a:buSzPts val="2040"/>
              <a:buChar char="●"/>
            </a:pPr>
            <a:r>
              <a:rPr lang="en-US"/>
              <a:t>Bài tập lớn: 50%</a:t>
            </a:r>
            <a:endParaRPr/>
          </a:p>
          <a:p>
            <a:pPr indent="-274320" lvl="0" marL="274320" rtl="0" algn="l">
              <a:lnSpc>
                <a:spcPct val="90000"/>
              </a:lnSpc>
              <a:spcBef>
                <a:spcPts val="520"/>
              </a:spcBef>
              <a:spcAft>
                <a:spcPts val="0"/>
              </a:spcAft>
              <a:buSzPts val="2470"/>
              <a:buChar char="●"/>
            </a:pPr>
            <a:r>
              <a:rPr lang="en-US"/>
              <a:t>Điểm cuối kỳ (70%)</a:t>
            </a:r>
            <a:endParaRPr/>
          </a:p>
          <a:p>
            <a:pPr indent="-246888" lvl="1" marL="640080" rtl="0" algn="l">
              <a:lnSpc>
                <a:spcPct val="90000"/>
              </a:lnSpc>
              <a:spcBef>
                <a:spcPts val="480"/>
              </a:spcBef>
              <a:spcAft>
                <a:spcPts val="0"/>
              </a:spcAft>
              <a:buSzPts val="2040"/>
              <a:buChar char="●"/>
            </a:pPr>
            <a:r>
              <a:rPr lang="en-US"/>
              <a:t>Thi vấn đáp</a:t>
            </a:r>
            <a:endParaRPr/>
          </a:p>
          <a:p>
            <a:pPr indent="-246888" lvl="1" marL="640080" rtl="0" algn="l">
              <a:lnSpc>
                <a:spcPct val="90000"/>
              </a:lnSpc>
              <a:spcBef>
                <a:spcPts val="480"/>
              </a:spcBef>
              <a:spcAft>
                <a:spcPts val="0"/>
              </a:spcAft>
              <a:buSzPts val="2040"/>
              <a:buChar char="●"/>
            </a:pPr>
            <a:r>
              <a:rPr lang="en-US"/>
              <a:t>Dựa trên bài tập lớn</a:t>
            </a:r>
            <a:endParaRPr/>
          </a:p>
          <a:p>
            <a:pPr indent="-274320" lvl="0" marL="274320" rtl="0" algn="l">
              <a:lnSpc>
                <a:spcPct val="90000"/>
              </a:lnSpc>
              <a:spcBef>
                <a:spcPts val="520"/>
              </a:spcBef>
              <a:spcAft>
                <a:spcPts val="0"/>
              </a:spcAft>
              <a:buSzPts val="2470"/>
              <a:buChar char="●"/>
            </a:pPr>
            <a:r>
              <a:rPr lang="en-US"/>
              <a:t>Bài tập lớn</a:t>
            </a:r>
            <a:endParaRPr/>
          </a:p>
          <a:p>
            <a:pPr indent="-246888" lvl="1" marL="640080" rtl="0" algn="l">
              <a:lnSpc>
                <a:spcPct val="90000"/>
              </a:lnSpc>
              <a:spcBef>
                <a:spcPts val="480"/>
              </a:spcBef>
              <a:spcAft>
                <a:spcPts val="0"/>
              </a:spcAft>
              <a:buSzPts val="2040"/>
              <a:buChar char="●"/>
            </a:pPr>
            <a:r>
              <a:rPr lang="en-US"/>
              <a:t>Nhóm bài tập từ 3 sinh viên</a:t>
            </a:r>
            <a:endParaRPr/>
          </a:p>
          <a:p>
            <a:pPr indent="-246888" lvl="1" marL="640080" rtl="0" algn="l">
              <a:lnSpc>
                <a:spcPct val="90000"/>
              </a:lnSpc>
              <a:spcBef>
                <a:spcPts val="480"/>
              </a:spcBef>
              <a:spcAft>
                <a:spcPts val="0"/>
              </a:spcAft>
              <a:buSzPts val="2040"/>
              <a:buChar char="●"/>
            </a:pPr>
            <a:r>
              <a:rPr lang="en-US"/>
              <a:t>Phân tích thiết kế đầy đủ một đề tài</a:t>
            </a:r>
            <a:endParaRPr/>
          </a:p>
        </p:txBody>
      </p:sp>
      <p:sp>
        <p:nvSpPr>
          <p:cNvPr id="125" name="Google Shape;125;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idx="1" type="body"/>
          </p:nvPr>
        </p:nvSpPr>
        <p:spPr>
          <a:xfrm>
            <a:off x="457200" y="1049875"/>
            <a:ext cx="8229600" cy="4233300"/>
          </a:xfrm>
          <a:prstGeom prst="rect">
            <a:avLst/>
          </a:prstGeom>
          <a:noFill/>
          <a:ln>
            <a:noFill/>
          </a:ln>
        </p:spPr>
        <p:txBody>
          <a:bodyPr anchorCtr="0" anchor="t" bIns="45700" lIns="91425" spcFirstLastPara="1" rIns="91425" wrap="square" tIns="45700">
            <a:noAutofit/>
          </a:bodyPr>
          <a:lstStyle/>
          <a:p>
            <a:pPr indent="-117475" lvl="0" marL="274320" rtl="0" algn="l">
              <a:lnSpc>
                <a:spcPct val="100000"/>
              </a:lnSpc>
              <a:spcBef>
                <a:spcPts val="0"/>
              </a:spcBef>
              <a:spcAft>
                <a:spcPts val="0"/>
              </a:spcAft>
              <a:buSzPts val="2470"/>
              <a:buNone/>
            </a:pPr>
            <a:r>
              <a:rPr lang="en-US" sz="3600"/>
              <a:t>Nội dung bài học</a:t>
            </a:r>
            <a:endParaRPr sz="3600"/>
          </a:p>
          <a:p>
            <a:pPr indent="-117475" lvl="0" marL="274320" rtl="0" algn="l">
              <a:lnSpc>
                <a:spcPct val="100000"/>
              </a:lnSpc>
              <a:spcBef>
                <a:spcPts val="0"/>
              </a:spcBef>
              <a:spcAft>
                <a:spcPts val="0"/>
              </a:spcAft>
              <a:buSzPts val="2470"/>
              <a:buNone/>
            </a:pPr>
            <a:r>
              <a:t/>
            </a:r>
            <a:endParaRPr sz="3000"/>
          </a:p>
          <a:p>
            <a:pPr indent="-419100" lvl="0" marL="457200" rtl="0" algn="l">
              <a:lnSpc>
                <a:spcPct val="100000"/>
              </a:lnSpc>
              <a:spcBef>
                <a:spcPts val="0"/>
              </a:spcBef>
              <a:spcAft>
                <a:spcPts val="0"/>
              </a:spcAft>
              <a:buSzPts val="3000"/>
              <a:buChar char="●"/>
            </a:pPr>
            <a:r>
              <a:rPr lang="en-US" sz="3000"/>
              <a:t>Phân tích và thiết kế</a:t>
            </a:r>
            <a:endParaRPr sz="3000"/>
          </a:p>
          <a:p>
            <a:pPr indent="-419100" lvl="0" marL="457200" rtl="0" algn="l">
              <a:lnSpc>
                <a:spcPct val="100000"/>
              </a:lnSpc>
              <a:spcBef>
                <a:spcPts val="0"/>
              </a:spcBef>
              <a:spcAft>
                <a:spcPts val="0"/>
              </a:spcAft>
              <a:buSzPts val="3000"/>
              <a:buChar char="●"/>
            </a:pPr>
            <a:r>
              <a:rPr lang="en-US" sz="3000"/>
              <a:t>Các mô hình phân tích</a:t>
            </a:r>
            <a:endParaRPr sz="3000"/>
          </a:p>
          <a:p>
            <a:pPr indent="-419100" lvl="0" marL="457200" rtl="0" algn="l">
              <a:lnSpc>
                <a:spcPct val="100000"/>
              </a:lnSpc>
              <a:spcBef>
                <a:spcPts val="0"/>
              </a:spcBef>
              <a:spcAft>
                <a:spcPts val="0"/>
              </a:spcAft>
              <a:buSzPts val="3000"/>
              <a:buChar char="●"/>
            </a:pPr>
            <a:r>
              <a:rPr lang="en-US" sz="3000"/>
              <a:t>Các yếu tố ảnh hưởng lớn đến phân tích</a:t>
            </a:r>
            <a:endParaRPr sz="3000"/>
          </a:p>
        </p:txBody>
      </p:sp>
      <p:sp>
        <p:nvSpPr>
          <p:cNvPr id="131" name="Google Shape;131;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idx="12" type="sldNum"/>
          </p:nvPr>
        </p:nvSpPr>
        <p:spPr>
          <a:xfrm>
            <a:off x="7924800" y="6356350"/>
            <a:ext cx="762000" cy="3651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37" name="Google Shape;137;p5"/>
          <p:cNvGraphicFramePr/>
          <p:nvPr/>
        </p:nvGraphicFramePr>
        <p:xfrm>
          <a:off x="287850" y="1231975"/>
          <a:ext cx="3000000" cy="3000000"/>
        </p:xfrm>
        <a:graphic>
          <a:graphicData uri="http://schemas.openxmlformats.org/drawingml/2006/table">
            <a:tbl>
              <a:tblPr>
                <a:noFill/>
                <a:tableStyleId>{2512DDE5-19F5-45B2-A244-E41F75C2E334}</a:tableStyleId>
              </a:tblPr>
              <a:tblGrid>
                <a:gridCol w="4243925"/>
                <a:gridCol w="4243925"/>
              </a:tblGrid>
              <a:tr h="683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1: Giới thiệu môn học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2: Nhập môn UML</a:t>
                      </a:r>
                      <a:endParaRPr sz="1400" u="none" cap="none" strike="noStrike"/>
                    </a:p>
                  </a:txBody>
                  <a:tcPr marT="91425" marB="91425" marR="91425" marL="91425"/>
                </a:tc>
              </a:tr>
              <a:tr h="683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3: UML: Các kiến thức căn bản (I)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4: UML: Các kiến thức căn bản (II)</a:t>
                      </a:r>
                      <a:endParaRPr sz="1400" u="none" cap="none" strike="noStrike"/>
                    </a:p>
                  </a:txBody>
                  <a:tcPr marT="91425" marB="91425" marR="91425" marL="91425"/>
                </a:tc>
              </a:tr>
              <a:tr h="683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5: Quy trình phát triển RUP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6: Tổng quan yêu cầu hệ thống; Use case</a:t>
                      </a:r>
                      <a:endParaRPr sz="1400" u="none" cap="none" strike="noStrike"/>
                    </a:p>
                  </a:txBody>
                  <a:tcPr marT="91425" marB="91425" marR="91425" marL="91425"/>
                </a:tc>
              </a:tr>
              <a:tr h="683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7: Phân tích và thiết kế</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8: Phân tích lớp</a:t>
                      </a:r>
                      <a:endParaRPr sz="1400" u="none" cap="none" strike="noStrike"/>
                    </a:p>
                  </a:txBody>
                  <a:tcPr marT="91425" marB="91425" marR="91425" marL="91425"/>
                </a:tc>
              </a:tr>
              <a:tr h="683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9: Thiết kế các phần tử</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10: Các cơ chế thiết kế và kiến trúc thực thi</a:t>
                      </a:r>
                      <a:endParaRPr sz="1400" u="none" cap="none" strike="noStrike"/>
                    </a:p>
                  </a:txBody>
                  <a:tcPr marT="91425" marB="91425" marR="91425" marL="91425"/>
                </a:tc>
              </a:tr>
              <a:tr h="683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11: Thiết kế ca sử dụng (Use case)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12: Thiết kế hệ thống con (Subsystem)</a:t>
                      </a:r>
                      <a:endParaRPr sz="1400" u="none" cap="none" strike="noStrike"/>
                    </a:p>
                  </a:txBody>
                  <a:tcPr marT="91425" marB="91425" marR="91425" marL="91425"/>
                </a:tc>
              </a:tr>
              <a:tr h="683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13: Thiết kế lớp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14: Thiết kế cơ sở dữ liệu (Database)</a:t>
                      </a:r>
                      <a:endParaRPr sz="1400" u="none" cap="none" strike="noStrike"/>
                    </a:p>
                  </a:txBody>
                  <a:tcPr marT="91425" marB="91425" marR="91425" marL="91425"/>
                </a:tc>
              </a:tr>
              <a:tr h="683675">
                <a:tc gridSpan="2">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Bài 15: Tổng kết</a:t>
                      </a:r>
                      <a:endParaRPr sz="1400" u="none" cap="none" strike="noStrike"/>
                    </a:p>
                  </a:txBody>
                  <a:tcPr marT="91425" marB="91425" marR="91425" marL="91425"/>
                </a:tc>
                <a:tc hMerge="1"/>
              </a:tr>
            </a:tbl>
          </a:graphicData>
        </a:graphic>
      </p:graphicFrame>
      <p:sp>
        <p:nvSpPr>
          <p:cNvPr id="138" name="Google Shape;138;p5"/>
          <p:cNvSpPr txBox="1"/>
          <p:nvPr/>
        </p:nvSpPr>
        <p:spPr>
          <a:xfrm>
            <a:off x="491075" y="639175"/>
            <a:ext cx="7247400" cy="59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Bài giảng</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ph type="title"/>
          </p:nvPr>
        </p:nvSpPr>
        <p:spPr>
          <a:xfrm>
            <a:off x="457200" y="704088"/>
            <a:ext cx="8305800" cy="34107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Phân tích – Thiết kế?</a:t>
            </a:r>
            <a:endParaRPr/>
          </a:p>
        </p:txBody>
      </p:sp>
      <p:sp>
        <p:nvSpPr>
          <p:cNvPr id="144" name="Google Shape;144;p6"/>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Autofit/>
          </a:bodyPr>
          <a:lstStyle/>
          <a:p>
            <a:pPr indent="-117475" lvl="0" marL="274320" rtl="0" algn="l">
              <a:lnSpc>
                <a:spcPct val="100000"/>
              </a:lnSpc>
              <a:spcBef>
                <a:spcPts val="0"/>
              </a:spcBef>
              <a:spcAft>
                <a:spcPts val="0"/>
              </a:spcAft>
              <a:buSzPts val="2470"/>
              <a:buNone/>
            </a:pPr>
            <a:r>
              <a:t/>
            </a:r>
            <a:endParaRPr/>
          </a:p>
        </p:txBody>
      </p:sp>
      <p:sp>
        <p:nvSpPr>
          <p:cNvPr id="145" name="Google Shape;145;p6"/>
          <p:cNvSpPr txBox="1"/>
          <p:nvPr>
            <p:ph idx="12" type="sldNum"/>
          </p:nvPr>
        </p:nvSpPr>
        <p:spPr>
          <a:xfrm>
            <a:off x="7924800" y="6356350"/>
            <a:ext cx="762000" cy="3651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Lý do</a:t>
            </a:r>
            <a:endParaRPr/>
          </a:p>
        </p:txBody>
      </p:sp>
      <p:sp>
        <p:nvSpPr>
          <p:cNvPr id="151" name="Google Shape;151;p7"/>
          <p:cNvSpPr txBox="1"/>
          <p:nvPr>
            <p:ph idx="1" type="body"/>
          </p:nvPr>
        </p:nvSpPr>
        <p:spPr>
          <a:xfrm>
            <a:off x="304800" y="1935480"/>
            <a:ext cx="8610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80000"/>
              </a:lnSpc>
              <a:spcBef>
                <a:spcPts val="0"/>
              </a:spcBef>
              <a:spcAft>
                <a:spcPts val="0"/>
              </a:spcAft>
              <a:buSzPts val="2285"/>
              <a:buChar char="●"/>
            </a:pPr>
            <a:r>
              <a:rPr lang="en-US" sz="2405"/>
              <a:t>Hệ thống lớn hơn:</a:t>
            </a:r>
            <a:endParaRPr/>
          </a:p>
          <a:p>
            <a:pPr indent="-246888" lvl="1" marL="640080" rtl="0" algn="l">
              <a:lnSpc>
                <a:spcPct val="80000"/>
              </a:lnSpc>
              <a:spcBef>
                <a:spcPts val="444"/>
              </a:spcBef>
              <a:spcAft>
                <a:spcPts val="0"/>
              </a:spcAft>
              <a:buSzPts val="1887"/>
              <a:buChar char="●"/>
            </a:pPr>
            <a:r>
              <a:rPr lang="en-US" sz="2220"/>
              <a:t>Kích cỡ và dung lượng</a:t>
            </a:r>
            <a:endParaRPr sz="2220"/>
          </a:p>
          <a:p>
            <a:pPr indent="-246888" lvl="1" marL="640080" rtl="0" algn="l">
              <a:lnSpc>
                <a:spcPct val="80000"/>
              </a:lnSpc>
              <a:spcBef>
                <a:spcPts val="444"/>
              </a:spcBef>
              <a:spcAft>
                <a:spcPts val="0"/>
              </a:spcAft>
              <a:buSzPts val="1887"/>
              <a:buChar char="●"/>
            </a:pPr>
            <a:r>
              <a:rPr lang="en-US" sz="2220"/>
              <a:t>Số người dùng</a:t>
            </a:r>
            <a:endParaRPr sz="2220"/>
          </a:p>
          <a:p>
            <a:pPr indent="-246888" lvl="1" marL="640080" rtl="0" algn="l">
              <a:lnSpc>
                <a:spcPct val="80000"/>
              </a:lnSpc>
              <a:spcBef>
                <a:spcPts val="444"/>
              </a:spcBef>
              <a:spcAft>
                <a:spcPts val="0"/>
              </a:spcAft>
              <a:buSzPts val="1887"/>
              <a:buChar char="●"/>
            </a:pPr>
            <a:r>
              <a:rPr lang="en-US" sz="2220"/>
              <a:t>Số nhân viên phát triển</a:t>
            </a:r>
            <a:endParaRPr sz="2220"/>
          </a:p>
          <a:p>
            <a:pPr indent="-246888" lvl="1" marL="640080" rtl="0" algn="l">
              <a:lnSpc>
                <a:spcPct val="80000"/>
              </a:lnSpc>
              <a:spcBef>
                <a:spcPts val="444"/>
              </a:spcBef>
              <a:spcAft>
                <a:spcPts val="0"/>
              </a:spcAft>
              <a:buSzPts val="1887"/>
              <a:buChar char="●"/>
            </a:pPr>
            <a:r>
              <a:rPr lang="en-US" sz="2220"/>
              <a:t>Vòng đời của dự án</a:t>
            </a:r>
            <a:endParaRPr sz="2220"/>
          </a:p>
          <a:p>
            <a:pPr indent="-246888" lvl="1" marL="640080" rtl="0" algn="l">
              <a:lnSpc>
                <a:spcPct val="80000"/>
              </a:lnSpc>
              <a:spcBef>
                <a:spcPts val="444"/>
              </a:spcBef>
              <a:spcAft>
                <a:spcPts val="0"/>
              </a:spcAft>
              <a:buSzPts val="1887"/>
              <a:buChar char="●"/>
            </a:pPr>
            <a:r>
              <a:rPr lang="en-US" sz="2220"/>
              <a:t>Sự thay đổi và các phiên bản khác nhau</a:t>
            </a:r>
            <a:endParaRPr sz="2220"/>
          </a:p>
          <a:p>
            <a:pPr indent="-274320" lvl="0" marL="274320" rtl="0" algn="l">
              <a:lnSpc>
                <a:spcPct val="80000"/>
              </a:lnSpc>
              <a:spcBef>
                <a:spcPts val="481"/>
              </a:spcBef>
              <a:spcAft>
                <a:spcPts val="0"/>
              </a:spcAft>
              <a:buSzPts val="2285"/>
              <a:buChar char="●"/>
            </a:pPr>
            <a:r>
              <a:rPr lang="en-US" sz="2405"/>
              <a:t>Độ phức tạp tăng cao:</a:t>
            </a:r>
            <a:endParaRPr/>
          </a:p>
          <a:p>
            <a:pPr indent="-246888" lvl="1" marL="640080" rtl="0" algn="l">
              <a:lnSpc>
                <a:spcPct val="80000"/>
              </a:lnSpc>
              <a:spcBef>
                <a:spcPts val="444"/>
              </a:spcBef>
              <a:spcAft>
                <a:spcPts val="0"/>
              </a:spcAft>
              <a:buSzPts val="1887"/>
              <a:buChar char="●"/>
            </a:pPr>
            <a:r>
              <a:rPr lang="en-US" sz="2220"/>
              <a:t>Cấu trúc</a:t>
            </a:r>
            <a:endParaRPr sz="2220"/>
          </a:p>
          <a:p>
            <a:pPr indent="-246888" lvl="1" marL="640080" rtl="0" algn="l">
              <a:lnSpc>
                <a:spcPct val="80000"/>
              </a:lnSpc>
              <a:spcBef>
                <a:spcPts val="444"/>
              </a:spcBef>
              <a:spcAft>
                <a:spcPts val="0"/>
              </a:spcAft>
              <a:buSzPts val="1887"/>
              <a:buChar char="●"/>
            </a:pPr>
            <a:r>
              <a:rPr lang="en-US" sz="2220"/>
              <a:t>Môi trường</a:t>
            </a:r>
            <a:endParaRPr sz="2220"/>
          </a:p>
          <a:p>
            <a:pPr indent="-246888" lvl="1" marL="640080" rtl="0" algn="l">
              <a:lnSpc>
                <a:spcPct val="80000"/>
              </a:lnSpc>
              <a:spcBef>
                <a:spcPts val="444"/>
              </a:spcBef>
              <a:spcAft>
                <a:spcPts val="0"/>
              </a:spcAft>
              <a:buSzPts val="1887"/>
              <a:buChar char="●"/>
            </a:pPr>
            <a:r>
              <a:rPr lang="en-US" sz="2220"/>
              <a:t>Kỹ thuật</a:t>
            </a:r>
            <a:endParaRPr sz="2220"/>
          </a:p>
          <a:p>
            <a:pPr indent="-246888" lvl="1" marL="640080" rtl="0" algn="l">
              <a:lnSpc>
                <a:spcPct val="80000"/>
              </a:lnSpc>
              <a:spcBef>
                <a:spcPts val="444"/>
              </a:spcBef>
              <a:spcAft>
                <a:spcPts val="0"/>
              </a:spcAft>
              <a:buSzPts val="1887"/>
              <a:buChar char="●"/>
            </a:pPr>
            <a:r>
              <a:rPr lang="en-US" sz="2220"/>
              <a:t>Phần cứng</a:t>
            </a:r>
            <a:endParaRPr sz="2220"/>
          </a:p>
          <a:p>
            <a:pPr indent="-246888" lvl="1" marL="640080" rtl="0" algn="l">
              <a:lnSpc>
                <a:spcPct val="80000"/>
              </a:lnSpc>
              <a:spcBef>
                <a:spcPts val="444"/>
              </a:spcBef>
              <a:spcAft>
                <a:spcPts val="0"/>
              </a:spcAft>
              <a:buSzPts val="1887"/>
              <a:buChar char="●"/>
            </a:pPr>
            <a:r>
              <a:rPr lang="en-US" sz="2220"/>
              <a:t>…</a:t>
            </a:r>
            <a:endParaRPr sz="2220"/>
          </a:p>
        </p:txBody>
      </p:sp>
      <p:pic>
        <p:nvPicPr>
          <p:cNvPr id="152" name="Google Shape;152;p7"/>
          <p:cNvPicPr preferRelativeResize="0"/>
          <p:nvPr/>
        </p:nvPicPr>
        <p:blipFill rotWithShape="1">
          <a:blip r:embed="rId3">
            <a:alphaModFix/>
          </a:blip>
          <a:srcRect b="0" l="0" r="0" t="0"/>
          <a:stretch/>
        </p:blipFill>
        <p:spPr>
          <a:xfrm>
            <a:off x="5943600" y="1524000"/>
            <a:ext cx="2552700" cy="1619250"/>
          </a:xfrm>
          <a:prstGeom prst="rect">
            <a:avLst/>
          </a:prstGeom>
          <a:noFill/>
          <a:ln>
            <a:noFill/>
          </a:ln>
        </p:spPr>
      </p:pic>
      <p:pic>
        <p:nvPicPr>
          <p:cNvPr id="153" name="Google Shape;153;p7"/>
          <p:cNvPicPr preferRelativeResize="0"/>
          <p:nvPr/>
        </p:nvPicPr>
        <p:blipFill rotWithShape="1">
          <a:blip r:embed="rId4">
            <a:alphaModFix/>
          </a:blip>
          <a:srcRect b="0" l="0" r="0" t="0"/>
          <a:stretch/>
        </p:blipFill>
        <p:spPr>
          <a:xfrm>
            <a:off x="5943600" y="3209925"/>
            <a:ext cx="2333625" cy="1514475"/>
          </a:xfrm>
          <a:prstGeom prst="rect">
            <a:avLst/>
          </a:prstGeom>
          <a:noFill/>
          <a:ln>
            <a:noFill/>
          </a:ln>
        </p:spPr>
      </p:pic>
      <p:pic>
        <p:nvPicPr>
          <p:cNvPr id="154" name="Google Shape;154;p7"/>
          <p:cNvPicPr preferRelativeResize="0"/>
          <p:nvPr/>
        </p:nvPicPr>
        <p:blipFill rotWithShape="1">
          <a:blip r:embed="rId5">
            <a:alphaModFix/>
          </a:blip>
          <a:srcRect b="0" l="0" r="0" t="0"/>
          <a:stretch/>
        </p:blipFill>
        <p:spPr>
          <a:xfrm>
            <a:off x="6019800" y="4867275"/>
            <a:ext cx="2209800" cy="1457325"/>
          </a:xfrm>
          <a:prstGeom prst="rect">
            <a:avLst/>
          </a:prstGeom>
          <a:noFill/>
          <a:ln>
            <a:noFill/>
          </a:ln>
        </p:spPr>
      </p:pic>
      <p:sp>
        <p:nvSpPr>
          <p:cNvPr id="155" name="Google Shape;155;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Lý do</a:t>
            </a:r>
            <a:endParaRPr/>
          </a:p>
        </p:txBody>
      </p:sp>
      <p:sp>
        <p:nvSpPr>
          <p:cNvPr id="161" name="Google Shape;161;p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2470"/>
              <a:buChar char="●"/>
            </a:pPr>
            <a:r>
              <a:rPr lang="en-US"/>
              <a:t>Giá cho phát triển và hoàn thiện sản phẩm</a:t>
            </a:r>
            <a:endParaRPr/>
          </a:p>
          <a:p>
            <a:pPr indent="-274320" lvl="0" marL="274320" rtl="0" algn="l">
              <a:lnSpc>
                <a:spcPct val="100000"/>
              </a:lnSpc>
              <a:spcBef>
                <a:spcPts val="520"/>
              </a:spcBef>
              <a:spcAft>
                <a:spcPts val="0"/>
              </a:spcAft>
              <a:buSzPts val="2470"/>
              <a:buChar char="●"/>
            </a:pPr>
            <a:r>
              <a:rPr lang="en-US"/>
              <a:t>Ràng buộc về thời gian</a:t>
            </a:r>
            <a:endParaRPr/>
          </a:p>
          <a:p>
            <a:pPr indent="-274320" lvl="0" marL="274320" rtl="0" algn="l">
              <a:lnSpc>
                <a:spcPct val="100000"/>
              </a:lnSpc>
              <a:spcBef>
                <a:spcPts val="520"/>
              </a:spcBef>
              <a:spcAft>
                <a:spcPts val="0"/>
              </a:spcAft>
              <a:buSzPts val="2470"/>
              <a:buChar char="●"/>
            </a:pPr>
            <a:r>
              <a:rPr lang="en-US"/>
              <a:t>Bảo trì cho hệ thống</a:t>
            </a:r>
            <a:endParaRPr/>
          </a:p>
        </p:txBody>
      </p:sp>
      <p:pic>
        <p:nvPicPr>
          <p:cNvPr id="162" name="Google Shape;162;p8"/>
          <p:cNvPicPr preferRelativeResize="0"/>
          <p:nvPr/>
        </p:nvPicPr>
        <p:blipFill rotWithShape="1">
          <a:blip r:embed="rId3">
            <a:alphaModFix/>
          </a:blip>
          <a:srcRect b="0" l="0" r="0" t="0"/>
          <a:stretch/>
        </p:blipFill>
        <p:spPr>
          <a:xfrm>
            <a:off x="4191000" y="3048000"/>
            <a:ext cx="4038600" cy="2971800"/>
          </a:xfrm>
          <a:prstGeom prst="rect">
            <a:avLst/>
          </a:prstGeom>
          <a:noFill/>
          <a:ln>
            <a:noFill/>
          </a:ln>
        </p:spPr>
      </p:pic>
      <p:sp>
        <p:nvSpPr>
          <p:cNvPr id="163" name="Google Shape;163;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Lý do</a:t>
            </a:r>
            <a:endParaRPr/>
          </a:p>
        </p:txBody>
      </p:sp>
      <p:sp>
        <p:nvSpPr>
          <p:cNvPr id="169" name="Google Shape;169;p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2470"/>
              <a:buChar char="●"/>
            </a:pPr>
            <a:r>
              <a:rPr lang="en-US"/>
              <a:t>Các yêu cầu phi chức năng</a:t>
            </a:r>
            <a:endParaRPr/>
          </a:p>
          <a:p>
            <a:pPr indent="-246888" lvl="1" marL="640080" rtl="0" algn="l">
              <a:lnSpc>
                <a:spcPct val="100000"/>
              </a:lnSpc>
              <a:spcBef>
                <a:spcPts val="480"/>
              </a:spcBef>
              <a:spcAft>
                <a:spcPts val="0"/>
              </a:spcAft>
              <a:buSzPts val="2040"/>
              <a:buChar char="●"/>
            </a:pPr>
            <a:r>
              <a:rPr lang="en-US"/>
              <a:t>Performance</a:t>
            </a:r>
            <a:endParaRPr/>
          </a:p>
          <a:p>
            <a:pPr indent="-246888" lvl="1" marL="640080" rtl="0" algn="l">
              <a:lnSpc>
                <a:spcPct val="100000"/>
              </a:lnSpc>
              <a:spcBef>
                <a:spcPts val="480"/>
              </a:spcBef>
              <a:spcAft>
                <a:spcPts val="0"/>
              </a:spcAft>
              <a:buSzPts val="2040"/>
              <a:buChar char="●"/>
            </a:pPr>
            <a:r>
              <a:rPr lang="en-US"/>
              <a:t>Available</a:t>
            </a:r>
            <a:endParaRPr/>
          </a:p>
          <a:p>
            <a:pPr indent="-246888" lvl="1" marL="640080" rtl="0" algn="l">
              <a:lnSpc>
                <a:spcPct val="100000"/>
              </a:lnSpc>
              <a:spcBef>
                <a:spcPts val="480"/>
              </a:spcBef>
              <a:spcAft>
                <a:spcPts val="0"/>
              </a:spcAft>
              <a:buSzPts val="2040"/>
              <a:buChar char="●"/>
            </a:pPr>
            <a:r>
              <a:rPr lang="en-US"/>
              <a:t>Security</a:t>
            </a:r>
            <a:endParaRPr/>
          </a:p>
          <a:p>
            <a:pPr indent="-246888" lvl="1" marL="640080" rtl="0" algn="l">
              <a:lnSpc>
                <a:spcPct val="100000"/>
              </a:lnSpc>
              <a:spcBef>
                <a:spcPts val="480"/>
              </a:spcBef>
              <a:spcAft>
                <a:spcPts val="0"/>
              </a:spcAft>
              <a:buSzPts val="2040"/>
              <a:buChar char="●"/>
            </a:pPr>
            <a:r>
              <a:rPr lang="en-US"/>
              <a:t>Scalability</a:t>
            </a:r>
            <a:endParaRPr/>
          </a:p>
          <a:p>
            <a:pPr indent="-246888" lvl="1" marL="640080" rtl="0" algn="l">
              <a:lnSpc>
                <a:spcPct val="100000"/>
              </a:lnSpc>
              <a:spcBef>
                <a:spcPts val="480"/>
              </a:spcBef>
              <a:spcAft>
                <a:spcPts val="0"/>
              </a:spcAft>
              <a:buSzPts val="2040"/>
              <a:buChar char="●"/>
            </a:pPr>
            <a:r>
              <a:rPr lang="en-US"/>
              <a:t>Extensibility</a:t>
            </a:r>
            <a:endParaRPr/>
          </a:p>
          <a:p>
            <a:pPr indent="-246888" lvl="1" marL="640080" rtl="0" algn="l">
              <a:lnSpc>
                <a:spcPct val="100000"/>
              </a:lnSpc>
              <a:spcBef>
                <a:spcPts val="480"/>
              </a:spcBef>
              <a:spcAft>
                <a:spcPts val="0"/>
              </a:spcAft>
              <a:buSzPts val="2040"/>
              <a:buChar char="●"/>
            </a:pPr>
            <a:r>
              <a:rPr lang="en-US"/>
              <a:t>…</a:t>
            </a:r>
            <a:endParaRPr/>
          </a:p>
        </p:txBody>
      </p:sp>
      <p:pic>
        <p:nvPicPr>
          <p:cNvPr id="170" name="Google Shape;170;p9"/>
          <p:cNvPicPr preferRelativeResize="0"/>
          <p:nvPr/>
        </p:nvPicPr>
        <p:blipFill rotWithShape="1">
          <a:blip r:embed="rId3">
            <a:alphaModFix/>
          </a:blip>
          <a:srcRect b="0" l="0" r="0" t="0"/>
          <a:stretch/>
        </p:blipFill>
        <p:spPr>
          <a:xfrm>
            <a:off x="5943600" y="1524000"/>
            <a:ext cx="2552700" cy="1619250"/>
          </a:xfrm>
          <a:prstGeom prst="rect">
            <a:avLst/>
          </a:prstGeom>
          <a:noFill/>
          <a:ln>
            <a:noFill/>
          </a:ln>
        </p:spPr>
      </p:pic>
      <p:pic>
        <p:nvPicPr>
          <p:cNvPr id="171" name="Google Shape;171;p9"/>
          <p:cNvPicPr preferRelativeResize="0"/>
          <p:nvPr/>
        </p:nvPicPr>
        <p:blipFill rotWithShape="1">
          <a:blip r:embed="rId4">
            <a:alphaModFix/>
          </a:blip>
          <a:srcRect b="0" l="0" r="0" t="0"/>
          <a:stretch/>
        </p:blipFill>
        <p:spPr>
          <a:xfrm>
            <a:off x="5943600" y="3209925"/>
            <a:ext cx="2333625" cy="1514475"/>
          </a:xfrm>
          <a:prstGeom prst="rect">
            <a:avLst/>
          </a:prstGeom>
          <a:noFill/>
          <a:ln>
            <a:noFill/>
          </a:ln>
        </p:spPr>
      </p:pic>
      <p:pic>
        <p:nvPicPr>
          <p:cNvPr id="172" name="Google Shape;172;p9"/>
          <p:cNvPicPr preferRelativeResize="0"/>
          <p:nvPr/>
        </p:nvPicPr>
        <p:blipFill rotWithShape="1">
          <a:blip r:embed="rId5">
            <a:alphaModFix/>
          </a:blip>
          <a:srcRect b="0" l="0" r="0" t="0"/>
          <a:stretch/>
        </p:blipFill>
        <p:spPr>
          <a:xfrm>
            <a:off x="6019800" y="4867275"/>
            <a:ext cx="2209800" cy="1457325"/>
          </a:xfrm>
          <a:prstGeom prst="rect">
            <a:avLst/>
          </a:prstGeom>
          <a:noFill/>
          <a:ln>
            <a:noFill/>
          </a:ln>
        </p:spPr>
      </p:pic>
      <p:sp>
        <p:nvSpPr>
          <p:cNvPr id="173" name="Google Shape;173;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idx="1" type="body"/>
          </p:nvPr>
        </p:nvSpPr>
        <p:spPr>
          <a:xfrm>
            <a:off x="457200" y="1659467"/>
            <a:ext cx="8229600" cy="4665133"/>
          </a:xfrm>
          <a:prstGeom prst="rect">
            <a:avLst/>
          </a:prstGeom>
          <a:noFill/>
          <a:ln>
            <a:noFill/>
          </a:ln>
        </p:spPr>
        <p:txBody>
          <a:bodyPr anchorCtr="0" anchor="t" bIns="45700" lIns="91425" spcFirstLastPara="1" rIns="91425" wrap="square" tIns="45700">
            <a:noAutofit/>
          </a:bodyPr>
          <a:lstStyle/>
          <a:p>
            <a:pPr indent="-337185" lvl="0" marL="457200" rtl="0" algn="l">
              <a:lnSpc>
                <a:spcPct val="100000"/>
              </a:lnSpc>
              <a:spcBef>
                <a:spcPts val="360"/>
              </a:spcBef>
              <a:spcAft>
                <a:spcPts val="0"/>
              </a:spcAft>
              <a:buSzPts val="1710"/>
              <a:buChar char="●"/>
            </a:pPr>
            <a:r>
              <a:rPr lang="en-US"/>
              <a:t>Phương pháp phát triển:</a:t>
            </a:r>
            <a:endParaRPr/>
          </a:p>
          <a:p>
            <a:pPr indent="-325755" lvl="1" marL="914400" rtl="0" algn="l">
              <a:lnSpc>
                <a:spcPct val="100000"/>
              </a:lnSpc>
              <a:spcBef>
                <a:spcPts val="360"/>
              </a:spcBef>
              <a:spcAft>
                <a:spcPts val="0"/>
              </a:spcAft>
              <a:buSzPts val="1530"/>
              <a:buChar char="●"/>
            </a:pPr>
            <a:r>
              <a:rPr lang="en-US"/>
              <a:t>Cấu trúc</a:t>
            </a:r>
            <a:endParaRPr/>
          </a:p>
          <a:p>
            <a:pPr indent="-325755" lvl="1" marL="914400" rtl="0" algn="l">
              <a:lnSpc>
                <a:spcPct val="100000"/>
              </a:lnSpc>
              <a:spcBef>
                <a:spcPts val="360"/>
              </a:spcBef>
              <a:spcAft>
                <a:spcPts val="0"/>
              </a:spcAft>
              <a:buSzPts val="1530"/>
              <a:buChar char="●"/>
            </a:pPr>
            <a:r>
              <a:rPr lang="en-US"/>
              <a:t>Hướng đối tượng</a:t>
            </a:r>
            <a:endParaRPr/>
          </a:p>
          <a:p>
            <a:pPr indent="-325755" lvl="1" marL="914400" rtl="0" algn="l">
              <a:lnSpc>
                <a:spcPct val="100000"/>
              </a:lnSpc>
              <a:spcBef>
                <a:spcPts val="360"/>
              </a:spcBef>
              <a:spcAft>
                <a:spcPts val="0"/>
              </a:spcAft>
              <a:buSzPts val="1530"/>
              <a:buChar char="●"/>
            </a:pPr>
            <a:r>
              <a:rPr lang="en-US"/>
              <a:t>Hướng dịch vụ</a:t>
            </a:r>
            <a:endParaRPr/>
          </a:p>
          <a:p>
            <a:pPr indent="-337185" lvl="0" marL="457200" rtl="0" algn="l">
              <a:lnSpc>
                <a:spcPct val="100000"/>
              </a:lnSpc>
              <a:spcBef>
                <a:spcPts val="360"/>
              </a:spcBef>
              <a:spcAft>
                <a:spcPts val="0"/>
              </a:spcAft>
              <a:buSzPts val="1710"/>
              <a:buChar char="●"/>
            </a:pPr>
            <a:r>
              <a:rPr lang="en-US"/>
              <a:t>Mô hình phát triển:	</a:t>
            </a:r>
            <a:endParaRPr/>
          </a:p>
          <a:p>
            <a:pPr indent="-246888" lvl="1" marL="640080" rtl="0" algn="l">
              <a:lnSpc>
                <a:spcPct val="100000"/>
              </a:lnSpc>
              <a:spcBef>
                <a:spcPts val="480"/>
              </a:spcBef>
              <a:spcAft>
                <a:spcPts val="0"/>
              </a:spcAft>
              <a:buSzPts val="2040"/>
              <a:buChar char="●"/>
            </a:pPr>
            <a:r>
              <a:rPr lang="en-US"/>
              <a:t>Tuần tự: Waterfall, V-model, Rapid Prototyping</a:t>
            </a:r>
            <a:endParaRPr/>
          </a:p>
          <a:p>
            <a:pPr indent="-246888" lvl="1" marL="640080" rtl="0" algn="l">
              <a:lnSpc>
                <a:spcPct val="100000"/>
              </a:lnSpc>
              <a:spcBef>
                <a:spcPts val="480"/>
              </a:spcBef>
              <a:spcAft>
                <a:spcPts val="0"/>
              </a:spcAft>
              <a:buSzPts val="2040"/>
              <a:buChar char="●"/>
            </a:pPr>
            <a:r>
              <a:rPr lang="en-US"/>
              <a:t>Giai đoạn: Incremental, Evolutionary</a:t>
            </a:r>
            <a:endParaRPr/>
          </a:p>
          <a:p>
            <a:pPr indent="-246888" lvl="1" marL="640080" rtl="0" algn="l">
              <a:lnSpc>
                <a:spcPct val="100000"/>
              </a:lnSpc>
              <a:spcBef>
                <a:spcPts val="480"/>
              </a:spcBef>
              <a:spcAft>
                <a:spcPts val="0"/>
              </a:spcAft>
              <a:buSzPts val="2040"/>
              <a:buChar char="●"/>
            </a:pPr>
            <a:r>
              <a:rPr lang="en-US"/>
              <a:t>Tương tác: Spiral</a:t>
            </a:r>
            <a:endParaRPr/>
          </a:p>
          <a:p>
            <a:pPr indent="-246888" lvl="1" marL="640080" rtl="0" algn="l">
              <a:lnSpc>
                <a:spcPct val="100000"/>
              </a:lnSpc>
              <a:spcBef>
                <a:spcPts val="480"/>
              </a:spcBef>
              <a:spcAft>
                <a:spcPts val="0"/>
              </a:spcAft>
              <a:buSzPts val="2040"/>
              <a:buChar char="●"/>
            </a:pPr>
            <a:r>
              <a:rPr lang="en-US"/>
              <a:t>Linh hoạt (Agile): eXtreme Programming (XP)</a:t>
            </a:r>
            <a:endParaRPr/>
          </a:p>
          <a:p>
            <a:pPr indent="-117348" lvl="1" marL="640080" rtl="0" algn="l">
              <a:lnSpc>
                <a:spcPct val="100000"/>
              </a:lnSpc>
              <a:spcBef>
                <a:spcPts val="480"/>
              </a:spcBef>
              <a:spcAft>
                <a:spcPts val="0"/>
              </a:spcAft>
              <a:buSzPts val="2040"/>
              <a:buNone/>
            </a:pPr>
            <a:r>
              <a:t/>
            </a:r>
            <a:endParaRPr/>
          </a:p>
        </p:txBody>
      </p:sp>
      <p:sp>
        <p:nvSpPr>
          <p:cNvPr id="179" name="Google Shape;179;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0" name="Google Shape;180;p10"/>
          <p:cNvSpPr txBox="1"/>
          <p:nvPr>
            <p:ph type="title"/>
          </p:nvPr>
        </p:nvSpPr>
        <p:spPr>
          <a:xfrm>
            <a:off x="457200" y="704088"/>
            <a:ext cx="8229600" cy="853779"/>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sz="4000"/>
              <a:t>Phương pháp vs Mô hình phát triển</a:t>
            </a:r>
            <a:endParaRPr sz="4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Các mô hình vòng đời của HT</a:t>
            </a:r>
            <a:endParaRPr/>
          </a:p>
        </p:txBody>
      </p:sp>
      <p:sp>
        <p:nvSpPr>
          <p:cNvPr id="186" name="Google Shape;186;p1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2470"/>
              <a:buChar char="●"/>
            </a:pPr>
            <a:r>
              <a:rPr lang="en-US"/>
              <a:t>Mô hình vòng đời:</a:t>
            </a:r>
            <a:endParaRPr/>
          </a:p>
          <a:p>
            <a:pPr indent="-246888" lvl="1" marL="640080" rtl="0" algn="l">
              <a:lnSpc>
                <a:spcPct val="100000"/>
              </a:lnSpc>
              <a:spcBef>
                <a:spcPts val="480"/>
              </a:spcBef>
              <a:spcAft>
                <a:spcPts val="0"/>
              </a:spcAft>
              <a:buSzPts val="2040"/>
              <a:buChar char="●"/>
            </a:pPr>
            <a:r>
              <a:rPr lang="en-US"/>
              <a:t>Tiện ích cho so sánh các dự án theo các khái niệm chung</a:t>
            </a:r>
            <a:endParaRPr/>
          </a:p>
          <a:p>
            <a:pPr indent="-246888" lvl="1" marL="640080" rtl="0" algn="l">
              <a:lnSpc>
                <a:spcPct val="100000"/>
              </a:lnSpc>
              <a:spcBef>
                <a:spcPts val="480"/>
              </a:spcBef>
              <a:spcAft>
                <a:spcPts val="0"/>
              </a:spcAft>
              <a:buSzPts val="2040"/>
              <a:buChar char="●"/>
            </a:pPr>
            <a:r>
              <a:rPr lang="en-US"/>
              <a:t>Không đủ chi tiết cho lên kế hoạch dự án?</a:t>
            </a:r>
            <a:endParaRPr/>
          </a:p>
          <a:p>
            <a:pPr indent="-274320" lvl="0" marL="274320" rtl="0" algn="l">
              <a:lnSpc>
                <a:spcPct val="100000"/>
              </a:lnSpc>
              <a:spcBef>
                <a:spcPts val="520"/>
              </a:spcBef>
              <a:spcAft>
                <a:spcPts val="0"/>
              </a:spcAft>
              <a:buSzPts val="2470"/>
              <a:buChar char="●"/>
            </a:pPr>
            <a:r>
              <a:rPr lang="en-US"/>
              <a:t>Ví dụ:	</a:t>
            </a:r>
            <a:endParaRPr/>
          </a:p>
          <a:p>
            <a:pPr indent="-246888" lvl="1" marL="640080" rtl="0" algn="l">
              <a:lnSpc>
                <a:spcPct val="100000"/>
              </a:lnSpc>
              <a:spcBef>
                <a:spcPts val="480"/>
              </a:spcBef>
              <a:spcAft>
                <a:spcPts val="0"/>
              </a:spcAft>
              <a:buSzPts val="2040"/>
              <a:buChar char="●"/>
            </a:pPr>
            <a:r>
              <a:rPr lang="en-US"/>
              <a:t>Mô hình tuần tự: Waterfall, V-model, Rapid Prototyping</a:t>
            </a:r>
            <a:endParaRPr/>
          </a:p>
          <a:p>
            <a:pPr indent="-246888" lvl="1" marL="640080" rtl="0" algn="l">
              <a:lnSpc>
                <a:spcPct val="100000"/>
              </a:lnSpc>
              <a:spcBef>
                <a:spcPts val="480"/>
              </a:spcBef>
              <a:spcAft>
                <a:spcPts val="0"/>
              </a:spcAft>
              <a:buSzPts val="2040"/>
              <a:buChar char="●"/>
            </a:pPr>
            <a:r>
              <a:rPr lang="en-US"/>
              <a:t>Mô hình giai đoạn: Incremental, Evolutionary</a:t>
            </a:r>
            <a:endParaRPr/>
          </a:p>
          <a:p>
            <a:pPr indent="-246888" lvl="1" marL="640080" rtl="0" algn="l">
              <a:lnSpc>
                <a:spcPct val="100000"/>
              </a:lnSpc>
              <a:spcBef>
                <a:spcPts val="480"/>
              </a:spcBef>
              <a:spcAft>
                <a:spcPts val="0"/>
              </a:spcAft>
              <a:buSzPts val="2040"/>
              <a:buChar char="●"/>
            </a:pPr>
            <a:r>
              <a:rPr lang="en-US"/>
              <a:t>Mô hình tương tác: Spiral</a:t>
            </a:r>
            <a:endParaRPr/>
          </a:p>
          <a:p>
            <a:pPr indent="-246888" lvl="1" marL="640080" rtl="0" algn="l">
              <a:lnSpc>
                <a:spcPct val="100000"/>
              </a:lnSpc>
              <a:spcBef>
                <a:spcPts val="480"/>
              </a:spcBef>
              <a:spcAft>
                <a:spcPts val="0"/>
              </a:spcAft>
              <a:buSzPts val="2040"/>
              <a:buChar char="●"/>
            </a:pPr>
            <a:r>
              <a:rPr lang="en-US"/>
              <a:t>Mô hình linh hoạt (Agile): eXtreme Programming (XP)</a:t>
            </a:r>
            <a:endParaRPr/>
          </a:p>
          <a:p>
            <a:pPr indent="-117348" lvl="1" marL="640080" rtl="0" algn="l">
              <a:lnSpc>
                <a:spcPct val="100000"/>
              </a:lnSpc>
              <a:spcBef>
                <a:spcPts val="480"/>
              </a:spcBef>
              <a:spcAft>
                <a:spcPts val="0"/>
              </a:spcAft>
              <a:buSzPts val="2040"/>
              <a:buNone/>
            </a:pPr>
            <a:r>
              <a:t/>
            </a:r>
            <a:endParaRPr/>
          </a:p>
        </p:txBody>
      </p:sp>
      <p:sp>
        <p:nvSpPr>
          <p:cNvPr id="187" name="Google Shape;187;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Mô hình Waterfall</a:t>
            </a:r>
            <a:endParaRPr/>
          </a:p>
        </p:txBody>
      </p:sp>
      <p:pic>
        <p:nvPicPr>
          <p:cNvPr id="193" name="Google Shape;193;p12"/>
          <p:cNvPicPr preferRelativeResize="0"/>
          <p:nvPr>
            <p:ph idx="1" type="body"/>
          </p:nvPr>
        </p:nvPicPr>
        <p:blipFill rotWithShape="1">
          <a:blip r:embed="rId3">
            <a:alphaModFix/>
          </a:blip>
          <a:srcRect b="0" l="0" r="0" t="0"/>
          <a:stretch/>
        </p:blipFill>
        <p:spPr>
          <a:xfrm>
            <a:off x="609600" y="1828800"/>
            <a:ext cx="7239000" cy="4731240"/>
          </a:xfrm>
          <a:prstGeom prst="rect">
            <a:avLst/>
          </a:prstGeom>
          <a:noFill/>
          <a:ln>
            <a:noFill/>
          </a:ln>
        </p:spPr>
      </p:pic>
      <p:sp>
        <p:nvSpPr>
          <p:cNvPr id="194" name="Google Shape;194;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3"/>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Mô hình V-Model</a:t>
            </a:r>
            <a:endParaRPr/>
          </a:p>
        </p:txBody>
      </p:sp>
      <p:pic>
        <p:nvPicPr>
          <p:cNvPr id="200" name="Google Shape;200;p13"/>
          <p:cNvPicPr preferRelativeResize="0"/>
          <p:nvPr>
            <p:ph idx="1" type="body"/>
          </p:nvPr>
        </p:nvPicPr>
        <p:blipFill rotWithShape="1">
          <a:blip r:embed="rId3">
            <a:alphaModFix/>
          </a:blip>
          <a:srcRect b="0" l="0" r="0" t="0"/>
          <a:stretch/>
        </p:blipFill>
        <p:spPr>
          <a:xfrm>
            <a:off x="1143000" y="1828662"/>
            <a:ext cx="6857999" cy="4602439"/>
          </a:xfrm>
          <a:prstGeom prst="rect">
            <a:avLst/>
          </a:prstGeom>
          <a:noFill/>
          <a:ln>
            <a:noFill/>
          </a:ln>
        </p:spPr>
      </p:pic>
      <p:sp>
        <p:nvSpPr>
          <p:cNvPr id="201" name="Google Shape;201;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4"/>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Mô hình xoắn ốc (Spiral)</a:t>
            </a:r>
            <a:endParaRPr/>
          </a:p>
        </p:txBody>
      </p:sp>
      <p:pic>
        <p:nvPicPr>
          <p:cNvPr id="207" name="Google Shape;207;p14"/>
          <p:cNvPicPr preferRelativeResize="0"/>
          <p:nvPr>
            <p:ph idx="1" type="body"/>
          </p:nvPr>
        </p:nvPicPr>
        <p:blipFill rotWithShape="1">
          <a:blip r:embed="rId3">
            <a:alphaModFix/>
          </a:blip>
          <a:srcRect b="0" l="0" r="0" t="0"/>
          <a:stretch/>
        </p:blipFill>
        <p:spPr>
          <a:xfrm>
            <a:off x="1390650" y="2034381"/>
            <a:ext cx="6362700" cy="4191000"/>
          </a:xfrm>
          <a:prstGeom prst="rect">
            <a:avLst/>
          </a:prstGeom>
          <a:noFill/>
          <a:ln>
            <a:noFill/>
          </a:ln>
        </p:spPr>
      </p:pic>
      <p:sp>
        <p:nvSpPr>
          <p:cNvPr id="208" name="Google Shape;208;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5"/>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t/>
            </a:r>
            <a:endParaRPr/>
          </a:p>
        </p:txBody>
      </p:sp>
      <p:sp>
        <p:nvSpPr>
          <p:cNvPr id="214" name="Google Shape;214;p1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117475" lvl="0" marL="274320" rtl="0" algn="l">
              <a:lnSpc>
                <a:spcPct val="100000"/>
              </a:lnSpc>
              <a:spcBef>
                <a:spcPts val="0"/>
              </a:spcBef>
              <a:spcAft>
                <a:spcPts val="0"/>
              </a:spcAft>
              <a:buSzPts val="2470"/>
              <a:buNone/>
            </a:pPr>
            <a:r>
              <a:t/>
            </a:r>
            <a:endParaRPr/>
          </a:p>
        </p:txBody>
      </p:sp>
      <p:sp>
        <p:nvSpPr>
          <p:cNvPr id="215" name="Google Shape;215;p15"/>
          <p:cNvSpPr txBox="1"/>
          <p:nvPr/>
        </p:nvSpPr>
        <p:spPr>
          <a:xfrm>
            <a:off x="609600" y="2514600"/>
            <a:ext cx="8229600" cy="1143000"/>
          </a:xfrm>
          <a:prstGeom prst="rect">
            <a:avLst/>
          </a:prstGeom>
          <a:noFill/>
          <a:ln>
            <a:noFill/>
          </a:ln>
        </p:spPr>
        <p:txBody>
          <a:bodyPr anchorCtr="0" anchor="b" bIns="0" lIns="0" spcFirstLastPara="1" rIns="0" wrap="square" tIns="45700">
            <a:noAutofit/>
          </a:bodyPr>
          <a:lstStyle/>
          <a:p>
            <a:pPr indent="0" lvl="0" marL="0" marR="0" rtl="0" algn="l">
              <a:lnSpc>
                <a:spcPct val="80000"/>
              </a:lnSpc>
              <a:spcBef>
                <a:spcPts val="0"/>
              </a:spcBef>
              <a:spcAft>
                <a:spcPts val="0"/>
              </a:spcAft>
              <a:buClr>
                <a:schemeClr val="dk2"/>
              </a:buClr>
              <a:buSzPts val="4250"/>
              <a:buFont typeface="Calibri"/>
              <a:buNone/>
            </a:pPr>
            <a:r>
              <a:rPr b="0" i="0" lang="en-US" sz="4250" u="none" cap="none" strike="noStrike">
                <a:solidFill>
                  <a:schemeClr val="dk2"/>
                </a:solidFill>
                <a:latin typeface="Calibri"/>
                <a:ea typeface="Calibri"/>
                <a:cs typeface="Calibri"/>
                <a:sym typeface="Calibri"/>
              </a:rPr>
              <a:t>Vấn đề lớn nhất khi lấy các yêu cầu người dùng là gì?</a:t>
            </a:r>
            <a:endParaRPr b="0" i="0" sz="4250" u="none" cap="none" strike="noStrike">
              <a:solidFill>
                <a:schemeClr val="dk2"/>
              </a:solidFill>
              <a:latin typeface="Calibri"/>
              <a:ea typeface="Calibri"/>
              <a:cs typeface="Calibri"/>
              <a:sym typeface="Calibri"/>
            </a:endParaRPr>
          </a:p>
        </p:txBody>
      </p:sp>
      <p:sp>
        <p:nvSpPr>
          <p:cNvPr id="216" name="Google Shape;216;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Thống kê từ báo cáo của NIST</a:t>
            </a:r>
            <a:endParaRPr/>
          </a:p>
        </p:txBody>
      </p:sp>
      <p:sp>
        <p:nvSpPr>
          <p:cNvPr id="222" name="Google Shape;222;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90000"/>
              </a:lnSpc>
              <a:spcBef>
                <a:spcPts val="0"/>
              </a:spcBef>
              <a:spcAft>
                <a:spcPts val="0"/>
              </a:spcAft>
              <a:buSzPts val="2285"/>
              <a:buChar char="●"/>
            </a:pPr>
            <a:r>
              <a:rPr lang="en-US" sz="2405"/>
              <a:t>NIST (National Institute of Standards and Technology), đưa ra báo cáo về thống kê các dự án phần mềm:</a:t>
            </a:r>
            <a:endParaRPr/>
          </a:p>
          <a:p>
            <a:pPr indent="-246888" lvl="1" marL="640080" rtl="0" algn="l">
              <a:lnSpc>
                <a:spcPct val="90000"/>
              </a:lnSpc>
              <a:spcBef>
                <a:spcPts val="444"/>
              </a:spcBef>
              <a:spcAft>
                <a:spcPts val="0"/>
              </a:spcAft>
              <a:buSzPts val="1887"/>
              <a:buChar char="●"/>
            </a:pPr>
            <a:r>
              <a:rPr lang="en-US" sz="2220"/>
              <a:t>70% thiếu sót xuất phát </a:t>
            </a:r>
            <a:r>
              <a:rPr lang="en-US" sz="2220"/>
              <a:t>từ</a:t>
            </a:r>
            <a:r>
              <a:rPr lang="en-US" sz="2220"/>
              <a:t> giai đoạn đặc tả (specification)</a:t>
            </a:r>
            <a:endParaRPr/>
          </a:p>
          <a:p>
            <a:pPr indent="-246888" lvl="1" marL="640080" rtl="0" algn="l">
              <a:lnSpc>
                <a:spcPct val="90000"/>
              </a:lnSpc>
              <a:spcBef>
                <a:spcPts val="444"/>
              </a:spcBef>
              <a:spcAft>
                <a:spcPts val="0"/>
              </a:spcAft>
              <a:buSzPts val="1887"/>
              <a:buChar char="●"/>
            </a:pPr>
            <a:r>
              <a:rPr lang="en-US" sz="2220"/>
              <a:t>30% trong giai đoạn sau trong quá trình giải pháp kỹ thuật</a:t>
            </a:r>
            <a:endParaRPr sz="2220"/>
          </a:p>
          <a:p>
            <a:pPr indent="-246888" lvl="1" marL="640080" rtl="0" algn="l">
              <a:lnSpc>
                <a:spcPct val="90000"/>
              </a:lnSpc>
              <a:spcBef>
                <a:spcPts val="444"/>
              </a:spcBef>
              <a:spcAft>
                <a:spcPts val="0"/>
              </a:spcAft>
              <a:buSzPts val="1887"/>
              <a:buChar char="●"/>
            </a:pPr>
            <a:r>
              <a:rPr lang="en-US" sz="2220"/>
              <a:t>Chỉ 5% thiếu sót của đặc tả được chỉnh sửa trong giai đoạn đặc tả phần mềm</a:t>
            </a:r>
            <a:endParaRPr sz="2220"/>
          </a:p>
          <a:p>
            <a:pPr indent="-246888" lvl="1" marL="640080" rtl="0" algn="l">
              <a:lnSpc>
                <a:spcPct val="90000"/>
              </a:lnSpc>
              <a:spcBef>
                <a:spcPts val="444"/>
              </a:spcBef>
              <a:spcAft>
                <a:spcPts val="0"/>
              </a:spcAft>
              <a:buSzPts val="1887"/>
              <a:buChar char="●"/>
            </a:pPr>
            <a:r>
              <a:rPr lang="en-US" sz="2220"/>
              <a:t>95% được phát hiện sau này trong dự án hoặc sau khi bàn giao khi đó giá để hoàn thiện gấp khoảng 22 lần so với việc phát triển theo đặc tả đúng.</a:t>
            </a:r>
            <a:endParaRPr/>
          </a:p>
          <a:p>
            <a:pPr indent="-246888" lvl="1" marL="640080" rtl="0" algn="l">
              <a:lnSpc>
                <a:spcPct val="90000"/>
              </a:lnSpc>
              <a:spcBef>
                <a:spcPts val="444"/>
              </a:spcBef>
              <a:spcAft>
                <a:spcPts val="0"/>
              </a:spcAft>
              <a:buSzPts val="1887"/>
              <a:buChar char="●"/>
            </a:pPr>
            <a:r>
              <a:rPr lang="en-US" sz="2220"/>
              <a:t>Báo cáo của NIST còn đưa ra việc test mở rộng là cần thiết, tuy nhiên phần testing phát hiện các đặc tả bị lỗi trong quá trình sau này.</a:t>
            </a:r>
            <a:endParaRPr sz="2220"/>
          </a:p>
        </p:txBody>
      </p:sp>
      <p:sp>
        <p:nvSpPr>
          <p:cNvPr id="223" name="Google Shape;223;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Định nghĩa của “Requirement”</a:t>
            </a:r>
            <a:endParaRPr/>
          </a:p>
        </p:txBody>
      </p:sp>
      <p:sp>
        <p:nvSpPr>
          <p:cNvPr id="229" name="Google Shape;229;p1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2470"/>
              <a:buChar char="●"/>
            </a:pPr>
            <a:r>
              <a:rPr lang="en-US"/>
              <a:t>Requirements (Các yêu cầu) là đặc tả của cái gì sẽ được cài đặt. Chúng là các mô tả của hệ thống sẽ được quan tâm như thế nào, hay các đặc tính, thuộc tính của hệ thống. Chúng cũng có thể là các </a:t>
            </a:r>
            <a:r>
              <a:rPr lang="en-US"/>
              <a:t>ràng</a:t>
            </a:r>
            <a:r>
              <a:rPr lang="en-US"/>
              <a:t> buộc trong quá trình phát triển của hệ thống.</a:t>
            </a:r>
            <a:endParaRPr/>
          </a:p>
          <a:p>
            <a:pPr indent="-246888" lvl="1" marL="640080" rtl="0" algn="l">
              <a:lnSpc>
                <a:spcPct val="100000"/>
              </a:lnSpc>
              <a:spcBef>
                <a:spcPts val="480"/>
              </a:spcBef>
              <a:spcAft>
                <a:spcPts val="0"/>
              </a:spcAft>
              <a:buSzPts val="2040"/>
              <a:buNone/>
            </a:pPr>
            <a:r>
              <a:rPr lang="en-US"/>
              <a:t> 				( - Ian Sommerville và Peter Sawyer)</a:t>
            </a:r>
            <a:endParaRPr/>
          </a:p>
        </p:txBody>
      </p:sp>
      <p:sp>
        <p:nvSpPr>
          <p:cNvPr id="230" name="Google Shape;230;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8"/>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3 cấp độ của Requirements</a:t>
            </a:r>
            <a:endParaRPr/>
          </a:p>
        </p:txBody>
      </p:sp>
      <p:pic>
        <p:nvPicPr>
          <p:cNvPr id="236" name="Google Shape;236;p18"/>
          <p:cNvPicPr preferRelativeResize="0"/>
          <p:nvPr>
            <p:ph idx="1" type="body"/>
          </p:nvPr>
        </p:nvPicPr>
        <p:blipFill rotWithShape="1">
          <a:blip r:embed="rId3">
            <a:alphaModFix/>
          </a:blip>
          <a:srcRect b="0" l="0" r="0" t="0"/>
          <a:stretch/>
        </p:blipFill>
        <p:spPr>
          <a:xfrm>
            <a:off x="1866118" y="1935163"/>
            <a:ext cx="5411763" cy="4389437"/>
          </a:xfrm>
          <a:prstGeom prst="rect">
            <a:avLst/>
          </a:prstGeom>
          <a:noFill/>
          <a:ln>
            <a:noFill/>
          </a:ln>
        </p:spPr>
      </p:pic>
      <p:sp>
        <p:nvSpPr>
          <p:cNvPr id="237" name="Google Shape;237;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9"/>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Requirement Engineering?</a:t>
            </a:r>
            <a:endParaRPr/>
          </a:p>
        </p:txBody>
      </p:sp>
      <p:sp>
        <p:nvSpPr>
          <p:cNvPr id="243" name="Google Shape;243;p1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Autofit/>
          </a:bodyPr>
          <a:lstStyle/>
          <a:p>
            <a:pPr indent="-274320" lvl="0" marL="274320" rtl="0" algn="l">
              <a:lnSpc>
                <a:spcPct val="80000"/>
              </a:lnSpc>
              <a:spcBef>
                <a:spcPts val="0"/>
              </a:spcBef>
              <a:spcAft>
                <a:spcPts val="0"/>
              </a:spcAft>
              <a:buSzPts val="2100"/>
              <a:buChar char="●"/>
            </a:pPr>
            <a:r>
              <a:rPr lang="en-US" sz="2210"/>
              <a:t>Requirement Engineering (các kỹ thuật lấy yêu cầu) – RE là:</a:t>
            </a:r>
            <a:endParaRPr/>
          </a:p>
          <a:p>
            <a:pPr indent="-246888" lvl="1" marL="640080" rtl="0" algn="l">
              <a:lnSpc>
                <a:spcPct val="80000"/>
              </a:lnSpc>
              <a:spcBef>
                <a:spcPts val="408"/>
              </a:spcBef>
              <a:spcAft>
                <a:spcPts val="0"/>
              </a:spcAft>
              <a:buSzPts val="1734"/>
              <a:buChar char="●"/>
            </a:pPr>
            <a:r>
              <a:rPr lang="en-US" sz="2040"/>
              <a:t>Hành động phát triển, suy diễn, đặc tả, phân tích, và quản lý của các yêu cầu của bên liên quan, các yêu cầu này được đặt ra từ các hệ thống mới hoặc đang được hoàn thiện</a:t>
            </a:r>
            <a:endParaRPr sz="2040"/>
          </a:p>
          <a:p>
            <a:pPr indent="-246888" lvl="1" marL="640080" rtl="0" algn="l">
              <a:lnSpc>
                <a:spcPct val="80000"/>
              </a:lnSpc>
              <a:spcBef>
                <a:spcPts val="408"/>
              </a:spcBef>
              <a:spcAft>
                <a:spcPts val="0"/>
              </a:spcAft>
              <a:buSzPts val="1734"/>
              <a:buChar char="●"/>
            </a:pPr>
            <a:r>
              <a:rPr lang="en-US" sz="2040"/>
              <a:t>RE tập trung xác định mục tiêu của hệ thống phần mềm… và nội dung được sử dụng:</a:t>
            </a:r>
            <a:endParaRPr/>
          </a:p>
          <a:p>
            <a:pPr indent="-246887" lvl="2" marL="914400" rtl="0" algn="l">
              <a:lnSpc>
                <a:spcPct val="80000"/>
              </a:lnSpc>
              <a:spcBef>
                <a:spcPts val="357"/>
              </a:spcBef>
              <a:spcAft>
                <a:spcPts val="0"/>
              </a:spcAft>
              <a:buSzPts val="1250"/>
              <a:buChar char="●"/>
            </a:pPr>
            <a:r>
              <a:rPr lang="en-US" sz="1785"/>
              <a:t>Hệ thống sẽ được sử dụng ntn, ở đâu?</a:t>
            </a:r>
            <a:endParaRPr/>
          </a:p>
          <a:p>
            <a:pPr indent="-246887" lvl="2" marL="914400" rtl="0" algn="l">
              <a:lnSpc>
                <a:spcPct val="80000"/>
              </a:lnSpc>
              <a:spcBef>
                <a:spcPts val="357"/>
              </a:spcBef>
              <a:spcAft>
                <a:spcPts val="0"/>
              </a:spcAft>
              <a:buSzPts val="1250"/>
              <a:buChar char="●"/>
            </a:pPr>
            <a:r>
              <a:rPr lang="en-US" sz="1785"/>
              <a:t>Bức tranh toàn cảnh của hệ thống là rất quan trọng</a:t>
            </a:r>
            <a:endParaRPr sz="1785"/>
          </a:p>
          <a:p>
            <a:pPr indent="-246888" lvl="1" marL="640080" rtl="0" algn="l">
              <a:lnSpc>
                <a:spcPct val="80000"/>
              </a:lnSpc>
              <a:spcBef>
                <a:spcPts val="408"/>
              </a:spcBef>
              <a:spcAft>
                <a:spcPts val="0"/>
              </a:spcAft>
              <a:buSzPts val="1734"/>
              <a:buChar char="●"/>
            </a:pPr>
            <a:r>
              <a:rPr lang="en-US" sz="2040"/>
              <a:t>Thu thập các nhu cầu thực tế của các bên liên quan bị ảnh hưởng bởi hệ thống phần mềm và thể hiện chúng như các thành phần có thể được cài đặt bởi hệ thống máy tính</a:t>
            </a:r>
            <a:endParaRPr sz="2040"/>
          </a:p>
          <a:p>
            <a:pPr indent="-246887" lvl="2" marL="914400" rtl="0" algn="l">
              <a:lnSpc>
                <a:spcPct val="80000"/>
              </a:lnSpc>
              <a:spcBef>
                <a:spcPts val="357"/>
              </a:spcBef>
              <a:spcAft>
                <a:spcPts val="0"/>
              </a:spcAft>
              <a:buSzPts val="1250"/>
              <a:buChar char="●"/>
            </a:pPr>
            <a:r>
              <a:rPr lang="en-US" sz="1785"/>
              <a:t>Kết nối thiết kế và xây dựng sản phẩm</a:t>
            </a:r>
            <a:endParaRPr sz="1785"/>
          </a:p>
          <a:p>
            <a:pPr indent="-246887" lvl="2" marL="914400" rtl="0" algn="l">
              <a:lnSpc>
                <a:spcPct val="80000"/>
              </a:lnSpc>
              <a:spcBef>
                <a:spcPts val="357"/>
              </a:spcBef>
              <a:spcAft>
                <a:spcPts val="0"/>
              </a:spcAft>
              <a:buSzPts val="1250"/>
              <a:buChar char="●"/>
            </a:pPr>
            <a:r>
              <a:rPr lang="en-US" sz="1785"/>
              <a:t>Các thành phần được liên kết và mô tả như thế nào?</a:t>
            </a:r>
            <a:endParaRPr/>
          </a:p>
          <a:p>
            <a:pPr indent="-246887" lvl="2" marL="914400" rtl="0" algn="l">
              <a:lnSpc>
                <a:spcPct val="80000"/>
              </a:lnSpc>
              <a:spcBef>
                <a:spcPts val="357"/>
              </a:spcBef>
              <a:spcAft>
                <a:spcPts val="0"/>
              </a:spcAft>
              <a:buSzPts val="1250"/>
              <a:buChar char="●"/>
            </a:pPr>
            <a:r>
              <a:rPr lang="en-US" sz="1785"/>
              <a:t>Có những thiếu sót nào trong việc chuyển giữa các nhu cầu thực tế vào hệ thống máy tính không?</a:t>
            </a:r>
            <a:endParaRPr sz="1785"/>
          </a:p>
        </p:txBody>
      </p:sp>
      <p:sp>
        <p:nvSpPr>
          <p:cNvPr id="244" name="Google Shape;244;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0"/>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Các thành phần của RE</a:t>
            </a:r>
            <a:endParaRPr/>
          </a:p>
        </p:txBody>
      </p:sp>
      <p:pic>
        <p:nvPicPr>
          <p:cNvPr id="250" name="Google Shape;250;p20"/>
          <p:cNvPicPr preferRelativeResize="0"/>
          <p:nvPr>
            <p:ph idx="1" type="body"/>
          </p:nvPr>
        </p:nvPicPr>
        <p:blipFill rotWithShape="1">
          <a:blip r:embed="rId3">
            <a:alphaModFix/>
          </a:blip>
          <a:srcRect b="0" l="0" r="0" t="0"/>
          <a:stretch/>
        </p:blipFill>
        <p:spPr>
          <a:xfrm>
            <a:off x="1362075" y="2310606"/>
            <a:ext cx="6419850" cy="3638550"/>
          </a:xfrm>
          <a:prstGeom prst="rect">
            <a:avLst/>
          </a:prstGeom>
          <a:noFill/>
          <a:ln>
            <a:noFill/>
          </a:ln>
        </p:spPr>
      </p:pic>
      <p:sp>
        <p:nvSpPr>
          <p:cNvPr id="251" name="Google Shape;251;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1"/>
          <p:cNvSpPr txBox="1"/>
          <p:nvPr>
            <p:ph type="title"/>
          </p:nvPr>
        </p:nvSpPr>
        <p:spPr>
          <a:xfrm>
            <a:off x="304800" y="704088"/>
            <a:ext cx="88392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500"/>
              <a:buFont typeface="Calibri"/>
              <a:buNone/>
            </a:pPr>
            <a:r>
              <a:rPr lang="en-US" sz="4500"/>
              <a:t>Phát triển các yêu cầu và Biên quản lý</a:t>
            </a:r>
            <a:endParaRPr sz="4500"/>
          </a:p>
        </p:txBody>
      </p:sp>
      <p:pic>
        <p:nvPicPr>
          <p:cNvPr id="257" name="Google Shape;257;p21"/>
          <p:cNvPicPr preferRelativeResize="0"/>
          <p:nvPr>
            <p:ph idx="1" type="body"/>
          </p:nvPr>
        </p:nvPicPr>
        <p:blipFill rotWithShape="1">
          <a:blip r:embed="rId3">
            <a:alphaModFix/>
          </a:blip>
          <a:srcRect b="0" l="0" r="0" t="0"/>
          <a:stretch/>
        </p:blipFill>
        <p:spPr>
          <a:xfrm>
            <a:off x="1466850" y="2177256"/>
            <a:ext cx="6210300" cy="3905250"/>
          </a:xfrm>
          <a:prstGeom prst="rect">
            <a:avLst/>
          </a:prstGeom>
          <a:noFill/>
          <a:ln>
            <a:noFill/>
          </a:ln>
        </p:spPr>
      </p:pic>
      <p:sp>
        <p:nvSpPr>
          <p:cNvPr id="258" name="Google Shape;258;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2"/>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500"/>
              <a:buFont typeface="Calibri"/>
              <a:buNone/>
            </a:pPr>
            <a:r>
              <a:rPr lang="en-US" sz="4500"/>
              <a:t>Phát triển và quản lý Requirements</a:t>
            </a:r>
            <a:endParaRPr sz="4500"/>
          </a:p>
        </p:txBody>
      </p:sp>
      <p:graphicFrame>
        <p:nvGraphicFramePr>
          <p:cNvPr id="264" name="Google Shape;264;p22"/>
          <p:cNvGraphicFramePr/>
          <p:nvPr/>
        </p:nvGraphicFramePr>
        <p:xfrm>
          <a:off x="457200" y="1935164"/>
          <a:ext cx="3000000" cy="3000000"/>
        </p:xfrm>
        <a:graphic>
          <a:graphicData uri="http://schemas.openxmlformats.org/drawingml/2006/table">
            <a:tbl>
              <a:tblPr bandRow="1" firstRow="1">
                <a:noFill/>
                <a:tableStyleId>{6B19B0F7-09EF-4793-AC1F-CE748EABF03A}</a:tableStyleId>
              </a:tblPr>
              <a:tblGrid>
                <a:gridCol w="4114800"/>
                <a:gridCol w="4114800"/>
              </a:tblGrid>
              <a:tr h="3710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Phát triển Reqs.</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Quản lý Reqs.</a:t>
                      </a:r>
                      <a:endParaRPr sz="1800" u="none" cap="none" strike="noStrike"/>
                    </a:p>
                  </a:txBody>
                  <a:tcPr marT="45725" marB="45725" marR="91450" marL="91450"/>
                </a:tc>
              </a:tr>
              <a:tr h="9277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Suy diễn các nhu cầu của người dùng (tất cả các lớp người dùng)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Thành lập và duy trì sự đồng ý với khách hàng về các yêu cầu (Requirements)</a:t>
                      </a:r>
                      <a:endParaRPr sz="1800" u="none" cap="none" strike="noStrike"/>
                    </a:p>
                  </a:txBody>
                  <a:tcPr marT="45725" marB="45725" marR="91450" marL="91450"/>
                </a:tc>
              </a:tr>
              <a:tr h="649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Hiểu các nhiệm vụ và mục tiêu của người dùng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Quản lý các cơ sở của các yêu cầu phần mềm</a:t>
                      </a:r>
                      <a:endParaRPr sz="1800" u="none" cap="none" strike="noStrike"/>
                    </a:p>
                  </a:txBody>
                  <a:tcPr marT="45725" marB="45725" marR="91450" marL="91450"/>
                </a:tc>
              </a:tr>
              <a:tr h="649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Hiểu sự quan trọng liên quan đến thuộc tính chất lượng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Quá trình đưa ra các thay đổi các yêu cầu</a:t>
                      </a:r>
                      <a:endParaRPr sz="1800" u="none" cap="none" strike="noStrike"/>
                    </a:p>
                  </a:txBody>
                  <a:tcPr marT="45725" marB="45725" marR="91450" marL="91450"/>
                </a:tc>
              </a:tr>
              <a:tr h="9277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Mô tả các ưu tiên cài đặt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Giữ sự bên vững nhất trí của các sản phẩm và các kế hoạch với các yêu cầu thay đổi</a:t>
                      </a:r>
                      <a:endParaRPr sz="1800" u="none" cap="none" strike="noStrike"/>
                    </a:p>
                  </a:txBody>
                  <a:tcPr marT="45725" marB="45725" marR="91450" marL="91450"/>
                </a:tc>
              </a:tr>
              <a:tr h="6494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Chuyển đổi các nhu cầu người dùng sang các mô hình và đặc tả người dùng</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Thảo luận một dự luật mới dựa trên các yêu cầu thay đổi</a:t>
                      </a:r>
                      <a:endParaRPr sz="1800" u="none" cap="none" strike="noStrike"/>
                    </a:p>
                  </a:txBody>
                  <a:tcPr marT="45725" marB="45725" marR="91450" marL="91450"/>
                </a:tc>
              </a:tr>
              <a:tr h="5958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Xem xét lại các văn bản các yêu cầu</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
        <p:nvSpPr>
          <p:cNvPr id="265" name="Google Shape;265;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3"/>
          <p:cNvSpPr txBox="1"/>
          <p:nvPr>
            <p:ph type="title"/>
          </p:nvPr>
        </p:nvSpPr>
        <p:spPr>
          <a:xfrm>
            <a:off x="2895600" y="2438400"/>
            <a:ext cx="822960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lang="en-US"/>
              <a:t>Q&amp;A</a:t>
            </a:r>
            <a:endParaRPr/>
          </a:p>
        </p:txBody>
      </p:sp>
      <p:sp>
        <p:nvSpPr>
          <p:cNvPr id="271" name="Google Shape;271;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