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6858000" cy="9144000"/>
  <p:embeddedFontLst>
    <p:embeddedFont>
      <p:font typeface="Constantia"/>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gWX+WAm8pbafhIaAZCYgaHVFKy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Constantia-regular.fntdata"/><Relationship Id="rId25" Type="http://schemas.openxmlformats.org/officeDocument/2006/relationships/slide" Target="slides/slide19.xml"/><Relationship Id="rId28" Type="http://schemas.openxmlformats.org/officeDocument/2006/relationships/font" Target="fonts/Constantia-italic.fntdata"/><Relationship Id="rId27" Type="http://schemas.openxmlformats.org/officeDocument/2006/relationships/font" Target="fonts/Constantia-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Constantia-boldItalic.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Use case levels describe how global or detailed the use case description is:</a:t>
            </a:r>
            <a:endParaRPr/>
          </a:p>
          <a:p>
            <a:pPr indent="0" lvl="0" marL="0" rtl="0" algn="l">
              <a:spcBef>
                <a:spcPts val="0"/>
              </a:spcBef>
              <a:spcAft>
                <a:spcPts val="0"/>
              </a:spcAft>
              <a:buClr>
                <a:schemeClr val="dk1"/>
              </a:buClr>
              <a:buSzPts val="1100"/>
              <a:buFont typeface="Arial"/>
              <a:buNone/>
            </a:pPr>
            <a:r>
              <a:rPr lang="en-US"/>
              <a:t>1. White (like clouds): enterprise level</a:t>
            </a:r>
            <a:endParaRPr/>
          </a:p>
          <a:p>
            <a:pPr indent="0" lvl="0" marL="0" rtl="0" algn="l">
              <a:spcBef>
                <a:spcPts val="0"/>
              </a:spcBef>
              <a:spcAft>
                <a:spcPts val="0"/>
              </a:spcAft>
              <a:buClr>
                <a:schemeClr val="dk1"/>
              </a:buClr>
              <a:buSzPts val="1100"/>
              <a:buFont typeface="Arial"/>
              <a:buNone/>
            </a:pPr>
            <a:r>
              <a:rPr lang="en-US"/>
              <a:t>2. Kite : business unit or department level</a:t>
            </a:r>
            <a:endParaRPr/>
          </a:p>
          <a:p>
            <a:pPr indent="0" lvl="0" marL="0" rtl="0" algn="l">
              <a:spcBef>
                <a:spcPts val="0"/>
              </a:spcBef>
              <a:spcAft>
                <a:spcPts val="0"/>
              </a:spcAft>
              <a:buClr>
                <a:schemeClr val="dk1"/>
              </a:buClr>
              <a:buSzPts val="1100"/>
              <a:buFont typeface="Arial"/>
              <a:buNone/>
            </a:pPr>
            <a:r>
              <a:rPr lang="en-US"/>
              <a:t>3. Blue (sea level): user goals</a:t>
            </a:r>
            <a:endParaRPr/>
          </a:p>
          <a:p>
            <a:pPr indent="0" lvl="0" marL="0" rtl="0" algn="l">
              <a:spcBef>
                <a:spcPts val="0"/>
              </a:spcBef>
              <a:spcAft>
                <a:spcPts val="0"/>
              </a:spcAft>
              <a:buClr>
                <a:schemeClr val="dk1"/>
              </a:buClr>
              <a:buSzPts val="1100"/>
              <a:buFont typeface="Arial"/>
              <a:buNone/>
            </a:pPr>
            <a:r>
              <a:rPr lang="en-US"/>
              <a:t>4. Indigo (or fish): functional or subfunctional</a:t>
            </a:r>
            <a:endParaRPr/>
          </a:p>
          <a:p>
            <a:pPr indent="0" lvl="0" marL="0" rtl="0" algn="l">
              <a:spcBef>
                <a:spcPts val="0"/>
              </a:spcBef>
              <a:spcAft>
                <a:spcPts val="0"/>
              </a:spcAft>
              <a:buClr>
                <a:schemeClr val="dk1"/>
              </a:buClr>
              <a:buSzPts val="1100"/>
              <a:buFont typeface="Arial"/>
              <a:buNone/>
            </a:pPr>
            <a:r>
              <a:rPr lang="en-US"/>
              <a:t>4. Black (or clam): most detailed</a:t>
            </a:r>
            <a:endParaRPr/>
          </a:p>
          <a:p>
            <a:pPr indent="0" lvl="0" marL="0" rtl="0" algn="l">
              <a:spcBef>
                <a:spcPts val="0"/>
              </a:spcBef>
              <a:spcAft>
                <a:spcPts val="0"/>
              </a:spcAft>
              <a:buNone/>
            </a:pPr>
            <a:r>
              <a:t/>
            </a:r>
            <a:endParaRPr/>
          </a:p>
        </p:txBody>
      </p:sp>
      <p:sp>
        <p:nvSpPr>
          <p:cNvPr id="329" name="Google Shape;32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23"/>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3"/>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2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2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2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22"/>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2"/>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25"/>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2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2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6"/>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26"/>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2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2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7"/>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27"/>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27"/>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27"/>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2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28"/>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2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30"/>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0"/>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30"/>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3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31"/>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31"/>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31"/>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31"/>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3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1"/>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31"/>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rm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6" name="Google Shape;96;p31"/>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31"/>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3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32"/>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3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33"/>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33"/>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3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image" Target="../media/image9.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21"/>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21"/>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2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2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2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21"/>
          <p:cNvGrpSpPr/>
          <p:nvPr/>
        </p:nvGrpSpPr>
        <p:grpSpPr>
          <a:xfrm>
            <a:off x="-29294" y="-16113"/>
            <a:ext cx="9198255" cy="1086266"/>
            <a:chOff x="-29322" y="-1971"/>
            <a:chExt cx="9198255" cy="1086266"/>
          </a:xfrm>
        </p:grpSpPr>
        <p:sp>
          <p:nvSpPr>
            <p:cNvPr id="18" name="Google Shape;18;p21"/>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21"/>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20"/>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20"/>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2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2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2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2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20"/>
          <p:cNvGrpSpPr/>
          <p:nvPr/>
        </p:nvGrpSpPr>
        <p:grpSpPr>
          <a:xfrm>
            <a:off x="-29294" y="-16113"/>
            <a:ext cx="9198255" cy="1086266"/>
            <a:chOff x="-29322" y="-1971"/>
            <a:chExt cx="9198255" cy="1086266"/>
          </a:xfrm>
        </p:grpSpPr>
        <p:sp>
          <p:nvSpPr>
            <p:cNvPr id="35" name="Google Shape;35;p20"/>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20"/>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amnv@tlu.edu.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lang="en-US"/>
              <a:t>Phân tích Thiết kế HTTT</a:t>
            </a:r>
            <a:endParaRPr/>
          </a:p>
        </p:txBody>
      </p:sp>
      <p:sp>
        <p:nvSpPr>
          <p:cNvPr id="115" name="Google Shape;115;p1"/>
          <p:cNvSpPr txBox="1"/>
          <p:nvPr>
            <p:ph idx="1" type="subTitle"/>
          </p:nvPr>
        </p:nvSpPr>
        <p:spPr>
          <a:xfrm>
            <a:off x="533400" y="4191000"/>
            <a:ext cx="7854696" cy="19050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Ths. Nguyễn Văn Nam</a:t>
            </a:r>
            <a:endParaRPr/>
          </a:p>
          <a:p>
            <a:pPr indent="0" lvl="0" marL="0" marR="45720" rtl="0" algn="r">
              <a:spcBef>
                <a:spcPts val="520"/>
              </a:spcBef>
              <a:spcAft>
                <a:spcPts val="0"/>
              </a:spcAft>
              <a:buSzPts val="2470"/>
              <a:buNone/>
            </a:pPr>
            <a:r>
              <a:rPr lang="en-US"/>
              <a:t>Email: </a:t>
            </a:r>
            <a:r>
              <a:rPr lang="en-US" u="sng">
                <a:solidFill>
                  <a:schemeClr val="hlink"/>
                </a:solidFill>
                <a:hlinkClick r:id="rId3"/>
              </a:rPr>
              <a:t>namnv@tlu.edu.vn</a:t>
            </a:r>
            <a:endParaRPr/>
          </a:p>
          <a:p>
            <a:pPr indent="0" lvl="0" marL="0" marR="45720" rtl="0" algn="r">
              <a:spcBef>
                <a:spcPts val="520"/>
              </a:spcBef>
              <a:spcAft>
                <a:spcPts val="0"/>
              </a:spcAft>
              <a:buSzPts val="2470"/>
              <a:buNone/>
            </a:pPr>
            <a:r>
              <a:rPr lang="en-US"/>
              <a:t>Website: namvannguyen.blogspot.com</a:t>
            </a:r>
            <a:endParaRPr/>
          </a:p>
          <a:p>
            <a:pPr indent="0" lvl="0" marL="0" marR="45720" rtl="0" algn="r">
              <a:spcBef>
                <a:spcPts val="520"/>
              </a:spcBef>
              <a:spcAft>
                <a:spcPts val="0"/>
              </a:spcAft>
              <a:buSzPts val="2470"/>
              <a:buNone/>
            </a:pPr>
            <a:r>
              <a:t/>
            </a:r>
            <a:endParaRPr/>
          </a:p>
        </p:txBody>
      </p:sp>
      <p:sp>
        <p:nvSpPr>
          <p:cNvPr id="116" name="Google Shape;1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1"/>
          <p:cNvSpPr txBox="1"/>
          <p:nvPr/>
        </p:nvSpPr>
        <p:spPr>
          <a:xfrm>
            <a:off x="609600" y="3200400"/>
            <a:ext cx="7854696" cy="9144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Clr>
                <a:schemeClr val="accent3"/>
              </a:buClr>
              <a:buSzPts val="3040"/>
              <a:buFont typeface="Noto Sans Symbols"/>
              <a:buNone/>
            </a:pPr>
            <a:r>
              <a:rPr b="0" i="0" lang="en-US" sz="3200" u="none" cap="none" strike="noStrike">
                <a:solidFill>
                  <a:schemeClr val="lt1"/>
                </a:solidFill>
                <a:latin typeface="Constantia"/>
                <a:ea typeface="Constantia"/>
                <a:cs typeface="Constantia"/>
                <a:sym typeface="Constantia"/>
              </a:rPr>
              <a:t>Ca sử dụng - Use case</a:t>
            </a:r>
            <a:endParaRPr b="0" i="0" sz="32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Nội dung</a:t>
            </a:r>
            <a:endParaRPr/>
          </a:p>
        </p:txBody>
      </p:sp>
      <p:sp>
        <p:nvSpPr>
          <p:cNvPr id="123" name="Google Shape;123;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Các thành phần Use-case</a:t>
            </a:r>
            <a:endParaRPr/>
          </a:p>
          <a:p>
            <a:pPr indent="-274320" lvl="0" marL="274320" rtl="0" algn="l">
              <a:spcBef>
                <a:spcPts val="520"/>
              </a:spcBef>
              <a:spcAft>
                <a:spcPts val="0"/>
              </a:spcAft>
              <a:buSzPts val="2470"/>
              <a:buChar char="⚫"/>
            </a:pPr>
            <a:r>
              <a:rPr lang="en-US"/>
              <a:t>Các quan hệ của Use-case</a:t>
            </a:r>
            <a:endParaRPr/>
          </a:p>
          <a:p>
            <a:pPr indent="-274320" lvl="0" marL="274320" rtl="0" algn="l">
              <a:spcBef>
                <a:spcPts val="520"/>
              </a:spcBef>
              <a:spcAft>
                <a:spcPts val="0"/>
              </a:spcAft>
              <a:buSzPts val="2470"/>
              <a:buChar char="⚫"/>
            </a:pPr>
            <a:r>
              <a:rPr lang="en-US"/>
              <a:t>Quan hệ giữa Actors</a:t>
            </a:r>
            <a:endParaRPr/>
          </a:p>
          <a:p>
            <a:pPr indent="-274320" lvl="0" marL="274320" rtl="0" algn="l">
              <a:spcBef>
                <a:spcPts val="520"/>
              </a:spcBef>
              <a:spcAft>
                <a:spcPts val="0"/>
              </a:spcAft>
              <a:buSzPts val="2470"/>
              <a:buChar char="⚫"/>
            </a:pPr>
            <a:r>
              <a:rPr lang="en-US"/>
              <a:t>Cách biểu diễn một usecase</a:t>
            </a:r>
            <a:endParaRPr/>
          </a:p>
          <a:p>
            <a:pPr indent="-117475" lvl="0" marL="274320" rtl="0" algn="l">
              <a:spcBef>
                <a:spcPts val="520"/>
              </a:spcBef>
              <a:spcAft>
                <a:spcPts val="0"/>
              </a:spcAft>
              <a:buSzPts val="2470"/>
              <a:buNone/>
            </a:pPr>
            <a:r>
              <a:t/>
            </a:r>
            <a:endParaRPr/>
          </a:p>
        </p:txBody>
      </p:sp>
      <p:sp>
        <p:nvSpPr>
          <p:cNvPr id="124" name="Google Shape;124;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Khái niệm chính</a:t>
            </a:r>
            <a:endParaRPr/>
          </a:p>
        </p:txBody>
      </p:sp>
      <p:sp>
        <p:nvSpPr>
          <p:cNvPr id="130" name="Google Shape;130;p3"/>
          <p:cNvSpPr txBox="1"/>
          <p:nvPr>
            <p:ph idx="1" type="body"/>
          </p:nvPr>
        </p:nvSpPr>
        <p:spPr>
          <a:xfrm>
            <a:off x="457200" y="1935480"/>
            <a:ext cx="4800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Một tác nhân (actor) đại diện cho bất cứ thứ gì tương tác với hệ thống.</a:t>
            </a:r>
            <a:endParaRPr/>
          </a:p>
          <a:p>
            <a:pPr indent="-117475" lvl="0" marL="274320" rtl="0" algn="l">
              <a:spcBef>
                <a:spcPts val="520"/>
              </a:spcBef>
              <a:spcAft>
                <a:spcPts val="0"/>
              </a:spcAft>
              <a:buSzPts val="2470"/>
              <a:buNone/>
            </a:pPr>
            <a:r>
              <a:t/>
            </a:r>
            <a:endParaRPr/>
          </a:p>
          <a:p>
            <a:pPr indent="-274320" lvl="0" marL="274320" rtl="0" algn="l">
              <a:spcBef>
                <a:spcPts val="520"/>
              </a:spcBef>
              <a:spcAft>
                <a:spcPts val="0"/>
              </a:spcAft>
              <a:buSzPts val="2470"/>
              <a:buChar char="⚫"/>
            </a:pPr>
            <a:r>
              <a:rPr lang="en-US"/>
              <a:t>Một use-case mô tả một chuỗi các sự kiện mà được thực hiện bởi hệ thống, và nó sinh ra một kết quả có thể quan sát được đối với một tác nhân cụ thể nào đó</a:t>
            </a:r>
            <a:endParaRPr/>
          </a:p>
        </p:txBody>
      </p:sp>
      <p:sp>
        <p:nvSpPr>
          <p:cNvPr id="131" name="Google Shape;131;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32" name="Google Shape;132;p3"/>
          <p:cNvGrpSpPr/>
          <p:nvPr/>
        </p:nvGrpSpPr>
        <p:grpSpPr>
          <a:xfrm>
            <a:off x="6019800" y="2133600"/>
            <a:ext cx="2209800" cy="3962400"/>
            <a:chOff x="4224" y="576"/>
            <a:chExt cx="1392" cy="2496"/>
          </a:xfrm>
        </p:grpSpPr>
        <p:sp>
          <p:nvSpPr>
            <p:cNvPr id="133" name="Google Shape;133;p3"/>
            <p:cNvSpPr/>
            <p:nvPr/>
          </p:nvSpPr>
          <p:spPr>
            <a:xfrm>
              <a:off x="4632" y="1515"/>
              <a:ext cx="600" cy="30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2400">
                  <a:solidFill>
                    <a:schemeClr val="dk1"/>
                  </a:solidFill>
                  <a:latin typeface="Constantia"/>
                  <a:ea typeface="Constantia"/>
                  <a:cs typeface="Constantia"/>
                  <a:sym typeface="Constantia"/>
                </a:rPr>
                <a:t>Actor</a:t>
              </a:r>
              <a:endParaRPr/>
            </a:p>
          </p:txBody>
        </p:sp>
        <p:sp>
          <p:nvSpPr>
            <p:cNvPr id="134" name="Google Shape;134;p3"/>
            <p:cNvSpPr/>
            <p:nvPr/>
          </p:nvSpPr>
          <p:spPr>
            <a:xfrm>
              <a:off x="4750" y="576"/>
              <a:ext cx="318" cy="316"/>
            </a:xfrm>
            <a:custGeom>
              <a:rect b="b" l="l" r="r" t="t"/>
              <a:pathLst>
                <a:path extrusionOk="0" h="316" w="320">
                  <a:moveTo>
                    <a:pt x="160" y="0"/>
                  </a:moveTo>
                  <a:lnTo>
                    <a:pt x="167" y="8"/>
                  </a:lnTo>
                  <a:lnTo>
                    <a:pt x="175" y="8"/>
                  </a:lnTo>
                  <a:lnTo>
                    <a:pt x="183" y="8"/>
                  </a:lnTo>
                  <a:lnTo>
                    <a:pt x="190" y="8"/>
                  </a:lnTo>
                  <a:lnTo>
                    <a:pt x="198" y="8"/>
                  </a:lnTo>
                  <a:lnTo>
                    <a:pt x="205" y="8"/>
                  </a:lnTo>
                  <a:lnTo>
                    <a:pt x="213" y="15"/>
                  </a:lnTo>
                  <a:lnTo>
                    <a:pt x="221" y="15"/>
                  </a:lnTo>
                  <a:lnTo>
                    <a:pt x="228" y="23"/>
                  </a:lnTo>
                  <a:lnTo>
                    <a:pt x="236" y="23"/>
                  </a:lnTo>
                  <a:lnTo>
                    <a:pt x="243" y="30"/>
                  </a:lnTo>
                  <a:lnTo>
                    <a:pt x="251" y="38"/>
                  </a:lnTo>
                  <a:lnTo>
                    <a:pt x="259" y="38"/>
                  </a:lnTo>
                  <a:lnTo>
                    <a:pt x="266" y="45"/>
                  </a:lnTo>
                  <a:lnTo>
                    <a:pt x="266" y="53"/>
                  </a:lnTo>
                  <a:lnTo>
                    <a:pt x="274" y="53"/>
                  </a:lnTo>
                  <a:lnTo>
                    <a:pt x="282" y="60"/>
                  </a:lnTo>
                  <a:lnTo>
                    <a:pt x="282" y="68"/>
                  </a:lnTo>
                  <a:lnTo>
                    <a:pt x="289" y="75"/>
                  </a:lnTo>
                  <a:lnTo>
                    <a:pt x="297" y="83"/>
                  </a:lnTo>
                  <a:lnTo>
                    <a:pt x="304" y="90"/>
                  </a:lnTo>
                  <a:lnTo>
                    <a:pt x="304" y="98"/>
                  </a:lnTo>
                  <a:lnTo>
                    <a:pt x="304" y="105"/>
                  </a:lnTo>
                  <a:lnTo>
                    <a:pt x="312" y="113"/>
                  </a:lnTo>
                  <a:lnTo>
                    <a:pt x="312" y="120"/>
                  </a:lnTo>
                  <a:lnTo>
                    <a:pt x="312" y="128"/>
                  </a:lnTo>
                  <a:lnTo>
                    <a:pt x="312" y="135"/>
                  </a:lnTo>
                  <a:lnTo>
                    <a:pt x="312" y="143"/>
                  </a:lnTo>
                  <a:lnTo>
                    <a:pt x="320" y="150"/>
                  </a:lnTo>
                  <a:lnTo>
                    <a:pt x="320" y="158"/>
                  </a:lnTo>
                  <a:lnTo>
                    <a:pt x="320" y="165"/>
                  </a:lnTo>
                  <a:lnTo>
                    <a:pt x="312" y="173"/>
                  </a:lnTo>
                  <a:lnTo>
                    <a:pt x="312" y="188"/>
                  </a:lnTo>
                  <a:lnTo>
                    <a:pt x="312" y="195"/>
                  </a:lnTo>
                  <a:lnTo>
                    <a:pt x="312" y="203"/>
                  </a:lnTo>
                  <a:lnTo>
                    <a:pt x="312" y="210"/>
                  </a:lnTo>
                  <a:lnTo>
                    <a:pt x="304" y="218"/>
                  </a:lnTo>
                  <a:lnTo>
                    <a:pt x="304" y="225"/>
                  </a:lnTo>
                  <a:lnTo>
                    <a:pt x="297" y="233"/>
                  </a:lnTo>
                  <a:lnTo>
                    <a:pt x="297" y="241"/>
                  </a:lnTo>
                  <a:lnTo>
                    <a:pt x="289" y="248"/>
                  </a:lnTo>
                  <a:lnTo>
                    <a:pt x="282" y="256"/>
                  </a:lnTo>
                  <a:lnTo>
                    <a:pt x="282" y="263"/>
                  </a:lnTo>
                  <a:lnTo>
                    <a:pt x="274" y="263"/>
                  </a:lnTo>
                  <a:lnTo>
                    <a:pt x="266" y="271"/>
                  </a:lnTo>
                  <a:lnTo>
                    <a:pt x="266" y="278"/>
                  </a:lnTo>
                  <a:lnTo>
                    <a:pt x="259" y="278"/>
                  </a:lnTo>
                  <a:lnTo>
                    <a:pt x="251" y="286"/>
                  </a:lnTo>
                  <a:lnTo>
                    <a:pt x="243" y="293"/>
                  </a:lnTo>
                  <a:lnTo>
                    <a:pt x="236" y="301"/>
                  </a:lnTo>
                  <a:lnTo>
                    <a:pt x="228" y="301"/>
                  </a:lnTo>
                  <a:lnTo>
                    <a:pt x="221" y="308"/>
                  </a:lnTo>
                  <a:lnTo>
                    <a:pt x="213" y="308"/>
                  </a:lnTo>
                  <a:lnTo>
                    <a:pt x="205" y="308"/>
                  </a:lnTo>
                  <a:lnTo>
                    <a:pt x="198" y="316"/>
                  </a:lnTo>
                  <a:lnTo>
                    <a:pt x="190" y="316"/>
                  </a:lnTo>
                  <a:lnTo>
                    <a:pt x="183" y="316"/>
                  </a:lnTo>
                  <a:lnTo>
                    <a:pt x="175" y="316"/>
                  </a:lnTo>
                  <a:lnTo>
                    <a:pt x="167" y="316"/>
                  </a:lnTo>
                  <a:lnTo>
                    <a:pt x="160" y="316"/>
                  </a:lnTo>
                  <a:lnTo>
                    <a:pt x="152" y="316"/>
                  </a:lnTo>
                  <a:lnTo>
                    <a:pt x="145" y="316"/>
                  </a:lnTo>
                  <a:lnTo>
                    <a:pt x="137" y="316"/>
                  </a:lnTo>
                  <a:lnTo>
                    <a:pt x="129" y="316"/>
                  </a:lnTo>
                  <a:lnTo>
                    <a:pt x="122" y="316"/>
                  </a:lnTo>
                  <a:lnTo>
                    <a:pt x="114" y="308"/>
                  </a:lnTo>
                  <a:lnTo>
                    <a:pt x="107" y="308"/>
                  </a:lnTo>
                  <a:lnTo>
                    <a:pt x="99" y="308"/>
                  </a:lnTo>
                  <a:lnTo>
                    <a:pt x="91" y="301"/>
                  </a:lnTo>
                  <a:lnTo>
                    <a:pt x="84" y="301"/>
                  </a:lnTo>
                  <a:lnTo>
                    <a:pt x="76" y="293"/>
                  </a:lnTo>
                  <a:lnTo>
                    <a:pt x="68" y="293"/>
                  </a:lnTo>
                  <a:lnTo>
                    <a:pt x="61" y="286"/>
                  </a:lnTo>
                  <a:lnTo>
                    <a:pt x="61" y="278"/>
                  </a:lnTo>
                  <a:lnTo>
                    <a:pt x="53" y="278"/>
                  </a:lnTo>
                  <a:lnTo>
                    <a:pt x="46" y="271"/>
                  </a:lnTo>
                  <a:lnTo>
                    <a:pt x="38" y="263"/>
                  </a:lnTo>
                  <a:lnTo>
                    <a:pt x="30" y="256"/>
                  </a:lnTo>
                  <a:lnTo>
                    <a:pt x="30" y="248"/>
                  </a:lnTo>
                  <a:lnTo>
                    <a:pt x="23" y="241"/>
                  </a:lnTo>
                  <a:lnTo>
                    <a:pt x="23" y="233"/>
                  </a:lnTo>
                  <a:lnTo>
                    <a:pt x="15" y="225"/>
                  </a:lnTo>
                  <a:lnTo>
                    <a:pt x="15" y="218"/>
                  </a:lnTo>
                  <a:lnTo>
                    <a:pt x="8" y="218"/>
                  </a:lnTo>
                  <a:lnTo>
                    <a:pt x="8" y="210"/>
                  </a:lnTo>
                  <a:lnTo>
                    <a:pt x="8" y="203"/>
                  </a:lnTo>
                  <a:lnTo>
                    <a:pt x="0" y="195"/>
                  </a:lnTo>
                  <a:lnTo>
                    <a:pt x="0" y="188"/>
                  </a:lnTo>
                  <a:lnTo>
                    <a:pt x="0" y="173"/>
                  </a:lnTo>
                  <a:lnTo>
                    <a:pt x="0" y="165"/>
                  </a:lnTo>
                  <a:lnTo>
                    <a:pt x="0" y="158"/>
                  </a:lnTo>
                  <a:lnTo>
                    <a:pt x="0" y="150"/>
                  </a:lnTo>
                  <a:lnTo>
                    <a:pt x="0" y="143"/>
                  </a:lnTo>
                  <a:lnTo>
                    <a:pt x="0" y="135"/>
                  </a:lnTo>
                  <a:lnTo>
                    <a:pt x="0" y="128"/>
                  </a:lnTo>
                  <a:lnTo>
                    <a:pt x="8" y="120"/>
                  </a:lnTo>
                  <a:lnTo>
                    <a:pt x="8" y="113"/>
                  </a:lnTo>
                  <a:lnTo>
                    <a:pt x="8" y="105"/>
                  </a:lnTo>
                  <a:lnTo>
                    <a:pt x="15" y="98"/>
                  </a:lnTo>
                  <a:lnTo>
                    <a:pt x="15" y="90"/>
                  </a:lnTo>
                  <a:lnTo>
                    <a:pt x="23" y="83"/>
                  </a:lnTo>
                  <a:lnTo>
                    <a:pt x="30" y="75"/>
                  </a:lnTo>
                  <a:lnTo>
                    <a:pt x="30" y="68"/>
                  </a:lnTo>
                  <a:lnTo>
                    <a:pt x="38" y="60"/>
                  </a:lnTo>
                  <a:lnTo>
                    <a:pt x="38" y="53"/>
                  </a:lnTo>
                  <a:lnTo>
                    <a:pt x="46" y="53"/>
                  </a:lnTo>
                  <a:lnTo>
                    <a:pt x="53" y="45"/>
                  </a:lnTo>
                  <a:lnTo>
                    <a:pt x="61" y="38"/>
                  </a:lnTo>
                  <a:lnTo>
                    <a:pt x="68" y="30"/>
                  </a:lnTo>
                  <a:lnTo>
                    <a:pt x="76" y="30"/>
                  </a:lnTo>
                  <a:lnTo>
                    <a:pt x="84" y="23"/>
                  </a:lnTo>
                  <a:lnTo>
                    <a:pt x="91" y="23"/>
                  </a:lnTo>
                  <a:lnTo>
                    <a:pt x="99" y="15"/>
                  </a:lnTo>
                  <a:lnTo>
                    <a:pt x="107" y="15"/>
                  </a:lnTo>
                  <a:lnTo>
                    <a:pt x="114" y="8"/>
                  </a:lnTo>
                  <a:lnTo>
                    <a:pt x="122" y="8"/>
                  </a:lnTo>
                  <a:lnTo>
                    <a:pt x="129" y="8"/>
                  </a:lnTo>
                  <a:lnTo>
                    <a:pt x="137" y="8"/>
                  </a:lnTo>
                  <a:lnTo>
                    <a:pt x="145" y="8"/>
                  </a:lnTo>
                  <a:lnTo>
                    <a:pt x="152" y="8"/>
                  </a:lnTo>
                  <a:lnTo>
                    <a:pt x="16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5" name="Google Shape;135;p3"/>
            <p:cNvSpPr/>
            <p:nvPr/>
          </p:nvSpPr>
          <p:spPr>
            <a:xfrm>
              <a:off x="4750" y="576"/>
              <a:ext cx="318" cy="316"/>
            </a:xfrm>
            <a:custGeom>
              <a:rect b="b" l="l" r="r" t="t"/>
              <a:pathLst>
                <a:path extrusionOk="0" h="316" w="320">
                  <a:moveTo>
                    <a:pt x="160" y="0"/>
                  </a:moveTo>
                  <a:lnTo>
                    <a:pt x="221" y="15"/>
                  </a:lnTo>
                  <a:lnTo>
                    <a:pt x="266" y="53"/>
                  </a:lnTo>
                  <a:lnTo>
                    <a:pt x="304" y="98"/>
                  </a:lnTo>
                  <a:lnTo>
                    <a:pt x="320" y="158"/>
                  </a:lnTo>
                  <a:lnTo>
                    <a:pt x="304" y="218"/>
                  </a:lnTo>
                  <a:lnTo>
                    <a:pt x="266" y="271"/>
                  </a:lnTo>
                  <a:lnTo>
                    <a:pt x="221" y="308"/>
                  </a:lnTo>
                  <a:lnTo>
                    <a:pt x="160" y="316"/>
                  </a:lnTo>
                  <a:lnTo>
                    <a:pt x="99" y="308"/>
                  </a:lnTo>
                  <a:lnTo>
                    <a:pt x="46" y="271"/>
                  </a:lnTo>
                  <a:lnTo>
                    <a:pt x="15" y="218"/>
                  </a:lnTo>
                  <a:lnTo>
                    <a:pt x="0" y="158"/>
                  </a:lnTo>
                  <a:lnTo>
                    <a:pt x="15" y="98"/>
                  </a:lnTo>
                  <a:lnTo>
                    <a:pt x="46" y="53"/>
                  </a:lnTo>
                  <a:lnTo>
                    <a:pt x="99" y="15"/>
                  </a:lnTo>
                  <a:lnTo>
                    <a:pt x="16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36" name="Google Shape;136;p3"/>
            <p:cNvSpPr/>
            <p:nvPr/>
          </p:nvSpPr>
          <p:spPr>
            <a:xfrm>
              <a:off x="4656" y="899"/>
              <a:ext cx="253" cy="541"/>
            </a:xfrm>
            <a:custGeom>
              <a:rect b="b" l="l" r="r" t="t"/>
              <a:pathLst>
                <a:path extrusionOk="0" h="601" w="343">
                  <a:moveTo>
                    <a:pt x="343" y="0"/>
                  </a:moveTo>
                  <a:lnTo>
                    <a:pt x="343" y="278"/>
                  </a:lnTo>
                  <a:lnTo>
                    <a:pt x="0" y="601"/>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37" name="Google Shape;137;p3"/>
            <p:cNvCxnSpPr/>
            <p:nvPr/>
          </p:nvCxnSpPr>
          <p:spPr>
            <a:xfrm>
              <a:off x="4910" y="1152"/>
              <a:ext cx="240" cy="288"/>
            </a:xfrm>
            <a:prstGeom prst="straightConnector1">
              <a:avLst/>
            </a:prstGeom>
            <a:noFill/>
            <a:ln cap="flat" cmpd="sng" w="9525">
              <a:solidFill>
                <a:schemeClr val="dk1"/>
              </a:solidFill>
              <a:prstDash val="solid"/>
              <a:round/>
              <a:headEnd len="med" w="med" type="none"/>
              <a:tailEnd len="med" w="med" type="none"/>
            </a:ln>
          </p:spPr>
        </p:cxnSp>
        <p:grpSp>
          <p:nvGrpSpPr>
            <p:cNvPr id="138" name="Google Shape;138;p3"/>
            <p:cNvGrpSpPr/>
            <p:nvPr/>
          </p:nvGrpSpPr>
          <p:grpSpPr>
            <a:xfrm>
              <a:off x="4224" y="2400"/>
              <a:ext cx="1392" cy="672"/>
              <a:chOff x="4224" y="2400"/>
              <a:chExt cx="1392" cy="672"/>
            </a:xfrm>
          </p:grpSpPr>
          <p:sp>
            <p:nvSpPr>
              <p:cNvPr id="139" name="Google Shape;139;p3"/>
              <p:cNvSpPr/>
              <p:nvPr/>
            </p:nvSpPr>
            <p:spPr>
              <a:xfrm>
                <a:off x="4224" y="2400"/>
                <a:ext cx="1344" cy="672"/>
              </a:xfrm>
              <a:prstGeom prst="ellipse">
                <a:avLst/>
              </a:prstGeom>
              <a:solidFill>
                <a:srgbClr val="FFFFCC"/>
              </a:solidFill>
              <a:ln cap="flat" cmpd="sng" w="25400">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40" name="Google Shape;140;p3"/>
              <p:cNvSpPr/>
              <p:nvPr/>
            </p:nvSpPr>
            <p:spPr>
              <a:xfrm>
                <a:off x="4416" y="2592"/>
                <a:ext cx="1200" cy="30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2400">
                    <a:solidFill>
                      <a:schemeClr val="dk1"/>
                    </a:solidFill>
                    <a:latin typeface="Constantia"/>
                    <a:ea typeface="Constantia"/>
                    <a:cs typeface="Constantia"/>
                    <a:sym typeface="Constantia"/>
                  </a:rPr>
                  <a:t>Use Case</a:t>
                </a:r>
                <a:endParaRPr/>
              </a:p>
            </p:txBody>
          </p:sp>
        </p:grpSp>
        <p:cxnSp>
          <p:nvCxnSpPr>
            <p:cNvPr id="141" name="Google Shape;141;p3"/>
            <p:cNvCxnSpPr/>
            <p:nvPr/>
          </p:nvCxnSpPr>
          <p:spPr>
            <a:xfrm>
              <a:off x="4692" y="954"/>
              <a:ext cx="432"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txBox="1"/>
          <p:nvPr>
            <p:ph type="title"/>
          </p:nvPr>
        </p:nvSpPr>
        <p:spPr>
          <a:xfrm>
            <a:off x="533400" y="838200"/>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Tác nhân - Actor</a:t>
            </a:r>
            <a:endParaRPr sz="4500"/>
          </a:p>
        </p:txBody>
      </p:sp>
      <p:sp>
        <p:nvSpPr>
          <p:cNvPr id="147" name="Google Shape;147;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48" name="Google Shape;148;p4"/>
          <p:cNvSpPr txBox="1"/>
          <p:nvPr/>
        </p:nvSpPr>
        <p:spPr>
          <a:xfrm>
            <a:off x="457200" y="1600200"/>
            <a:ext cx="5867400" cy="4525963"/>
          </a:xfrm>
          <a:prstGeom prst="rect">
            <a:avLst/>
          </a:prstGeom>
          <a:noFill/>
          <a:ln>
            <a:noFill/>
          </a:ln>
        </p:spPr>
        <p:txBody>
          <a:bodyPr anchorCtr="0" anchor="t" bIns="45700" lIns="91425" spcFirstLastPara="1" rIns="91425" wrap="square" tIns="45700">
            <a:normAutofit/>
          </a:bodyPr>
          <a:lstStyle/>
          <a:p>
            <a:pPr indent="-274320" lvl="0" marL="274320" marR="0" rtl="0" algn="l">
              <a:lnSpc>
                <a:spcPct val="80000"/>
              </a:lnSpc>
              <a:spcBef>
                <a:spcPts val="0"/>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Tác nhân (actor) biểu diễn vai trò có thể được đảm nhiệm của một người dùng đối với hệ thống.</a:t>
            </a:r>
            <a:endParaRPr/>
          </a:p>
          <a:p>
            <a:pPr indent="-274320" lvl="0" marL="274320" marR="0" rtl="0" algn="l">
              <a:lnSpc>
                <a:spcPct val="8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Tác nhân có thể biểu diễn cho một con người, máy, hoặc hệ thống khác.</a:t>
            </a:r>
            <a:endParaRPr/>
          </a:p>
          <a:p>
            <a:pPr indent="-274320" lvl="0" marL="274320" marR="0" rtl="0" algn="l">
              <a:lnSpc>
                <a:spcPct val="8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Tác nhân có thể chủ động </a:t>
            </a:r>
            <a:r>
              <a:rPr lang="en-US" sz="2405">
                <a:solidFill>
                  <a:schemeClr val="dk1"/>
                </a:solidFill>
                <a:latin typeface="Constantia"/>
                <a:ea typeface="Constantia"/>
                <a:cs typeface="Constantia"/>
                <a:sym typeface="Constantia"/>
              </a:rPr>
              <a:t>trao</a:t>
            </a:r>
            <a:r>
              <a:rPr b="0" i="0" lang="en-US" sz="2405" u="none" cap="none" strike="noStrike">
                <a:solidFill>
                  <a:schemeClr val="dk1"/>
                </a:solidFill>
                <a:latin typeface="Constantia"/>
                <a:ea typeface="Constantia"/>
                <a:cs typeface="Constantia"/>
                <a:sym typeface="Constantia"/>
              </a:rPr>
              <a:t> đổi thông tin với hệ thống.</a:t>
            </a:r>
            <a:endParaRPr/>
          </a:p>
          <a:p>
            <a:pPr indent="-274320" lvl="0" marL="274320" marR="0" rtl="0" algn="l">
              <a:lnSpc>
                <a:spcPct val="8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Tác nhân có thể là đối tượng cung cấp thông tin.</a:t>
            </a:r>
            <a:endParaRPr/>
          </a:p>
          <a:p>
            <a:pPr indent="-274320" lvl="0" marL="274320" marR="0" rtl="0" algn="l">
              <a:lnSpc>
                <a:spcPct val="8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Tác nhân có thể bị động nhận thông tin.</a:t>
            </a:r>
            <a:endParaRPr/>
          </a:p>
          <a:p>
            <a:pPr indent="-274320" lvl="0" marL="274320" marR="0" rtl="0" algn="l">
              <a:lnSpc>
                <a:spcPct val="80000"/>
              </a:lnSpc>
              <a:spcBef>
                <a:spcPts val="481"/>
              </a:spcBef>
              <a:spcAft>
                <a:spcPts val="0"/>
              </a:spcAft>
              <a:buClr>
                <a:schemeClr val="accent3"/>
              </a:buClr>
              <a:buSzPts val="2285"/>
              <a:buFont typeface="Noto Sans Symbols"/>
              <a:buChar char="⚫"/>
            </a:pPr>
            <a:r>
              <a:rPr b="0" i="0" lang="en-US" sz="2405" u="none" cap="none" strike="noStrike">
                <a:solidFill>
                  <a:schemeClr val="dk1"/>
                </a:solidFill>
                <a:latin typeface="Constantia"/>
                <a:ea typeface="Constantia"/>
                <a:cs typeface="Constantia"/>
                <a:sym typeface="Constantia"/>
              </a:rPr>
              <a:t>Tác nhân không phải là một phần của hệ thống.</a:t>
            </a:r>
            <a:endParaRPr/>
          </a:p>
          <a:p>
            <a:pPr indent="-246888" lvl="1" marL="640080" marR="0" rtl="0" algn="l">
              <a:lnSpc>
                <a:spcPct val="80000"/>
              </a:lnSpc>
              <a:spcBef>
                <a:spcPts val="444"/>
              </a:spcBef>
              <a:spcAft>
                <a:spcPts val="0"/>
              </a:spcAft>
              <a:buClr>
                <a:schemeClr val="accent1"/>
              </a:buClr>
              <a:buSzPts val="1887"/>
              <a:buFont typeface="Noto Sans Symbols"/>
              <a:buChar char="⚫"/>
            </a:pPr>
            <a:r>
              <a:rPr b="0" i="0" lang="en-US" sz="2220" u="none" cap="none" strike="noStrike">
                <a:solidFill>
                  <a:schemeClr val="dk1"/>
                </a:solidFill>
                <a:latin typeface="Constantia"/>
                <a:ea typeface="Constantia"/>
                <a:cs typeface="Constantia"/>
                <a:sym typeface="Constantia"/>
              </a:rPr>
              <a:t>Tác nhân là thành phần bên ngoài.</a:t>
            </a:r>
            <a:endParaRPr/>
          </a:p>
        </p:txBody>
      </p:sp>
      <p:grpSp>
        <p:nvGrpSpPr>
          <p:cNvPr id="149" name="Google Shape;149;p4"/>
          <p:cNvGrpSpPr/>
          <p:nvPr/>
        </p:nvGrpSpPr>
        <p:grpSpPr>
          <a:xfrm>
            <a:off x="6781800" y="1981200"/>
            <a:ext cx="1776413" cy="3262325"/>
            <a:chOff x="3853" y="864"/>
            <a:chExt cx="1119" cy="2055"/>
          </a:xfrm>
        </p:grpSpPr>
        <p:sp>
          <p:nvSpPr>
            <p:cNvPr id="150" name="Google Shape;150;p4"/>
            <p:cNvSpPr/>
            <p:nvPr/>
          </p:nvSpPr>
          <p:spPr>
            <a:xfrm>
              <a:off x="3853" y="1373"/>
              <a:ext cx="569" cy="948"/>
            </a:xfrm>
            <a:custGeom>
              <a:rect b="b" l="l" r="r" t="t"/>
              <a:pathLst>
                <a:path extrusionOk="0" h="601" w="343">
                  <a:moveTo>
                    <a:pt x="343" y="0"/>
                  </a:moveTo>
                  <a:lnTo>
                    <a:pt x="343" y="278"/>
                  </a:lnTo>
                  <a:lnTo>
                    <a:pt x="0" y="601"/>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1" name="Google Shape;151;p4"/>
            <p:cNvSpPr/>
            <p:nvPr/>
          </p:nvSpPr>
          <p:spPr>
            <a:xfrm>
              <a:off x="4134" y="2619"/>
              <a:ext cx="600" cy="300"/>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2400">
                  <a:solidFill>
                    <a:schemeClr val="dk1"/>
                  </a:solidFill>
                  <a:latin typeface="Constantia"/>
                  <a:ea typeface="Constantia"/>
                  <a:cs typeface="Constantia"/>
                  <a:sym typeface="Constantia"/>
                </a:rPr>
                <a:t>Actor</a:t>
              </a:r>
              <a:endParaRPr/>
            </a:p>
          </p:txBody>
        </p:sp>
        <p:sp>
          <p:nvSpPr>
            <p:cNvPr id="152" name="Google Shape;152;p4"/>
            <p:cNvSpPr/>
            <p:nvPr/>
          </p:nvSpPr>
          <p:spPr>
            <a:xfrm>
              <a:off x="4156" y="864"/>
              <a:ext cx="531" cy="498"/>
            </a:xfrm>
            <a:custGeom>
              <a:rect b="b" l="l" r="r" t="t"/>
              <a:pathLst>
                <a:path extrusionOk="0" h="316" w="320">
                  <a:moveTo>
                    <a:pt x="160" y="0"/>
                  </a:moveTo>
                  <a:lnTo>
                    <a:pt x="167" y="8"/>
                  </a:lnTo>
                  <a:lnTo>
                    <a:pt x="175" y="8"/>
                  </a:lnTo>
                  <a:lnTo>
                    <a:pt x="183" y="8"/>
                  </a:lnTo>
                  <a:lnTo>
                    <a:pt x="190" y="8"/>
                  </a:lnTo>
                  <a:lnTo>
                    <a:pt x="198" y="8"/>
                  </a:lnTo>
                  <a:lnTo>
                    <a:pt x="205" y="8"/>
                  </a:lnTo>
                  <a:lnTo>
                    <a:pt x="213" y="15"/>
                  </a:lnTo>
                  <a:lnTo>
                    <a:pt x="221" y="15"/>
                  </a:lnTo>
                  <a:lnTo>
                    <a:pt x="228" y="23"/>
                  </a:lnTo>
                  <a:lnTo>
                    <a:pt x="236" y="23"/>
                  </a:lnTo>
                  <a:lnTo>
                    <a:pt x="243" y="30"/>
                  </a:lnTo>
                  <a:lnTo>
                    <a:pt x="251" y="38"/>
                  </a:lnTo>
                  <a:lnTo>
                    <a:pt x="259" y="38"/>
                  </a:lnTo>
                  <a:lnTo>
                    <a:pt x="266" y="45"/>
                  </a:lnTo>
                  <a:lnTo>
                    <a:pt x="266" y="53"/>
                  </a:lnTo>
                  <a:lnTo>
                    <a:pt x="274" y="53"/>
                  </a:lnTo>
                  <a:lnTo>
                    <a:pt x="282" y="60"/>
                  </a:lnTo>
                  <a:lnTo>
                    <a:pt x="282" y="68"/>
                  </a:lnTo>
                  <a:lnTo>
                    <a:pt x="289" y="75"/>
                  </a:lnTo>
                  <a:lnTo>
                    <a:pt x="297" y="83"/>
                  </a:lnTo>
                  <a:lnTo>
                    <a:pt x="304" y="90"/>
                  </a:lnTo>
                  <a:lnTo>
                    <a:pt x="304" y="98"/>
                  </a:lnTo>
                  <a:lnTo>
                    <a:pt x="304" y="105"/>
                  </a:lnTo>
                  <a:lnTo>
                    <a:pt x="312" y="113"/>
                  </a:lnTo>
                  <a:lnTo>
                    <a:pt x="312" y="120"/>
                  </a:lnTo>
                  <a:lnTo>
                    <a:pt x="312" y="128"/>
                  </a:lnTo>
                  <a:lnTo>
                    <a:pt x="312" y="135"/>
                  </a:lnTo>
                  <a:lnTo>
                    <a:pt x="312" y="143"/>
                  </a:lnTo>
                  <a:lnTo>
                    <a:pt x="320" y="150"/>
                  </a:lnTo>
                  <a:lnTo>
                    <a:pt x="320" y="158"/>
                  </a:lnTo>
                  <a:lnTo>
                    <a:pt x="320" y="165"/>
                  </a:lnTo>
                  <a:lnTo>
                    <a:pt x="312" y="173"/>
                  </a:lnTo>
                  <a:lnTo>
                    <a:pt x="312" y="188"/>
                  </a:lnTo>
                  <a:lnTo>
                    <a:pt x="312" y="195"/>
                  </a:lnTo>
                  <a:lnTo>
                    <a:pt x="312" y="203"/>
                  </a:lnTo>
                  <a:lnTo>
                    <a:pt x="312" y="210"/>
                  </a:lnTo>
                  <a:lnTo>
                    <a:pt x="304" y="218"/>
                  </a:lnTo>
                  <a:lnTo>
                    <a:pt x="304" y="225"/>
                  </a:lnTo>
                  <a:lnTo>
                    <a:pt x="297" y="233"/>
                  </a:lnTo>
                  <a:lnTo>
                    <a:pt x="297" y="241"/>
                  </a:lnTo>
                  <a:lnTo>
                    <a:pt x="289" y="248"/>
                  </a:lnTo>
                  <a:lnTo>
                    <a:pt x="282" y="256"/>
                  </a:lnTo>
                  <a:lnTo>
                    <a:pt x="282" y="263"/>
                  </a:lnTo>
                  <a:lnTo>
                    <a:pt x="274" y="263"/>
                  </a:lnTo>
                  <a:lnTo>
                    <a:pt x="266" y="271"/>
                  </a:lnTo>
                  <a:lnTo>
                    <a:pt x="266" y="278"/>
                  </a:lnTo>
                  <a:lnTo>
                    <a:pt x="259" y="278"/>
                  </a:lnTo>
                  <a:lnTo>
                    <a:pt x="251" y="286"/>
                  </a:lnTo>
                  <a:lnTo>
                    <a:pt x="243" y="293"/>
                  </a:lnTo>
                  <a:lnTo>
                    <a:pt x="236" y="301"/>
                  </a:lnTo>
                  <a:lnTo>
                    <a:pt x="228" y="301"/>
                  </a:lnTo>
                  <a:lnTo>
                    <a:pt x="221" y="308"/>
                  </a:lnTo>
                  <a:lnTo>
                    <a:pt x="213" y="308"/>
                  </a:lnTo>
                  <a:lnTo>
                    <a:pt x="205" y="308"/>
                  </a:lnTo>
                  <a:lnTo>
                    <a:pt x="198" y="316"/>
                  </a:lnTo>
                  <a:lnTo>
                    <a:pt x="190" y="316"/>
                  </a:lnTo>
                  <a:lnTo>
                    <a:pt x="183" y="316"/>
                  </a:lnTo>
                  <a:lnTo>
                    <a:pt x="175" y="316"/>
                  </a:lnTo>
                  <a:lnTo>
                    <a:pt x="167" y="316"/>
                  </a:lnTo>
                  <a:lnTo>
                    <a:pt x="160" y="316"/>
                  </a:lnTo>
                  <a:lnTo>
                    <a:pt x="152" y="316"/>
                  </a:lnTo>
                  <a:lnTo>
                    <a:pt x="145" y="316"/>
                  </a:lnTo>
                  <a:lnTo>
                    <a:pt x="137" y="316"/>
                  </a:lnTo>
                  <a:lnTo>
                    <a:pt x="129" y="316"/>
                  </a:lnTo>
                  <a:lnTo>
                    <a:pt x="122" y="316"/>
                  </a:lnTo>
                  <a:lnTo>
                    <a:pt x="114" y="308"/>
                  </a:lnTo>
                  <a:lnTo>
                    <a:pt x="107" y="308"/>
                  </a:lnTo>
                  <a:lnTo>
                    <a:pt x="99" y="308"/>
                  </a:lnTo>
                  <a:lnTo>
                    <a:pt x="91" y="301"/>
                  </a:lnTo>
                  <a:lnTo>
                    <a:pt x="84" y="301"/>
                  </a:lnTo>
                  <a:lnTo>
                    <a:pt x="76" y="293"/>
                  </a:lnTo>
                  <a:lnTo>
                    <a:pt x="68" y="293"/>
                  </a:lnTo>
                  <a:lnTo>
                    <a:pt x="61" y="286"/>
                  </a:lnTo>
                  <a:lnTo>
                    <a:pt x="61" y="278"/>
                  </a:lnTo>
                  <a:lnTo>
                    <a:pt x="53" y="278"/>
                  </a:lnTo>
                  <a:lnTo>
                    <a:pt x="46" y="271"/>
                  </a:lnTo>
                  <a:lnTo>
                    <a:pt x="38" y="263"/>
                  </a:lnTo>
                  <a:lnTo>
                    <a:pt x="30" y="256"/>
                  </a:lnTo>
                  <a:lnTo>
                    <a:pt x="30" y="248"/>
                  </a:lnTo>
                  <a:lnTo>
                    <a:pt x="23" y="241"/>
                  </a:lnTo>
                  <a:lnTo>
                    <a:pt x="23" y="233"/>
                  </a:lnTo>
                  <a:lnTo>
                    <a:pt x="15" y="225"/>
                  </a:lnTo>
                  <a:lnTo>
                    <a:pt x="15" y="218"/>
                  </a:lnTo>
                  <a:lnTo>
                    <a:pt x="8" y="218"/>
                  </a:lnTo>
                  <a:lnTo>
                    <a:pt x="8" y="210"/>
                  </a:lnTo>
                  <a:lnTo>
                    <a:pt x="8" y="203"/>
                  </a:lnTo>
                  <a:lnTo>
                    <a:pt x="0" y="195"/>
                  </a:lnTo>
                  <a:lnTo>
                    <a:pt x="0" y="188"/>
                  </a:lnTo>
                  <a:lnTo>
                    <a:pt x="0" y="173"/>
                  </a:lnTo>
                  <a:lnTo>
                    <a:pt x="0" y="165"/>
                  </a:lnTo>
                  <a:lnTo>
                    <a:pt x="0" y="158"/>
                  </a:lnTo>
                  <a:lnTo>
                    <a:pt x="0" y="150"/>
                  </a:lnTo>
                  <a:lnTo>
                    <a:pt x="0" y="143"/>
                  </a:lnTo>
                  <a:lnTo>
                    <a:pt x="0" y="135"/>
                  </a:lnTo>
                  <a:lnTo>
                    <a:pt x="0" y="128"/>
                  </a:lnTo>
                  <a:lnTo>
                    <a:pt x="8" y="120"/>
                  </a:lnTo>
                  <a:lnTo>
                    <a:pt x="8" y="113"/>
                  </a:lnTo>
                  <a:lnTo>
                    <a:pt x="8" y="105"/>
                  </a:lnTo>
                  <a:lnTo>
                    <a:pt x="15" y="98"/>
                  </a:lnTo>
                  <a:lnTo>
                    <a:pt x="15" y="90"/>
                  </a:lnTo>
                  <a:lnTo>
                    <a:pt x="23" y="83"/>
                  </a:lnTo>
                  <a:lnTo>
                    <a:pt x="30" y="75"/>
                  </a:lnTo>
                  <a:lnTo>
                    <a:pt x="30" y="68"/>
                  </a:lnTo>
                  <a:lnTo>
                    <a:pt x="38" y="60"/>
                  </a:lnTo>
                  <a:lnTo>
                    <a:pt x="38" y="53"/>
                  </a:lnTo>
                  <a:lnTo>
                    <a:pt x="46" y="53"/>
                  </a:lnTo>
                  <a:lnTo>
                    <a:pt x="53" y="45"/>
                  </a:lnTo>
                  <a:lnTo>
                    <a:pt x="61" y="38"/>
                  </a:lnTo>
                  <a:lnTo>
                    <a:pt x="68" y="30"/>
                  </a:lnTo>
                  <a:lnTo>
                    <a:pt x="76" y="30"/>
                  </a:lnTo>
                  <a:lnTo>
                    <a:pt x="84" y="23"/>
                  </a:lnTo>
                  <a:lnTo>
                    <a:pt x="91" y="23"/>
                  </a:lnTo>
                  <a:lnTo>
                    <a:pt x="99" y="15"/>
                  </a:lnTo>
                  <a:lnTo>
                    <a:pt x="107" y="15"/>
                  </a:lnTo>
                  <a:lnTo>
                    <a:pt x="114" y="8"/>
                  </a:lnTo>
                  <a:lnTo>
                    <a:pt x="122" y="8"/>
                  </a:lnTo>
                  <a:lnTo>
                    <a:pt x="129" y="8"/>
                  </a:lnTo>
                  <a:lnTo>
                    <a:pt x="137" y="8"/>
                  </a:lnTo>
                  <a:lnTo>
                    <a:pt x="145" y="8"/>
                  </a:lnTo>
                  <a:lnTo>
                    <a:pt x="152" y="8"/>
                  </a:lnTo>
                  <a:lnTo>
                    <a:pt x="16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53" name="Google Shape;153;p4"/>
            <p:cNvSpPr/>
            <p:nvPr/>
          </p:nvSpPr>
          <p:spPr>
            <a:xfrm>
              <a:off x="4156" y="864"/>
              <a:ext cx="531" cy="498"/>
            </a:xfrm>
            <a:custGeom>
              <a:rect b="b" l="l" r="r" t="t"/>
              <a:pathLst>
                <a:path extrusionOk="0" h="316" w="320">
                  <a:moveTo>
                    <a:pt x="160" y="0"/>
                  </a:moveTo>
                  <a:lnTo>
                    <a:pt x="221" y="15"/>
                  </a:lnTo>
                  <a:lnTo>
                    <a:pt x="266" y="53"/>
                  </a:lnTo>
                  <a:lnTo>
                    <a:pt x="304" y="98"/>
                  </a:lnTo>
                  <a:lnTo>
                    <a:pt x="320" y="158"/>
                  </a:lnTo>
                  <a:lnTo>
                    <a:pt x="304" y="218"/>
                  </a:lnTo>
                  <a:lnTo>
                    <a:pt x="266" y="271"/>
                  </a:lnTo>
                  <a:lnTo>
                    <a:pt x="221" y="308"/>
                  </a:lnTo>
                  <a:lnTo>
                    <a:pt x="160" y="316"/>
                  </a:lnTo>
                  <a:lnTo>
                    <a:pt x="99" y="308"/>
                  </a:lnTo>
                  <a:lnTo>
                    <a:pt x="46" y="271"/>
                  </a:lnTo>
                  <a:lnTo>
                    <a:pt x="15" y="218"/>
                  </a:lnTo>
                  <a:lnTo>
                    <a:pt x="0" y="158"/>
                  </a:lnTo>
                  <a:lnTo>
                    <a:pt x="15" y="98"/>
                  </a:lnTo>
                  <a:lnTo>
                    <a:pt x="46" y="53"/>
                  </a:lnTo>
                  <a:lnTo>
                    <a:pt x="99" y="15"/>
                  </a:lnTo>
                  <a:lnTo>
                    <a:pt x="16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54" name="Google Shape;154;p4"/>
            <p:cNvCxnSpPr/>
            <p:nvPr/>
          </p:nvCxnSpPr>
          <p:spPr>
            <a:xfrm>
              <a:off x="4055" y="1504"/>
              <a:ext cx="731" cy="2"/>
            </a:xfrm>
            <a:prstGeom prst="straightConnector1">
              <a:avLst/>
            </a:prstGeom>
            <a:noFill/>
            <a:ln cap="flat" cmpd="sng" w="9525">
              <a:solidFill>
                <a:schemeClr val="dk1"/>
              </a:solidFill>
              <a:prstDash val="solid"/>
              <a:round/>
              <a:headEnd len="med" w="med" type="none"/>
              <a:tailEnd len="med" w="med" type="none"/>
            </a:ln>
          </p:spPr>
        </p:cxnSp>
        <p:cxnSp>
          <p:nvCxnSpPr>
            <p:cNvPr id="155" name="Google Shape;155;p4"/>
            <p:cNvCxnSpPr/>
            <p:nvPr/>
          </p:nvCxnSpPr>
          <p:spPr>
            <a:xfrm>
              <a:off x="4416" y="1820"/>
              <a:ext cx="556" cy="532"/>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Ca sử dụng - Usecase</a:t>
            </a:r>
            <a:endParaRPr/>
          </a:p>
        </p:txBody>
      </p:sp>
      <p:sp>
        <p:nvSpPr>
          <p:cNvPr id="161" name="Google Shape;161;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62" name="Google Shape;162;p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Ca sử dụng (use-case) là đơn vị chức năng có thể quan sát từ bên ngoài, được cung cấp bởi một phân lớp (được gọi là chủ thể).</a:t>
            </a:r>
            <a:endParaRPr/>
          </a:p>
          <a:p>
            <a:pPr indent="-274320" lvl="0" marL="274320" rtl="0" algn="l">
              <a:spcBef>
                <a:spcPts val="520"/>
              </a:spcBef>
              <a:spcAft>
                <a:spcPts val="0"/>
              </a:spcAft>
              <a:buSzPts val="2470"/>
              <a:buChar char="⚫"/>
            </a:pPr>
            <a:r>
              <a:rPr lang="en-US"/>
              <a:t>Ca sử dụng được diễn đạt bằng chuỗi các thông điệp giữa chủ thể và một hay nhiều tác nhân của chủ thể.</a:t>
            </a:r>
            <a:endParaRPr/>
          </a:p>
          <a:p>
            <a:pPr indent="-274320" lvl="0" marL="274320" rtl="0" algn="l">
              <a:spcBef>
                <a:spcPts val="520"/>
              </a:spcBef>
              <a:spcAft>
                <a:spcPts val="0"/>
              </a:spcAft>
              <a:buSzPts val="2470"/>
              <a:buChar char="⚫"/>
            </a:pPr>
            <a:r>
              <a:rPr lang="en-US"/>
              <a:t>Tiêu chí phân biệt một use-case với chức năng của hệ thống là kết thúc ca sử </a:t>
            </a:r>
            <a:r>
              <a:rPr lang="en-US"/>
              <a:t>dụng</a:t>
            </a:r>
            <a:r>
              <a:rPr lang="en-US"/>
              <a:t>, tác nhân có thể thu được một kết quả có thể quan sát được.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6"/>
          <p:cNvSpPr txBox="1"/>
          <p:nvPr>
            <p:ph idx="1" type="body"/>
          </p:nvPr>
        </p:nvSpPr>
        <p:spPr>
          <a:xfrm>
            <a:off x="457200" y="9906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Một use-case được sử dụng để mô hình hóa một cuộc hội thoại giữa một hay nhiều actor với hệ thống.</a:t>
            </a:r>
            <a:endParaRPr/>
          </a:p>
          <a:p>
            <a:pPr indent="-274320" lvl="0" marL="274320" rtl="0" algn="l">
              <a:spcBef>
                <a:spcPts val="520"/>
              </a:spcBef>
              <a:spcAft>
                <a:spcPts val="0"/>
              </a:spcAft>
              <a:buSzPts val="2470"/>
              <a:buChar char="⚫"/>
            </a:pPr>
            <a:r>
              <a:rPr lang="en-US"/>
              <a:t>Một use-case mô tả các hành động (action) mà hệ thống thực hiện để tạo ra một kết quả cho tác nhân.</a:t>
            </a:r>
            <a:endParaRPr/>
          </a:p>
          <a:p>
            <a:pPr indent="-117475" lvl="0" marL="274320" rtl="0" algn="l">
              <a:spcBef>
                <a:spcPts val="520"/>
              </a:spcBef>
              <a:spcAft>
                <a:spcPts val="0"/>
              </a:spcAft>
              <a:buSzPts val="2470"/>
              <a:buNone/>
            </a:pPr>
            <a:r>
              <a:t/>
            </a:r>
            <a:endParaRPr/>
          </a:p>
        </p:txBody>
      </p:sp>
      <p:sp>
        <p:nvSpPr>
          <p:cNvPr id="168" name="Google Shape;168;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69" name="Google Shape;169;p6"/>
          <p:cNvGrpSpPr/>
          <p:nvPr/>
        </p:nvGrpSpPr>
        <p:grpSpPr>
          <a:xfrm>
            <a:off x="3276600" y="3733800"/>
            <a:ext cx="2133600" cy="1066800"/>
            <a:chOff x="2112" y="3024"/>
            <a:chExt cx="1344" cy="672"/>
          </a:xfrm>
        </p:grpSpPr>
        <p:sp>
          <p:nvSpPr>
            <p:cNvPr id="170" name="Google Shape;170;p6"/>
            <p:cNvSpPr/>
            <p:nvPr/>
          </p:nvSpPr>
          <p:spPr>
            <a:xfrm>
              <a:off x="2112" y="3024"/>
              <a:ext cx="1344" cy="672"/>
            </a:xfrm>
            <a:prstGeom prst="ellipse">
              <a:avLst/>
            </a:prstGeom>
            <a:solidFill>
              <a:srgbClr val="FFFFCC"/>
            </a:solidFill>
            <a:ln cap="flat" cmpd="sng" w="25400">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71" name="Google Shape;171;p6"/>
            <p:cNvSpPr/>
            <p:nvPr/>
          </p:nvSpPr>
          <p:spPr>
            <a:xfrm>
              <a:off x="2259" y="3216"/>
              <a:ext cx="900" cy="30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2400">
                  <a:solidFill>
                    <a:schemeClr val="dk1"/>
                  </a:solidFill>
                  <a:latin typeface="Constantia"/>
                  <a:ea typeface="Constantia"/>
                  <a:cs typeface="Constantia"/>
                  <a:sym typeface="Constantia"/>
                </a:rPr>
                <a:t>Use Case</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Actor - Usecase</a:t>
            </a:r>
            <a:endParaRPr/>
          </a:p>
        </p:txBody>
      </p:sp>
      <p:sp>
        <p:nvSpPr>
          <p:cNvPr id="177" name="Google Shape;177;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78" name="Google Shape;178;p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Một use-case mô hình hóa cuộc hội thoại giữa tác nhân và hệ thống.</a:t>
            </a:r>
            <a:endParaRPr/>
          </a:p>
          <a:p>
            <a:pPr indent="-274320" lvl="0" marL="274320" rtl="0" algn="l">
              <a:spcBef>
                <a:spcPts val="520"/>
              </a:spcBef>
              <a:spcAft>
                <a:spcPts val="0"/>
              </a:spcAft>
              <a:buSzPts val="2470"/>
              <a:buChar char="⚫"/>
            </a:pPr>
            <a:r>
              <a:rPr lang="en-US"/>
              <a:t>Một use-case được khởi tạo </a:t>
            </a:r>
            <a:r>
              <a:rPr lang="en-US"/>
              <a:t>bởi</a:t>
            </a:r>
            <a:r>
              <a:rPr lang="en-US"/>
              <a:t> một tác nhân để yêu cầu một chức năng cụ thể nào đó trong hệ thống.</a:t>
            </a:r>
            <a:endParaRPr/>
          </a:p>
        </p:txBody>
      </p:sp>
      <p:grpSp>
        <p:nvGrpSpPr>
          <p:cNvPr id="179" name="Google Shape;179;p7"/>
          <p:cNvGrpSpPr/>
          <p:nvPr/>
        </p:nvGrpSpPr>
        <p:grpSpPr>
          <a:xfrm>
            <a:off x="1905000" y="4243388"/>
            <a:ext cx="6007100" cy="2024064"/>
            <a:chOff x="968" y="2064"/>
            <a:chExt cx="3784" cy="1275"/>
          </a:xfrm>
        </p:grpSpPr>
        <p:sp>
          <p:nvSpPr>
            <p:cNvPr id="180" name="Google Shape;180;p7"/>
            <p:cNvSpPr/>
            <p:nvPr/>
          </p:nvSpPr>
          <p:spPr>
            <a:xfrm>
              <a:off x="1046" y="3039"/>
              <a:ext cx="600" cy="30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2400">
                  <a:solidFill>
                    <a:schemeClr val="dk1"/>
                  </a:solidFill>
                  <a:latin typeface="Constantia"/>
                  <a:ea typeface="Constantia"/>
                  <a:cs typeface="Constantia"/>
                  <a:sym typeface="Constantia"/>
                </a:rPr>
                <a:t>Actor</a:t>
              </a:r>
              <a:endParaRPr/>
            </a:p>
          </p:txBody>
        </p:sp>
        <p:sp>
          <p:nvSpPr>
            <p:cNvPr id="181" name="Google Shape;181;p7"/>
            <p:cNvSpPr/>
            <p:nvPr/>
          </p:nvSpPr>
          <p:spPr>
            <a:xfrm>
              <a:off x="1151" y="2064"/>
              <a:ext cx="320" cy="316"/>
            </a:xfrm>
            <a:custGeom>
              <a:rect b="b" l="l" r="r" t="t"/>
              <a:pathLst>
                <a:path extrusionOk="0" h="316" w="320">
                  <a:moveTo>
                    <a:pt x="160" y="0"/>
                  </a:moveTo>
                  <a:lnTo>
                    <a:pt x="167" y="8"/>
                  </a:lnTo>
                  <a:lnTo>
                    <a:pt x="175" y="8"/>
                  </a:lnTo>
                  <a:lnTo>
                    <a:pt x="183" y="8"/>
                  </a:lnTo>
                  <a:lnTo>
                    <a:pt x="190" y="8"/>
                  </a:lnTo>
                  <a:lnTo>
                    <a:pt x="198" y="8"/>
                  </a:lnTo>
                  <a:lnTo>
                    <a:pt x="205" y="8"/>
                  </a:lnTo>
                  <a:lnTo>
                    <a:pt x="213" y="15"/>
                  </a:lnTo>
                  <a:lnTo>
                    <a:pt x="221" y="15"/>
                  </a:lnTo>
                  <a:lnTo>
                    <a:pt x="228" y="23"/>
                  </a:lnTo>
                  <a:lnTo>
                    <a:pt x="236" y="23"/>
                  </a:lnTo>
                  <a:lnTo>
                    <a:pt x="243" y="30"/>
                  </a:lnTo>
                  <a:lnTo>
                    <a:pt x="251" y="38"/>
                  </a:lnTo>
                  <a:lnTo>
                    <a:pt x="259" y="38"/>
                  </a:lnTo>
                  <a:lnTo>
                    <a:pt x="266" y="45"/>
                  </a:lnTo>
                  <a:lnTo>
                    <a:pt x="266" y="53"/>
                  </a:lnTo>
                  <a:lnTo>
                    <a:pt x="274" y="53"/>
                  </a:lnTo>
                  <a:lnTo>
                    <a:pt x="282" y="60"/>
                  </a:lnTo>
                  <a:lnTo>
                    <a:pt x="282" y="68"/>
                  </a:lnTo>
                  <a:lnTo>
                    <a:pt x="289" y="75"/>
                  </a:lnTo>
                  <a:lnTo>
                    <a:pt x="297" y="83"/>
                  </a:lnTo>
                  <a:lnTo>
                    <a:pt x="304" y="90"/>
                  </a:lnTo>
                  <a:lnTo>
                    <a:pt x="304" y="98"/>
                  </a:lnTo>
                  <a:lnTo>
                    <a:pt x="304" y="105"/>
                  </a:lnTo>
                  <a:lnTo>
                    <a:pt x="312" y="113"/>
                  </a:lnTo>
                  <a:lnTo>
                    <a:pt x="312" y="120"/>
                  </a:lnTo>
                  <a:lnTo>
                    <a:pt x="312" y="128"/>
                  </a:lnTo>
                  <a:lnTo>
                    <a:pt x="312" y="135"/>
                  </a:lnTo>
                  <a:lnTo>
                    <a:pt x="312" y="143"/>
                  </a:lnTo>
                  <a:lnTo>
                    <a:pt x="320" y="150"/>
                  </a:lnTo>
                  <a:lnTo>
                    <a:pt x="320" y="158"/>
                  </a:lnTo>
                  <a:lnTo>
                    <a:pt x="320" y="165"/>
                  </a:lnTo>
                  <a:lnTo>
                    <a:pt x="312" y="173"/>
                  </a:lnTo>
                  <a:lnTo>
                    <a:pt x="312" y="188"/>
                  </a:lnTo>
                  <a:lnTo>
                    <a:pt x="312" y="195"/>
                  </a:lnTo>
                  <a:lnTo>
                    <a:pt x="312" y="203"/>
                  </a:lnTo>
                  <a:lnTo>
                    <a:pt x="312" y="210"/>
                  </a:lnTo>
                  <a:lnTo>
                    <a:pt x="304" y="218"/>
                  </a:lnTo>
                  <a:lnTo>
                    <a:pt x="304" y="225"/>
                  </a:lnTo>
                  <a:lnTo>
                    <a:pt x="297" y="233"/>
                  </a:lnTo>
                  <a:lnTo>
                    <a:pt x="297" y="241"/>
                  </a:lnTo>
                  <a:lnTo>
                    <a:pt x="289" y="248"/>
                  </a:lnTo>
                  <a:lnTo>
                    <a:pt x="282" y="256"/>
                  </a:lnTo>
                  <a:lnTo>
                    <a:pt x="282" y="263"/>
                  </a:lnTo>
                  <a:lnTo>
                    <a:pt x="274" y="263"/>
                  </a:lnTo>
                  <a:lnTo>
                    <a:pt x="266" y="271"/>
                  </a:lnTo>
                  <a:lnTo>
                    <a:pt x="266" y="278"/>
                  </a:lnTo>
                  <a:lnTo>
                    <a:pt x="259" y="278"/>
                  </a:lnTo>
                  <a:lnTo>
                    <a:pt x="251" y="286"/>
                  </a:lnTo>
                  <a:lnTo>
                    <a:pt x="243" y="293"/>
                  </a:lnTo>
                  <a:lnTo>
                    <a:pt x="236" y="301"/>
                  </a:lnTo>
                  <a:lnTo>
                    <a:pt x="228" y="301"/>
                  </a:lnTo>
                  <a:lnTo>
                    <a:pt x="221" y="308"/>
                  </a:lnTo>
                  <a:lnTo>
                    <a:pt x="213" y="308"/>
                  </a:lnTo>
                  <a:lnTo>
                    <a:pt x="205" y="308"/>
                  </a:lnTo>
                  <a:lnTo>
                    <a:pt x="198" y="316"/>
                  </a:lnTo>
                  <a:lnTo>
                    <a:pt x="190" y="316"/>
                  </a:lnTo>
                  <a:lnTo>
                    <a:pt x="183" y="316"/>
                  </a:lnTo>
                  <a:lnTo>
                    <a:pt x="175" y="316"/>
                  </a:lnTo>
                  <a:lnTo>
                    <a:pt x="167" y="316"/>
                  </a:lnTo>
                  <a:lnTo>
                    <a:pt x="160" y="316"/>
                  </a:lnTo>
                  <a:lnTo>
                    <a:pt x="152" y="316"/>
                  </a:lnTo>
                  <a:lnTo>
                    <a:pt x="145" y="316"/>
                  </a:lnTo>
                  <a:lnTo>
                    <a:pt x="137" y="316"/>
                  </a:lnTo>
                  <a:lnTo>
                    <a:pt x="129" y="316"/>
                  </a:lnTo>
                  <a:lnTo>
                    <a:pt x="122" y="316"/>
                  </a:lnTo>
                  <a:lnTo>
                    <a:pt x="114" y="308"/>
                  </a:lnTo>
                  <a:lnTo>
                    <a:pt x="107" y="308"/>
                  </a:lnTo>
                  <a:lnTo>
                    <a:pt x="99" y="308"/>
                  </a:lnTo>
                  <a:lnTo>
                    <a:pt x="91" y="301"/>
                  </a:lnTo>
                  <a:lnTo>
                    <a:pt x="84" y="301"/>
                  </a:lnTo>
                  <a:lnTo>
                    <a:pt x="76" y="293"/>
                  </a:lnTo>
                  <a:lnTo>
                    <a:pt x="68" y="293"/>
                  </a:lnTo>
                  <a:lnTo>
                    <a:pt x="61" y="286"/>
                  </a:lnTo>
                  <a:lnTo>
                    <a:pt x="61" y="278"/>
                  </a:lnTo>
                  <a:lnTo>
                    <a:pt x="53" y="278"/>
                  </a:lnTo>
                  <a:lnTo>
                    <a:pt x="46" y="271"/>
                  </a:lnTo>
                  <a:lnTo>
                    <a:pt x="38" y="263"/>
                  </a:lnTo>
                  <a:lnTo>
                    <a:pt x="30" y="256"/>
                  </a:lnTo>
                  <a:lnTo>
                    <a:pt x="30" y="248"/>
                  </a:lnTo>
                  <a:lnTo>
                    <a:pt x="23" y="241"/>
                  </a:lnTo>
                  <a:lnTo>
                    <a:pt x="23" y="233"/>
                  </a:lnTo>
                  <a:lnTo>
                    <a:pt x="15" y="225"/>
                  </a:lnTo>
                  <a:lnTo>
                    <a:pt x="15" y="218"/>
                  </a:lnTo>
                  <a:lnTo>
                    <a:pt x="8" y="218"/>
                  </a:lnTo>
                  <a:lnTo>
                    <a:pt x="8" y="210"/>
                  </a:lnTo>
                  <a:lnTo>
                    <a:pt x="8" y="203"/>
                  </a:lnTo>
                  <a:lnTo>
                    <a:pt x="0" y="195"/>
                  </a:lnTo>
                  <a:lnTo>
                    <a:pt x="0" y="188"/>
                  </a:lnTo>
                  <a:lnTo>
                    <a:pt x="0" y="173"/>
                  </a:lnTo>
                  <a:lnTo>
                    <a:pt x="0" y="165"/>
                  </a:lnTo>
                  <a:lnTo>
                    <a:pt x="0" y="158"/>
                  </a:lnTo>
                  <a:lnTo>
                    <a:pt x="0" y="150"/>
                  </a:lnTo>
                  <a:lnTo>
                    <a:pt x="0" y="143"/>
                  </a:lnTo>
                  <a:lnTo>
                    <a:pt x="0" y="135"/>
                  </a:lnTo>
                  <a:lnTo>
                    <a:pt x="0" y="128"/>
                  </a:lnTo>
                  <a:lnTo>
                    <a:pt x="8" y="120"/>
                  </a:lnTo>
                  <a:lnTo>
                    <a:pt x="8" y="113"/>
                  </a:lnTo>
                  <a:lnTo>
                    <a:pt x="8" y="105"/>
                  </a:lnTo>
                  <a:lnTo>
                    <a:pt x="15" y="98"/>
                  </a:lnTo>
                  <a:lnTo>
                    <a:pt x="15" y="90"/>
                  </a:lnTo>
                  <a:lnTo>
                    <a:pt x="23" y="83"/>
                  </a:lnTo>
                  <a:lnTo>
                    <a:pt x="30" y="75"/>
                  </a:lnTo>
                  <a:lnTo>
                    <a:pt x="30" y="68"/>
                  </a:lnTo>
                  <a:lnTo>
                    <a:pt x="38" y="60"/>
                  </a:lnTo>
                  <a:lnTo>
                    <a:pt x="38" y="53"/>
                  </a:lnTo>
                  <a:lnTo>
                    <a:pt x="46" y="53"/>
                  </a:lnTo>
                  <a:lnTo>
                    <a:pt x="53" y="45"/>
                  </a:lnTo>
                  <a:lnTo>
                    <a:pt x="61" y="38"/>
                  </a:lnTo>
                  <a:lnTo>
                    <a:pt x="68" y="30"/>
                  </a:lnTo>
                  <a:lnTo>
                    <a:pt x="76" y="30"/>
                  </a:lnTo>
                  <a:lnTo>
                    <a:pt x="84" y="23"/>
                  </a:lnTo>
                  <a:lnTo>
                    <a:pt x="91" y="23"/>
                  </a:lnTo>
                  <a:lnTo>
                    <a:pt x="99" y="15"/>
                  </a:lnTo>
                  <a:lnTo>
                    <a:pt x="107" y="15"/>
                  </a:lnTo>
                  <a:lnTo>
                    <a:pt x="114" y="8"/>
                  </a:lnTo>
                  <a:lnTo>
                    <a:pt x="122" y="8"/>
                  </a:lnTo>
                  <a:lnTo>
                    <a:pt x="129" y="8"/>
                  </a:lnTo>
                  <a:lnTo>
                    <a:pt x="137" y="8"/>
                  </a:lnTo>
                  <a:lnTo>
                    <a:pt x="145" y="8"/>
                  </a:lnTo>
                  <a:lnTo>
                    <a:pt x="152" y="8"/>
                  </a:lnTo>
                  <a:lnTo>
                    <a:pt x="16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82" name="Google Shape;182;p7"/>
            <p:cNvSpPr/>
            <p:nvPr/>
          </p:nvSpPr>
          <p:spPr>
            <a:xfrm>
              <a:off x="1151" y="2064"/>
              <a:ext cx="320" cy="316"/>
            </a:xfrm>
            <a:custGeom>
              <a:rect b="b" l="l" r="r" t="t"/>
              <a:pathLst>
                <a:path extrusionOk="0" h="316" w="320">
                  <a:moveTo>
                    <a:pt x="160" y="0"/>
                  </a:moveTo>
                  <a:lnTo>
                    <a:pt x="221" y="15"/>
                  </a:lnTo>
                  <a:lnTo>
                    <a:pt x="266" y="53"/>
                  </a:lnTo>
                  <a:lnTo>
                    <a:pt x="304" y="98"/>
                  </a:lnTo>
                  <a:lnTo>
                    <a:pt x="320" y="158"/>
                  </a:lnTo>
                  <a:lnTo>
                    <a:pt x="304" y="218"/>
                  </a:lnTo>
                  <a:lnTo>
                    <a:pt x="266" y="271"/>
                  </a:lnTo>
                  <a:lnTo>
                    <a:pt x="221" y="308"/>
                  </a:lnTo>
                  <a:lnTo>
                    <a:pt x="160" y="316"/>
                  </a:lnTo>
                  <a:lnTo>
                    <a:pt x="99" y="308"/>
                  </a:lnTo>
                  <a:lnTo>
                    <a:pt x="46" y="271"/>
                  </a:lnTo>
                  <a:lnTo>
                    <a:pt x="15" y="218"/>
                  </a:lnTo>
                  <a:lnTo>
                    <a:pt x="0" y="158"/>
                  </a:lnTo>
                  <a:lnTo>
                    <a:pt x="15" y="98"/>
                  </a:lnTo>
                  <a:lnTo>
                    <a:pt x="46" y="53"/>
                  </a:lnTo>
                  <a:lnTo>
                    <a:pt x="99" y="15"/>
                  </a:lnTo>
                  <a:lnTo>
                    <a:pt x="16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83" name="Google Shape;183;p7"/>
            <p:cNvSpPr/>
            <p:nvPr/>
          </p:nvSpPr>
          <p:spPr>
            <a:xfrm>
              <a:off x="968" y="2387"/>
              <a:ext cx="343" cy="601"/>
            </a:xfrm>
            <a:custGeom>
              <a:rect b="b" l="l" r="r" t="t"/>
              <a:pathLst>
                <a:path extrusionOk="0" h="601" w="343">
                  <a:moveTo>
                    <a:pt x="343" y="0"/>
                  </a:moveTo>
                  <a:lnTo>
                    <a:pt x="343" y="278"/>
                  </a:lnTo>
                  <a:lnTo>
                    <a:pt x="0" y="601"/>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184" name="Google Shape;184;p7"/>
            <p:cNvCxnSpPr/>
            <p:nvPr/>
          </p:nvCxnSpPr>
          <p:spPr>
            <a:xfrm>
              <a:off x="1309" y="2667"/>
              <a:ext cx="335" cy="338"/>
            </a:xfrm>
            <a:prstGeom prst="straightConnector1">
              <a:avLst/>
            </a:prstGeom>
            <a:noFill/>
            <a:ln cap="flat" cmpd="sng" w="9525">
              <a:solidFill>
                <a:schemeClr val="dk1"/>
              </a:solidFill>
              <a:prstDash val="solid"/>
              <a:round/>
              <a:headEnd len="med" w="med" type="none"/>
              <a:tailEnd len="med" w="med" type="none"/>
            </a:ln>
          </p:spPr>
        </p:cxnSp>
        <p:cxnSp>
          <p:nvCxnSpPr>
            <p:cNvPr id="185" name="Google Shape;185;p7"/>
            <p:cNvCxnSpPr/>
            <p:nvPr/>
          </p:nvCxnSpPr>
          <p:spPr>
            <a:xfrm>
              <a:off x="1776" y="2640"/>
              <a:ext cx="1440" cy="0"/>
            </a:xfrm>
            <a:prstGeom prst="straightConnector1">
              <a:avLst/>
            </a:prstGeom>
            <a:noFill/>
            <a:ln cap="flat" cmpd="sng" w="57150">
              <a:solidFill>
                <a:schemeClr val="dk1"/>
              </a:solidFill>
              <a:prstDash val="solid"/>
              <a:round/>
              <a:headEnd len="med" w="med" type="none"/>
              <a:tailEnd len="med" w="med" type="stealth"/>
            </a:ln>
          </p:spPr>
        </p:cxnSp>
        <p:sp>
          <p:nvSpPr>
            <p:cNvPr id="186" name="Google Shape;186;p7"/>
            <p:cNvSpPr txBox="1"/>
            <p:nvPr/>
          </p:nvSpPr>
          <p:spPr>
            <a:xfrm>
              <a:off x="2001" y="2706"/>
              <a:ext cx="900" cy="300"/>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Association</a:t>
              </a:r>
              <a:endParaRPr/>
            </a:p>
          </p:txBody>
        </p:sp>
        <p:grpSp>
          <p:nvGrpSpPr>
            <p:cNvPr id="187" name="Google Shape;187;p7"/>
            <p:cNvGrpSpPr/>
            <p:nvPr/>
          </p:nvGrpSpPr>
          <p:grpSpPr>
            <a:xfrm>
              <a:off x="3408" y="2352"/>
              <a:ext cx="1344" cy="672"/>
              <a:chOff x="3408" y="2352"/>
              <a:chExt cx="1344" cy="672"/>
            </a:xfrm>
          </p:grpSpPr>
          <p:sp>
            <p:nvSpPr>
              <p:cNvPr id="188" name="Google Shape;188;p7"/>
              <p:cNvSpPr/>
              <p:nvPr/>
            </p:nvSpPr>
            <p:spPr>
              <a:xfrm>
                <a:off x="3408" y="2352"/>
                <a:ext cx="1344" cy="672"/>
              </a:xfrm>
              <a:prstGeom prst="ellipse">
                <a:avLst/>
              </a:prstGeom>
              <a:solidFill>
                <a:srgbClr val="FFFFCC"/>
              </a:solidFill>
              <a:ln cap="flat" cmpd="sng" w="25400">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189" name="Google Shape;189;p7"/>
              <p:cNvSpPr/>
              <p:nvPr/>
            </p:nvSpPr>
            <p:spPr>
              <a:xfrm>
                <a:off x="3526" y="2544"/>
                <a:ext cx="900" cy="30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2400">
                    <a:solidFill>
                      <a:schemeClr val="dk1"/>
                    </a:solidFill>
                    <a:latin typeface="Constantia"/>
                    <a:ea typeface="Constantia"/>
                    <a:cs typeface="Constantia"/>
                    <a:sym typeface="Constantia"/>
                  </a:rPr>
                  <a:t>Use Case</a:t>
                </a:r>
                <a:endParaRPr/>
              </a:p>
            </p:txBody>
          </p:sp>
        </p:grpSp>
        <p:cxnSp>
          <p:nvCxnSpPr>
            <p:cNvPr id="190" name="Google Shape;190;p7"/>
            <p:cNvCxnSpPr/>
            <p:nvPr/>
          </p:nvCxnSpPr>
          <p:spPr>
            <a:xfrm>
              <a:off x="1098" y="2442"/>
              <a:ext cx="414"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Quan hệ giữa Use-cases</a:t>
            </a:r>
            <a:endParaRPr/>
          </a:p>
        </p:txBody>
      </p:sp>
      <p:sp>
        <p:nvSpPr>
          <p:cNvPr id="196" name="Google Shape;196;p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Include:</a:t>
            </a:r>
            <a:endParaRPr/>
          </a:p>
          <a:p>
            <a:pPr indent="-246888" lvl="1" marL="640080" rtl="0" algn="l">
              <a:spcBef>
                <a:spcPts val="480"/>
              </a:spcBef>
              <a:spcAft>
                <a:spcPts val="0"/>
              </a:spcAft>
              <a:buSzPts val="2040"/>
              <a:buChar char="⚫"/>
            </a:pPr>
            <a:r>
              <a:rPr lang="en-US"/>
              <a:t>Include có nghĩa là bao gộp một chuỗi các hành động cụ thể trong use-case cơ sở.</a:t>
            </a:r>
            <a:endParaRPr/>
          </a:p>
          <a:p>
            <a:pPr indent="-246888" lvl="1" marL="640080" rtl="0" algn="l">
              <a:spcBef>
                <a:spcPts val="480"/>
              </a:spcBef>
              <a:spcAft>
                <a:spcPts val="0"/>
              </a:spcAft>
              <a:buSzPts val="2040"/>
              <a:buChar char="⚫"/>
            </a:pPr>
            <a:r>
              <a:rPr lang="en-US"/>
              <a:t>Ca sử dụng được bao gộp (included use-case) có thể được sử dụng độc lập với các ca sử dụng cơ sở.</a:t>
            </a:r>
            <a:endParaRPr/>
          </a:p>
          <a:p>
            <a:pPr indent="-246888" lvl="1" marL="640080" rtl="0" algn="l">
              <a:spcBef>
                <a:spcPts val="480"/>
              </a:spcBef>
              <a:spcAft>
                <a:spcPts val="0"/>
              </a:spcAft>
              <a:buSzPts val="2040"/>
              <a:buNone/>
            </a:pPr>
            <a:r>
              <a:t/>
            </a:r>
            <a:endParaRPr/>
          </a:p>
        </p:txBody>
      </p:sp>
      <p:sp>
        <p:nvSpPr>
          <p:cNvPr id="197" name="Google Shape;197;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98" name="Google Shape;198;p8"/>
          <p:cNvPicPr preferRelativeResize="0"/>
          <p:nvPr/>
        </p:nvPicPr>
        <p:blipFill rotWithShape="1">
          <a:blip r:embed="rId3">
            <a:alphaModFix/>
          </a:blip>
          <a:srcRect b="0" l="0" r="0" t="0"/>
          <a:stretch/>
        </p:blipFill>
        <p:spPr>
          <a:xfrm>
            <a:off x="0" y="4038600"/>
            <a:ext cx="4876800" cy="2240280"/>
          </a:xfrm>
          <a:prstGeom prst="rect">
            <a:avLst/>
          </a:prstGeom>
          <a:noFill/>
          <a:ln>
            <a:noFill/>
          </a:ln>
        </p:spPr>
      </p:pic>
      <p:pic>
        <p:nvPicPr>
          <p:cNvPr id="199" name="Google Shape;199;p8"/>
          <p:cNvPicPr preferRelativeResize="0"/>
          <p:nvPr/>
        </p:nvPicPr>
        <p:blipFill rotWithShape="1">
          <a:blip r:embed="rId4">
            <a:alphaModFix/>
          </a:blip>
          <a:srcRect b="0" l="0" r="0" t="0"/>
          <a:stretch/>
        </p:blipFill>
        <p:spPr>
          <a:xfrm>
            <a:off x="4952999" y="4038600"/>
            <a:ext cx="4120077" cy="2209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9"/>
          <p:cNvSpPr txBox="1"/>
          <p:nvPr>
            <p:ph idx="1" type="body"/>
          </p:nvPr>
        </p:nvSpPr>
        <p:spPr>
          <a:xfrm>
            <a:off x="457200" y="762000"/>
            <a:ext cx="8229600" cy="5562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Generalization</a:t>
            </a:r>
            <a:endParaRPr/>
          </a:p>
          <a:p>
            <a:pPr indent="-246888" lvl="1" marL="640080" rtl="0" algn="l">
              <a:spcBef>
                <a:spcPts val="480"/>
              </a:spcBef>
              <a:spcAft>
                <a:spcPts val="0"/>
              </a:spcAft>
              <a:buSzPts val="2040"/>
              <a:buChar char="⚫"/>
            </a:pPr>
            <a:r>
              <a:rPr lang="en-US"/>
              <a:t>Tổng quát hóa (generalization) là quan hệ giữa các use-case cụ thể hơn và các use-case tổng quát hơn.</a:t>
            </a:r>
            <a:endParaRPr/>
          </a:p>
          <a:p>
            <a:pPr indent="-246888" lvl="1" marL="640080" rtl="0" algn="l">
              <a:spcBef>
                <a:spcPts val="480"/>
              </a:spcBef>
              <a:spcAft>
                <a:spcPts val="0"/>
              </a:spcAft>
              <a:buSzPts val="2040"/>
              <a:buChar char="⚫"/>
            </a:pPr>
            <a:r>
              <a:rPr lang="en-US"/>
              <a:t>Các use-case cụ thể sẽ kế thừa mọi thuộc tính từ use-case tổng quát. Ngoài ra, use-case cụ thể có thể thêm vào các thuộc tính mới hoặc thay thế các thuộc tính của use-case tổng quát.</a:t>
            </a:r>
            <a:endParaRPr/>
          </a:p>
        </p:txBody>
      </p:sp>
      <p:sp>
        <p:nvSpPr>
          <p:cNvPr id="205" name="Google Shape;205;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06" name="Google Shape;206;p9"/>
          <p:cNvPicPr preferRelativeResize="0"/>
          <p:nvPr/>
        </p:nvPicPr>
        <p:blipFill rotWithShape="1">
          <a:blip r:embed="rId3">
            <a:alphaModFix/>
          </a:blip>
          <a:srcRect b="0" l="0" r="0" t="0"/>
          <a:stretch/>
        </p:blipFill>
        <p:spPr>
          <a:xfrm>
            <a:off x="-1" y="3505200"/>
            <a:ext cx="4953001" cy="2819400"/>
          </a:xfrm>
          <a:prstGeom prst="rect">
            <a:avLst/>
          </a:prstGeom>
          <a:noFill/>
          <a:ln>
            <a:noFill/>
          </a:ln>
        </p:spPr>
      </p:pic>
      <p:pic>
        <p:nvPicPr>
          <p:cNvPr id="207" name="Google Shape;207;p9"/>
          <p:cNvPicPr preferRelativeResize="0"/>
          <p:nvPr/>
        </p:nvPicPr>
        <p:blipFill rotWithShape="1">
          <a:blip r:embed="rId4">
            <a:alphaModFix/>
          </a:blip>
          <a:srcRect b="0" l="0" r="0" t="0"/>
          <a:stretch/>
        </p:blipFill>
        <p:spPr>
          <a:xfrm>
            <a:off x="4800600" y="3505200"/>
            <a:ext cx="4343400" cy="2819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0"/>
          <p:cNvSpPr txBox="1"/>
          <p:nvPr>
            <p:ph idx="1" type="body"/>
          </p:nvPr>
        </p:nvSpPr>
        <p:spPr>
          <a:xfrm>
            <a:off x="457200" y="914400"/>
            <a:ext cx="8229600" cy="541020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SzPts val="2470"/>
              <a:buChar char="⚫"/>
            </a:pPr>
            <a:r>
              <a:rPr lang="en-US"/>
              <a:t>Extension – Mở rộng</a:t>
            </a:r>
            <a:endParaRPr/>
          </a:p>
          <a:p>
            <a:pPr indent="-246888" lvl="1" marL="640080" rtl="0" algn="l">
              <a:spcBef>
                <a:spcPts val="480"/>
              </a:spcBef>
              <a:spcAft>
                <a:spcPts val="0"/>
              </a:spcAft>
              <a:buSzPts val="2040"/>
              <a:buChar char="⚫"/>
            </a:pPr>
            <a:r>
              <a:rPr lang="en-US"/>
              <a:t>Một ca sử dụng có thể được định nghĩa như là một sự mở rộng tăng dần của một lớp ca sử dụng cơ sở (base use case). Quan hệ này được gọi là quan hệ mở rộng.</a:t>
            </a:r>
            <a:endParaRPr/>
          </a:p>
          <a:p>
            <a:pPr indent="-246888" lvl="1" marL="640080" rtl="0" algn="l">
              <a:spcBef>
                <a:spcPts val="480"/>
              </a:spcBef>
              <a:spcAft>
                <a:spcPts val="0"/>
              </a:spcAft>
              <a:buSzPts val="2040"/>
              <a:buChar char="⚫"/>
            </a:pPr>
            <a:r>
              <a:rPr lang="en-US"/>
              <a:t>Là một quan hệ từ một use-case mở rộng (extension use-case) tới một use-case cơ sở (extended use-case – base use-case), xác định việc các hành vi trong use-case mở rộng có thể được trèn vào hành vi của use-case cơ sở như thế nào.</a:t>
            </a:r>
            <a:endParaRPr/>
          </a:p>
          <a:p>
            <a:pPr indent="-246888" lvl="1" marL="640080" rtl="0" algn="l">
              <a:spcBef>
                <a:spcPts val="480"/>
              </a:spcBef>
              <a:spcAft>
                <a:spcPts val="0"/>
              </a:spcAft>
              <a:buSzPts val="2040"/>
              <a:buChar char="⚫"/>
            </a:pPr>
            <a:r>
              <a:rPr lang="en-US"/>
              <a:t>Use-case mở rộng bổ xung gia tăng cho use-case cơ sở theo cách mô đun hóa.</a:t>
            </a:r>
            <a:endParaRPr/>
          </a:p>
        </p:txBody>
      </p:sp>
      <p:sp>
        <p:nvSpPr>
          <p:cNvPr id="213" name="Google Shape;213;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14" name="Google Shape;214;p10"/>
          <p:cNvPicPr preferRelativeResize="0"/>
          <p:nvPr/>
        </p:nvPicPr>
        <p:blipFill rotWithShape="1">
          <a:blip r:embed="rId3">
            <a:alphaModFix/>
          </a:blip>
          <a:srcRect b="0" l="0" r="0" t="0"/>
          <a:stretch/>
        </p:blipFill>
        <p:spPr>
          <a:xfrm>
            <a:off x="1600200" y="5259720"/>
            <a:ext cx="6019800" cy="15982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20" name="Google Shape;220;p11"/>
          <p:cNvPicPr preferRelativeResize="0"/>
          <p:nvPr>
            <p:ph idx="1" type="body"/>
          </p:nvPr>
        </p:nvPicPr>
        <p:blipFill rotWithShape="1">
          <a:blip r:embed="rId3">
            <a:alphaModFix/>
          </a:blip>
          <a:srcRect b="0" l="0" r="0" t="0"/>
          <a:stretch/>
        </p:blipFill>
        <p:spPr>
          <a:xfrm>
            <a:off x="1371600" y="685800"/>
            <a:ext cx="6913624" cy="3962400"/>
          </a:xfrm>
          <a:prstGeom prst="rect">
            <a:avLst/>
          </a:prstGeom>
          <a:noFill/>
          <a:ln>
            <a:noFill/>
          </a:ln>
        </p:spPr>
      </p:pic>
      <p:pic>
        <p:nvPicPr>
          <p:cNvPr id="221" name="Google Shape;221;p11"/>
          <p:cNvPicPr preferRelativeResize="0"/>
          <p:nvPr/>
        </p:nvPicPr>
        <p:blipFill rotWithShape="1">
          <a:blip r:embed="rId4">
            <a:alphaModFix/>
          </a:blip>
          <a:srcRect b="0" l="0" r="0" t="0"/>
          <a:stretch/>
        </p:blipFill>
        <p:spPr>
          <a:xfrm>
            <a:off x="1219200" y="4724400"/>
            <a:ext cx="7315200" cy="2133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Usecase vơi Extension Point</a:t>
            </a:r>
            <a:endParaRPr/>
          </a:p>
        </p:txBody>
      </p:sp>
      <p:sp>
        <p:nvSpPr>
          <p:cNvPr id="227" name="Google Shape;227;p1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Chi tiết của các điểm trong use-case mà tại đó sự mở rộng xảy ra được mô tả ở phần bên dưới nằm trong biểu tượng use-case.</a:t>
            </a:r>
            <a:endParaRPr/>
          </a:p>
          <a:p>
            <a:pPr indent="-246888" lvl="1" marL="640080" rtl="0" algn="l">
              <a:spcBef>
                <a:spcPts val="480"/>
              </a:spcBef>
              <a:spcAft>
                <a:spcPts val="0"/>
              </a:spcAft>
              <a:buSzPts val="2040"/>
              <a:buChar char="⚫"/>
            </a:pPr>
            <a:r>
              <a:rPr lang="en-US"/>
              <a:t>Phần nay có tên là Extension points (các điểm mở rộng)</a:t>
            </a:r>
            <a:endParaRPr/>
          </a:p>
          <a:p>
            <a:pPr indent="-274320" lvl="0" marL="274320" rtl="0" algn="l">
              <a:spcBef>
                <a:spcPts val="520"/>
              </a:spcBef>
              <a:spcAft>
                <a:spcPts val="0"/>
              </a:spcAft>
              <a:buSzPts val="2470"/>
              <a:buChar char="⚫"/>
            </a:pPr>
            <a:r>
              <a:rPr lang="en-US"/>
              <a:t>Trong quan hệ extend, một số điều kiện phải thỏa mãn thì use case mở rộng mới được thực hiện</a:t>
            </a:r>
            <a:endParaRPr/>
          </a:p>
          <a:p>
            <a:pPr indent="-246888" lvl="1" marL="640080" rtl="0" algn="l">
              <a:spcBef>
                <a:spcPts val="480"/>
              </a:spcBef>
              <a:spcAft>
                <a:spcPts val="0"/>
              </a:spcAft>
              <a:buSzPts val="2040"/>
              <a:buChar char="⚫"/>
            </a:pPr>
            <a:r>
              <a:rPr lang="en-US"/>
              <a:t>paymentType = Credit card hoặc debit card</a:t>
            </a:r>
            <a:endParaRPr/>
          </a:p>
          <a:p>
            <a:pPr indent="-246888" lvl="1" marL="640080" rtl="0" algn="l">
              <a:spcBef>
                <a:spcPts val="480"/>
              </a:spcBef>
              <a:spcAft>
                <a:spcPts val="0"/>
              </a:spcAft>
              <a:buSzPts val="2040"/>
              <a:buChar char="⚫"/>
            </a:pPr>
            <a:r>
              <a:rPr lang="en-US"/>
              <a:t>paymentType = cash hoặc cheque</a:t>
            </a:r>
            <a:endParaRPr/>
          </a:p>
          <a:p>
            <a:pPr indent="-246888" lvl="1" marL="640080" rtl="0" algn="l">
              <a:spcBef>
                <a:spcPts val="480"/>
              </a:spcBef>
              <a:spcAft>
                <a:spcPts val="0"/>
              </a:spcAft>
              <a:buSzPts val="2040"/>
              <a:buChar char="⚫"/>
            </a:pPr>
            <a:r>
              <a:rPr lang="en-US"/>
              <a:t>paymentType = direct debit</a:t>
            </a:r>
            <a:endParaRPr/>
          </a:p>
          <a:p>
            <a:pPr indent="-117475" lvl="0" marL="274320" rtl="0" algn="l">
              <a:spcBef>
                <a:spcPts val="520"/>
              </a:spcBef>
              <a:spcAft>
                <a:spcPts val="0"/>
              </a:spcAft>
              <a:buSzPts val="2470"/>
              <a:buNone/>
            </a:pPr>
            <a:r>
              <a:t/>
            </a:r>
            <a:endParaRPr/>
          </a:p>
        </p:txBody>
      </p:sp>
      <p:sp>
        <p:nvSpPr>
          <p:cNvPr id="228" name="Google Shape;228;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Extension Point</a:t>
            </a:r>
            <a:endParaRPr/>
          </a:p>
        </p:txBody>
      </p:sp>
      <p:sp>
        <p:nvSpPr>
          <p:cNvPr id="234" name="Google Shape;234;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35" name="Google Shape;235;p13"/>
          <p:cNvPicPr preferRelativeResize="0"/>
          <p:nvPr>
            <p:ph idx="1" type="body"/>
          </p:nvPr>
        </p:nvPicPr>
        <p:blipFill rotWithShape="1">
          <a:blip r:embed="rId3">
            <a:alphaModFix/>
          </a:blip>
          <a:srcRect b="0" l="0" r="0" t="0"/>
          <a:stretch/>
        </p:blipFill>
        <p:spPr>
          <a:xfrm>
            <a:off x="1371600" y="2133600"/>
            <a:ext cx="6115050" cy="3667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4"/>
          <p:cNvSpPr txBox="1"/>
          <p:nvPr>
            <p:ph type="title"/>
          </p:nvPr>
        </p:nvSpPr>
        <p:spPr>
          <a:xfrm>
            <a:off x="533400" y="30480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Calibri"/>
              <a:buNone/>
            </a:pPr>
            <a:r>
              <a:rPr lang="en-US" sz="3600"/>
              <a:t>Quan hệ giữa các Actor – Generalization</a:t>
            </a:r>
            <a:endParaRPr sz="3600"/>
          </a:p>
        </p:txBody>
      </p:sp>
      <p:sp>
        <p:nvSpPr>
          <p:cNvPr id="241" name="Google Shape;241;p14"/>
          <p:cNvSpPr txBox="1"/>
          <p:nvPr>
            <p:ph idx="1" type="body"/>
          </p:nvPr>
        </p:nvSpPr>
        <p:spPr>
          <a:xfrm>
            <a:off x="457200" y="14478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Giữa các actors có thể tồn tại kết hợp tổng quát (generalization)</a:t>
            </a:r>
            <a:endParaRPr/>
          </a:p>
          <a:p>
            <a:pPr indent="-117475" lvl="0" marL="274320" rtl="0" algn="l">
              <a:spcBef>
                <a:spcPts val="520"/>
              </a:spcBef>
              <a:spcAft>
                <a:spcPts val="0"/>
              </a:spcAft>
              <a:buSzPts val="2470"/>
              <a:buNone/>
            </a:pPr>
            <a:r>
              <a:t/>
            </a:r>
            <a:endParaRPr/>
          </a:p>
        </p:txBody>
      </p:sp>
      <p:sp>
        <p:nvSpPr>
          <p:cNvPr id="242" name="Google Shape;242;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43" name="Google Shape;243;p14"/>
          <p:cNvPicPr preferRelativeResize="0"/>
          <p:nvPr/>
        </p:nvPicPr>
        <p:blipFill rotWithShape="1">
          <a:blip r:embed="rId3">
            <a:alphaModFix/>
          </a:blip>
          <a:srcRect b="0" l="0" r="0" t="0"/>
          <a:stretch/>
        </p:blipFill>
        <p:spPr>
          <a:xfrm>
            <a:off x="1752600" y="2819400"/>
            <a:ext cx="5942739" cy="2209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5"/>
          <p:cNvSpPr txBox="1"/>
          <p:nvPr>
            <p:ph idx="1" type="body"/>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Trong hệ thống CarMatch, </a:t>
            </a:r>
            <a:r>
              <a:rPr lang="en-US"/>
              <a:t>Franchise</a:t>
            </a:r>
            <a:r>
              <a:rPr lang="en-US"/>
              <a:t> quản lý cả việc đăng ký thành viên mới và cũng là người nhận báo cáo. </a:t>
            </a:r>
            <a:endParaRPr/>
          </a:p>
          <a:p>
            <a:pPr indent="-117475" lvl="0" marL="274320" rtl="0" algn="l">
              <a:spcBef>
                <a:spcPts val="520"/>
              </a:spcBef>
              <a:spcAft>
                <a:spcPts val="0"/>
              </a:spcAft>
              <a:buSzPts val="2470"/>
              <a:buNone/>
            </a:pPr>
            <a:r>
              <a:t/>
            </a:r>
            <a:endParaRPr/>
          </a:p>
        </p:txBody>
      </p:sp>
      <p:sp>
        <p:nvSpPr>
          <p:cNvPr id="249" name="Google Shape;249;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50" name="Google Shape;250;p15"/>
          <p:cNvPicPr preferRelativeResize="0"/>
          <p:nvPr/>
        </p:nvPicPr>
        <p:blipFill rotWithShape="1">
          <a:blip r:embed="rId3">
            <a:alphaModFix/>
          </a:blip>
          <a:srcRect b="0" l="0" r="0" t="0"/>
          <a:stretch/>
        </p:blipFill>
        <p:spPr>
          <a:xfrm>
            <a:off x="762000" y="2209800"/>
            <a:ext cx="7546003" cy="4343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6"/>
          <p:cNvSpPr txBox="1"/>
          <p:nvPr>
            <p:ph idx="1" type="body"/>
          </p:nvPr>
        </p:nvSpPr>
        <p:spPr>
          <a:xfrm>
            <a:off x="457200" y="914400"/>
            <a:ext cx="8229600" cy="5410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Thay vì biểu diễn như trên, ta có thể biểu diễn </a:t>
            </a:r>
            <a:r>
              <a:rPr lang="en-US"/>
              <a:t>Franchise</a:t>
            </a:r>
            <a:r>
              <a:rPr lang="en-US"/>
              <a:t> là một trường hợp đặc biệt của CarMatch Administrator.</a:t>
            </a:r>
            <a:endParaRPr/>
          </a:p>
          <a:p>
            <a:pPr indent="-246888" lvl="1" marL="640080" rtl="0" algn="l">
              <a:spcBef>
                <a:spcPts val="480"/>
              </a:spcBef>
              <a:spcAft>
                <a:spcPts val="0"/>
              </a:spcAft>
              <a:buSzPts val="2040"/>
              <a:buChar char="⚫"/>
            </a:pPr>
            <a:r>
              <a:rPr lang="en-US"/>
              <a:t>Nghĩa là </a:t>
            </a:r>
            <a:r>
              <a:rPr lang="en-US"/>
              <a:t>Franchise</a:t>
            </a:r>
            <a:r>
              <a:rPr lang="en-US"/>
              <a:t> có thể thực hiện mọi hành động của CarMatch Administrator, ngoài ra nó còn có riêng một số hoạt động khác.</a:t>
            </a:r>
            <a:endParaRPr/>
          </a:p>
          <a:p>
            <a:pPr indent="-117475" lvl="0" marL="274320" rtl="0" algn="l">
              <a:spcBef>
                <a:spcPts val="520"/>
              </a:spcBef>
              <a:spcAft>
                <a:spcPts val="0"/>
              </a:spcAft>
              <a:buSzPts val="2470"/>
              <a:buNone/>
            </a:pPr>
            <a:r>
              <a:t/>
            </a:r>
            <a:endParaRPr/>
          </a:p>
        </p:txBody>
      </p:sp>
      <p:sp>
        <p:nvSpPr>
          <p:cNvPr id="256" name="Google Shape;256;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57" name="Google Shape;257;p16"/>
          <p:cNvPicPr preferRelativeResize="0"/>
          <p:nvPr/>
        </p:nvPicPr>
        <p:blipFill rotWithShape="1">
          <a:blip r:embed="rId3">
            <a:alphaModFix/>
          </a:blip>
          <a:srcRect b="0" l="0" r="0" t="0"/>
          <a:stretch/>
        </p:blipFill>
        <p:spPr>
          <a:xfrm>
            <a:off x="3657600" y="2977673"/>
            <a:ext cx="4800600" cy="388032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7"/>
          <p:cNvSpPr txBox="1"/>
          <p:nvPr>
            <p:ph type="title"/>
          </p:nvPr>
        </p:nvSpPr>
        <p:spPr>
          <a:xfrm>
            <a:off x="457200" y="704088"/>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Cách đọc 1 Use-case</a:t>
            </a:r>
            <a:endParaRPr sz="4500"/>
          </a:p>
        </p:txBody>
      </p:sp>
      <p:sp>
        <p:nvSpPr>
          <p:cNvPr id="263" name="Google Shape;263;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264" name="Google Shape;264;p17"/>
          <p:cNvGrpSpPr/>
          <p:nvPr/>
        </p:nvGrpSpPr>
        <p:grpSpPr>
          <a:xfrm>
            <a:off x="457200" y="1604962"/>
            <a:ext cx="8458200" cy="4962513"/>
            <a:chOff x="260" y="713"/>
            <a:chExt cx="5328" cy="3126"/>
          </a:xfrm>
        </p:grpSpPr>
        <p:sp>
          <p:nvSpPr>
            <p:cNvPr id="265" name="Google Shape;265;p17"/>
            <p:cNvSpPr/>
            <p:nvPr/>
          </p:nvSpPr>
          <p:spPr>
            <a:xfrm>
              <a:off x="1376" y="783"/>
              <a:ext cx="1162" cy="425"/>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66" name="Google Shape;266;p17"/>
            <p:cNvSpPr/>
            <p:nvPr/>
          </p:nvSpPr>
          <p:spPr>
            <a:xfrm>
              <a:off x="1502" y="900"/>
              <a:ext cx="900" cy="300"/>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View Report Card</a:t>
              </a:r>
              <a:endParaRPr/>
            </a:p>
          </p:txBody>
        </p:sp>
        <p:sp>
          <p:nvSpPr>
            <p:cNvPr id="267" name="Google Shape;267;p17"/>
            <p:cNvSpPr txBox="1"/>
            <p:nvPr/>
          </p:nvSpPr>
          <p:spPr>
            <a:xfrm>
              <a:off x="308" y="1779"/>
              <a:ext cx="600" cy="3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Student</a:t>
              </a:r>
              <a:endParaRPr/>
            </a:p>
          </p:txBody>
        </p:sp>
        <p:grpSp>
          <p:nvGrpSpPr>
            <p:cNvPr id="268" name="Google Shape;268;p17"/>
            <p:cNvGrpSpPr/>
            <p:nvPr/>
          </p:nvGrpSpPr>
          <p:grpSpPr>
            <a:xfrm>
              <a:off x="436" y="1249"/>
              <a:ext cx="330" cy="547"/>
              <a:chOff x="1254" y="2352"/>
              <a:chExt cx="488" cy="808"/>
            </a:xfrm>
          </p:grpSpPr>
          <p:sp>
            <p:nvSpPr>
              <p:cNvPr id="269" name="Google Shape;269;p17"/>
              <p:cNvSpPr/>
              <p:nvPr/>
            </p:nvSpPr>
            <p:spPr>
              <a:xfrm>
                <a:off x="1360" y="2352"/>
                <a:ext cx="272" cy="272"/>
              </a:xfrm>
              <a:prstGeom prst="ellipse">
                <a:avLst/>
              </a:prstGeom>
              <a:noFill/>
              <a:ln cap="flat" cmpd="sng" w="12700">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70" name="Google Shape;270;p17"/>
              <p:cNvCxnSpPr/>
              <p:nvPr/>
            </p:nvCxnSpPr>
            <p:spPr>
              <a:xfrm>
                <a:off x="1496" y="2624"/>
                <a:ext cx="0" cy="289"/>
              </a:xfrm>
              <a:prstGeom prst="straightConnector1">
                <a:avLst/>
              </a:prstGeom>
              <a:noFill/>
              <a:ln cap="flat" cmpd="sng" w="12700">
                <a:solidFill>
                  <a:schemeClr val="dk1"/>
                </a:solidFill>
                <a:prstDash val="solid"/>
                <a:round/>
                <a:headEnd len="med" w="med" type="none"/>
                <a:tailEnd len="med" w="med" type="none"/>
              </a:ln>
            </p:spPr>
          </p:cxnSp>
          <p:cxnSp>
            <p:nvCxnSpPr>
              <p:cNvPr id="271" name="Google Shape;271;p17"/>
              <p:cNvCxnSpPr/>
              <p:nvPr/>
            </p:nvCxnSpPr>
            <p:spPr>
              <a:xfrm>
                <a:off x="1256" y="2736"/>
                <a:ext cx="480" cy="0"/>
              </a:xfrm>
              <a:prstGeom prst="straightConnector1">
                <a:avLst/>
              </a:prstGeom>
              <a:noFill/>
              <a:ln cap="flat" cmpd="sng" w="12700">
                <a:solidFill>
                  <a:schemeClr val="dk1"/>
                </a:solidFill>
                <a:prstDash val="solid"/>
                <a:round/>
                <a:headEnd len="med" w="med" type="none"/>
                <a:tailEnd len="med" w="med" type="none"/>
              </a:ln>
            </p:spPr>
          </p:cxnSp>
          <p:sp>
            <p:nvSpPr>
              <p:cNvPr id="272" name="Google Shape;272;p17"/>
              <p:cNvSpPr/>
              <p:nvPr/>
            </p:nvSpPr>
            <p:spPr>
              <a:xfrm>
                <a:off x="1254" y="2912"/>
                <a:ext cx="488" cy="248"/>
              </a:xfrm>
              <a:custGeom>
                <a:rect b="b" l="l" r="r" t="t"/>
                <a:pathLst>
                  <a:path extrusionOk="0" h="248" w="488">
                    <a:moveTo>
                      <a:pt x="0" y="240"/>
                    </a:moveTo>
                    <a:lnTo>
                      <a:pt x="240" y="0"/>
                    </a:lnTo>
                    <a:lnTo>
                      <a:pt x="488" y="248"/>
                    </a:lnTo>
                  </a:path>
                </a:pathLst>
              </a:custGeom>
              <a:noFill/>
              <a:ln cap="flat" cmpd="sng" w="12700">
                <a:solidFill>
                  <a:schemeClr val="dk1"/>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
          <p:nvSpPr>
            <p:cNvPr id="273" name="Google Shape;273;p17"/>
            <p:cNvSpPr/>
            <p:nvPr/>
          </p:nvSpPr>
          <p:spPr>
            <a:xfrm>
              <a:off x="1376" y="1383"/>
              <a:ext cx="1162" cy="425"/>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74" name="Google Shape;274;p17"/>
            <p:cNvSpPr/>
            <p:nvPr/>
          </p:nvSpPr>
          <p:spPr>
            <a:xfrm>
              <a:off x="1428" y="1503"/>
              <a:ext cx="900" cy="300"/>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Register for Courses</a:t>
              </a:r>
              <a:endParaRPr/>
            </a:p>
          </p:txBody>
        </p:sp>
        <p:sp>
          <p:nvSpPr>
            <p:cNvPr id="275" name="Google Shape;275;p17"/>
            <p:cNvSpPr/>
            <p:nvPr/>
          </p:nvSpPr>
          <p:spPr>
            <a:xfrm>
              <a:off x="1376" y="1988"/>
              <a:ext cx="1162" cy="425"/>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76" name="Google Shape;276;p17"/>
            <p:cNvSpPr/>
            <p:nvPr/>
          </p:nvSpPr>
          <p:spPr>
            <a:xfrm>
              <a:off x="1771" y="2108"/>
              <a:ext cx="600" cy="300"/>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Login</a:t>
              </a:r>
              <a:endParaRPr/>
            </a:p>
          </p:txBody>
        </p:sp>
        <p:cxnSp>
          <p:nvCxnSpPr>
            <p:cNvPr id="277" name="Google Shape;277;p17"/>
            <p:cNvCxnSpPr/>
            <p:nvPr/>
          </p:nvCxnSpPr>
          <p:spPr>
            <a:xfrm rot="10800000">
              <a:off x="808" y="1588"/>
              <a:ext cx="552" cy="0"/>
            </a:xfrm>
            <a:prstGeom prst="straightConnector1">
              <a:avLst/>
            </a:prstGeom>
            <a:noFill/>
            <a:ln cap="flat" cmpd="sng" w="12700">
              <a:solidFill>
                <a:schemeClr val="dk1"/>
              </a:solidFill>
              <a:prstDash val="solid"/>
              <a:round/>
              <a:headEnd len="lg" w="lg" type="stealth"/>
              <a:tailEnd len="med" w="med" type="none"/>
            </a:ln>
          </p:spPr>
        </p:cxnSp>
        <p:sp>
          <p:nvSpPr>
            <p:cNvPr id="278" name="Google Shape;278;p17"/>
            <p:cNvSpPr/>
            <p:nvPr/>
          </p:nvSpPr>
          <p:spPr>
            <a:xfrm>
              <a:off x="1376" y="2599"/>
              <a:ext cx="1162" cy="425"/>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79" name="Google Shape;279;p17"/>
            <p:cNvSpPr/>
            <p:nvPr/>
          </p:nvSpPr>
          <p:spPr>
            <a:xfrm>
              <a:off x="1497" y="2687"/>
              <a:ext cx="900" cy="30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Select Courses to</a:t>
              </a:r>
              <a:endParaRPr/>
            </a:p>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Teach</a:t>
              </a:r>
              <a:endParaRPr/>
            </a:p>
          </p:txBody>
        </p:sp>
        <p:sp>
          <p:nvSpPr>
            <p:cNvPr id="280" name="Google Shape;280;p17"/>
            <p:cNvSpPr/>
            <p:nvPr/>
          </p:nvSpPr>
          <p:spPr>
            <a:xfrm>
              <a:off x="1376" y="3204"/>
              <a:ext cx="1162" cy="425"/>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1" name="Google Shape;281;p17"/>
            <p:cNvSpPr/>
            <p:nvPr/>
          </p:nvSpPr>
          <p:spPr>
            <a:xfrm>
              <a:off x="1561" y="3324"/>
              <a:ext cx="900" cy="300"/>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Submit Grades</a:t>
              </a:r>
              <a:endParaRPr/>
            </a:p>
          </p:txBody>
        </p:sp>
        <p:sp>
          <p:nvSpPr>
            <p:cNvPr id="282" name="Google Shape;282;p17"/>
            <p:cNvSpPr txBox="1"/>
            <p:nvPr/>
          </p:nvSpPr>
          <p:spPr>
            <a:xfrm>
              <a:off x="260" y="3003"/>
              <a:ext cx="900" cy="3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Professor</a:t>
              </a:r>
              <a:endParaRPr/>
            </a:p>
          </p:txBody>
        </p:sp>
        <p:grpSp>
          <p:nvGrpSpPr>
            <p:cNvPr id="283" name="Google Shape;283;p17"/>
            <p:cNvGrpSpPr/>
            <p:nvPr/>
          </p:nvGrpSpPr>
          <p:grpSpPr>
            <a:xfrm>
              <a:off x="436" y="2473"/>
              <a:ext cx="330" cy="547"/>
              <a:chOff x="1254" y="2352"/>
              <a:chExt cx="488" cy="808"/>
            </a:xfrm>
          </p:grpSpPr>
          <p:sp>
            <p:nvSpPr>
              <p:cNvPr id="284" name="Google Shape;284;p17"/>
              <p:cNvSpPr/>
              <p:nvPr/>
            </p:nvSpPr>
            <p:spPr>
              <a:xfrm>
                <a:off x="1360" y="2352"/>
                <a:ext cx="272" cy="272"/>
              </a:xfrm>
              <a:prstGeom prst="ellipse">
                <a:avLst/>
              </a:prstGeom>
              <a:noFill/>
              <a:ln cap="flat" cmpd="sng" w="12700">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85" name="Google Shape;285;p17"/>
              <p:cNvCxnSpPr/>
              <p:nvPr/>
            </p:nvCxnSpPr>
            <p:spPr>
              <a:xfrm>
                <a:off x="1496" y="2624"/>
                <a:ext cx="0" cy="289"/>
              </a:xfrm>
              <a:prstGeom prst="straightConnector1">
                <a:avLst/>
              </a:prstGeom>
              <a:noFill/>
              <a:ln cap="flat" cmpd="sng" w="12700">
                <a:solidFill>
                  <a:schemeClr val="dk1"/>
                </a:solidFill>
                <a:prstDash val="solid"/>
                <a:round/>
                <a:headEnd len="med" w="med" type="none"/>
                <a:tailEnd len="med" w="med" type="none"/>
              </a:ln>
            </p:spPr>
          </p:cxnSp>
          <p:cxnSp>
            <p:nvCxnSpPr>
              <p:cNvPr id="286" name="Google Shape;286;p17"/>
              <p:cNvCxnSpPr/>
              <p:nvPr/>
            </p:nvCxnSpPr>
            <p:spPr>
              <a:xfrm>
                <a:off x="1256" y="2736"/>
                <a:ext cx="480" cy="0"/>
              </a:xfrm>
              <a:prstGeom prst="straightConnector1">
                <a:avLst/>
              </a:prstGeom>
              <a:noFill/>
              <a:ln cap="flat" cmpd="sng" w="12700">
                <a:solidFill>
                  <a:schemeClr val="dk1"/>
                </a:solidFill>
                <a:prstDash val="solid"/>
                <a:round/>
                <a:headEnd len="med" w="med" type="none"/>
                <a:tailEnd len="med" w="med" type="none"/>
              </a:ln>
            </p:spPr>
          </p:cxnSp>
          <p:sp>
            <p:nvSpPr>
              <p:cNvPr id="287" name="Google Shape;287;p17"/>
              <p:cNvSpPr/>
              <p:nvPr/>
            </p:nvSpPr>
            <p:spPr>
              <a:xfrm>
                <a:off x="1254" y="2912"/>
                <a:ext cx="488" cy="248"/>
              </a:xfrm>
              <a:custGeom>
                <a:rect b="b" l="l" r="r" t="t"/>
                <a:pathLst>
                  <a:path extrusionOk="0" h="248" w="488">
                    <a:moveTo>
                      <a:pt x="0" y="240"/>
                    </a:moveTo>
                    <a:lnTo>
                      <a:pt x="240" y="0"/>
                    </a:lnTo>
                    <a:lnTo>
                      <a:pt x="488" y="248"/>
                    </a:lnTo>
                  </a:path>
                </a:pathLst>
              </a:custGeom>
              <a:noFill/>
              <a:ln cap="flat" cmpd="sng" w="12700">
                <a:solidFill>
                  <a:schemeClr val="dk1"/>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cxnSp>
          <p:nvCxnSpPr>
            <p:cNvPr id="288" name="Google Shape;288;p17"/>
            <p:cNvCxnSpPr/>
            <p:nvPr/>
          </p:nvCxnSpPr>
          <p:spPr>
            <a:xfrm rot="10800000">
              <a:off x="808" y="2812"/>
              <a:ext cx="552" cy="0"/>
            </a:xfrm>
            <a:prstGeom prst="straightConnector1">
              <a:avLst/>
            </a:prstGeom>
            <a:noFill/>
            <a:ln cap="flat" cmpd="sng" w="12700">
              <a:solidFill>
                <a:schemeClr val="dk1"/>
              </a:solidFill>
              <a:prstDash val="solid"/>
              <a:round/>
              <a:headEnd len="lg" w="lg" type="stealth"/>
              <a:tailEnd len="med" w="med" type="none"/>
            </a:ln>
          </p:spPr>
        </p:cxnSp>
        <p:grpSp>
          <p:nvGrpSpPr>
            <p:cNvPr id="289" name="Google Shape;289;p17"/>
            <p:cNvGrpSpPr/>
            <p:nvPr/>
          </p:nvGrpSpPr>
          <p:grpSpPr>
            <a:xfrm>
              <a:off x="3196" y="1861"/>
              <a:ext cx="900" cy="830"/>
              <a:chOff x="3540" y="1729"/>
              <a:chExt cx="900" cy="830"/>
            </a:xfrm>
          </p:grpSpPr>
          <p:sp>
            <p:nvSpPr>
              <p:cNvPr id="290" name="Google Shape;290;p17"/>
              <p:cNvSpPr txBox="1"/>
              <p:nvPr/>
            </p:nvSpPr>
            <p:spPr>
              <a:xfrm>
                <a:off x="3540" y="2259"/>
                <a:ext cx="900" cy="3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Registrar</a:t>
                </a:r>
                <a:endParaRPr/>
              </a:p>
            </p:txBody>
          </p:sp>
          <p:grpSp>
            <p:nvGrpSpPr>
              <p:cNvPr id="291" name="Google Shape;291;p17"/>
              <p:cNvGrpSpPr/>
              <p:nvPr/>
            </p:nvGrpSpPr>
            <p:grpSpPr>
              <a:xfrm>
                <a:off x="3700" y="1729"/>
                <a:ext cx="330" cy="547"/>
                <a:chOff x="1254" y="2352"/>
                <a:chExt cx="488" cy="808"/>
              </a:xfrm>
            </p:grpSpPr>
            <p:sp>
              <p:nvSpPr>
                <p:cNvPr id="292" name="Google Shape;292;p17"/>
                <p:cNvSpPr/>
                <p:nvPr/>
              </p:nvSpPr>
              <p:spPr>
                <a:xfrm>
                  <a:off x="1360" y="2352"/>
                  <a:ext cx="272" cy="272"/>
                </a:xfrm>
                <a:prstGeom prst="ellipse">
                  <a:avLst/>
                </a:prstGeom>
                <a:noFill/>
                <a:ln cap="flat" cmpd="sng" w="12700">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293" name="Google Shape;293;p17"/>
                <p:cNvCxnSpPr/>
                <p:nvPr/>
              </p:nvCxnSpPr>
              <p:spPr>
                <a:xfrm>
                  <a:off x="1496" y="2624"/>
                  <a:ext cx="0" cy="289"/>
                </a:xfrm>
                <a:prstGeom prst="straightConnector1">
                  <a:avLst/>
                </a:prstGeom>
                <a:noFill/>
                <a:ln cap="flat" cmpd="sng" w="12700">
                  <a:solidFill>
                    <a:schemeClr val="dk1"/>
                  </a:solidFill>
                  <a:prstDash val="solid"/>
                  <a:round/>
                  <a:headEnd len="med" w="med" type="none"/>
                  <a:tailEnd len="med" w="med" type="none"/>
                </a:ln>
              </p:spPr>
            </p:cxnSp>
            <p:cxnSp>
              <p:nvCxnSpPr>
                <p:cNvPr id="294" name="Google Shape;294;p17"/>
                <p:cNvCxnSpPr/>
                <p:nvPr/>
              </p:nvCxnSpPr>
              <p:spPr>
                <a:xfrm>
                  <a:off x="1256" y="2736"/>
                  <a:ext cx="480" cy="0"/>
                </a:xfrm>
                <a:prstGeom prst="straightConnector1">
                  <a:avLst/>
                </a:prstGeom>
                <a:noFill/>
                <a:ln cap="flat" cmpd="sng" w="12700">
                  <a:solidFill>
                    <a:schemeClr val="dk1"/>
                  </a:solidFill>
                  <a:prstDash val="solid"/>
                  <a:round/>
                  <a:headEnd len="med" w="med" type="none"/>
                  <a:tailEnd len="med" w="med" type="none"/>
                </a:ln>
              </p:spPr>
            </p:cxnSp>
            <p:sp>
              <p:nvSpPr>
                <p:cNvPr id="295" name="Google Shape;295;p17"/>
                <p:cNvSpPr/>
                <p:nvPr/>
              </p:nvSpPr>
              <p:spPr>
                <a:xfrm>
                  <a:off x="1254" y="2912"/>
                  <a:ext cx="488" cy="248"/>
                </a:xfrm>
                <a:custGeom>
                  <a:rect b="b" l="l" r="r" t="t"/>
                  <a:pathLst>
                    <a:path extrusionOk="0" h="248" w="488">
                      <a:moveTo>
                        <a:pt x="0" y="240"/>
                      </a:moveTo>
                      <a:lnTo>
                        <a:pt x="240" y="0"/>
                      </a:lnTo>
                      <a:lnTo>
                        <a:pt x="488" y="248"/>
                      </a:lnTo>
                    </a:path>
                  </a:pathLst>
                </a:custGeom>
                <a:noFill/>
                <a:ln cap="flat" cmpd="sng" w="12700">
                  <a:solidFill>
                    <a:schemeClr val="dk1"/>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grpSp>
          <p:nvGrpSpPr>
            <p:cNvPr id="296" name="Google Shape;296;p17"/>
            <p:cNvGrpSpPr/>
            <p:nvPr/>
          </p:nvGrpSpPr>
          <p:grpSpPr>
            <a:xfrm>
              <a:off x="3060" y="3009"/>
              <a:ext cx="1200" cy="830"/>
              <a:chOff x="3404" y="2841"/>
              <a:chExt cx="1200" cy="830"/>
            </a:xfrm>
          </p:grpSpPr>
          <p:sp>
            <p:nvSpPr>
              <p:cNvPr id="297" name="Google Shape;297;p17"/>
              <p:cNvSpPr txBox="1"/>
              <p:nvPr/>
            </p:nvSpPr>
            <p:spPr>
              <a:xfrm>
                <a:off x="3404" y="3371"/>
                <a:ext cx="1200" cy="3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Billing System</a:t>
                </a:r>
                <a:endParaRPr/>
              </a:p>
            </p:txBody>
          </p:sp>
          <p:grpSp>
            <p:nvGrpSpPr>
              <p:cNvPr id="298" name="Google Shape;298;p17"/>
              <p:cNvGrpSpPr/>
              <p:nvPr/>
            </p:nvGrpSpPr>
            <p:grpSpPr>
              <a:xfrm>
                <a:off x="3700" y="2841"/>
                <a:ext cx="330" cy="547"/>
                <a:chOff x="1254" y="2352"/>
                <a:chExt cx="488" cy="808"/>
              </a:xfrm>
            </p:grpSpPr>
            <p:sp>
              <p:nvSpPr>
                <p:cNvPr id="299" name="Google Shape;299;p17"/>
                <p:cNvSpPr/>
                <p:nvPr/>
              </p:nvSpPr>
              <p:spPr>
                <a:xfrm>
                  <a:off x="1360" y="2352"/>
                  <a:ext cx="272" cy="272"/>
                </a:xfrm>
                <a:prstGeom prst="ellipse">
                  <a:avLst/>
                </a:prstGeom>
                <a:noFill/>
                <a:ln cap="flat" cmpd="sng" w="12700">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00" name="Google Shape;300;p17"/>
                <p:cNvCxnSpPr/>
                <p:nvPr/>
              </p:nvCxnSpPr>
              <p:spPr>
                <a:xfrm>
                  <a:off x="1496" y="2624"/>
                  <a:ext cx="0" cy="289"/>
                </a:xfrm>
                <a:prstGeom prst="straightConnector1">
                  <a:avLst/>
                </a:prstGeom>
                <a:noFill/>
                <a:ln cap="flat" cmpd="sng" w="12700">
                  <a:solidFill>
                    <a:schemeClr val="dk1"/>
                  </a:solidFill>
                  <a:prstDash val="solid"/>
                  <a:round/>
                  <a:headEnd len="med" w="med" type="none"/>
                  <a:tailEnd len="med" w="med" type="none"/>
                </a:ln>
              </p:spPr>
            </p:cxnSp>
            <p:cxnSp>
              <p:nvCxnSpPr>
                <p:cNvPr id="301" name="Google Shape;301;p17"/>
                <p:cNvCxnSpPr/>
                <p:nvPr/>
              </p:nvCxnSpPr>
              <p:spPr>
                <a:xfrm>
                  <a:off x="1256" y="2736"/>
                  <a:ext cx="480" cy="0"/>
                </a:xfrm>
                <a:prstGeom prst="straightConnector1">
                  <a:avLst/>
                </a:prstGeom>
                <a:noFill/>
                <a:ln cap="flat" cmpd="sng" w="12700">
                  <a:solidFill>
                    <a:schemeClr val="dk1"/>
                  </a:solidFill>
                  <a:prstDash val="solid"/>
                  <a:round/>
                  <a:headEnd len="med" w="med" type="none"/>
                  <a:tailEnd len="med" w="med" type="none"/>
                </a:ln>
              </p:spPr>
            </p:cxnSp>
            <p:sp>
              <p:nvSpPr>
                <p:cNvPr id="302" name="Google Shape;302;p17"/>
                <p:cNvSpPr/>
                <p:nvPr/>
              </p:nvSpPr>
              <p:spPr>
                <a:xfrm>
                  <a:off x="1254" y="2912"/>
                  <a:ext cx="488" cy="248"/>
                </a:xfrm>
                <a:custGeom>
                  <a:rect b="b" l="l" r="r" t="t"/>
                  <a:pathLst>
                    <a:path extrusionOk="0" h="248" w="488">
                      <a:moveTo>
                        <a:pt x="0" y="240"/>
                      </a:moveTo>
                      <a:lnTo>
                        <a:pt x="240" y="0"/>
                      </a:lnTo>
                      <a:lnTo>
                        <a:pt x="488" y="248"/>
                      </a:lnTo>
                    </a:path>
                  </a:pathLst>
                </a:custGeom>
                <a:noFill/>
                <a:ln cap="flat" cmpd="sng" w="12700">
                  <a:solidFill>
                    <a:schemeClr val="dk1"/>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sp>
          <p:nvSpPr>
            <p:cNvPr id="303" name="Google Shape;303;p17"/>
            <p:cNvSpPr/>
            <p:nvPr/>
          </p:nvSpPr>
          <p:spPr>
            <a:xfrm>
              <a:off x="4296" y="1292"/>
              <a:ext cx="1162" cy="425"/>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04" name="Google Shape;304;p17"/>
            <p:cNvSpPr/>
            <p:nvPr/>
          </p:nvSpPr>
          <p:spPr>
            <a:xfrm>
              <a:off x="4388" y="1380"/>
              <a:ext cx="1200" cy="30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Maintain Professor</a:t>
              </a:r>
              <a:endParaRPr/>
            </a:p>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Information</a:t>
              </a:r>
              <a:endParaRPr/>
            </a:p>
          </p:txBody>
        </p:sp>
        <p:sp>
          <p:nvSpPr>
            <p:cNvPr id="305" name="Google Shape;305;p17"/>
            <p:cNvSpPr/>
            <p:nvPr/>
          </p:nvSpPr>
          <p:spPr>
            <a:xfrm>
              <a:off x="4296" y="1983"/>
              <a:ext cx="1162" cy="425"/>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06" name="Google Shape;306;p17"/>
            <p:cNvSpPr/>
            <p:nvPr/>
          </p:nvSpPr>
          <p:spPr>
            <a:xfrm>
              <a:off x="4443" y="2071"/>
              <a:ext cx="900" cy="30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Maintain Student</a:t>
              </a:r>
              <a:endParaRPr/>
            </a:p>
            <a:p>
              <a:pPr indent="0" lvl="0" marL="0" marR="0" rtl="0" algn="ctr">
                <a:spcBef>
                  <a:spcPts val="0"/>
                </a:spcBef>
                <a:spcAft>
                  <a:spcPts val="0"/>
                </a:spcAft>
                <a:buNone/>
              </a:pPr>
              <a:r>
                <a:rPr b="1" lang="en-US" sz="1200">
                  <a:solidFill>
                    <a:schemeClr val="dk1"/>
                  </a:solidFill>
                  <a:latin typeface="Constantia"/>
                  <a:ea typeface="Constantia"/>
                  <a:cs typeface="Constantia"/>
                  <a:sym typeface="Constantia"/>
                </a:rPr>
                <a:t>Information</a:t>
              </a:r>
              <a:endParaRPr/>
            </a:p>
          </p:txBody>
        </p:sp>
        <p:sp>
          <p:nvSpPr>
            <p:cNvPr id="307" name="Google Shape;307;p17"/>
            <p:cNvSpPr/>
            <p:nvPr/>
          </p:nvSpPr>
          <p:spPr>
            <a:xfrm>
              <a:off x="4296" y="2668"/>
              <a:ext cx="1162" cy="425"/>
            </a:xfrm>
            <a:prstGeom prst="ellipse">
              <a:avLst/>
            </a:prstGeom>
            <a:solidFill>
              <a:srgbClr val="FFFFCC"/>
            </a:solidFill>
            <a:ln cap="flat" cmpd="sng" w="12700">
              <a:solidFill>
                <a:srgbClr val="9900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08" name="Google Shape;308;p17"/>
            <p:cNvSpPr/>
            <p:nvPr/>
          </p:nvSpPr>
          <p:spPr>
            <a:xfrm>
              <a:off x="4412" y="2788"/>
              <a:ext cx="900" cy="300"/>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b="1" lang="en-US" sz="1200">
                  <a:solidFill>
                    <a:schemeClr val="dk1"/>
                  </a:solidFill>
                  <a:latin typeface="Constantia"/>
                  <a:ea typeface="Constantia"/>
                  <a:cs typeface="Constantia"/>
                  <a:sym typeface="Constantia"/>
                </a:rPr>
                <a:t>Close Registration</a:t>
              </a:r>
              <a:endParaRPr/>
            </a:p>
          </p:txBody>
        </p:sp>
        <p:grpSp>
          <p:nvGrpSpPr>
            <p:cNvPr id="309" name="Google Shape;309;p17"/>
            <p:cNvGrpSpPr/>
            <p:nvPr/>
          </p:nvGrpSpPr>
          <p:grpSpPr>
            <a:xfrm>
              <a:off x="3012" y="713"/>
              <a:ext cx="1200" cy="830"/>
              <a:chOff x="2468" y="3225"/>
              <a:chExt cx="1200" cy="830"/>
            </a:xfrm>
          </p:grpSpPr>
          <p:sp>
            <p:nvSpPr>
              <p:cNvPr id="310" name="Google Shape;310;p17"/>
              <p:cNvSpPr txBox="1"/>
              <p:nvPr/>
            </p:nvSpPr>
            <p:spPr>
              <a:xfrm>
                <a:off x="2468" y="3755"/>
                <a:ext cx="1200" cy="300"/>
              </a:xfrm>
              <a:prstGeom prst="rect">
                <a:avLst/>
              </a:prstGeom>
              <a:noFill/>
              <a:ln>
                <a:noFill/>
              </a:ln>
            </p:spPr>
            <p:txBody>
              <a:bodyPr anchorCtr="0" anchor="t" bIns="53975" lIns="107950" spcFirstLastPara="1" rIns="107950" wrap="square" tIns="53975">
                <a:spAutoFit/>
              </a:bodyPr>
              <a:lstStyle/>
              <a:p>
                <a:pPr indent="0" lvl="0" marL="0" marR="0" rtl="0" algn="l">
                  <a:spcBef>
                    <a:spcPts val="0"/>
                  </a:spcBef>
                  <a:spcAft>
                    <a:spcPts val="0"/>
                  </a:spcAft>
                  <a:buNone/>
                </a:pPr>
                <a:r>
                  <a:rPr lang="en-US" sz="1600">
                    <a:solidFill>
                      <a:schemeClr val="dk1"/>
                    </a:solidFill>
                    <a:latin typeface="Constantia"/>
                    <a:ea typeface="Constantia"/>
                    <a:cs typeface="Constantia"/>
                    <a:sym typeface="Constantia"/>
                  </a:rPr>
                  <a:t>Course Catalog</a:t>
                </a:r>
                <a:endParaRPr/>
              </a:p>
            </p:txBody>
          </p:sp>
          <p:grpSp>
            <p:nvGrpSpPr>
              <p:cNvPr id="311" name="Google Shape;311;p17"/>
              <p:cNvGrpSpPr/>
              <p:nvPr/>
            </p:nvGrpSpPr>
            <p:grpSpPr>
              <a:xfrm>
                <a:off x="2812" y="3225"/>
                <a:ext cx="330" cy="547"/>
                <a:chOff x="1254" y="2352"/>
                <a:chExt cx="488" cy="808"/>
              </a:xfrm>
            </p:grpSpPr>
            <p:sp>
              <p:nvSpPr>
                <p:cNvPr id="312" name="Google Shape;312;p17"/>
                <p:cNvSpPr/>
                <p:nvPr/>
              </p:nvSpPr>
              <p:spPr>
                <a:xfrm>
                  <a:off x="1360" y="2352"/>
                  <a:ext cx="272" cy="272"/>
                </a:xfrm>
                <a:prstGeom prst="ellipse">
                  <a:avLst/>
                </a:prstGeom>
                <a:noFill/>
                <a:ln cap="flat" cmpd="sng" w="12700">
                  <a:solidFill>
                    <a:schemeClr val="dk1"/>
                  </a:solidFill>
                  <a:prstDash val="solid"/>
                  <a:round/>
                  <a:headEnd len="sm" w="sm" type="none"/>
                  <a:tailEnd len="sm" w="sm" type="none"/>
                </a:ln>
              </p:spPr>
              <p:txBody>
                <a:bodyPr anchorCtr="0" anchor="ctr"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cxnSp>
              <p:nvCxnSpPr>
                <p:cNvPr id="313" name="Google Shape;313;p17"/>
                <p:cNvCxnSpPr/>
                <p:nvPr/>
              </p:nvCxnSpPr>
              <p:spPr>
                <a:xfrm>
                  <a:off x="1496" y="2624"/>
                  <a:ext cx="0" cy="289"/>
                </a:xfrm>
                <a:prstGeom prst="straightConnector1">
                  <a:avLst/>
                </a:prstGeom>
                <a:noFill/>
                <a:ln cap="flat" cmpd="sng" w="12700">
                  <a:solidFill>
                    <a:schemeClr val="dk1"/>
                  </a:solidFill>
                  <a:prstDash val="solid"/>
                  <a:round/>
                  <a:headEnd len="med" w="med" type="none"/>
                  <a:tailEnd len="med" w="med" type="none"/>
                </a:ln>
              </p:spPr>
            </p:cxnSp>
            <p:cxnSp>
              <p:nvCxnSpPr>
                <p:cNvPr id="314" name="Google Shape;314;p17"/>
                <p:cNvCxnSpPr/>
                <p:nvPr/>
              </p:nvCxnSpPr>
              <p:spPr>
                <a:xfrm>
                  <a:off x="1256" y="2736"/>
                  <a:ext cx="480" cy="0"/>
                </a:xfrm>
                <a:prstGeom prst="straightConnector1">
                  <a:avLst/>
                </a:prstGeom>
                <a:noFill/>
                <a:ln cap="flat" cmpd="sng" w="12700">
                  <a:solidFill>
                    <a:schemeClr val="dk1"/>
                  </a:solidFill>
                  <a:prstDash val="solid"/>
                  <a:round/>
                  <a:headEnd len="med" w="med" type="none"/>
                  <a:tailEnd len="med" w="med" type="none"/>
                </a:ln>
              </p:spPr>
            </p:cxnSp>
            <p:sp>
              <p:nvSpPr>
                <p:cNvPr id="315" name="Google Shape;315;p17"/>
                <p:cNvSpPr/>
                <p:nvPr/>
              </p:nvSpPr>
              <p:spPr>
                <a:xfrm>
                  <a:off x="1254" y="2912"/>
                  <a:ext cx="488" cy="248"/>
                </a:xfrm>
                <a:custGeom>
                  <a:rect b="b" l="l" r="r" t="t"/>
                  <a:pathLst>
                    <a:path extrusionOk="0" h="248" w="488">
                      <a:moveTo>
                        <a:pt x="0" y="240"/>
                      </a:moveTo>
                      <a:lnTo>
                        <a:pt x="240" y="0"/>
                      </a:lnTo>
                      <a:lnTo>
                        <a:pt x="488" y="248"/>
                      </a:lnTo>
                    </a:path>
                  </a:pathLst>
                </a:custGeom>
                <a:noFill/>
                <a:ln cap="flat" cmpd="sng" w="12700">
                  <a:solidFill>
                    <a:schemeClr val="dk1"/>
                  </a:solidFill>
                  <a:prstDash val="solid"/>
                  <a:round/>
                  <a:headEnd len="med" w="med" type="none"/>
                  <a:tailEnd len="med" w="med" type="none"/>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grpSp>
        <p:cxnSp>
          <p:nvCxnSpPr>
            <p:cNvPr id="316" name="Google Shape;316;p17"/>
            <p:cNvCxnSpPr/>
            <p:nvPr/>
          </p:nvCxnSpPr>
          <p:spPr>
            <a:xfrm flipH="1" rot="10800000">
              <a:off x="2464" y="1496"/>
              <a:ext cx="784" cy="1216"/>
            </a:xfrm>
            <a:prstGeom prst="straightConnector1">
              <a:avLst/>
            </a:prstGeom>
            <a:noFill/>
            <a:ln cap="flat" cmpd="sng" w="12700">
              <a:solidFill>
                <a:schemeClr val="dk1"/>
              </a:solidFill>
              <a:prstDash val="solid"/>
              <a:round/>
              <a:headEnd len="med" w="med" type="none"/>
              <a:tailEnd len="med" w="med" type="none"/>
            </a:ln>
          </p:spPr>
        </p:cxnSp>
        <p:cxnSp>
          <p:nvCxnSpPr>
            <p:cNvPr id="317" name="Google Shape;317;p17"/>
            <p:cNvCxnSpPr/>
            <p:nvPr/>
          </p:nvCxnSpPr>
          <p:spPr>
            <a:xfrm flipH="1" rot="10800000">
              <a:off x="2488" y="1120"/>
              <a:ext cx="760" cy="376"/>
            </a:xfrm>
            <a:prstGeom prst="straightConnector1">
              <a:avLst/>
            </a:prstGeom>
            <a:noFill/>
            <a:ln cap="flat" cmpd="sng" w="12700">
              <a:solidFill>
                <a:schemeClr val="dk1"/>
              </a:solidFill>
              <a:prstDash val="solid"/>
              <a:round/>
              <a:headEnd len="med" w="med" type="none"/>
              <a:tailEnd len="med" w="med" type="none"/>
            </a:ln>
          </p:spPr>
        </p:cxnSp>
        <p:cxnSp>
          <p:nvCxnSpPr>
            <p:cNvPr id="318" name="Google Shape;318;p17"/>
            <p:cNvCxnSpPr/>
            <p:nvPr/>
          </p:nvCxnSpPr>
          <p:spPr>
            <a:xfrm rot="10800000">
              <a:off x="3728" y="2204"/>
              <a:ext cx="552" cy="0"/>
            </a:xfrm>
            <a:prstGeom prst="straightConnector1">
              <a:avLst/>
            </a:prstGeom>
            <a:noFill/>
            <a:ln cap="flat" cmpd="sng" w="12700">
              <a:solidFill>
                <a:schemeClr val="dk1"/>
              </a:solidFill>
              <a:prstDash val="solid"/>
              <a:round/>
              <a:headEnd len="lg" w="lg" type="stealth"/>
              <a:tailEnd len="med" w="med" type="none"/>
            </a:ln>
          </p:spPr>
        </p:cxnSp>
        <p:cxnSp>
          <p:nvCxnSpPr>
            <p:cNvPr id="319" name="Google Shape;319;p17"/>
            <p:cNvCxnSpPr/>
            <p:nvPr/>
          </p:nvCxnSpPr>
          <p:spPr>
            <a:xfrm flipH="1" rot="10800000">
              <a:off x="3728" y="3026"/>
              <a:ext cx="688" cy="318"/>
            </a:xfrm>
            <a:prstGeom prst="straightConnector1">
              <a:avLst/>
            </a:prstGeom>
            <a:noFill/>
            <a:ln cap="flat" cmpd="sng" w="12700">
              <a:solidFill>
                <a:schemeClr val="dk1"/>
              </a:solidFill>
              <a:prstDash val="solid"/>
              <a:round/>
              <a:headEnd len="med" w="med" type="none"/>
              <a:tailEnd len="med" w="med" type="none"/>
            </a:ln>
          </p:spPr>
        </p:cxnSp>
        <p:cxnSp>
          <p:nvCxnSpPr>
            <p:cNvPr id="320" name="Google Shape;320;p17"/>
            <p:cNvCxnSpPr/>
            <p:nvPr/>
          </p:nvCxnSpPr>
          <p:spPr>
            <a:xfrm>
              <a:off x="2536" y="2204"/>
              <a:ext cx="760" cy="0"/>
            </a:xfrm>
            <a:prstGeom prst="straightConnector1">
              <a:avLst/>
            </a:prstGeom>
            <a:noFill/>
            <a:ln cap="flat" cmpd="sng" w="12700">
              <a:solidFill>
                <a:schemeClr val="dk1"/>
              </a:solidFill>
              <a:prstDash val="solid"/>
              <a:round/>
              <a:headEnd len="lg" w="lg" type="stealth"/>
              <a:tailEnd len="med" w="med" type="none"/>
            </a:ln>
          </p:spPr>
        </p:cxnSp>
        <p:cxnSp>
          <p:nvCxnSpPr>
            <p:cNvPr id="321" name="Google Shape;321;p17"/>
            <p:cNvCxnSpPr/>
            <p:nvPr/>
          </p:nvCxnSpPr>
          <p:spPr>
            <a:xfrm flipH="1">
              <a:off x="808" y="1100"/>
              <a:ext cx="592" cy="392"/>
            </a:xfrm>
            <a:prstGeom prst="straightConnector1">
              <a:avLst/>
            </a:prstGeom>
            <a:noFill/>
            <a:ln cap="flat" cmpd="sng" w="12700">
              <a:solidFill>
                <a:schemeClr val="dk1"/>
              </a:solidFill>
              <a:prstDash val="solid"/>
              <a:round/>
              <a:headEnd len="lg" w="lg" type="stealth"/>
              <a:tailEnd len="med" w="med" type="none"/>
            </a:ln>
          </p:spPr>
        </p:cxnSp>
        <p:cxnSp>
          <p:nvCxnSpPr>
            <p:cNvPr id="322" name="Google Shape;322;p17"/>
            <p:cNvCxnSpPr/>
            <p:nvPr/>
          </p:nvCxnSpPr>
          <p:spPr>
            <a:xfrm rot="10800000">
              <a:off x="808" y="1684"/>
              <a:ext cx="592" cy="392"/>
            </a:xfrm>
            <a:prstGeom prst="straightConnector1">
              <a:avLst/>
            </a:prstGeom>
            <a:noFill/>
            <a:ln cap="flat" cmpd="sng" w="12700">
              <a:solidFill>
                <a:schemeClr val="dk1"/>
              </a:solidFill>
              <a:prstDash val="solid"/>
              <a:round/>
              <a:headEnd len="lg" w="lg" type="stealth"/>
              <a:tailEnd len="med" w="med" type="none"/>
            </a:ln>
          </p:spPr>
        </p:cxnSp>
        <p:cxnSp>
          <p:nvCxnSpPr>
            <p:cNvPr id="323" name="Google Shape;323;p17"/>
            <p:cNvCxnSpPr/>
            <p:nvPr/>
          </p:nvCxnSpPr>
          <p:spPr>
            <a:xfrm flipH="1">
              <a:off x="808" y="2324"/>
              <a:ext cx="592" cy="392"/>
            </a:xfrm>
            <a:prstGeom prst="straightConnector1">
              <a:avLst/>
            </a:prstGeom>
            <a:noFill/>
            <a:ln cap="flat" cmpd="sng" w="12700">
              <a:solidFill>
                <a:schemeClr val="dk1"/>
              </a:solidFill>
              <a:prstDash val="solid"/>
              <a:round/>
              <a:headEnd len="lg" w="lg" type="stealth"/>
              <a:tailEnd len="med" w="med" type="none"/>
            </a:ln>
          </p:spPr>
        </p:cxnSp>
        <p:cxnSp>
          <p:nvCxnSpPr>
            <p:cNvPr id="324" name="Google Shape;324;p17"/>
            <p:cNvCxnSpPr/>
            <p:nvPr/>
          </p:nvCxnSpPr>
          <p:spPr>
            <a:xfrm rot="10800000">
              <a:off x="808" y="2908"/>
              <a:ext cx="592" cy="392"/>
            </a:xfrm>
            <a:prstGeom prst="straightConnector1">
              <a:avLst/>
            </a:prstGeom>
            <a:noFill/>
            <a:ln cap="flat" cmpd="sng" w="12700">
              <a:solidFill>
                <a:schemeClr val="dk1"/>
              </a:solidFill>
              <a:prstDash val="solid"/>
              <a:round/>
              <a:headEnd len="lg" w="lg" type="stealth"/>
              <a:tailEnd len="med" w="med" type="none"/>
            </a:ln>
          </p:spPr>
        </p:cxnSp>
        <p:cxnSp>
          <p:nvCxnSpPr>
            <p:cNvPr id="325" name="Google Shape;325;p17"/>
            <p:cNvCxnSpPr/>
            <p:nvPr/>
          </p:nvCxnSpPr>
          <p:spPr>
            <a:xfrm flipH="1">
              <a:off x="3728" y="1665"/>
              <a:ext cx="669" cy="443"/>
            </a:xfrm>
            <a:prstGeom prst="straightConnector1">
              <a:avLst/>
            </a:prstGeom>
            <a:noFill/>
            <a:ln cap="flat" cmpd="sng" w="12700">
              <a:solidFill>
                <a:schemeClr val="dk1"/>
              </a:solidFill>
              <a:prstDash val="solid"/>
              <a:round/>
              <a:headEnd len="lg" w="lg" type="stealth"/>
              <a:tailEnd len="med" w="med" type="none"/>
            </a:ln>
          </p:spPr>
        </p:cxnSp>
        <p:cxnSp>
          <p:nvCxnSpPr>
            <p:cNvPr id="326" name="Google Shape;326;p17"/>
            <p:cNvCxnSpPr/>
            <p:nvPr/>
          </p:nvCxnSpPr>
          <p:spPr>
            <a:xfrm rot="10800000">
              <a:off x="3728" y="2300"/>
              <a:ext cx="656" cy="434"/>
            </a:xfrm>
            <a:prstGeom prst="straightConnector1">
              <a:avLst/>
            </a:prstGeom>
            <a:noFill/>
            <a:ln cap="flat" cmpd="sng" w="12700">
              <a:solidFill>
                <a:schemeClr val="dk1"/>
              </a:solidFill>
              <a:prstDash val="solid"/>
              <a:round/>
              <a:headEnd len="lg" w="lg" type="stealth"/>
              <a:tailEnd len="med" w="med" type="none"/>
            </a:ln>
          </p:spPr>
        </p:cxn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332" name="Google Shape;332;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333" name="Google Shape;333;p18"/>
          <p:cNvPicPr preferRelativeResize="0"/>
          <p:nvPr>
            <p:ph idx="1" type="body"/>
          </p:nvPr>
        </p:nvPicPr>
        <p:blipFill rotWithShape="1">
          <a:blip r:embed="rId3">
            <a:alphaModFix/>
          </a:blip>
          <a:srcRect b="0" l="0" r="0" t="0"/>
          <a:stretch/>
        </p:blipFill>
        <p:spPr>
          <a:xfrm>
            <a:off x="1600200" y="1981200"/>
            <a:ext cx="6182726" cy="35461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9"/>
          <p:cNvSpPr txBox="1"/>
          <p:nvPr>
            <p:ph type="title"/>
          </p:nvPr>
        </p:nvSpPr>
        <p:spPr>
          <a:xfrm>
            <a:off x="2895600" y="2438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The End.</a:t>
            </a:r>
            <a:endParaRPr/>
          </a:p>
        </p:txBody>
      </p:sp>
      <p:sp>
        <p:nvSpPr>
          <p:cNvPr id="339" name="Google Shape;339;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2017-11-13T20:26:15Z</dcterms:created>
  <dc:creator>ThuGiang</dc:creator>
</cp:coreProperties>
</file>