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y="6858000" cx="9144000"/>
  <p:notesSz cx="6858000" cy="9144000"/>
  <p:embeddedFontLst>
    <p:embeddedFont>
      <p:font typeface="Constantia"/>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8" roundtripDataSignature="AMtx7mhlGPHHSR/+cOVDw6vvYJh2gCF6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0C588A1-F6B5-44B5-BB38-DF9D579B4507}">
  <a:tblStyle styleId="{60C588A1-F6B5-44B5-BB38-DF9D579B450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font" Target="fonts/Constantia-regular.fntdata"/><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font" Target="fonts/Constantia-italic.fntdata"/><Relationship Id="rId23" Type="http://schemas.openxmlformats.org/officeDocument/2006/relationships/slide" Target="slides/slide16.xml"/><Relationship Id="rId45" Type="http://schemas.openxmlformats.org/officeDocument/2006/relationships/font" Target="fonts/Constanti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customschemas.google.com/relationships/presentationmetadata" Target="metadata"/><Relationship Id="rId25" Type="http://schemas.openxmlformats.org/officeDocument/2006/relationships/slide" Target="slides/slide18.xml"/><Relationship Id="rId47" Type="http://schemas.openxmlformats.org/officeDocument/2006/relationships/font" Target="fonts/Constantia-boldItalic.fnt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2" name="Google Shape;752;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40"/>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0"/>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4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4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4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39"/>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9"/>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3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42"/>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2"/>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4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4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43"/>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43"/>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4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4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44"/>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44"/>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44"/>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44"/>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4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45"/>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4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4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47"/>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47"/>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47"/>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4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48"/>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48"/>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48"/>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48"/>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4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8"/>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48"/>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48"/>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48"/>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4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49"/>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4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4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50"/>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50"/>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5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38"/>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38"/>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3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3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3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38"/>
          <p:cNvGrpSpPr/>
          <p:nvPr/>
        </p:nvGrpSpPr>
        <p:grpSpPr>
          <a:xfrm>
            <a:off x="-29294" y="-16113"/>
            <a:ext cx="9198255" cy="1086266"/>
            <a:chOff x="-29322" y="-1971"/>
            <a:chExt cx="9198255" cy="1086266"/>
          </a:xfrm>
        </p:grpSpPr>
        <p:sp>
          <p:nvSpPr>
            <p:cNvPr id="18" name="Google Shape;18;p38"/>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38"/>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37"/>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37"/>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3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3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3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3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37"/>
          <p:cNvGrpSpPr/>
          <p:nvPr/>
        </p:nvGrpSpPr>
        <p:grpSpPr>
          <a:xfrm>
            <a:off x="-29294" y="-16113"/>
            <a:ext cx="9198255" cy="1086266"/>
            <a:chOff x="-29322" y="-1971"/>
            <a:chExt cx="9198255" cy="1086266"/>
          </a:xfrm>
        </p:grpSpPr>
        <p:sp>
          <p:nvSpPr>
            <p:cNvPr id="35" name="Google Shape;35;p37"/>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37"/>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Phân tích Thiết kế HTTT</a:t>
            </a:r>
            <a:endParaRPr/>
          </a:p>
        </p:txBody>
      </p:sp>
      <p:sp>
        <p:nvSpPr>
          <p:cNvPr id="115" name="Google Shape;115;p1"/>
          <p:cNvSpPr txBox="1"/>
          <p:nvPr>
            <p:ph idx="1" type="subTitle"/>
          </p:nvPr>
        </p:nvSpPr>
        <p:spPr>
          <a:xfrm>
            <a:off x="533400" y="4191000"/>
            <a:ext cx="7854696" cy="19050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Ths. Nguyễn Văn Nam</a:t>
            </a:r>
            <a:endParaRPr/>
          </a:p>
          <a:p>
            <a:pPr indent="0" lvl="0" marL="0" marR="45720" rtl="0" algn="r">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spcBef>
                <a:spcPts val="520"/>
              </a:spcBef>
              <a:spcAft>
                <a:spcPts val="0"/>
              </a:spcAft>
              <a:buSzPts val="2470"/>
              <a:buNone/>
            </a:pPr>
            <a:r>
              <a:rPr lang="en-US"/>
              <a:t>Website: namvannguyen.blogspot.com</a:t>
            </a:r>
            <a:endParaRPr/>
          </a:p>
          <a:p>
            <a:pPr indent="0" lvl="0" marL="0" marR="45720" rtl="0" algn="r">
              <a:spcBef>
                <a:spcPts val="520"/>
              </a:spcBef>
              <a:spcAft>
                <a:spcPts val="0"/>
              </a:spcAft>
              <a:buSzPts val="2470"/>
              <a:buNone/>
            </a:pPr>
            <a:r>
              <a:t/>
            </a:r>
            <a:endParaRPr/>
          </a:p>
        </p:txBody>
      </p:sp>
      <p:sp>
        <p:nvSpPr>
          <p:cNvPr id="116" name="Google Shape;1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
          <p:cNvSpPr txBox="1"/>
          <p:nvPr/>
        </p:nvSpPr>
        <p:spPr>
          <a:xfrm>
            <a:off x="609600" y="3200400"/>
            <a:ext cx="7854696" cy="9144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Clr>
                <a:schemeClr val="accent3"/>
              </a:buClr>
              <a:buSzPts val="3040"/>
              <a:buFont typeface="Noto Sans Symbols"/>
              <a:buNone/>
            </a:pPr>
            <a:r>
              <a:rPr b="0" i="0" lang="en-US" sz="3200" u="none" cap="none" strike="noStrike">
                <a:solidFill>
                  <a:schemeClr val="lt1"/>
                </a:solidFill>
                <a:latin typeface="Constantia"/>
                <a:ea typeface="Constantia"/>
                <a:cs typeface="Constantia"/>
                <a:sym typeface="Constantia"/>
              </a:rPr>
              <a:t>Thiết kế cơ chế - kiến trúc</a:t>
            </a:r>
            <a:endParaRPr b="0" i="0" sz="32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Nội dung</a:t>
            </a:r>
            <a:endParaRPr/>
          </a:p>
        </p:txBody>
      </p:sp>
      <p:sp>
        <p:nvSpPr>
          <p:cNvPr id="123" name="Google Shape;123;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Xác định cơ chế thiết kế (Mechanisms)</a:t>
            </a:r>
            <a:endParaRPr/>
          </a:p>
          <a:p>
            <a:pPr indent="-246888" lvl="1" marL="640080" rtl="0" algn="l">
              <a:lnSpc>
                <a:spcPct val="90000"/>
              </a:lnSpc>
              <a:spcBef>
                <a:spcPts val="480"/>
              </a:spcBef>
              <a:spcAft>
                <a:spcPts val="0"/>
              </a:spcAft>
              <a:buSzPts val="2040"/>
              <a:buChar char="⚫"/>
            </a:pPr>
            <a:r>
              <a:rPr lang="en-US"/>
              <a:t>Patterns &amp; Frameworks</a:t>
            </a:r>
            <a:endParaRPr/>
          </a:p>
          <a:p>
            <a:pPr indent="-246888" lvl="1" marL="640080" rtl="0" algn="l">
              <a:lnSpc>
                <a:spcPct val="90000"/>
              </a:lnSpc>
              <a:spcBef>
                <a:spcPts val="480"/>
              </a:spcBef>
              <a:spcAft>
                <a:spcPts val="0"/>
              </a:spcAft>
              <a:buSzPts val="2040"/>
              <a:buChar char="⚫"/>
            </a:pPr>
            <a:r>
              <a:rPr lang="en-US"/>
              <a:t>Xác định cơ chế phân tích và thiết kế</a:t>
            </a:r>
            <a:endParaRPr/>
          </a:p>
          <a:p>
            <a:pPr indent="-274320" lvl="0" marL="274320" rtl="0" algn="l">
              <a:lnSpc>
                <a:spcPct val="90000"/>
              </a:lnSpc>
              <a:spcBef>
                <a:spcPts val="520"/>
              </a:spcBef>
              <a:spcAft>
                <a:spcPts val="0"/>
              </a:spcAft>
              <a:buSzPts val="2470"/>
              <a:buChar char="⚫"/>
            </a:pPr>
            <a:r>
              <a:rPr lang="en-US"/>
              <a:t>Kiến trúc thực thi (Runtime Architecture)</a:t>
            </a:r>
            <a:endParaRPr/>
          </a:p>
          <a:p>
            <a:pPr indent="-246888" lvl="1" marL="640080" rtl="0" algn="l">
              <a:lnSpc>
                <a:spcPct val="90000"/>
              </a:lnSpc>
              <a:spcBef>
                <a:spcPts val="480"/>
              </a:spcBef>
              <a:spcAft>
                <a:spcPts val="0"/>
              </a:spcAft>
              <a:buSzPts val="2040"/>
              <a:buChar char="⚫"/>
            </a:pPr>
            <a:r>
              <a:rPr lang="en-US"/>
              <a:t>Xác định mục tiêu của hoạt động mô tả kiến trúc thực thi và vị trí của nó trong vòng đời phát triển phần mềm</a:t>
            </a:r>
            <a:endParaRPr/>
          </a:p>
          <a:p>
            <a:pPr indent="-246888" lvl="1" marL="640080" rtl="0" algn="l">
              <a:lnSpc>
                <a:spcPct val="90000"/>
              </a:lnSpc>
              <a:spcBef>
                <a:spcPts val="480"/>
              </a:spcBef>
              <a:spcAft>
                <a:spcPts val="0"/>
              </a:spcAft>
              <a:buSzPts val="2040"/>
              <a:buChar char="⚫"/>
            </a:pPr>
            <a:r>
              <a:rPr lang="en-US"/>
              <a:t>Mô tả làm thế nào để mô hình hóa processes và threads</a:t>
            </a:r>
            <a:endParaRPr/>
          </a:p>
          <a:p>
            <a:pPr indent="-246888" lvl="1" marL="640080" rtl="0" algn="l">
              <a:lnSpc>
                <a:spcPct val="90000"/>
              </a:lnSpc>
              <a:spcBef>
                <a:spcPts val="480"/>
              </a:spcBef>
              <a:spcAft>
                <a:spcPts val="0"/>
              </a:spcAft>
              <a:buSzPts val="2040"/>
              <a:buChar char="⚫"/>
            </a:pPr>
            <a:r>
              <a:rPr lang="en-US"/>
              <a:t>Giải thích mô hình hóa các lớp và các hệ thống con được ánh xác với các processes và threads như thế nào</a:t>
            </a:r>
            <a:endParaRPr/>
          </a:p>
          <a:p>
            <a:pPr indent="-246888" lvl="1" marL="640080" rtl="0" algn="l">
              <a:lnSpc>
                <a:spcPct val="90000"/>
              </a:lnSpc>
              <a:spcBef>
                <a:spcPts val="480"/>
              </a:spcBef>
              <a:spcAft>
                <a:spcPts val="0"/>
              </a:spcAft>
              <a:buSzPts val="2040"/>
              <a:buChar char="⚫"/>
            </a:pPr>
            <a:r>
              <a:rPr lang="en-US"/>
              <a:t>Xác định các xem xét và lập luận hỗ trợ cho những quyết định mang tính kiến trúc</a:t>
            </a:r>
            <a:endParaRPr/>
          </a:p>
          <a:p>
            <a:pPr indent="-117475" lvl="0" marL="274320" rtl="0" algn="l">
              <a:lnSpc>
                <a:spcPct val="90000"/>
              </a:lnSpc>
              <a:spcBef>
                <a:spcPts val="520"/>
              </a:spcBef>
              <a:spcAft>
                <a:spcPts val="0"/>
              </a:spcAft>
              <a:buSzPts val="2470"/>
              <a:buNone/>
            </a:pPr>
            <a:r>
              <a:t/>
            </a:r>
            <a:endParaRPr i="1"/>
          </a:p>
        </p:txBody>
      </p:sp>
      <p:sp>
        <p:nvSpPr>
          <p:cNvPr id="124" name="Google Shape;124;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Tổng quan về Xác định cơ chế thiết kế</a:t>
            </a:r>
            <a:endParaRPr sz="3600"/>
          </a:p>
        </p:txBody>
      </p:sp>
      <p:sp>
        <p:nvSpPr>
          <p:cNvPr id="130" name="Google Shape;130;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31" name="Google Shape;131;p3"/>
          <p:cNvGrpSpPr/>
          <p:nvPr/>
        </p:nvGrpSpPr>
        <p:grpSpPr>
          <a:xfrm>
            <a:off x="838200" y="1676400"/>
            <a:ext cx="7467600" cy="4572003"/>
            <a:chOff x="558800" y="1489075"/>
            <a:chExt cx="7962900" cy="4759328"/>
          </a:xfrm>
        </p:grpSpPr>
        <p:grpSp>
          <p:nvGrpSpPr>
            <p:cNvPr id="132" name="Google Shape;132;p3"/>
            <p:cNvGrpSpPr/>
            <p:nvPr/>
          </p:nvGrpSpPr>
          <p:grpSpPr>
            <a:xfrm>
              <a:off x="558800" y="1677987"/>
              <a:ext cx="1720850" cy="1860550"/>
              <a:chOff x="3971" y="1776"/>
              <a:chExt cx="1084" cy="1172"/>
            </a:xfrm>
          </p:grpSpPr>
          <p:grpSp>
            <p:nvGrpSpPr>
              <p:cNvPr id="133" name="Google Shape;133;p3"/>
              <p:cNvGrpSpPr/>
              <p:nvPr/>
            </p:nvGrpSpPr>
            <p:grpSpPr>
              <a:xfrm>
                <a:off x="4297" y="1776"/>
                <a:ext cx="432" cy="720"/>
                <a:chOff x="1249" y="2496"/>
                <a:chExt cx="432" cy="720"/>
              </a:xfrm>
            </p:grpSpPr>
            <p:sp>
              <p:nvSpPr>
                <p:cNvPr id="134" name="Google Shape;134;p3"/>
                <p:cNvSpPr/>
                <p:nvPr/>
              </p:nvSpPr>
              <p:spPr>
                <a:xfrm>
                  <a:off x="1249" y="2496"/>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5" name="Google Shape;135;p3"/>
                <p:cNvCxnSpPr/>
                <p:nvPr/>
              </p:nvCxnSpPr>
              <p:spPr>
                <a:xfrm>
                  <a:off x="1537" y="2496"/>
                  <a:ext cx="144" cy="144"/>
                </a:xfrm>
                <a:prstGeom prst="straightConnector1">
                  <a:avLst/>
                </a:prstGeom>
                <a:noFill/>
                <a:ln cap="flat" cmpd="sng" w="28575">
                  <a:solidFill>
                    <a:schemeClr val="dk1"/>
                  </a:solidFill>
                  <a:prstDash val="solid"/>
                  <a:round/>
                  <a:headEnd len="sm" w="sm" type="none"/>
                  <a:tailEnd len="sm" w="sm" type="none"/>
                </a:ln>
              </p:spPr>
            </p:cxnSp>
            <p:cxnSp>
              <p:nvCxnSpPr>
                <p:cNvPr id="136" name="Google Shape;136;p3"/>
                <p:cNvCxnSpPr/>
                <p:nvPr/>
              </p:nvCxnSpPr>
              <p:spPr>
                <a:xfrm>
                  <a:off x="1537" y="2496"/>
                  <a:ext cx="0" cy="144"/>
                </a:xfrm>
                <a:prstGeom prst="straightConnector1">
                  <a:avLst/>
                </a:prstGeom>
                <a:noFill/>
                <a:ln cap="flat" cmpd="sng" w="28575">
                  <a:solidFill>
                    <a:schemeClr val="dk1"/>
                  </a:solidFill>
                  <a:prstDash val="solid"/>
                  <a:round/>
                  <a:headEnd len="sm" w="sm" type="none"/>
                  <a:tailEnd len="sm" w="sm" type="none"/>
                </a:ln>
              </p:spPr>
            </p:cxnSp>
            <p:cxnSp>
              <p:nvCxnSpPr>
                <p:cNvPr id="137" name="Google Shape;137;p3"/>
                <p:cNvCxnSpPr/>
                <p:nvPr/>
              </p:nvCxnSpPr>
              <p:spPr>
                <a:xfrm rot="10800000">
                  <a:off x="1537" y="2640"/>
                  <a:ext cx="144" cy="0"/>
                </a:xfrm>
                <a:prstGeom prst="straightConnector1">
                  <a:avLst/>
                </a:prstGeom>
                <a:noFill/>
                <a:ln cap="flat" cmpd="sng" w="28575">
                  <a:solidFill>
                    <a:schemeClr val="dk1"/>
                  </a:solidFill>
                  <a:prstDash val="solid"/>
                  <a:round/>
                  <a:headEnd len="sm" w="sm" type="none"/>
                  <a:tailEnd len="sm" w="sm" type="none"/>
                </a:ln>
              </p:spPr>
            </p:cxnSp>
            <p:cxnSp>
              <p:nvCxnSpPr>
                <p:cNvPr id="138" name="Google Shape;138;p3"/>
                <p:cNvCxnSpPr/>
                <p:nvPr/>
              </p:nvCxnSpPr>
              <p:spPr>
                <a:xfrm>
                  <a:off x="1297" y="2736"/>
                  <a:ext cx="336" cy="0"/>
                </a:xfrm>
                <a:prstGeom prst="straightConnector1">
                  <a:avLst/>
                </a:prstGeom>
                <a:noFill/>
                <a:ln cap="flat" cmpd="sng" w="28575">
                  <a:solidFill>
                    <a:schemeClr val="dk1"/>
                  </a:solidFill>
                  <a:prstDash val="solid"/>
                  <a:round/>
                  <a:headEnd len="sm" w="sm" type="none"/>
                  <a:tailEnd len="sm" w="sm" type="none"/>
                </a:ln>
              </p:spPr>
            </p:cxnSp>
            <p:cxnSp>
              <p:nvCxnSpPr>
                <p:cNvPr id="139" name="Google Shape;139;p3"/>
                <p:cNvCxnSpPr/>
                <p:nvPr/>
              </p:nvCxnSpPr>
              <p:spPr>
                <a:xfrm>
                  <a:off x="1297" y="2784"/>
                  <a:ext cx="336" cy="0"/>
                </a:xfrm>
                <a:prstGeom prst="straightConnector1">
                  <a:avLst/>
                </a:prstGeom>
                <a:noFill/>
                <a:ln cap="flat" cmpd="sng" w="28575">
                  <a:solidFill>
                    <a:schemeClr val="dk1"/>
                  </a:solidFill>
                  <a:prstDash val="solid"/>
                  <a:round/>
                  <a:headEnd len="sm" w="sm" type="none"/>
                  <a:tailEnd len="sm" w="sm" type="none"/>
                </a:ln>
              </p:spPr>
            </p:cxnSp>
            <p:cxnSp>
              <p:nvCxnSpPr>
                <p:cNvPr id="140" name="Google Shape;140;p3"/>
                <p:cNvCxnSpPr/>
                <p:nvPr/>
              </p:nvCxnSpPr>
              <p:spPr>
                <a:xfrm>
                  <a:off x="1297" y="2832"/>
                  <a:ext cx="336" cy="0"/>
                </a:xfrm>
                <a:prstGeom prst="straightConnector1">
                  <a:avLst/>
                </a:prstGeom>
                <a:noFill/>
                <a:ln cap="flat" cmpd="sng" w="28575">
                  <a:solidFill>
                    <a:schemeClr val="dk1"/>
                  </a:solidFill>
                  <a:prstDash val="solid"/>
                  <a:round/>
                  <a:headEnd len="sm" w="sm" type="none"/>
                  <a:tailEnd len="sm" w="sm" type="none"/>
                </a:ln>
              </p:spPr>
            </p:cxnSp>
            <p:cxnSp>
              <p:nvCxnSpPr>
                <p:cNvPr id="141" name="Google Shape;141;p3"/>
                <p:cNvCxnSpPr/>
                <p:nvPr/>
              </p:nvCxnSpPr>
              <p:spPr>
                <a:xfrm>
                  <a:off x="1297" y="2928"/>
                  <a:ext cx="336" cy="0"/>
                </a:xfrm>
                <a:prstGeom prst="straightConnector1">
                  <a:avLst/>
                </a:prstGeom>
                <a:noFill/>
                <a:ln cap="flat" cmpd="sng" w="28575">
                  <a:solidFill>
                    <a:schemeClr val="dk1"/>
                  </a:solidFill>
                  <a:prstDash val="solid"/>
                  <a:round/>
                  <a:headEnd len="sm" w="sm" type="none"/>
                  <a:tailEnd len="sm" w="sm" type="none"/>
                </a:ln>
              </p:spPr>
            </p:cxnSp>
            <p:cxnSp>
              <p:nvCxnSpPr>
                <p:cNvPr id="142" name="Google Shape;142;p3"/>
                <p:cNvCxnSpPr/>
                <p:nvPr/>
              </p:nvCxnSpPr>
              <p:spPr>
                <a:xfrm>
                  <a:off x="1297" y="2880"/>
                  <a:ext cx="336" cy="0"/>
                </a:xfrm>
                <a:prstGeom prst="straightConnector1">
                  <a:avLst/>
                </a:prstGeom>
                <a:noFill/>
                <a:ln cap="flat" cmpd="sng" w="28575">
                  <a:solidFill>
                    <a:schemeClr val="dk1"/>
                  </a:solidFill>
                  <a:prstDash val="solid"/>
                  <a:round/>
                  <a:headEnd len="sm" w="sm" type="none"/>
                  <a:tailEnd len="sm" w="sm" type="none"/>
                </a:ln>
              </p:spPr>
            </p:cxnSp>
            <p:cxnSp>
              <p:nvCxnSpPr>
                <p:cNvPr id="143" name="Google Shape;143;p3"/>
                <p:cNvCxnSpPr/>
                <p:nvPr/>
              </p:nvCxnSpPr>
              <p:spPr>
                <a:xfrm>
                  <a:off x="1297" y="2976"/>
                  <a:ext cx="336" cy="0"/>
                </a:xfrm>
                <a:prstGeom prst="straightConnector1">
                  <a:avLst/>
                </a:prstGeom>
                <a:noFill/>
                <a:ln cap="flat" cmpd="sng" w="28575">
                  <a:solidFill>
                    <a:schemeClr val="dk1"/>
                  </a:solidFill>
                  <a:prstDash val="solid"/>
                  <a:round/>
                  <a:headEnd len="sm" w="sm" type="none"/>
                  <a:tailEnd len="sm" w="sm" type="none"/>
                </a:ln>
              </p:spPr>
            </p:cxnSp>
            <p:cxnSp>
              <p:nvCxnSpPr>
                <p:cNvPr id="144" name="Google Shape;144;p3"/>
                <p:cNvCxnSpPr/>
                <p:nvPr/>
              </p:nvCxnSpPr>
              <p:spPr>
                <a:xfrm>
                  <a:off x="1297" y="3024"/>
                  <a:ext cx="336" cy="0"/>
                </a:xfrm>
                <a:prstGeom prst="straightConnector1">
                  <a:avLst/>
                </a:prstGeom>
                <a:noFill/>
                <a:ln cap="flat" cmpd="sng" w="28575">
                  <a:solidFill>
                    <a:schemeClr val="dk1"/>
                  </a:solidFill>
                  <a:prstDash val="solid"/>
                  <a:round/>
                  <a:headEnd len="sm" w="sm" type="none"/>
                  <a:tailEnd len="sm" w="sm" type="none"/>
                </a:ln>
              </p:spPr>
            </p:cxnSp>
            <p:cxnSp>
              <p:nvCxnSpPr>
                <p:cNvPr id="145" name="Google Shape;145;p3"/>
                <p:cNvCxnSpPr/>
                <p:nvPr/>
              </p:nvCxnSpPr>
              <p:spPr>
                <a:xfrm>
                  <a:off x="1297" y="3072"/>
                  <a:ext cx="336" cy="0"/>
                </a:xfrm>
                <a:prstGeom prst="straightConnector1">
                  <a:avLst/>
                </a:prstGeom>
                <a:noFill/>
                <a:ln cap="flat" cmpd="sng" w="28575">
                  <a:solidFill>
                    <a:schemeClr val="dk1"/>
                  </a:solidFill>
                  <a:prstDash val="solid"/>
                  <a:round/>
                  <a:headEnd len="sm" w="sm" type="none"/>
                  <a:tailEnd len="sm" w="sm" type="none"/>
                </a:ln>
              </p:spPr>
            </p:cxnSp>
            <p:cxnSp>
              <p:nvCxnSpPr>
                <p:cNvPr id="146" name="Google Shape;146;p3"/>
                <p:cNvCxnSpPr/>
                <p:nvPr/>
              </p:nvCxnSpPr>
              <p:spPr>
                <a:xfrm>
                  <a:off x="1297" y="3120"/>
                  <a:ext cx="336" cy="0"/>
                </a:xfrm>
                <a:prstGeom prst="straightConnector1">
                  <a:avLst/>
                </a:prstGeom>
                <a:noFill/>
                <a:ln cap="flat" cmpd="sng" w="28575">
                  <a:solidFill>
                    <a:schemeClr val="dk1"/>
                  </a:solidFill>
                  <a:prstDash val="solid"/>
                  <a:round/>
                  <a:headEnd len="sm" w="sm" type="none"/>
                  <a:tailEnd len="sm" w="sm" type="none"/>
                </a:ln>
              </p:spPr>
            </p:cxnSp>
            <p:cxnSp>
              <p:nvCxnSpPr>
                <p:cNvPr id="147" name="Google Shape;147;p3"/>
                <p:cNvCxnSpPr/>
                <p:nvPr/>
              </p:nvCxnSpPr>
              <p:spPr>
                <a:xfrm>
                  <a:off x="1297" y="3168"/>
                  <a:ext cx="336" cy="0"/>
                </a:xfrm>
                <a:prstGeom prst="straightConnector1">
                  <a:avLst/>
                </a:prstGeom>
                <a:noFill/>
                <a:ln cap="flat" cmpd="sng" w="28575">
                  <a:solidFill>
                    <a:schemeClr val="dk1"/>
                  </a:solidFill>
                  <a:prstDash val="solid"/>
                  <a:round/>
                  <a:headEnd len="sm" w="sm" type="none"/>
                  <a:tailEnd len="sm" w="sm" type="none"/>
                </a:ln>
              </p:spPr>
            </p:cxnSp>
            <p:cxnSp>
              <p:nvCxnSpPr>
                <p:cNvPr id="148" name="Google Shape;148;p3"/>
                <p:cNvCxnSpPr/>
                <p:nvPr/>
              </p:nvCxnSpPr>
              <p:spPr>
                <a:xfrm>
                  <a:off x="1297" y="2688"/>
                  <a:ext cx="336" cy="0"/>
                </a:xfrm>
                <a:prstGeom prst="straightConnector1">
                  <a:avLst/>
                </a:prstGeom>
                <a:noFill/>
                <a:ln cap="flat" cmpd="sng" w="28575">
                  <a:solidFill>
                    <a:schemeClr val="dk1"/>
                  </a:solidFill>
                  <a:prstDash val="solid"/>
                  <a:round/>
                  <a:headEnd len="sm" w="sm" type="none"/>
                  <a:tailEnd len="sm" w="sm" type="none"/>
                </a:ln>
              </p:spPr>
            </p:cxnSp>
            <p:cxnSp>
              <p:nvCxnSpPr>
                <p:cNvPr id="149" name="Google Shape;149;p3"/>
                <p:cNvCxnSpPr/>
                <p:nvPr/>
              </p:nvCxnSpPr>
              <p:spPr>
                <a:xfrm>
                  <a:off x="1297" y="2592"/>
                  <a:ext cx="209" cy="0"/>
                </a:xfrm>
                <a:prstGeom prst="straightConnector1">
                  <a:avLst/>
                </a:prstGeom>
                <a:noFill/>
                <a:ln cap="flat" cmpd="sng" w="28575">
                  <a:solidFill>
                    <a:schemeClr val="dk1"/>
                  </a:solidFill>
                  <a:prstDash val="solid"/>
                  <a:round/>
                  <a:headEnd len="sm" w="sm" type="none"/>
                  <a:tailEnd len="sm" w="sm" type="none"/>
                </a:ln>
              </p:spPr>
            </p:cxnSp>
            <p:cxnSp>
              <p:nvCxnSpPr>
                <p:cNvPr id="150" name="Google Shape;150;p3"/>
                <p:cNvCxnSpPr/>
                <p:nvPr/>
              </p:nvCxnSpPr>
              <p:spPr>
                <a:xfrm>
                  <a:off x="1297" y="2544"/>
                  <a:ext cx="209" cy="0"/>
                </a:xfrm>
                <a:prstGeom prst="straightConnector1">
                  <a:avLst/>
                </a:prstGeom>
                <a:noFill/>
                <a:ln cap="flat" cmpd="sng" w="28575">
                  <a:solidFill>
                    <a:schemeClr val="dk1"/>
                  </a:solidFill>
                  <a:prstDash val="solid"/>
                  <a:round/>
                  <a:headEnd len="sm" w="sm" type="none"/>
                  <a:tailEnd len="sm" w="sm" type="none"/>
                </a:ln>
              </p:spPr>
            </p:cxnSp>
            <p:cxnSp>
              <p:nvCxnSpPr>
                <p:cNvPr id="151" name="Google Shape;151;p3"/>
                <p:cNvCxnSpPr/>
                <p:nvPr/>
              </p:nvCxnSpPr>
              <p:spPr>
                <a:xfrm>
                  <a:off x="1297" y="2640"/>
                  <a:ext cx="209" cy="0"/>
                </a:xfrm>
                <a:prstGeom prst="straightConnector1">
                  <a:avLst/>
                </a:prstGeom>
                <a:noFill/>
                <a:ln cap="flat" cmpd="sng" w="28575">
                  <a:solidFill>
                    <a:schemeClr val="dk1"/>
                  </a:solidFill>
                  <a:prstDash val="solid"/>
                  <a:round/>
                  <a:headEnd len="sm" w="sm" type="none"/>
                  <a:tailEnd len="sm" w="sm" type="none"/>
                </a:ln>
              </p:spPr>
            </p:cxnSp>
          </p:grpSp>
          <p:sp>
            <p:nvSpPr>
              <p:cNvPr id="152" name="Google Shape;152;p3"/>
              <p:cNvSpPr txBox="1"/>
              <p:nvPr/>
            </p:nvSpPr>
            <p:spPr>
              <a:xfrm>
                <a:off x="3971" y="2544"/>
                <a:ext cx="1084"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Supplementary</a:t>
                </a:r>
                <a:endParaRPr/>
              </a:p>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Specifications</a:t>
                </a:r>
                <a:endParaRPr/>
              </a:p>
            </p:txBody>
          </p:sp>
        </p:grpSp>
        <p:sp>
          <p:nvSpPr>
            <p:cNvPr id="153" name="Google Shape;153;p3"/>
            <p:cNvSpPr/>
            <p:nvPr/>
          </p:nvSpPr>
          <p:spPr>
            <a:xfrm>
              <a:off x="3721100" y="4217987"/>
              <a:ext cx="2222500" cy="1143000"/>
            </a:xfrm>
            <a:prstGeom prst="homePlate">
              <a:avLst>
                <a:gd fmla="val 61871" name="adj"/>
              </a:avLst>
            </a:prstGeom>
            <a:solidFill>
              <a:srgbClr val="00CCFF"/>
            </a:solid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2"/>
                </a:buClr>
                <a:buSzPts val="2000"/>
                <a:buFont typeface="Constantia"/>
                <a:buNone/>
              </a:pPr>
              <a:r>
                <a:rPr b="1" lang="en-US" sz="2000">
                  <a:solidFill>
                    <a:schemeClr val="lt2"/>
                  </a:solidFill>
                  <a:latin typeface="Constantia"/>
                  <a:ea typeface="Constantia"/>
                  <a:cs typeface="Constantia"/>
                  <a:sym typeface="Constantia"/>
                </a:rPr>
                <a:t>Identify </a:t>
              </a:r>
              <a:endParaRPr/>
            </a:p>
            <a:p>
              <a:pPr indent="0" lvl="0" marL="0" marR="0" rtl="0" algn="ctr">
                <a:lnSpc>
                  <a:spcPct val="100000"/>
                </a:lnSpc>
                <a:spcBef>
                  <a:spcPts val="0"/>
                </a:spcBef>
                <a:spcAft>
                  <a:spcPts val="0"/>
                </a:spcAft>
                <a:buClr>
                  <a:schemeClr val="lt2"/>
                </a:buClr>
                <a:buSzPts val="2000"/>
                <a:buFont typeface="Constantia"/>
                <a:buNone/>
              </a:pPr>
              <a:r>
                <a:rPr b="1" lang="en-US" sz="2000">
                  <a:solidFill>
                    <a:schemeClr val="lt2"/>
                  </a:solidFill>
                  <a:latin typeface="Constantia"/>
                  <a:ea typeface="Constantia"/>
                  <a:cs typeface="Constantia"/>
                  <a:sym typeface="Constantia"/>
                </a:rPr>
                <a:t>Design</a:t>
              </a:r>
              <a:endParaRPr/>
            </a:p>
            <a:p>
              <a:pPr indent="0" lvl="0" marL="0" marR="0" rtl="0" algn="ctr">
                <a:lnSpc>
                  <a:spcPct val="100000"/>
                </a:lnSpc>
                <a:spcBef>
                  <a:spcPts val="0"/>
                </a:spcBef>
                <a:spcAft>
                  <a:spcPts val="0"/>
                </a:spcAft>
                <a:buClr>
                  <a:schemeClr val="lt2"/>
                </a:buClr>
                <a:buSzPts val="2000"/>
                <a:buFont typeface="Constantia"/>
                <a:buNone/>
              </a:pPr>
              <a:r>
                <a:rPr b="1" lang="en-US" sz="2000">
                  <a:solidFill>
                    <a:schemeClr val="lt2"/>
                  </a:solidFill>
                  <a:latin typeface="Constantia"/>
                  <a:ea typeface="Constantia"/>
                  <a:cs typeface="Constantia"/>
                  <a:sym typeface="Constantia"/>
                </a:rPr>
                <a:t>Mechanisms</a:t>
              </a:r>
              <a:endParaRPr sz="1800">
                <a:solidFill>
                  <a:schemeClr val="lt2"/>
                </a:solidFill>
                <a:latin typeface="Constantia"/>
                <a:ea typeface="Constantia"/>
                <a:cs typeface="Constantia"/>
                <a:sym typeface="Constantia"/>
              </a:endParaRPr>
            </a:p>
          </p:txBody>
        </p:sp>
        <p:grpSp>
          <p:nvGrpSpPr>
            <p:cNvPr id="154" name="Google Shape;154;p3"/>
            <p:cNvGrpSpPr/>
            <p:nvPr/>
          </p:nvGrpSpPr>
          <p:grpSpPr>
            <a:xfrm>
              <a:off x="3917950" y="1489075"/>
              <a:ext cx="1403350" cy="2120900"/>
              <a:chOff x="2796" y="585"/>
              <a:chExt cx="884" cy="1336"/>
            </a:xfrm>
          </p:grpSpPr>
          <p:grpSp>
            <p:nvGrpSpPr>
              <p:cNvPr id="155" name="Google Shape;155;p3"/>
              <p:cNvGrpSpPr/>
              <p:nvPr/>
            </p:nvGrpSpPr>
            <p:grpSpPr>
              <a:xfrm>
                <a:off x="3022" y="585"/>
                <a:ext cx="432" cy="720"/>
                <a:chOff x="1249" y="2496"/>
                <a:chExt cx="432" cy="720"/>
              </a:xfrm>
            </p:grpSpPr>
            <p:sp>
              <p:nvSpPr>
                <p:cNvPr id="156" name="Google Shape;156;p3"/>
                <p:cNvSpPr/>
                <p:nvPr/>
              </p:nvSpPr>
              <p:spPr>
                <a:xfrm>
                  <a:off x="1249" y="2496"/>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57" name="Google Shape;157;p3"/>
                <p:cNvCxnSpPr/>
                <p:nvPr/>
              </p:nvCxnSpPr>
              <p:spPr>
                <a:xfrm>
                  <a:off x="1537" y="2496"/>
                  <a:ext cx="144" cy="144"/>
                </a:xfrm>
                <a:prstGeom prst="straightConnector1">
                  <a:avLst/>
                </a:prstGeom>
                <a:noFill/>
                <a:ln cap="flat" cmpd="sng" w="28575">
                  <a:solidFill>
                    <a:schemeClr val="dk1"/>
                  </a:solidFill>
                  <a:prstDash val="solid"/>
                  <a:round/>
                  <a:headEnd len="sm" w="sm" type="none"/>
                  <a:tailEnd len="sm" w="sm" type="none"/>
                </a:ln>
              </p:spPr>
            </p:cxnSp>
            <p:cxnSp>
              <p:nvCxnSpPr>
                <p:cNvPr id="158" name="Google Shape;158;p3"/>
                <p:cNvCxnSpPr/>
                <p:nvPr/>
              </p:nvCxnSpPr>
              <p:spPr>
                <a:xfrm>
                  <a:off x="1537" y="2496"/>
                  <a:ext cx="0" cy="144"/>
                </a:xfrm>
                <a:prstGeom prst="straightConnector1">
                  <a:avLst/>
                </a:prstGeom>
                <a:noFill/>
                <a:ln cap="flat" cmpd="sng" w="28575">
                  <a:solidFill>
                    <a:schemeClr val="dk1"/>
                  </a:solidFill>
                  <a:prstDash val="solid"/>
                  <a:round/>
                  <a:headEnd len="sm" w="sm" type="none"/>
                  <a:tailEnd len="sm" w="sm" type="none"/>
                </a:ln>
              </p:spPr>
            </p:cxnSp>
            <p:cxnSp>
              <p:nvCxnSpPr>
                <p:cNvPr id="159" name="Google Shape;159;p3"/>
                <p:cNvCxnSpPr/>
                <p:nvPr/>
              </p:nvCxnSpPr>
              <p:spPr>
                <a:xfrm rot="10800000">
                  <a:off x="1537" y="2640"/>
                  <a:ext cx="144" cy="0"/>
                </a:xfrm>
                <a:prstGeom prst="straightConnector1">
                  <a:avLst/>
                </a:prstGeom>
                <a:noFill/>
                <a:ln cap="flat" cmpd="sng" w="28575">
                  <a:solidFill>
                    <a:schemeClr val="dk1"/>
                  </a:solidFill>
                  <a:prstDash val="solid"/>
                  <a:round/>
                  <a:headEnd len="sm" w="sm" type="none"/>
                  <a:tailEnd len="sm" w="sm" type="none"/>
                </a:ln>
              </p:spPr>
            </p:cxnSp>
            <p:cxnSp>
              <p:nvCxnSpPr>
                <p:cNvPr id="160" name="Google Shape;160;p3"/>
                <p:cNvCxnSpPr/>
                <p:nvPr/>
              </p:nvCxnSpPr>
              <p:spPr>
                <a:xfrm>
                  <a:off x="1297" y="2736"/>
                  <a:ext cx="336" cy="0"/>
                </a:xfrm>
                <a:prstGeom prst="straightConnector1">
                  <a:avLst/>
                </a:prstGeom>
                <a:noFill/>
                <a:ln cap="flat" cmpd="sng" w="28575">
                  <a:solidFill>
                    <a:schemeClr val="dk1"/>
                  </a:solidFill>
                  <a:prstDash val="solid"/>
                  <a:round/>
                  <a:headEnd len="sm" w="sm" type="none"/>
                  <a:tailEnd len="sm" w="sm" type="none"/>
                </a:ln>
              </p:spPr>
            </p:cxnSp>
            <p:cxnSp>
              <p:nvCxnSpPr>
                <p:cNvPr id="161" name="Google Shape;161;p3"/>
                <p:cNvCxnSpPr/>
                <p:nvPr/>
              </p:nvCxnSpPr>
              <p:spPr>
                <a:xfrm>
                  <a:off x="1297" y="2784"/>
                  <a:ext cx="336" cy="0"/>
                </a:xfrm>
                <a:prstGeom prst="straightConnector1">
                  <a:avLst/>
                </a:prstGeom>
                <a:noFill/>
                <a:ln cap="flat" cmpd="sng" w="28575">
                  <a:solidFill>
                    <a:schemeClr val="dk1"/>
                  </a:solidFill>
                  <a:prstDash val="solid"/>
                  <a:round/>
                  <a:headEnd len="sm" w="sm" type="none"/>
                  <a:tailEnd len="sm" w="sm" type="none"/>
                </a:ln>
              </p:spPr>
            </p:cxnSp>
            <p:cxnSp>
              <p:nvCxnSpPr>
                <p:cNvPr id="162" name="Google Shape;162;p3"/>
                <p:cNvCxnSpPr/>
                <p:nvPr/>
              </p:nvCxnSpPr>
              <p:spPr>
                <a:xfrm>
                  <a:off x="1297" y="2832"/>
                  <a:ext cx="336" cy="0"/>
                </a:xfrm>
                <a:prstGeom prst="straightConnector1">
                  <a:avLst/>
                </a:prstGeom>
                <a:noFill/>
                <a:ln cap="flat" cmpd="sng" w="28575">
                  <a:solidFill>
                    <a:schemeClr val="dk1"/>
                  </a:solidFill>
                  <a:prstDash val="solid"/>
                  <a:round/>
                  <a:headEnd len="sm" w="sm" type="none"/>
                  <a:tailEnd len="sm" w="sm" type="none"/>
                </a:ln>
              </p:spPr>
            </p:cxnSp>
            <p:cxnSp>
              <p:nvCxnSpPr>
                <p:cNvPr id="163" name="Google Shape;163;p3"/>
                <p:cNvCxnSpPr/>
                <p:nvPr/>
              </p:nvCxnSpPr>
              <p:spPr>
                <a:xfrm>
                  <a:off x="1297" y="2928"/>
                  <a:ext cx="336" cy="0"/>
                </a:xfrm>
                <a:prstGeom prst="straightConnector1">
                  <a:avLst/>
                </a:prstGeom>
                <a:noFill/>
                <a:ln cap="flat" cmpd="sng" w="28575">
                  <a:solidFill>
                    <a:schemeClr val="dk1"/>
                  </a:solidFill>
                  <a:prstDash val="solid"/>
                  <a:round/>
                  <a:headEnd len="sm" w="sm" type="none"/>
                  <a:tailEnd len="sm" w="sm" type="none"/>
                </a:ln>
              </p:spPr>
            </p:cxnSp>
            <p:cxnSp>
              <p:nvCxnSpPr>
                <p:cNvPr id="164" name="Google Shape;164;p3"/>
                <p:cNvCxnSpPr/>
                <p:nvPr/>
              </p:nvCxnSpPr>
              <p:spPr>
                <a:xfrm>
                  <a:off x="1297" y="2880"/>
                  <a:ext cx="336" cy="0"/>
                </a:xfrm>
                <a:prstGeom prst="straightConnector1">
                  <a:avLst/>
                </a:prstGeom>
                <a:noFill/>
                <a:ln cap="flat" cmpd="sng" w="28575">
                  <a:solidFill>
                    <a:schemeClr val="dk1"/>
                  </a:solidFill>
                  <a:prstDash val="solid"/>
                  <a:round/>
                  <a:headEnd len="sm" w="sm" type="none"/>
                  <a:tailEnd len="sm" w="sm" type="none"/>
                </a:ln>
              </p:spPr>
            </p:cxnSp>
            <p:cxnSp>
              <p:nvCxnSpPr>
                <p:cNvPr id="165" name="Google Shape;165;p3"/>
                <p:cNvCxnSpPr/>
                <p:nvPr/>
              </p:nvCxnSpPr>
              <p:spPr>
                <a:xfrm>
                  <a:off x="1297" y="2976"/>
                  <a:ext cx="336" cy="0"/>
                </a:xfrm>
                <a:prstGeom prst="straightConnector1">
                  <a:avLst/>
                </a:prstGeom>
                <a:noFill/>
                <a:ln cap="flat" cmpd="sng" w="28575">
                  <a:solidFill>
                    <a:schemeClr val="dk1"/>
                  </a:solidFill>
                  <a:prstDash val="solid"/>
                  <a:round/>
                  <a:headEnd len="sm" w="sm" type="none"/>
                  <a:tailEnd len="sm" w="sm" type="none"/>
                </a:ln>
              </p:spPr>
            </p:cxnSp>
            <p:cxnSp>
              <p:nvCxnSpPr>
                <p:cNvPr id="166" name="Google Shape;166;p3"/>
                <p:cNvCxnSpPr/>
                <p:nvPr/>
              </p:nvCxnSpPr>
              <p:spPr>
                <a:xfrm>
                  <a:off x="1297" y="3024"/>
                  <a:ext cx="336" cy="0"/>
                </a:xfrm>
                <a:prstGeom prst="straightConnector1">
                  <a:avLst/>
                </a:prstGeom>
                <a:noFill/>
                <a:ln cap="flat" cmpd="sng" w="28575">
                  <a:solidFill>
                    <a:schemeClr val="dk1"/>
                  </a:solidFill>
                  <a:prstDash val="solid"/>
                  <a:round/>
                  <a:headEnd len="sm" w="sm" type="none"/>
                  <a:tailEnd len="sm" w="sm" type="none"/>
                </a:ln>
              </p:spPr>
            </p:cxnSp>
            <p:cxnSp>
              <p:nvCxnSpPr>
                <p:cNvPr id="167" name="Google Shape;167;p3"/>
                <p:cNvCxnSpPr/>
                <p:nvPr/>
              </p:nvCxnSpPr>
              <p:spPr>
                <a:xfrm>
                  <a:off x="1297" y="3072"/>
                  <a:ext cx="336" cy="0"/>
                </a:xfrm>
                <a:prstGeom prst="straightConnector1">
                  <a:avLst/>
                </a:prstGeom>
                <a:noFill/>
                <a:ln cap="flat" cmpd="sng" w="28575">
                  <a:solidFill>
                    <a:schemeClr val="dk1"/>
                  </a:solidFill>
                  <a:prstDash val="solid"/>
                  <a:round/>
                  <a:headEnd len="sm" w="sm" type="none"/>
                  <a:tailEnd len="sm" w="sm" type="none"/>
                </a:ln>
              </p:spPr>
            </p:cxnSp>
            <p:cxnSp>
              <p:nvCxnSpPr>
                <p:cNvPr id="168" name="Google Shape;168;p3"/>
                <p:cNvCxnSpPr/>
                <p:nvPr/>
              </p:nvCxnSpPr>
              <p:spPr>
                <a:xfrm>
                  <a:off x="1297" y="3120"/>
                  <a:ext cx="336" cy="0"/>
                </a:xfrm>
                <a:prstGeom prst="straightConnector1">
                  <a:avLst/>
                </a:prstGeom>
                <a:noFill/>
                <a:ln cap="flat" cmpd="sng" w="28575">
                  <a:solidFill>
                    <a:schemeClr val="dk1"/>
                  </a:solidFill>
                  <a:prstDash val="solid"/>
                  <a:round/>
                  <a:headEnd len="sm" w="sm" type="none"/>
                  <a:tailEnd len="sm" w="sm" type="none"/>
                </a:ln>
              </p:spPr>
            </p:cxnSp>
            <p:cxnSp>
              <p:nvCxnSpPr>
                <p:cNvPr id="169" name="Google Shape;169;p3"/>
                <p:cNvCxnSpPr/>
                <p:nvPr/>
              </p:nvCxnSpPr>
              <p:spPr>
                <a:xfrm>
                  <a:off x="1297" y="3168"/>
                  <a:ext cx="336" cy="0"/>
                </a:xfrm>
                <a:prstGeom prst="straightConnector1">
                  <a:avLst/>
                </a:prstGeom>
                <a:noFill/>
                <a:ln cap="flat" cmpd="sng" w="28575">
                  <a:solidFill>
                    <a:schemeClr val="dk1"/>
                  </a:solidFill>
                  <a:prstDash val="solid"/>
                  <a:round/>
                  <a:headEnd len="sm" w="sm" type="none"/>
                  <a:tailEnd len="sm" w="sm" type="none"/>
                </a:ln>
              </p:spPr>
            </p:cxnSp>
            <p:cxnSp>
              <p:nvCxnSpPr>
                <p:cNvPr id="170" name="Google Shape;170;p3"/>
                <p:cNvCxnSpPr/>
                <p:nvPr/>
              </p:nvCxnSpPr>
              <p:spPr>
                <a:xfrm>
                  <a:off x="1297" y="2688"/>
                  <a:ext cx="336" cy="0"/>
                </a:xfrm>
                <a:prstGeom prst="straightConnector1">
                  <a:avLst/>
                </a:prstGeom>
                <a:noFill/>
                <a:ln cap="flat" cmpd="sng" w="28575">
                  <a:solidFill>
                    <a:schemeClr val="dk1"/>
                  </a:solidFill>
                  <a:prstDash val="solid"/>
                  <a:round/>
                  <a:headEnd len="sm" w="sm" type="none"/>
                  <a:tailEnd len="sm" w="sm" type="none"/>
                </a:ln>
              </p:spPr>
            </p:cxnSp>
            <p:cxnSp>
              <p:nvCxnSpPr>
                <p:cNvPr id="171" name="Google Shape;171;p3"/>
                <p:cNvCxnSpPr/>
                <p:nvPr/>
              </p:nvCxnSpPr>
              <p:spPr>
                <a:xfrm>
                  <a:off x="1297" y="2592"/>
                  <a:ext cx="209" cy="0"/>
                </a:xfrm>
                <a:prstGeom prst="straightConnector1">
                  <a:avLst/>
                </a:prstGeom>
                <a:noFill/>
                <a:ln cap="flat" cmpd="sng" w="28575">
                  <a:solidFill>
                    <a:schemeClr val="dk1"/>
                  </a:solidFill>
                  <a:prstDash val="solid"/>
                  <a:round/>
                  <a:headEnd len="sm" w="sm" type="none"/>
                  <a:tailEnd len="sm" w="sm" type="none"/>
                </a:ln>
              </p:spPr>
            </p:cxnSp>
            <p:cxnSp>
              <p:nvCxnSpPr>
                <p:cNvPr id="172" name="Google Shape;172;p3"/>
                <p:cNvCxnSpPr/>
                <p:nvPr/>
              </p:nvCxnSpPr>
              <p:spPr>
                <a:xfrm>
                  <a:off x="1297" y="2544"/>
                  <a:ext cx="209" cy="0"/>
                </a:xfrm>
                <a:prstGeom prst="straightConnector1">
                  <a:avLst/>
                </a:prstGeom>
                <a:noFill/>
                <a:ln cap="flat" cmpd="sng" w="28575">
                  <a:solidFill>
                    <a:schemeClr val="dk1"/>
                  </a:solidFill>
                  <a:prstDash val="solid"/>
                  <a:round/>
                  <a:headEnd len="sm" w="sm" type="none"/>
                  <a:tailEnd len="sm" w="sm" type="none"/>
                </a:ln>
              </p:spPr>
            </p:cxnSp>
            <p:cxnSp>
              <p:nvCxnSpPr>
                <p:cNvPr id="173" name="Google Shape;173;p3"/>
                <p:cNvCxnSpPr/>
                <p:nvPr/>
              </p:nvCxnSpPr>
              <p:spPr>
                <a:xfrm>
                  <a:off x="1297" y="2640"/>
                  <a:ext cx="209" cy="0"/>
                </a:xfrm>
                <a:prstGeom prst="straightConnector1">
                  <a:avLst/>
                </a:prstGeom>
                <a:noFill/>
                <a:ln cap="flat" cmpd="sng" w="28575">
                  <a:solidFill>
                    <a:schemeClr val="dk1"/>
                  </a:solidFill>
                  <a:prstDash val="solid"/>
                  <a:round/>
                  <a:headEnd len="sm" w="sm" type="none"/>
                  <a:tailEnd len="sm" w="sm" type="none"/>
                </a:ln>
              </p:spPr>
            </p:cxnSp>
          </p:grpSp>
          <p:sp>
            <p:nvSpPr>
              <p:cNvPr id="174" name="Google Shape;174;p3"/>
              <p:cNvSpPr txBox="1"/>
              <p:nvPr/>
            </p:nvSpPr>
            <p:spPr>
              <a:xfrm>
                <a:off x="2796" y="1344"/>
                <a:ext cx="884" cy="5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Software</a:t>
                </a:r>
                <a:endParaRPr/>
              </a:p>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Architecture</a:t>
                </a:r>
                <a:endParaRPr/>
              </a:p>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Document</a:t>
                </a:r>
                <a:endParaRPr/>
              </a:p>
            </p:txBody>
          </p:sp>
        </p:grpSp>
        <p:grpSp>
          <p:nvGrpSpPr>
            <p:cNvPr id="175" name="Google Shape;175;p3"/>
            <p:cNvGrpSpPr/>
            <p:nvPr/>
          </p:nvGrpSpPr>
          <p:grpSpPr>
            <a:xfrm>
              <a:off x="6545263" y="3760788"/>
              <a:ext cx="1976437" cy="1724026"/>
              <a:chOff x="1309" y="1072"/>
              <a:chExt cx="1245" cy="1086"/>
            </a:xfrm>
          </p:grpSpPr>
          <p:grpSp>
            <p:nvGrpSpPr>
              <p:cNvPr id="176" name="Google Shape;176;p3"/>
              <p:cNvGrpSpPr/>
              <p:nvPr/>
            </p:nvGrpSpPr>
            <p:grpSpPr>
              <a:xfrm>
                <a:off x="1309" y="1072"/>
                <a:ext cx="1245" cy="766"/>
                <a:chOff x="1309" y="1072"/>
                <a:chExt cx="1245" cy="766"/>
              </a:xfrm>
            </p:grpSpPr>
            <p:grpSp>
              <p:nvGrpSpPr>
                <p:cNvPr id="177" name="Google Shape;177;p3"/>
                <p:cNvGrpSpPr/>
                <p:nvPr/>
              </p:nvGrpSpPr>
              <p:grpSpPr>
                <a:xfrm>
                  <a:off x="1309" y="1231"/>
                  <a:ext cx="302" cy="175"/>
                  <a:chOff x="144" y="1440"/>
                  <a:chExt cx="881" cy="510"/>
                </a:xfrm>
              </p:grpSpPr>
              <p:sp>
                <p:nvSpPr>
                  <p:cNvPr id="178" name="Google Shape;178;p3"/>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79" name="Google Shape;179;p3"/>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180" name="Google Shape;180;p3"/>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181" name="Google Shape;181;p3"/>
                <p:cNvGrpSpPr/>
                <p:nvPr/>
              </p:nvGrpSpPr>
              <p:grpSpPr>
                <a:xfrm>
                  <a:off x="1950" y="1072"/>
                  <a:ext cx="302" cy="175"/>
                  <a:chOff x="144" y="1440"/>
                  <a:chExt cx="881" cy="510"/>
                </a:xfrm>
              </p:grpSpPr>
              <p:sp>
                <p:nvSpPr>
                  <p:cNvPr id="182" name="Google Shape;182;p3"/>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83" name="Google Shape;183;p3"/>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184" name="Google Shape;184;p3"/>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185" name="Google Shape;185;p3"/>
                <p:cNvGrpSpPr/>
                <p:nvPr/>
              </p:nvGrpSpPr>
              <p:grpSpPr>
                <a:xfrm>
                  <a:off x="1648" y="1663"/>
                  <a:ext cx="302" cy="175"/>
                  <a:chOff x="144" y="1440"/>
                  <a:chExt cx="881" cy="510"/>
                </a:xfrm>
              </p:grpSpPr>
              <p:sp>
                <p:nvSpPr>
                  <p:cNvPr id="186" name="Google Shape;186;p3"/>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87" name="Google Shape;187;p3"/>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188" name="Google Shape;188;p3"/>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189" name="Google Shape;189;p3"/>
                <p:cNvGrpSpPr/>
                <p:nvPr/>
              </p:nvGrpSpPr>
              <p:grpSpPr>
                <a:xfrm>
                  <a:off x="2252" y="1581"/>
                  <a:ext cx="302" cy="175"/>
                  <a:chOff x="144" y="1440"/>
                  <a:chExt cx="881" cy="510"/>
                </a:xfrm>
              </p:grpSpPr>
              <p:sp>
                <p:nvSpPr>
                  <p:cNvPr id="190" name="Google Shape;190;p3"/>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91" name="Google Shape;191;p3"/>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192" name="Google Shape;192;p3"/>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cxnSp>
              <p:nvCxnSpPr>
                <p:cNvPr id="193" name="Google Shape;193;p3"/>
                <p:cNvCxnSpPr/>
                <p:nvPr/>
              </p:nvCxnSpPr>
              <p:spPr>
                <a:xfrm rot="10800000">
                  <a:off x="1463" y="1406"/>
                  <a:ext cx="312" cy="257"/>
                </a:xfrm>
                <a:prstGeom prst="straightConnector1">
                  <a:avLst/>
                </a:prstGeom>
                <a:noFill/>
                <a:ln cap="flat" cmpd="sng" w="28575">
                  <a:solidFill>
                    <a:schemeClr val="dk1"/>
                  </a:solidFill>
                  <a:prstDash val="solid"/>
                  <a:round/>
                  <a:headEnd len="sm" w="sm" type="none"/>
                  <a:tailEnd len="sm" w="sm" type="none"/>
                </a:ln>
              </p:spPr>
            </p:cxnSp>
            <p:cxnSp>
              <p:nvCxnSpPr>
                <p:cNvPr id="194" name="Google Shape;194;p3"/>
                <p:cNvCxnSpPr/>
                <p:nvPr/>
              </p:nvCxnSpPr>
              <p:spPr>
                <a:xfrm flipH="1" rot="10800000">
                  <a:off x="1611" y="1160"/>
                  <a:ext cx="339" cy="153"/>
                </a:xfrm>
                <a:prstGeom prst="straightConnector1">
                  <a:avLst/>
                </a:prstGeom>
                <a:noFill/>
                <a:ln cap="flat" cmpd="sng" w="28575">
                  <a:solidFill>
                    <a:schemeClr val="dk1"/>
                  </a:solidFill>
                  <a:prstDash val="solid"/>
                  <a:round/>
                  <a:headEnd len="sm" w="sm" type="none"/>
                  <a:tailEnd len="sm" w="sm" type="none"/>
                </a:ln>
              </p:spPr>
            </p:cxnSp>
            <p:cxnSp>
              <p:nvCxnSpPr>
                <p:cNvPr id="195" name="Google Shape;195;p3"/>
                <p:cNvCxnSpPr/>
                <p:nvPr/>
              </p:nvCxnSpPr>
              <p:spPr>
                <a:xfrm flipH="1" rot="10800000">
                  <a:off x="1950" y="1663"/>
                  <a:ext cx="302" cy="82"/>
                </a:xfrm>
                <a:prstGeom prst="straightConnector1">
                  <a:avLst/>
                </a:prstGeom>
                <a:noFill/>
                <a:ln cap="flat" cmpd="sng" w="28575">
                  <a:solidFill>
                    <a:schemeClr val="dk1"/>
                  </a:solidFill>
                  <a:prstDash val="solid"/>
                  <a:round/>
                  <a:headEnd len="sm" w="sm" type="none"/>
                  <a:tailEnd len="sm" w="sm" type="none"/>
                </a:ln>
              </p:spPr>
            </p:cxnSp>
            <p:cxnSp>
              <p:nvCxnSpPr>
                <p:cNvPr id="196" name="Google Shape;196;p3"/>
                <p:cNvCxnSpPr/>
                <p:nvPr/>
              </p:nvCxnSpPr>
              <p:spPr>
                <a:xfrm flipH="1" rot="10800000">
                  <a:off x="1775" y="1247"/>
                  <a:ext cx="329" cy="416"/>
                </a:xfrm>
                <a:prstGeom prst="straightConnector1">
                  <a:avLst/>
                </a:prstGeom>
                <a:noFill/>
                <a:ln cap="flat" cmpd="sng" w="28575">
                  <a:solidFill>
                    <a:schemeClr val="dk1"/>
                  </a:solidFill>
                  <a:prstDash val="solid"/>
                  <a:round/>
                  <a:headEnd len="sm" w="sm" type="none"/>
                  <a:tailEnd len="sm" w="sm" type="none"/>
                </a:ln>
              </p:spPr>
            </p:cxnSp>
          </p:grpSp>
          <p:sp>
            <p:nvSpPr>
              <p:cNvPr id="197" name="Google Shape;197;p3"/>
              <p:cNvSpPr txBox="1"/>
              <p:nvPr/>
            </p:nvSpPr>
            <p:spPr>
              <a:xfrm>
                <a:off x="1434" y="1927"/>
                <a:ext cx="996"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Design Model</a:t>
                </a:r>
                <a:endParaRPr/>
              </a:p>
            </p:txBody>
          </p:sp>
        </p:grpSp>
        <p:cxnSp>
          <p:nvCxnSpPr>
            <p:cNvPr id="198" name="Google Shape;198;p3"/>
            <p:cNvCxnSpPr/>
            <p:nvPr/>
          </p:nvCxnSpPr>
          <p:spPr>
            <a:xfrm rot="10800000">
              <a:off x="6019800" y="4789487"/>
              <a:ext cx="812800" cy="0"/>
            </a:xfrm>
            <a:prstGeom prst="straightConnector1">
              <a:avLst/>
            </a:prstGeom>
            <a:noFill/>
            <a:ln cap="flat" cmpd="sng" w="28575">
              <a:solidFill>
                <a:schemeClr val="hlink"/>
              </a:solidFill>
              <a:prstDash val="solid"/>
              <a:round/>
              <a:headEnd len="med" w="med" type="triangle"/>
              <a:tailEnd len="med" w="med" type="triangle"/>
            </a:ln>
          </p:spPr>
        </p:cxnSp>
        <p:cxnSp>
          <p:nvCxnSpPr>
            <p:cNvPr id="199" name="Google Shape;199;p3"/>
            <p:cNvCxnSpPr/>
            <p:nvPr/>
          </p:nvCxnSpPr>
          <p:spPr>
            <a:xfrm flipH="1">
              <a:off x="2355850" y="5119687"/>
              <a:ext cx="1339850" cy="254000"/>
            </a:xfrm>
            <a:prstGeom prst="straightConnector1">
              <a:avLst/>
            </a:prstGeom>
            <a:noFill/>
            <a:ln cap="flat" cmpd="sng" w="28575">
              <a:solidFill>
                <a:schemeClr val="hlink"/>
              </a:solidFill>
              <a:prstDash val="solid"/>
              <a:round/>
              <a:headEnd len="med" w="med" type="triangle"/>
              <a:tailEnd len="med" w="med" type="none"/>
            </a:ln>
          </p:spPr>
        </p:cxnSp>
        <p:cxnSp>
          <p:nvCxnSpPr>
            <p:cNvPr id="200" name="Google Shape;200;p3"/>
            <p:cNvCxnSpPr/>
            <p:nvPr/>
          </p:nvCxnSpPr>
          <p:spPr>
            <a:xfrm rot="10800000">
              <a:off x="2400300" y="3024187"/>
              <a:ext cx="1384300" cy="914400"/>
            </a:xfrm>
            <a:prstGeom prst="straightConnector1">
              <a:avLst/>
            </a:prstGeom>
            <a:noFill/>
            <a:ln cap="flat" cmpd="sng" w="28575">
              <a:solidFill>
                <a:schemeClr val="hlink"/>
              </a:solidFill>
              <a:prstDash val="solid"/>
              <a:round/>
              <a:headEnd len="med" w="med" type="triangle"/>
              <a:tailEnd len="med" w="med" type="none"/>
            </a:ln>
          </p:spPr>
        </p:cxnSp>
        <p:grpSp>
          <p:nvGrpSpPr>
            <p:cNvPr id="201" name="Google Shape;201;p3"/>
            <p:cNvGrpSpPr/>
            <p:nvPr/>
          </p:nvGrpSpPr>
          <p:grpSpPr>
            <a:xfrm>
              <a:off x="944563" y="5205414"/>
              <a:ext cx="1485900" cy="1042989"/>
              <a:chOff x="4223" y="1200"/>
              <a:chExt cx="936" cy="657"/>
            </a:xfrm>
          </p:grpSpPr>
          <p:sp>
            <p:nvSpPr>
              <p:cNvPr id="202" name="Google Shape;202;p3"/>
              <p:cNvSpPr txBox="1"/>
              <p:nvPr/>
            </p:nvSpPr>
            <p:spPr>
              <a:xfrm>
                <a:off x="4223" y="1684"/>
                <a:ext cx="936" cy="173"/>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Analysis Class</a:t>
                </a:r>
                <a:endParaRPr/>
              </a:p>
            </p:txBody>
          </p:sp>
          <p:grpSp>
            <p:nvGrpSpPr>
              <p:cNvPr id="203" name="Google Shape;203;p3"/>
              <p:cNvGrpSpPr/>
              <p:nvPr/>
            </p:nvGrpSpPr>
            <p:grpSpPr>
              <a:xfrm>
                <a:off x="4416" y="1200"/>
                <a:ext cx="576" cy="384"/>
                <a:chOff x="144" y="1440"/>
                <a:chExt cx="881" cy="510"/>
              </a:xfrm>
            </p:grpSpPr>
            <p:sp>
              <p:nvSpPr>
                <p:cNvPr id="204" name="Google Shape;204;p3"/>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05" name="Google Shape;205;p3"/>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206" name="Google Shape;206;p3"/>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
          <p:cNvSpPr txBox="1"/>
          <p:nvPr>
            <p:ph type="title"/>
          </p:nvPr>
        </p:nvSpPr>
        <p:spPr>
          <a:xfrm>
            <a:off x="457200" y="339450"/>
            <a:ext cx="8229600" cy="6675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Patterns và Frameworks</a:t>
            </a:r>
            <a:endParaRPr sz="3600"/>
          </a:p>
        </p:txBody>
      </p:sp>
      <p:sp>
        <p:nvSpPr>
          <p:cNvPr id="212" name="Google Shape;212;p4"/>
          <p:cNvSpPr txBox="1"/>
          <p:nvPr>
            <p:ph idx="1" type="body"/>
          </p:nvPr>
        </p:nvSpPr>
        <p:spPr>
          <a:xfrm>
            <a:off x="457200" y="869054"/>
            <a:ext cx="8229600" cy="4572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n-US" sz="2775"/>
              <a:t>Pattern</a:t>
            </a:r>
            <a:endParaRPr/>
          </a:p>
          <a:p>
            <a:pPr indent="0" lvl="0" marL="457200" rtl="0" algn="l">
              <a:lnSpc>
                <a:spcPct val="100000"/>
              </a:lnSpc>
              <a:spcBef>
                <a:spcPts val="444"/>
              </a:spcBef>
              <a:spcAft>
                <a:spcPts val="0"/>
              </a:spcAft>
              <a:buNone/>
            </a:pPr>
            <a:r>
              <a:rPr lang="en-US" sz="2220"/>
              <a:t>Mẫu (</a:t>
            </a:r>
            <a:r>
              <a:rPr i="1" lang="en-US" sz="2220"/>
              <a:t>pattern</a:t>
            </a:r>
            <a:r>
              <a:rPr lang="en-US" sz="2220"/>
              <a:t>)  là khái niệm dùng để hệ thống hóa các kiến thức chuyên biệt dựa trên kinh nghiệm. Các mẫu cung cấp các minh họa làm thế nào </a:t>
            </a:r>
            <a:r>
              <a:rPr lang="en-US" sz="2220"/>
              <a:t>để</a:t>
            </a:r>
            <a:r>
              <a:rPr lang="en-US" sz="2220"/>
              <a:t> đưa ra các mô hình tốt giải quyết các vấn đề thực tế, đó có thể là các mẫu do chính bạn nghĩ ra </a:t>
            </a:r>
            <a:r>
              <a:rPr lang="en-US" sz="2220"/>
              <a:t>hoặc</a:t>
            </a:r>
            <a:r>
              <a:rPr lang="en-US" sz="2220"/>
              <a:t> sử dụng mẫu của người khác.</a:t>
            </a:r>
            <a:endParaRPr/>
          </a:p>
          <a:p>
            <a:pPr indent="0" lvl="0" marL="0" rtl="0" algn="l">
              <a:lnSpc>
                <a:spcPct val="100000"/>
              </a:lnSpc>
              <a:spcBef>
                <a:spcPts val="555"/>
              </a:spcBef>
              <a:spcAft>
                <a:spcPts val="0"/>
              </a:spcAft>
              <a:buNone/>
            </a:pPr>
            <a:r>
              <a:rPr lang="en-US" sz="2775"/>
              <a:t>Analysis/Design Pattern</a:t>
            </a:r>
            <a:endParaRPr/>
          </a:p>
          <a:p>
            <a:pPr indent="0" lvl="0" marL="457200" rtl="0" algn="l">
              <a:lnSpc>
                <a:spcPct val="100000"/>
              </a:lnSpc>
              <a:spcBef>
                <a:spcPts val="481"/>
              </a:spcBef>
              <a:spcAft>
                <a:spcPts val="0"/>
              </a:spcAft>
              <a:buNone/>
            </a:pPr>
            <a:r>
              <a:rPr lang="en-US" sz="2405"/>
              <a:t>Cung cấp giải pháp ở phạm vi hẹp cho vấn đề kỹ thuật</a:t>
            </a:r>
            <a:endParaRPr sz="2405"/>
          </a:p>
          <a:p>
            <a:pPr indent="0" lvl="0" marL="457200" rtl="0" algn="l">
              <a:lnSpc>
                <a:spcPct val="100000"/>
              </a:lnSpc>
              <a:spcBef>
                <a:spcPts val="481"/>
              </a:spcBef>
              <a:spcAft>
                <a:spcPts val="0"/>
              </a:spcAft>
              <a:buNone/>
            </a:pPr>
            <a:r>
              <a:rPr lang="en-US" sz="2405"/>
              <a:t>Cung cấp từng phần cho giải pháp tổng thể.</a:t>
            </a:r>
            <a:endParaRPr/>
          </a:p>
          <a:p>
            <a:pPr indent="0" lvl="0" marL="0" rtl="0" algn="l">
              <a:lnSpc>
                <a:spcPct val="100000"/>
              </a:lnSpc>
              <a:spcBef>
                <a:spcPts val="555"/>
              </a:spcBef>
              <a:spcAft>
                <a:spcPts val="0"/>
              </a:spcAft>
              <a:buNone/>
            </a:pPr>
            <a:r>
              <a:rPr lang="en-US" sz="2775"/>
              <a:t>Framework</a:t>
            </a:r>
            <a:endParaRPr/>
          </a:p>
          <a:p>
            <a:pPr indent="0" lvl="0" marL="457200" rtl="0" algn="l">
              <a:lnSpc>
                <a:spcPct val="100000"/>
              </a:lnSpc>
              <a:spcBef>
                <a:spcPts val="444"/>
              </a:spcBef>
              <a:spcAft>
                <a:spcPts val="0"/>
              </a:spcAft>
              <a:buNone/>
            </a:pPr>
            <a:r>
              <a:rPr lang="en-US" sz="2220"/>
              <a:t>Khung làm việc (</a:t>
            </a:r>
            <a:r>
              <a:rPr i="1" lang="en-US" sz="2220"/>
              <a:t>Frameworks</a:t>
            </a:r>
            <a:r>
              <a:rPr lang="en-US" sz="2220"/>
              <a:t>) khác với mẫu phân tích và thiết kế về độ lớn và phạm vi. Khung làm việc mô tả giải pháp khung cho một vấn đề riêng biệt. Chi tiết có thể được hoàn thiện bằng cách áp dụng các mẫu phân tích và thiết kế khác nhau.</a:t>
            </a:r>
            <a:endParaRPr sz="2220"/>
          </a:p>
        </p:txBody>
      </p:sp>
      <p:sp>
        <p:nvSpPr>
          <p:cNvPr id="213" name="Google Shape;213;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5"/>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Design Pattern là gì?</a:t>
            </a:r>
            <a:endParaRPr sz="3600"/>
          </a:p>
        </p:txBody>
      </p:sp>
      <p:sp>
        <p:nvSpPr>
          <p:cNvPr id="219" name="Google Shape;219;p5"/>
          <p:cNvSpPr txBox="1"/>
          <p:nvPr>
            <p:ph idx="1" type="body"/>
          </p:nvPr>
        </p:nvSpPr>
        <p:spPr>
          <a:xfrm>
            <a:off x="381000" y="1600200"/>
            <a:ext cx="8229600" cy="2667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Một mẫu thiết kế cung cấp sơ đồ tinh chỉnh các hệ thống con hoặc các thành phần của một hệ thống phần mềm, hoặc quan hệ giữa chúng. </a:t>
            </a:r>
            <a:r>
              <a:rPr lang="en-US"/>
              <a:t>Nó</a:t>
            </a:r>
            <a:r>
              <a:rPr lang="en-US"/>
              <a:t> mô tả cấu trúc thường xuyên lặp đi lặp lại của các thành phần giao tiếp để giải quyết vấn đề thiết kế chung trong một ngữ cảnh cụ thể.</a:t>
            </a:r>
            <a:endParaRPr/>
          </a:p>
        </p:txBody>
      </p:sp>
      <p:sp>
        <p:nvSpPr>
          <p:cNvPr id="220" name="Google Shape;220;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6"/>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Cách sử dụng một số mẫu</a:t>
            </a:r>
            <a:endParaRPr sz="4000"/>
          </a:p>
        </p:txBody>
      </p:sp>
      <p:sp>
        <p:nvSpPr>
          <p:cNvPr id="226" name="Google Shape;226;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27" name="Google Shape;227;p6"/>
          <p:cNvGraphicFramePr/>
          <p:nvPr/>
        </p:nvGraphicFramePr>
        <p:xfrm>
          <a:off x="533400" y="1524002"/>
          <a:ext cx="3000000" cy="3000000"/>
        </p:xfrm>
        <a:graphic>
          <a:graphicData uri="http://schemas.openxmlformats.org/drawingml/2006/table">
            <a:tbl>
              <a:tblPr>
                <a:noFill/>
                <a:tableStyleId>{60C588A1-F6B5-44B5-BB38-DF9D579B4507}</a:tableStyleId>
              </a:tblPr>
              <a:tblGrid>
                <a:gridCol w="1371600"/>
                <a:gridCol w="6553200"/>
              </a:tblGrid>
              <a:tr h="474075">
                <a:tc>
                  <a:txBody>
                    <a:bodyPr/>
                    <a:lstStyle/>
                    <a:p>
                      <a:pPr indent="0" lvl="0" marL="0" marR="0" rtl="0" algn="ctr">
                        <a:spcBef>
                          <a:spcPts val="0"/>
                        </a:spcBef>
                        <a:spcAft>
                          <a:spcPts val="0"/>
                        </a:spcAft>
                        <a:buNone/>
                      </a:pPr>
                      <a:r>
                        <a:rPr b="1" lang="en-US" sz="1300" u="none" cap="none" strike="noStrike">
                          <a:latin typeface="Times New Roman"/>
                          <a:ea typeface="Times New Roman"/>
                          <a:cs typeface="Times New Roman"/>
                          <a:sym typeface="Times New Roman"/>
                        </a:rPr>
                        <a:t>Loại mẫu</a:t>
                      </a:r>
                      <a:endParaRPr sz="13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rPr b="1" lang="en-US" sz="1300" u="none" cap="none" strike="noStrike">
                          <a:latin typeface="Times New Roman"/>
                          <a:ea typeface="Times New Roman"/>
                          <a:cs typeface="Times New Roman"/>
                          <a:sym typeface="Times New Roman"/>
                        </a:rPr>
                        <a:t>Ví dụ</a:t>
                      </a:r>
                      <a:endParaRPr sz="13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03850">
                <a:tc>
                  <a:txBody>
                    <a:bodyPr/>
                    <a:lstStyle/>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Command</a:t>
                      </a:r>
                      <a:endParaRPr/>
                    </a:p>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(mẫu hành vi)</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Thực hiện các yêu cầu đến một đối tượng mà không biết thao tác yêu cầu hoặc kết quả nhận về của yêu cầu, ví dụ, phản ứng của một mục trên thực đơn, một yêu cầu phục hồi,...</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03850">
                <a:tc>
                  <a:txBody>
                    <a:bodyPr/>
                    <a:lstStyle/>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Abstract factory</a:t>
                      </a:r>
                      <a:endParaRPr/>
                    </a:p>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(Mẫu sinh tạo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Tạo các đối tượng về giao diện người sử dụng (nút bấm, thanh cuộn, cửa sổ...) độc lập với hệ điều hành ở dưới, ứng dụng vì thế có thể dễ dàng chạy được trên các môi trường khác nhau.</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607700">
                <a:tc>
                  <a:txBody>
                    <a:bodyPr/>
                    <a:lstStyle/>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Proxy</a:t>
                      </a:r>
                      <a:endParaRPr/>
                    </a:p>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(Mẫu cấu trúc)</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Điều khiển các đối tượng phân tán sao cho nó là trong suốt vói các đối tượng khách (remote proxy).</a:t>
                      </a:r>
                      <a:endParaRPr/>
                    </a:p>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Với một đối tượng đồ họa kích cỡ lớn hay bất kỳ đối tượng thực thể nào ”đắt đỏ” về thao tác khởi tạo, cơ chế này cho phép chỉ tải đối tượng khi thực sự cần thiết và quá trình tải được tiến hành một cách tự động và trong suốt (</a:t>
                      </a:r>
                      <a:r>
                        <a:rPr i="1" lang="en-US" sz="1300" u="none" cap="none" strike="noStrike">
                          <a:latin typeface="Times New Roman"/>
                          <a:ea typeface="Times New Roman"/>
                          <a:cs typeface="Times New Roman"/>
                          <a:sym typeface="Times New Roman"/>
                        </a:rPr>
                        <a:t>virtual proxy</a:t>
                      </a:r>
                      <a:r>
                        <a:rPr lang="en-US" sz="1300" u="none" cap="none" strike="noStrike">
                          <a:latin typeface="Times New Roman"/>
                          <a:ea typeface="Times New Roman"/>
                          <a:cs typeface="Times New Roman"/>
                          <a:sym typeface="Times New Roman"/>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39750">
                <a:tc>
                  <a:txBody>
                    <a:bodyPr/>
                    <a:lstStyle/>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Observer </a:t>
                      </a:r>
                      <a:endParaRPr/>
                    </a:p>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(Mẫu hành vi)</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Khi trạng thái của đối tượng thay đổi, các đối tượng liên quan được thông báo. Các đối tượng bị thay đổi là độc lập với các đối tượng quan sát.</a:t>
                      </a:r>
                      <a:endParaRPr/>
                    </a:p>
                    <a:p>
                      <a:pPr indent="0" lvl="0" marL="0" marR="0" rtl="0" algn="l">
                        <a:spcBef>
                          <a:spcPts val="0"/>
                        </a:spcBef>
                        <a:spcAft>
                          <a:spcPts val="0"/>
                        </a:spcAft>
                        <a:buNone/>
                      </a:pPr>
                      <a:r>
                        <a:rPr lang="en-US" sz="1300" u="none" cap="none" strike="noStrike">
                          <a:latin typeface="Times New Roman"/>
                          <a:ea typeface="Times New Roman"/>
                          <a:cs typeface="Times New Roman"/>
                          <a:sym typeface="Times New Roman"/>
                        </a:rPr>
                        <a:t>Chú ý : Mẫu kiến trúc MVC là sự mở rộng của mẫu thiết kế Observer.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7"/>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Command Pattern</a:t>
            </a:r>
            <a:endParaRPr sz="3240"/>
          </a:p>
        </p:txBody>
      </p:sp>
      <p:sp>
        <p:nvSpPr>
          <p:cNvPr id="233" name="Google Shape;233;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34" name="Google Shape;234;p7"/>
          <p:cNvPicPr preferRelativeResize="0"/>
          <p:nvPr>
            <p:ph idx="1" type="body"/>
          </p:nvPr>
        </p:nvPicPr>
        <p:blipFill rotWithShape="1">
          <a:blip r:embed="rId3">
            <a:alphaModFix/>
          </a:blip>
          <a:srcRect b="0" l="0" r="0" t="0"/>
          <a:stretch/>
        </p:blipFill>
        <p:spPr>
          <a:xfrm>
            <a:off x="304800" y="2286000"/>
            <a:ext cx="8603007" cy="3581400"/>
          </a:xfrm>
          <a:prstGeom prst="rect">
            <a:avLst/>
          </a:prstGeom>
          <a:noFill/>
          <a:ln>
            <a:noFill/>
          </a:ln>
        </p:spPr>
      </p:pic>
      <p:sp>
        <p:nvSpPr>
          <p:cNvPr id="235" name="Google Shape;235;p7"/>
          <p:cNvSpPr txBox="1"/>
          <p:nvPr/>
        </p:nvSpPr>
        <p:spPr>
          <a:xfrm>
            <a:off x="304800" y="2057400"/>
            <a:ext cx="8229600" cy="210312"/>
          </a:xfrm>
          <a:prstGeom prst="rect">
            <a:avLst/>
          </a:prstGeom>
          <a:noFill/>
          <a:ln>
            <a:noFill/>
          </a:ln>
        </p:spPr>
        <p:txBody>
          <a:bodyPr anchorCtr="0" anchor="b" bIns="0" lIns="0" spcFirstLastPara="1" rIns="0" wrap="square" tIns="45700">
            <a:normAutofit/>
          </a:bodyPr>
          <a:lstStyle/>
          <a:p>
            <a:pPr indent="0" lvl="0" marL="0" marR="0" rtl="0" algn="l">
              <a:lnSpc>
                <a:spcPct val="90000"/>
              </a:lnSpc>
              <a:spcBef>
                <a:spcPts val="0"/>
              </a:spcBef>
              <a:spcAft>
                <a:spcPts val="0"/>
              </a:spcAft>
              <a:buNone/>
            </a:pPr>
            <a:r>
              <a:rPr i="1" lang="en-US" sz="1170">
                <a:solidFill>
                  <a:schemeClr val="dk2"/>
                </a:solidFill>
                <a:latin typeface="Calibri"/>
                <a:ea typeface="Calibri"/>
                <a:cs typeface="Calibri"/>
                <a:sym typeface="Calibri"/>
              </a:rPr>
              <a:t>https://en.wikipedia.org/wiki/Command_pattern</a:t>
            </a:r>
            <a:endParaRPr b="0" i="1" sz="1170" u="none" cap="none" strike="noStrike">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8"/>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Abstract Factory</a:t>
            </a:r>
            <a:endParaRPr sz="3600"/>
          </a:p>
        </p:txBody>
      </p:sp>
      <p:sp>
        <p:nvSpPr>
          <p:cNvPr id="241" name="Google Shape;241;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42" name="Google Shape;242;p8"/>
          <p:cNvPicPr preferRelativeResize="0"/>
          <p:nvPr>
            <p:ph idx="1" type="body"/>
          </p:nvPr>
        </p:nvPicPr>
        <p:blipFill rotWithShape="1">
          <a:blip r:embed="rId3">
            <a:alphaModFix/>
          </a:blip>
          <a:srcRect b="0" l="0" r="0" t="0"/>
          <a:stretch/>
        </p:blipFill>
        <p:spPr>
          <a:xfrm>
            <a:off x="410895" y="2514600"/>
            <a:ext cx="8244509" cy="3200400"/>
          </a:xfrm>
          <a:prstGeom prst="rect">
            <a:avLst/>
          </a:prstGeom>
          <a:noFill/>
          <a:ln>
            <a:noFill/>
          </a:ln>
        </p:spPr>
      </p:pic>
      <p:sp>
        <p:nvSpPr>
          <p:cNvPr id="243" name="Google Shape;243;p8"/>
          <p:cNvSpPr txBox="1"/>
          <p:nvPr/>
        </p:nvSpPr>
        <p:spPr>
          <a:xfrm>
            <a:off x="457200" y="2209800"/>
            <a:ext cx="8229600" cy="228600"/>
          </a:xfrm>
          <a:prstGeom prst="rect">
            <a:avLst/>
          </a:prstGeom>
          <a:noFill/>
          <a:ln>
            <a:noFill/>
          </a:ln>
        </p:spPr>
        <p:txBody>
          <a:bodyPr anchorCtr="0" anchor="b" bIns="0" lIns="0" spcFirstLastPara="1" rIns="0" wrap="square" tIns="45700">
            <a:normAutofit/>
          </a:bodyPr>
          <a:lstStyle/>
          <a:p>
            <a:pPr indent="0" lvl="0" marL="0" marR="0" rtl="0" algn="l">
              <a:spcBef>
                <a:spcPts val="0"/>
              </a:spcBef>
              <a:spcAft>
                <a:spcPts val="0"/>
              </a:spcAft>
              <a:buNone/>
            </a:pPr>
            <a:r>
              <a:rPr i="1" lang="en-US" sz="1200">
                <a:solidFill>
                  <a:schemeClr val="dk2"/>
                </a:solidFill>
                <a:latin typeface="Calibri"/>
                <a:ea typeface="Calibri"/>
                <a:cs typeface="Calibri"/>
                <a:sym typeface="Calibri"/>
              </a:rPr>
              <a:t>https://en.wikipedia.org/wiki/Abstract_factory_pattern</a:t>
            </a:r>
            <a:endParaRPr b="0" i="1" sz="1200" u="none" cap="none" strike="noStrike">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9"/>
          <p:cNvSpPr txBox="1"/>
          <p:nvPr>
            <p:ph type="title"/>
          </p:nvPr>
        </p:nvSpPr>
        <p:spPr>
          <a:xfrm>
            <a:off x="609600" y="838200"/>
            <a:ext cx="8229600" cy="438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80"/>
              <a:buFont typeface="Calibri"/>
              <a:buNone/>
            </a:pPr>
            <a:r>
              <a:rPr lang="en-US" sz="2880"/>
              <a:t>Proxy Pattern</a:t>
            </a:r>
            <a:endParaRPr sz="2880"/>
          </a:p>
        </p:txBody>
      </p:sp>
      <p:sp>
        <p:nvSpPr>
          <p:cNvPr id="249" name="Google Shape;249;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50" name="Google Shape;250;p9"/>
          <p:cNvPicPr preferRelativeResize="0"/>
          <p:nvPr>
            <p:ph idx="1" type="body"/>
          </p:nvPr>
        </p:nvPicPr>
        <p:blipFill rotWithShape="1">
          <a:blip r:embed="rId3">
            <a:alphaModFix/>
          </a:blip>
          <a:srcRect b="0" l="0" r="0" t="0"/>
          <a:stretch/>
        </p:blipFill>
        <p:spPr>
          <a:xfrm>
            <a:off x="2819400" y="1295400"/>
            <a:ext cx="5257799" cy="5334000"/>
          </a:xfrm>
          <a:prstGeom prst="rect">
            <a:avLst/>
          </a:prstGeom>
          <a:noFill/>
          <a:ln>
            <a:noFill/>
          </a:ln>
        </p:spPr>
      </p:pic>
      <p:sp>
        <p:nvSpPr>
          <p:cNvPr id="251" name="Google Shape;251;p9"/>
          <p:cNvSpPr txBox="1"/>
          <p:nvPr/>
        </p:nvSpPr>
        <p:spPr>
          <a:xfrm>
            <a:off x="2819400" y="990600"/>
            <a:ext cx="4343400" cy="304800"/>
          </a:xfrm>
          <a:prstGeom prst="rect">
            <a:avLst/>
          </a:prstGeom>
          <a:noFill/>
          <a:ln>
            <a:noFill/>
          </a:ln>
        </p:spPr>
        <p:txBody>
          <a:bodyPr anchorCtr="0" anchor="b" bIns="0" lIns="0" spcFirstLastPara="1" rIns="0" wrap="square" tIns="45700">
            <a:normAutofit/>
          </a:bodyPr>
          <a:lstStyle/>
          <a:p>
            <a:pPr indent="0" lvl="0" marL="0" marR="0" rtl="0" algn="l">
              <a:lnSpc>
                <a:spcPct val="100000"/>
              </a:lnSpc>
              <a:spcBef>
                <a:spcPts val="0"/>
              </a:spcBef>
              <a:spcAft>
                <a:spcPts val="0"/>
              </a:spcAft>
              <a:buClr>
                <a:schemeClr val="dk2"/>
              </a:buClr>
              <a:buSzPts val="1072"/>
              <a:buFont typeface="Calibri"/>
              <a:buNone/>
            </a:pPr>
            <a:r>
              <a:rPr b="0" i="1" lang="en-US" sz="1072" u="none" cap="none" strike="noStrike">
                <a:solidFill>
                  <a:schemeClr val="dk2"/>
                </a:solidFill>
                <a:latin typeface="Calibri"/>
                <a:ea typeface="Calibri"/>
                <a:cs typeface="Calibri"/>
                <a:sym typeface="Calibri"/>
              </a:rPr>
              <a:t>https://en.wikipedia.org/wiki/Proxy_pattern</a:t>
            </a:r>
            <a:endParaRPr b="0" i="1" sz="1072" u="none" cap="none" strike="noStrike">
              <a:solidFill>
                <a:schemeClr val="dk2"/>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0"/>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Observer pattern</a:t>
            </a:r>
            <a:endParaRPr sz="3600"/>
          </a:p>
        </p:txBody>
      </p:sp>
      <p:sp>
        <p:nvSpPr>
          <p:cNvPr id="257" name="Google Shape;257;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58" name="Google Shape;258;p10"/>
          <p:cNvPicPr preferRelativeResize="0"/>
          <p:nvPr>
            <p:ph idx="1" type="body"/>
          </p:nvPr>
        </p:nvPicPr>
        <p:blipFill rotWithShape="1">
          <a:blip r:embed="rId3">
            <a:alphaModFix/>
          </a:blip>
          <a:srcRect b="0" l="0" r="0" t="0"/>
          <a:stretch/>
        </p:blipFill>
        <p:spPr>
          <a:xfrm>
            <a:off x="383353" y="2209800"/>
            <a:ext cx="8311492" cy="3809999"/>
          </a:xfrm>
          <a:prstGeom prst="rect">
            <a:avLst/>
          </a:prstGeom>
          <a:noFill/>
          <a:ln>
            <a:noFill/>
          </a:ln>
        </p:spPr>
      </p:pic>
      <p:sp>
        <p:nvSpPr>
          <p:cNvPr id="259" name="Google Shape;259;p10"/>
          <p:cNvSpPr txBox="1"/>
          <p:nvPr/>
        </p:nvSpPr>
        <p:spPr>
          <a:xfrm>
            <a:off x="381000" y="1981200"/>
            <a:ext cx="8229600" cy="210312"/>
          </a:xfrm>
          <a:prstGeom prst="rect">
            <a:avLst/>
          </a:prstGeom>
          <a:noFill/>
          <a:ln>
            <a:noFill/>
          </a:ln>
        </p:spPr>
        <p:txBody>
          <a:bodyPr anchorCtr="0" anchor="b" bIns="0" lIns="0" spcFirstLastPara="1" rIns="0" wrap="square" tIns="45700">
            <a:normAutofit/>
          </a:bodyPr>
          <a:lstStyle/>
          <a:p>
            <a:pPr indent="0" lvl="0" marL="0" marR="0" rtl="0" algn="l">
              <a:lnSpc>
                <a:spcPct val="90000"/>
              </a:lnSpc>
              <a:spcBef>
                <a:spcPts val="0"/>
              </a:spcBef>
              <a:spcAft>
                <a:spcPts val="0"/>
              </a:spcAft>
              <a:buNone/>
            </a:pPr>
            <a:r>
              <a:rPr i="1" lang="en-US" sz="1200">
                <a:solidFill>
                  <a:schemeClr val="dk2"/>
                </a:solidFill>
                <a:latin typeface="Calibri"/>
                <a:ea typeface="Calibri"/>
                <a:cs typeface="Calibri"/>
                <a:sym typeface="Calibri"/>
              </a:rPr>
              <a:t>https://en.wikipedia.org/wiki/Observer_pattern</a:t>
            </a:r>
            <a:endParaRPr b="0" i="1" sz="1200" u="none" cap="none" strike="noStrike">
              <a:solidFill>
                <a:schemeClr val="dk2"/>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1"/>
          <p:cNvSpPr txBox="1"/>
          <p:nvPr>
            <p:ph type="title"/>
          </p:nvPr>
        </p:nvSpPr>
        <p:spPr>
          <a:xfrm>
            <a:off x="457200" y="704088"/>
            <a:ext cx="8229600" cy="59131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US" sz="3600"/>
              <a:t>Phân loại Cơ chế phân tích</a:t>
            </a:r>
            <a:endParaRPr sz="3600"/>
          </a:p>
        </p:txBody>
      </p:sp>
      <p:sp>
        <p:nvSpPr>
          <p:cNvPr id="265" name="Google Shape;265;p11"/>
          <p:cNvSpPr txBox="1"/>
          <p:nvPr>
            <p:ph idx="1" type="body"/>
          </p:nvPr>
        </p:nvSpPr>
        <p:spPr>
          <a:xfrm>
            <a:off x="457200" y="1600200"/>
            <a:ext cx="8229600" cy="39624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Mục tiêu</a:t>
            </a:r>
            <a:endParaRPr/>
          </a:p>
          <a:p>
            <a:pPr indent="-246888" lvl="1" marL="640080" rtl="0" algn="l">
              <a:lnSpc>
                <a:spcPct val="100000"/>
              </a:lnSpc>
              <a:spcBef>
                <a:spcPts val="480"/>
              </a:spcBef>
              <a:spcAft>
                <a:spcPts val="0"/>
              </a:spcAft>
              <a:buSzPts val="2040"/>
              <a:buChar char="⚫"/>
            </a:pPr>
            <a:r>
              <a:rPr lang="en-US"/>
              <a:t>Làm mịn thông tin ban đầu xác định được trong các cơ chế phân tích</a:t>
            </a:r>
            <a:endParaRPr/>
          </a:p>
          <a:p>
            <a:pPr indent="-274320" lvl="0" marL="274320" rtl="0" algn="l">
              <a:lnSpc>
                <a:spcPct val="100000"/>
              </a:lnSpc>
              <a:spcBef>
                <a:spcPts val="520"/>
              </a:spcBef>
              <a:spcAft>
                <a:spcPts val="0"/>
              </a:spcAft>
              <a:buSzPts val="2470"/>
              <a:buChar char="⚫"/>
            </a:pPr>
            <a:r>
              <a:rPr lang="en-US"/>
              <a:t>Các bước</a:t>
            </a:r>
            <a:endParaRPr/>
          </a:p>
          <a:p>
            <a:pPr indent="-246888" lvl="1" marL="640080" rtl="0" algn="l">
              <a:lnSpc>
                <a:spcPct val="100000"/>
              </a:lnSpc>
              <a:spcBef>
                <a:spcPts val="480"/>
              </a:spcBef>
              <a:spcAft>
                <a:spcPts val="0"/>
              </a:spcAft>
              <a:buSzPts val="2040"/>
              <a:buChar char="⚫"/>
            </a:pPr>
            <a:r>
              <a:rPr lang="en-US"/>
              <a:t>Xác định lớp khách của mỗi cơ chế phân tích</a:t>
            </a:r>
            <a:endParaRPr/>
          </a:p>
          <a:p>
            <a:pPr indent="-246888" lvl="1" marL="640080" rtl="0" algn="l">
              <a:lnSpc>
                <a:spcPct val="100000"/>
              </a:lnSpc>
              <a:spcBef>
                <a:spcPts val="480"/>
              </a:spcBef>
              <a:spcAft>
                <a:spcPts val="0"/>
              </a:spcAft>
              <a:buSzPts val="2040"/>
              <a:buChar char="⚫"/>
            </a:pPr>
            <a:r>
              <a:rPr lang="en-US"/>
              <a:t>Xác định các đặc điểm thông tin của mỗi cơ chế phân tích</a:t>
            </a:r>
            <a:endParaRPr/>
          </a:p>
          <a:p>
            <a:pPr indent="-246888" lvl="1" marL="640080" rtl="0" algn="l">
              <a:lnSpc>
                <a:spcPct val="100000"/>
              </a:lnSpc>
              <a:spcBef>
                <a:spcPts val="480"/>
              </a:spcBef>
              <a:spcAft>
                <a:spcPts val="0"/>
              </a:spcAft>
              <a:buSzPts val="2040"/>
              <a:buChar char="⚫"/>
            </a:pPr>
            <a:r>
              <a:rPr lang="en-US"/>
              <a:t>Nhóm các lớp khách theo việc sử dụng của các đặc điểm thông tin</a:t>
            </a:r>
            <a:endParaRPr/>
          </a:p>
          <a:p>
            <a:pPr indent="-117475" lvl="0" marL="274320" rtl="0" algn="l">
              <a:spcBef>
                <a:spcPts val="520"/>
              </a:spcBef>
              <a:spcAft>
                <a:spcPts val="0"/>
              </a:spcAft>
              <a:buSzPts val="2470"/>
              <a:buNone/>
            </a:pPr>
            <a:r>
              <a:t/>
            </a:r>
            <a:endParaRPr/>
          </a:p>
        </p:txBody>
      </p:sp>
      <p:sp>
        <p:nvSpPr>
          <p:cNvPr id="266" name="Google Shape;266;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2"/>
          <p:cNvSpPr txBox="1"/>
          <p:nvPr>
            <p:ph type="title"/>
          </p:nvPr>
        </p:nvSpPr>
        <p:spPr>
          <a:xfrm>
            <a:off x="457200" y="704088"/>
            <a:ext cx="8229600" cy="59131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US" sz="3600"/>
              <a:t>Các cơ chế thiết kế và cài đặt</a:t>
            </a:r>
            <a:endParaRPr sz="3600"/>
          </a:p>
        </p:txBody>
      </p:sp>
      <p:sp>
        <p:nvSpPr>
          <p:cNvPr id="272" name="Google Shape;272;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273" name="Google Shape;273;p12"/>
          <p:cNvGrpSpPr/>
          <p:nvPr/>
        </p:nvGrpSpPr>
        <p:grpSpPr>
          <a:xfrm>
            <a:off x="457200" y="1447801"/>
            <a:ext cx="8229600" cy="4876800"/>
            <a:chOff x="646113" y="1023938"/>
            <a:chExt cx="7577137" cy="5310187"/>
          </a:xfrm>
        </p:grpSpPr>
        <p:cxnSp>
          <p:nvCxnSpPr>
            <p:cNvPr id="274" name="Google Shape;274;p12"/>
            <p:cNvCxnSpPr/>
            <p:nvPr/>
          </p:nvCxnSpPr>
          <p:spPr>
            <a:xfrm>
              <a:off x="2700338" y="1182688"/>
              <a:ext cx="0" cy="5138737"/>
            </a:xfrm>
            <a:prstGeom prst="straightConnector1">
              <a:avLst/>
            </a:prstGeom>
            <a:noFill/>
            <a:ln cap="flat" cmpd="sng" w="28575">
              <a:solidFill>
                <a:srgbClr val="00CCFF"/>
              </a:solidFill>
              <a:prstDash val="dash"/>
              <a:round/>
              <a:headEnd len="sm" w="sm" type="none"/>
              <a:tailEnd len="sm" w="sm" type="none"/>
            </a:ln>
          </p:spPr>
        </p:cxnSp>
        <p:cxnSp>
          <p:nvCxnSpPr>
            <p:cNvPr id="275" name="Google Shape;275;p12"/>
            <p:cNvCxnSpPr/>
            <p:nvPr/>
          </p:nvCxnSpPr>
          <p:spPr>
            <a:xfrm>
              <a:off x="5659438" y="1195388"/>
              <a:ext cx="0" cy="5138737"/>
            </a:xfrm>
            <a:prstGeom prst="straightConnector1">
              <a:avLst/>
            </a:prstGeom>
            <a:noFill/>
            <a:ln cap="flat" cmpd="sng" w="28575">
              <a:solidFill>
                <a:srgbClr val="00CCFF"/>
              </a:solidFill>
              <a:prstDash val="dash"/>
              <a:round/>
              <a:headEnd len="sm" w="sm" type="none"/>
              <a:tailEnd len="sm" w="sm" type="none"/>
            </a:ln>
          </p:spPr>
        </p:cxnSp>
        <p:sp>
          <p:nvSpPr>
            <p:cNvPr id="276" name="Google Shape;276;p12"/>
            <p:cNvSpPr txBox="1"/>
            <p:nvPr/>
          </p:nvSpPr>
          <p:spPr>
            <a:xfrm>
              <a:off x="927100" y="5805488"/>
              <a:ext cx="13716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b="1" lang="en-US" sz="1800">
                  <a:solidFill>
                    <a:schemeClr val="dk1"/>
                  </a:solidFill>
                  <a:latin typeface="Constantia"/>
                  <a:ea typeface="Constantia"/>
                  <a:cs typeface="Constantia"/>
                  <a:sym typeface="Constantia"/>
                </a:rPr>
                <a:t>Analysis</a:t>
              </a:r>
              <a:endParaRPr sz="1600">
                <a:solidFill>
                  <a:schemeClr val="dk1"/>
                </a:solidFill>
                <a:latin typeface="Constantia"/>
                <a:ea typeface="Constantia"/>
                <a:cs typeface="Constantia"/>
                <a:sym typeface="Constantia"/>
              </a:endParaRPr>
            </a:p>
          </p:txBody>
        </p:sp>
        <p:sp>
          <p:nvSpPr>
            <p:cNvPr id="277" name="Google Shape;277;p12"/>
            <p:cNvSpPr txBox="1"/>
            <p:nvPr/>
          </p:nvSpPr>
          <p:spPr>
            <a:xfrm>
              <a:off x="2819400" y="5830888"/>
              <a:ext cx="27305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b="1" lang="en-US" sz="1800">
                  <a:solidFill>
                    <a:schemeClr val="dk1"/>
                  </a:solidFill>
                  <a:latin typeface="Constantia"/>
                  <a:ea typeface="Constantia"/>
                  <a:cs typeface="Constantia"/>
                  <a:sym typeface="Constantia"/>
                </a:rPr>
                <a:t>Design</a:t>
              </a:r>
              <a:endParaRPr sz="1600">
                <a:solidFill>
                  <a:schemeClr val="dk1"/>
                </a:solidFill>
                <a:latin typeface="Constantia"/>
                <a:ea typeface="Constantia"/>
                <a:cs typeface="Constantia"/>
                <a:sym typeface="Constantia"/>
              </a:endParaRPr>
            </a:p>
          </p:txBody>
        </p:sp>
        <p:sp>
          <p:nvSpPr>
            <p:cNvPr id="278" name="Google Shape;278;p12"/>
            <p:cNvSpPr txBox="1"/>
            <p:nvPr/>
          </p:nvSpPr>
          <p:spPr>
            <a:xfrm>
              <a:off x="5765800" y="5830888"/>
              <a:ext cx="24257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b="1" lang="en-US" sz="1800">
                  <a:solidFill>
                    <a:schemeClr val="dk1"/>
                  </a:solidFill>
                  <a:latin typeface="Constantia"/>
                  <a:ea typeface="Constantia"/>
                  <a:cs typeface="Constantia"/>
                  <a:sym typeface="Constantia"/>
                </a:rPr>
                <a:t>Implementation</a:t>
              </a:r>
              <a:endParaRPr sz="1600">
                <a:solidFill>
                  <a:schemeClr val="dk1"/>
                </a:solidFill>
                <a:latin typeface="Constantia"/>
                <a:ea typeface="Constantia"/>
                <a:cs typeface="Constantia"/>
                <a:sym typeface="Constantia"/>
              </a:endParaRPr>
            </a:p>
          </p:txBody>
        </p:sp>
        <p:sp>
          <p:nvSpPr>
            <p:cNvPr id="279" name="Google Shape;279;p12"/>
            <p:cNvSpPr txBox="1"/>
            <p:nvPr/>
          </p:nvSpPr>
          <p:spPr>
            <a:xfrm>
              <a:off x="2795588" y="4673600"/>
              <a:ext cx="275590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Remote Method Invocation (RMI)</a:t>
              </a:r>
              <a:endParaRPr sz="1600">
                <a:solidFill>
                  <a:schemeClr val="dk1"/>
                </a:solidFill>
                <a:latin typeface="Constantia"/>
                <a:ea typeface="Constantia"/>
                <a:cs typeface="Constantia"/>
                <a:sym typeface="Constantia"/>
              </a:endParaRPr>
            </a:p>
          </p:txBody>
        </p:sp>
        <p:cxnSp>
          <p:nvCxnSpPr>
            <p:cNvPr id="280" name="Google Shape;280;p12"/>
            <p:cNvCxnSpPr/>
            <p:nvPr/>
          </p:nvCxnSpPr>
          <p:spPr>
            <a:xfrm>
              <a:off x="4943475" y="3943350"/>
              <a:ext cx="1384300" cy="0"/>
            </a:xfrm>
            <a:prstGeom prst="straightConnector1">
              <a:avLst/>
            </a:prstGeom>
            <a:noFill/>
            <a:ln cap="flat" cmpd="sng" w="28575">
              <a:solidFill>
                <a:schemeClr val="hlink"/>
              </a:solidFill>
              <a:prstDash val="solid"/>
              <a:round/>
              <a:headEnd len="sm" w="sm" type="none"/>
              <a:tailEnd len="lg" w="lg" type="triangle"/>
            </a:ln>
          </p:spPr>
        </p:cxnSp>
        <p:sp>
          <p:nvSpPr>
            <p:cNvPr id="281" name="Google Shape;281;p12"/>
            <p:cNvSpPr txBox="1"/>
            <p:nvPr/>
          </p:nvSpPr>
          <p:spPr>
            <a:xfrm>
              <a:off x="955675" y="2705100"/>
              <a:ext cx="1371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Persistency</a:t>
              </a:r>
              <a:endParaRPr sz="1600">
                <a:solidFill>
                  <a:schemeClr val="dk1"/>
                </a:solidFill>
                <a:latin typeface="Constantia"/>
                <a:ea typeface="Constantia"/>
                <a:cs typeface="Constantia"/>
                <a:sym typeface="Constantia"/>
              </a:endParaRPr>
            </a:p>
          </p:txBody>
        </p:sp>
        <p:sp>
          <p:nvSpPr>
            <p:cNvPr id="282" name="Google Shape;282;p12"/>
            <p:cNvSpPr txBox="1"/>
            <p:nvPr/>
          </p:nvSpPr>
          <p:spPr>
            <a:xfrm>
              <a:off x="646113" y="1023938"/>
              <a:ext cx="1981200" cy="1130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Constantia"/>
                <a:buNone/>
              </a:pPr>
              <a:r>
                <a:rPr lang="en-US" sz="2000">
                  <a:solidFill>
                    <a:schemeClr val="dk1"/>
                  </a:solidFill>
                  <a:latin typeface="Constantia"/>
                  <a:ea typeface="Constantia"/>
                  <a:cs typeface="Constantia"/>
                  <a:sym typeface="Constantia"/>
                </a:rPr>
                <a:t>Analysis</a:t>
              </a:r>
              <a:endParaRPr/>
            </a:p>
            <a:p>
              <a:pPr indent="0" lvl="0" marL="0" marR="0" rtl="0" algn="ctr">
                <a:spcBef>
                  <a:spcPts val="1000"/>
                </a:spcBef>
                <a:spcAft>
                  <a:spcPts val="0"/>
                </a:spcAft>
                <a:buClr>
                  <a:schemeClr val="dk1"/>
                </a:buClr>
                <a:buSzPts val="2000"/>
                <a:buFont typeface="Constantia"/>
                <a:buNone/>
              </a:pPr>
              <a:r>
                <a:rPr lang="en-US" sz="2000">
                  <a:solidFill>
                    <a:schemeClr val="dk1"/>
                  </a:solidFill>
                  <a:latin typeface="Constantia"/>
                  <a:ea typeface="Constantia"/>
                  <a:cs typeface="Constantia"/>
                  <a:sym typeface="Constantia"/>
                </a:rPr>
                <a:t>Mechanism</a:t>
              </a:r>
              <a:endParaRPr/>
            </a:p>
            <a:p>
              <a:pPr indent="0" lvl="0" marL="0" marR="0" rtl="0" algn="ctr">
                <a:spcBef>
                  <a:spcPts val="1000"/>
                </a:spcBef>
                <a:spcAft>
                  <a:spcPts val="0"/>
                </a:spcAft>
                <a:buClr>
                  <a:schemeClr val="dk1"/>
                </a:buClr>
                <a:buSzPts val="2000"/>
                <a:buFont typeface="Constantia"/>
                <a:buNone/>
              </a:pPr>
              <a:r>
                <a:rPr lang="en-US" sz="2000">
                  <a:solidFill>
                    <a:schemeClr val="dk1"/>
                  </a:solidFill>
                  <a:latin typeface="Constantia"/>
                  <a:ea typeface="Constantia"/>
                  <a:cs typeface="Constantia"/>
                  <a:sym typeface="Constantia"/>
                </a:rPr>
                <a:t>(Conceptual)</a:t>
              </a:r>
              <a:endParaRPr/>
            </a:p>
          </p:txBody>
        </p:sp>
        <p:sp>
          <p:nvSpPr>
            <p:cNvPr id="283" name="Google Shape;283;p12"/>
            <p:cNvSpPr txBox="1"/>
            <p:nvPr/>
          </p:nvSpPr>
          <p:spPr>
            <a:xfrm>
              <a:off x="2849563" y="1023938"/>
              <a:ext cx="2717800" cy="1130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Constantia"/>
                <a:buNone/>
              </a:pPr>
              <a:r>
                <a:rPr lang="en-US" sz="2000">
                  <a:solidFill>
                    <a:schemeClr val="dk1"/>
                  </a:solidFill>
                  <a:latin typeface="Constantia"/>
                  <a:ea typeface="Constantia"/>
                  <a:cs typeface="Constantia"/>
                  <a:sym typeface="Constantia"/>
                </a:rPr>
                <a:t>Design</a:t>
              </a:r>
              <a:endParaRPr/>
            </a:p>
            <a:p>
              <a:pPr indent="0" lvl="0" marL="0" marR="0" rtl="0" algn="ctr">
                <a:spcBef>
                  <a:spcPts val="1000"/>
                </a:spcBef>
                <a:spcAft>
                  <a:spcPts val="0"/>
                </a:spcAft>
                <a:buClr>
                  <a:schemeClr val="dk1"/>
                </a:buClr>
                <a:buSzPts val="2000"/>
                <a:buFont typeface="Constantia"/>
                <a:buNone/>
              </a:pPr>
              <a:r>
                <a:rPr lang="en-US" sz="2000">
                  <a:solidFill>
                    <a:schemeClr val="dk1"/>
                  </a:solidFill>
                  <a:latin typeface="Constantia"/>
                  <a:ea typeface="Constantia"/>
                  <a:cs typeface="Constantia"/>
                  <a:sym typeface="Constantia"/>
                </a:rPr>
                <a:t>Mechanism</a:t>
              </a:r>
              <a:endParaRPr/>
            </a:p>
            <a:p>
              <a:pPr indent="0" lvl="0" marL="0" marR="0" rtl="0" algn="ctr">
                <a:spcBef>
                  <a:spcPts val="1000"/>
                </a:spcBef>
                <a:spcAft>
                  <a:spcPts val="0"/>
                </a:spcAft>
                <a:buClr>
                  <a:schemeClr val="dk1"/>
                </a:buClr>
                <a:buSzPts val="2000"/>
                <a:buFont typeface="Constantia"/>
                <a:buNone/>
              </a:pPr>
              <a:r>
                <a:rPr lang="en-US" sz="2000">
                  <a:solidFill>
                    <a:schemeClr val="dk1"/>
                  </a:solidFill>
                  <a:latin typeface="Constantia"/>
                  <a:ea typeface="Constantia"/>
                  <a:cs typeface="Constantia"/>
                  <a:sym typeface="Constantia"/>
                </a:rPr>
                <a:t>(Concrete)</a:t>
              </a:r>
              <a:endParaRPr/>
            </a:p>
          </p:txBody>
        </p:sp>
        <p:sp>
          <p:nvSpPr>
            <p:cNvPr id="284" name="Google Shape;284;p12"/>
            <p:cNvSpPr txBox="1"/>
            <p:nvPr/>
          </p:nvSpPr>
          <p:spPr>
            <a:xfrm>
              <a:off x="5754688" y="1036638"/>
              <a:ext cx="2413000" cy="1130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Constantia"/>
                <a:buNone/>
              </a:pPr>
              <a:r>
                <a:rPr lang="en-US" sz="2000">
                  <a:solidFill>
                    <a:schemeClr val="dk1"/>
                  </a:solidFill>
                  <a:latin typeface="Constantia"/>
                  <a:ea typeface="Constantia"/>
                  <a:cs typeface="Constantia"/>
                  <a:sym typeface="Constantia"/>
                </a:rPr>
                <a:t>Implementation</a:t>
              </a:r>
              <a:endParaRPr/>
            </a:p>
            <a:p>
              <a:pPr indent="0" lvl="0" marL="0" marR="0" rtl="0" algn="ctr">
                <a:spcBef>
                  <a:spcPts val="1000"/>
                </a:spcBef>
                <a:spcAft>
                  <a:spcPts val="0"/>
                </a:spcAft>
                <a:buClr>
                  <a:schemeClr val="dk1"/>
                </a:buClr>
                <a:buSzPts val="2000"/>
                <a:buFont typeface="Constantia"/>
                <a:buNone/>
              </a:pPr>
              <a:r>
                <a:rPr lang="en-US" sz="2000">
                  <a:solidFill>
                    <a:schemeClr val="dk1"/>
                  </a:solidFill>
                  <a:latin typeface="Constantia"/>
                  <a:ea typeface="Constantia"/>
                  <a:cs typeface="Constantia"/>
                  <a:sym typeface="Constantia"/>
                </a:rPr>
                <a:t>Mechanism</a:t>
              </a:r>
              <a:endParaRPr/>
            </a:p>
            <a:p>
              <a:pPr indent="0" lvl="0" marL="0" marR="0" rtl="0" algn="ctr">
                <a:spcBef>
                  <a:spcPts val="1000"/>
                </a:spcBef>
                <a:spcAft>
                  <a:spcPts val="0"/>
                </a:spcAft>
                <a:buClr>
                  <a:schemeClr val="dk1"/>
                </a:buClr>
                <a:buSzPts val="2000"/>
                <a:buFont typeface="Constantia"/>
                <a:buNone/>
              </a:pPr>
              <a:r>
                <a:rPr lang="en-US" sz="2000">
                  <a:solidFill>
                    <a:schemeClr val="dk1"/>
                  </a:solidFill>
                  <a:latin typeface="Constantia"/>
                  <a:ea typeface="Constantia"/>
                  <a:cs typeface="Constantia"/>
                  <a:sym typeface="Constantia"/>
                </a:rPr>
                <a:t>(Actual)</a:t>
              </a:r>
              <a:endParaRPr/>
            </a:p>
          </p:txBody>
        </p:sp>
        <p:sp>
          <p:nvSpPr>
            <p:cNvPr id="285" name="Google Shape;285;p12"/>
            <p:cNvSpPr txBox="1"/>
            <p:nvPr/>
          </p:nvSpPr>
          <p:spPr>
            <a:xfrm>
              <a:off x="2835275" y="3790950"/>
              <a:ext cx="274320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OODBMS</a:t>
              </a:r>
              <a:endParaRPr sz="1600">
                <a:solidFill>
                  <a:schemeClr val="dk1"/>
                </a:solidFill>
                <a:latin typeface="Constantia"/>
                <a:ea typeface="Constantia"/>
                <a:cs typeface="Constantia"/>
                <a:sym typeface="Constantia"/>
              </a:endParaRPr>
            </a:p>
          </p:txBody>
        </p:sp>
        <p:cxnSp>
          <p:nvCxnSpPr>
            <p:cNvPr id="286" name="Google Shape;286;p12"/>
            <p:cNvCxnSpPr/>
            <p:nvPr/>
          </p:nvCxnSpPr>
          <p:spPr>
            <a:xfrm>
              <a:off x="2479675" y="2895600"/>
              <a:ext cx="876300" cy="0"/>
            </a:xfrm>
            <a:prstGeom prst="straightConnector1">
              <a:avLst/>
            </a:prstGeom>
            <a:noFill/>
            <a:ln cap="flat" cmpd="sng" w="28575">
              <a:solidFill>
                <a:schemeClr val="hlink"/>
              </a:solidFill>
              <a:prstDash val="solid"/>
              <a:round/>
              <a:headEnd len="sm" w="sm" type="none"/>
              <a:tailEnd len="lg" w="lg" type="triangle"/>
            </a:ln>
          </p:spPr>
        </p:cxnSp>
        <p:sp>
          <p:nvSpPr>
            <p:cNvPr id="287" name="Google Shape;287;p12"/>
            <p:cNvSpPr txBox="1"/>
            <p:nvPr/>
          </p:nvSpPr>
          <p:spPr>
            <a:xfrm>
              <a:off x="2809875" y="2743200"/>
              <a:ext cx="274320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RDBMS</a:t>
              </a:r>
              <a:endParaRPr sz="1600">
                <a:solidFill>
                  <a:schemeClr val="dk1"/>
                </a:solidFill>
                <a:latin typeface="Constantia"/>
                <a:ea typeface="Constantia"/>
                <a:cs typeface="Constantia"/>
                <a:sym typeface="Constantia"/>
              </a:endParaRPr>
            </a:p>
          </p:txBody>
        </p:sp>
        <p:cxnSp>
          <p:nvCxnSpPr>
            <p:cNvPr id="288" name="Google Shape;288;p12"/>
            <p:cNvCxnSpPr/>
            <p:nvPr/>
          </p:nvCxnSpPr>
          <p:spPr>
            <a:xfrm>
              <a:off x="4943475" y="2933700"/>
              <a:ext cx="1625600" cy="0"/>
            </a:xfrm>
            <a:prstGeom prst="straightConnector1">
              <a:avLst/>
            </a:prstGeom>
            <a:noFill/>
            <a:ln cap="flat" cmpd="sng" w="28575">
              <a:solidFill>
                <a:schemeClr val="hlink"/>
              </a:solidFill>
              <a:prstDash val="solid"/>
              <a:round/>
              <a:headEnd len="sm" w="sm" type="none"/>
              <a:tailEnd len="lg" w="lg" type="triangle"/>
            </a:ln>
          </p:spPr>
        </p:cxnSp>
        <p:sp>
          <p:nvSpPr>
            <p:cNvPr id="289" name="Google Shape;289;p12"/>
            <p:cNvSpPr txBox="1"/>
            <p:nvPr/>
          </p:nvSpPr>
          <p:spPr>
            <a:xfrm>
              <a:off x="5781675" y="2743200"/>
              <a:ext cx="240030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JDBC</a:t>
              </a:r>
              <a:endParaRPr sz="1600">
                <a:solidFill>
                  <a:schemeClr val="dk1"/>
                </a:solidFill>
                <a:latin typeface="Constantia"/>
                <a:ea typeface="Constantia"/>
                <a:cs typeface="Constantia"/>
                <a:sym typeface="Constantia"/>
              </a:endParaRPr>
            </a:p>
          </p:txBody>
        </p:sp>
        <p:sp>
          <p:nvSpPr>
            <p:cNvPr id="290" name="Google Shape;290;p12"/>
            <p:cNvSpPr txBox="1"/>
            <p:nvPr/>
          </p:nvSpPr>
          <p:spPr>
            <a:xfrm>
              <a:off x="5781675" y="3771900"/>
              <a:ext cx="241300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ObjectStore</a:t>
              </a:r>
              <a:endParaRPr sz="1600">
                <a:solidFill>
                  <a:schemeClr val="dk1"/>
                </a:solidFill>
                <a:latin typeface="Constantia"/>
                <a:ea typeface="Constantia"/>
                <a:cs typeface="Constantia"/>
                <a:sym typeface="Constantia"/>
              </a:endParaRPr>
            </a:p>
          </p:txBody>
        </p:sp>
        <p:sp>
          <p:nvSpPr>
            <p:cNvPr id="291" name="Google Shape;291;p12"/>
            <p:cNvSpPr txBox="1"/>
            <p:nvPr/>
          </p:nvSpPr>
          <p:spPr>
            <a:xfrm>
              <a:off x="5789613" y="4779963"/>
              <a:ext cx="2433637"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Java 1.2 from Sun</a:t>
              </a:r>
              <a:endParaRPr sz="1600">
                <a:solidFill>
                  <a:schemeClr val="dk1"/>
                </a:solidFill>
                <a:latin typeface="Constantia"/>
                <a:ea typeface="Constantia"/>
                <a:cs typeface="Constantia"/>
                <a:sym typeface="Constantia"/>
              </a:endParaRPr>
            </a:p>
          </p:txBody>
        </p:sp>
        <p:sp>
          <p:nvSpPr>
            <p:cNvPr id="292" name="Google Shape;292;p12"/>
            <p:cNvSpPr txBox="1"/>
            <p:nvPr/>
          </p:nvSpPr>
          <p:spPr>
            <a:xfrm>
              <a:off x="3719513" y="2425700"/>
              <a:ext cx="939800" cy="244475"/>
            </a:xfrm>
            <a:prstGeom prst="rect">
              <a:avLst/>
            </a:prstGeom>
            <a:solidFill>
              <a:srgbClr val="00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2"/>
                </a:buClr>
                <a:buSzPts val="1000"/>
                <a:buFont typeface="Constantia"/>
                <a:buNone/>
              </a:pPr>
              <a:r>
                <a:rPr lang="en-US" sz="1000">
                  <a:solidFill>
                    <a:schemeClr val="lt2"/>
                  </a:solidFill>
                  <a:latin typeface="Constantia"/>
                  <a:ea typeface="Constantia"/>
                  <a:cs typeface="Constantia"/>
                  <a:sym typeface="Constantia"/>
                </a:rPr>
                <a:t>Legacy Data</a:t>
              </a:r>
              <a:endParaRPr/>
            </a:p>
          </p:txBody>
        </p:sp>
        <p:sp>
          <p:nvSpPr>
            <p:cNvPr id="293" name="Google Shape;293;p12"/>
            <p:cNvSpPr txBox="1"/>
            <p:nvPr/>
          </p:nvSpPr>
          <p:spPr>
            <a:xfrm>
              <a:off x="3727450" y="3509963"/>
              <a:ext cx="939800" cy="244475"/>
            </a:xfrm>
            <a:prstGeom prst="rect">
              <a:avLst/>
            </a:prstGeom>
            <a:solidFill>
              <a:srgbClr val="00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2"/>
                </a:buClr>
                <a:buSzPts val="1000"/>
                <a:buFont typeface="Constantia"/>
                <a:buNone/>
              </a:pPr>
              <a:r>
                <a:rPr lang="en-US" sz="1000">
                  <a:solidFill>
                    <a:schemeClr val="lt2"/>
                  </a:solidFill>
                  <a:latin typeface="Constantia"/>
                  <a:ea typeface="Constantia"/>
                  <a:cs typeface="Constantia"/>
                  <a:sym typeface="Constantia"/>
                </a:rPr>
                <a:t>New Data</a:t>
              </a:r>
              <a:endParaRPr/>
            </a:p>
          </p:txBody>
        </p:sp>
        <p:sp>
          <p:nvSpPr>
            <p:cNvPr id="294" name="Google Shape;294;p12"/>
            <p:cNvSpPr txBox="1"/>
            <p:nvPr/>
          </p:nvSpPr>
          <p:spPr>
            <a:xfrm>
              <a:off x="973138" y="4635500"/>
              <a:ext cx="1371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Distribution</a:t>
              </a:r>
              <a:endParaRPr sz="1600">
                <a:solidFill>
                  <a:schemeClr val="dk1"/>
                </a:solidFill>
                <a:latin typeface="Constantia"/>
                <a:ea typeface="Constantia"/>
                <a:cs typeface="Constantia"/>
                <a:sym typeface="Constantia"/>
              </a:endParaRPr>
            </a:p>
          </p:txBody>
        </p:sp>
        <p:cxnSp>
          <p:nvCxnSpPr>
            <p:cNvPr id="295" name="Google Shape;295;p12"/>
            <p:cNvCxnSpPr/>
            <p:nvPr/>
          </p:nvCxnSpPr>
          <p:spPr>
            <a:xfrm>
              <a:off x="5172075" y="4964113"/>
              <a:ext cx="839788" cy="0"/>
            </a:xfrm>
            <a:prstGeom prst="straightConnector1">
              <a:avLst/>
            </a:prstGeom>
            <a:noFill/>
            <a:ln cap="flat" cmpd="sng" w="28575">
              <a:solidFill>
                <a:schemeClr val="hlink"/>
              </a:solidFill>
              <a:prstDash val="solid"/>
              <a:round/>
              <a:headEnd len="sm" w="sm" type="none"/>
              <a:tailEnd len="lg" w="lg" type="triangle"/>
            </a:ln>
          </p:spPr>
        </p:cxnSp>
        <p:cxnSp>
          <p:nvCxnSpPr>
            <p:cNvPr id="296" name="Google Shape;296;p12"/>
            <p:cNvCxnSpPr/>
            <p:nvPr/>
          </p:nvCxnSpPr>
          <p:spPr>
            <a:xfrm>
              <a:off x="2406650" y="4883150"/>
              <a:ext cx="700088" cy="12700"/>
            </a:xfrm>
            <a:prstGeom prst="straightConnector1">
              <a:avLst/>
            </a:prstGeom>
            <a:noFill/>
            <a:ln cap="flat" cmpd="sng" w="28575">
              <a:solidFill>
                <a:schemeClr val="hlink"/>
              </a:solidFill>
              <a:prstDash val="solid"/>
              <a:round/>
              <a:headEnd len="sm" w="sm" type="none"/>
              <a:tailEnd len="lg" w="lg" type="triangle"/>
            </a:ln>
          </p:spPr>
        </p:cxnSp>
        <p:sp>
          <p:nvSpPr>
            <p:cNvPr id="297" name="Google Shape;297;p12"/>
            <p:cNvSpPr txBox="1"/>
            <p:nvPr/>
          </p:nvSpPr>
          <p:spPr>
            <a:xfrm>
              <a:off x="955675" y="3810000"/>
              <a:ext cx="13716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rPr lang="en-US" sz="1800">
                  <a:solidFill>
                    <a:schemeClr val="dk1"/>
                  </a:solidFill>
                  <a:latin typeface="Constantia"/>
                  <a:ea typeface="Constantia"/>
                  <a:cs typeface="Constantia"/>
                  <a:sym typeface="Constantia"/>
                </a:rPr>
                <a:t>Persistency</a:t>
              </a:r>
              <a:endParaRPr sz="1600">
                <a:solidFill>
                  <a:schemeClr val="dk1"/>
                </a:solidFill>
                <a:latin typeface="Constantia"/>
                <a:ea typeface="Constantia"/>
                <a:cs typeface="Constantia"/>
                <a:sym typeface="Constantia"/>
              </a:endParaRPr>
            </a:p>
          </p:txBody>
        </p:sp>
        <p:cxnSp>
          <p:nvCxnSpPr>
            <p:cNvPr id="298" name="Google Shape;298;p12"/>
            <p:cNvCxnSpPr/>
            <p:nvPr/>
          </p:nvCxnSpPr>
          <p:spPr>
            <a:xfrm>
              <a:off x="2479675" y="3962400"/>
              <a:ext cx="863600" cy="0"/>
            </a:xfrm>
            <a:prstGeom prst="straightConnector1">
              <a:avLst/>
            </a:prstGeom>
            <a:noFill/>
            <a:ln cap="flat" cmpd="sng" w="28575">
              <a:solidFill>
                <a:schemeClr val="hlink"/>
              </a:solidFill>
              <a:prstDash val="solid"/>
              <a:round/>
              <a:headEnd len="sm" w="sm" type="none"/>
              <a:tailEnd len="lg" w="lg" type="triangle"/>
            </a:ln>
          </p:spPr>
        </p:cxn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304" name="Google Shape;304;p13"/>
          <p:cNvGraphicFramePr/>
          <p:nvPr/>
        </p:nvGraphicFramePr>
        <p:xfrm>
          <a:off x="228600" y="1516380"/>
          <a:ext cx="3000000" cy="3000000"/>
        </p:xfrm>
        <a:graphic>
          <a:graphicData uri="http://schemas.openxmlformats.org/drawingml/2006/table">
            <a:tbl>
              <a:tblPr>
                <a:noFill/>
                <a:tableStyleId>{60C588A1-F6B5-44B5-BB38-DF9D579B4507}</a:tableStyleId>
              </a:tblPr>
              <a:tblGrid>
                <a:gridCol w="2404875"/>
                <a:gridCol w="3541400"/>
                <a:gridCol w="2511925"/>
              </a:tblGrid>
              <a:tr h="1394450">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Cơ chế phân tích</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(Khái niệm)</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Cơ chế thiết kế</a:t>
                      </a:r>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(Cụ thể)</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Cơ chế cài đặt</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(Thực tế)</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29650">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Dữ liệu bền vững</a:t>
                      </a:r>
                      <a:endParaRPr sz="24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RDBMS (Dữ liệu đã tồn tại)</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JDBC</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29650">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Dữ liệu bền vững</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OODBMS (Dữ liệu mới)</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ObjectStore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4450">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Sự phân tán</a:t>
                      </a:r>
                      <a:endParaRPr sz="2400" u="none" cap="none" strike="noStrike">
                        <a:latin typeface="Times New Roman"/>
                        <a:ea typeface="Times New Roman"/>
                        <a:cs typeface="Times New Roman"/>
                        <a:sym typeface="Times New Roman"/>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Remote  Method  Invocation</a:t>
                      </a:r>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(RMI)</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ctr">
                        <a:spcBef>
                          <a:spcPts val="0"/>
                        </a:spcBef>
                        <a:spcAft>
                          <a:spcPts val="0"/>
                        </a:spcAft>
                        <a:buNone/>
                      </a:pPr>
                      <a:r>
                        <a:rPr lang="en-US" sz="2400" u="none" cap="none" strike="noStrike">
                          <a:latin typeface="Times New Roman"/>
                          <a:ea typeface="Times New Roman"/>
                          <a:cs typeface="Times New Roman"/>
                          <a:sym typeface="Times New Roman"/>
                        </a:rPr>
                        <a:t>Java 1.2</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4"/>
          <p:cNvSpPr txBox="1"/>
          <p:nvPr>
            <p:ph type="title"/>
          </p:nvPr>
        </p:nvSpPr>
        <p:spPr>
          <a:xfrm>
            <a:off x="457200" y="704088"/>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Kiến trúc thực thi – Runtime Architecture</a:t>
            </a:r>
            <a:endParaRPr sz="3600"/>
          </a:p>
        </p:txBody>
      </p:sp>
      <p:sp>
        <p:nvSpPr>
          <p:cNvPr id="310" name="Google Shape;310;p14"/>
          <p:cNvSpPr txBox="1"/>
          <p:nvPr>
            <p:ph idx="1" type="body"/>
          </p:nvPr>
        </p:nvSpPr>
        <p:spPr>
          <a:xfrm>
            <a:off x="457200" y="1828800"/>
            <a:ext cx="8229600" cy="4495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Xác định mục tiêu của hoạt động mô tả kiến trúc thực thi và vị trí của nó trong vòng đời phát triển phần mềm</a:t>
            </a:r>
            <a:endParaRPr/>
          </a:p>
          <a:p>
            <a:pPr indent="-274320" lvl="0" marL="274320" rtl="0" algn="l">
              <a:spcBef>
                <a:spcPts val="520"/>
              </a:spcBef>
              <a:spcAft>
                <a:spcPts val="0"/>
              </a:spcAft>
              <a:buSzPts val="2470"/>
              <a:buChar char="⚫"/>
            </a:pPr>
            <a:r>
              <a:rPr lang="en-US"/>
              <a:t>Mô tả làm thế nào để mô hình hóa processes và threads</a:t>
            </a:r>
            <a:endParaRPr/>
          </a:p>
          <a:p>
            <a:pPr indent="-274320" lvl="0" marL="274320" rtl="0" algn="l">
              <a:spcBef>
                <a:spcPts val="520"/>
              </a:spcBef>
              <a:spcAft>
                <a:spcPts val="0"/>
              </a:spcAft>
              <a:buSzPts val="2470"/>
              <a:buChar char="⚫"/>
            </a:pPr>
            <a:r>
              <a:rPr lang="en-US"/>
              <a:t>Giải thích mô hình hóa các lớp và các hệ thống con được ánh xác với các processes và threads như thế nào</a:t>
            </a:r>
            <a:endParaRPr/>
          </a:p>
          <a:p>
            <a:pPr indent="-274320" lvl="0" marL="274320" rtl="0" algn="l">
              <a:spcBef>
                <a:spcPts val="520"/>
              </a:spcBef>
              <a:spcAft>
                <a:spcPts val="0"/>
              </a:spcAft>
              <a:buSzPts val="2470"/>
              <a:buChar char="⚫"/>
            </a:pPr>
            <a:r>
              <a:rPr lang="en-US"/>
              <a:t>Xác định các xem xét và lập luận hỗ trợ cho những quyết định mang tính kiến trúc</a:t>
            </a:r>
            <a:endParaRPr/>
          </a:p>
          <a:p>
            <a:pPr indent="-117475" lvl="0" marL="274320" rtl="0" algn="l">
              <a:spcBef>
                <a:spcPts val="520"/>
              </a:spcBef>
              <a:spcAft>
                <a:spcPts val="0"/>
              </a:spcAft>
              <a:buSzPts val="2470"/>
              <a:buNone/>
            </a:pPr>
            <a:r>
              <a:t/>
            </a:r>
            <a:endParaRPr/>
          </a:p>
        </p:txBody>
      </p:sp>
      <p:sp>
        <p:nvSpPr>
          <p:cNvPr id="311" name="Google Shape;311;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5"/>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Tổng Quan</a:t>
            </a:r>
            <a:endParaRPr sz="4000"/>
          </a:p>
        </p:txBody>
      </p:sp>
      <p:sp>
        <p:nvSpPr>
          <p:cNvPr id="317" name="Google Shape;317;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318" name="Google Shape;318;p15"/>
          <p:cNvGrpSpPr/>
          <p:nvPr/>
        </p:nvGrpSpPr>
        <p:grpSpPr>
          <a:xfrm>
            <a:off x="457200" y="1935163"/>
            <a:ext cx="8229600" cy="4389440"/>
            <a:chOff x="990600" y="1369420"/>
            <a:chExt cx="6985000" cy="4733928"/>
          </a:xfrm>
        </p:grpSpPr>
        <p:sp>
          <p:nvSpPr>
            <p:cNvPr id="319" name="Google Shape;319;p15"/>
            <p:cNvSpPr/>
            <p:nvPr/>
          </p:nvSpPr>
          <p:spPr>
            <a:xfrm>
              <a:off x="3670300" y="3210920"/>
              <a:ext cx="2247900" cy="1219200"/>
            </a:xfrm>
            <a:prstGeom prst="homePlate">
              <a:avLst>
                <a:gd fmla="val 50259" name="adj"/>
              </a:avLst>
            </a:prstGeom>
            <a:solidFill>
              <a:srgbClr val="00CCFF"/>
            </a:solidFill>
            <a:ln cap="flat" cmpd="sng" w="28575">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2"/>
                  </a:solidFill>
                  <a:latin typeface="Constantia"/>
                  <a:ea typeface="Constantia"/>
                  <a:cs typeface="Constantia"/>
                  <a:sym typeface="Constantia"/>
                </a:rPr>
                <a:t>Describe</a:t>
              </a:r>
              <a:br>
                <a:rPr b="1" lang="en-US" sz="2000">
                  <a:solidFill>
                    <a:schemeClr val="lt2"/>
                  </a:solidFill>
                  <a:latin typeface="Constantia"/>
                  <a:ea typeface="Constantia"/>
                  <a:cs typeface="Constantia"/>
                  <a:sym typeface="Constantia"/>
                </a:rPr>
              </a:br>
              <a:r>
                <a:rPr b="1" lang="en-US" sz="2000">
                  <a:solidFill>
                    <a:schemeClr val="lt2"/>
                  </a:solidFill>
                  <a:latin typeface="Constantia"/>
                  <a:ea typeface="Constantia"/>
                  <a:cs typeface="Constantia"/>
                  <a:sym typeface="Constantia"/>
                </a:rPr>
                <a:t>the Run-time</a:t>
              </a:r>
              <a:endParaRPr/>
            </a:p>
            <a:p>
              <a:pPr indent="0" lvl="0" marL="0" marR="0" rtl="0" algn="ctr">
                <a:spcBef>
                  <a:spcPts val="0"/>
                </a:spcBef>
                <a:spcAft>
                  <a:spcPts val="0"/>
                </a:spcAft>
                <a:buNone/>
              </a:pPr>
              <a:r>
                <a:rPr b="1" lang="en-US" sz="2000">
                  <a:solidFill>
                    <a:schemeClr val="lt2"/>
                  </a:solidFill>
                  <a:latin typeface="Constantia"/>
                  <a:ea typeface="Constantia"/>
                  <a:cs typeface="Constantia"/>
                  <a:sym typeface="Constantia"/>
                </a:rPr>
                <a:t>Architecture</a:t>
              </a:r>
              <a:endParaRPr sz="1800">
                <a:solidFill>
                  <a:schemeClr val="lt2"/>
                </a:solidFill>
                <a:latin typeface="Constantia"/>
                <a:ea typeface="Constantia"/>
                <a:cs typeface="Constantia"/>
                <a:sym typeface="Constantia"/>
              </a:endParaRPr>
            </a:p>
          </p:txBody>
        </p:sp>
        <p:grpSp>
          <p:nvGrpSpPr>
            <p:cNvPr id="320" name="Google Shape;320;p15"/>
            <p:cNvGrpSpPr/>
            <p:nvPr/>
          </p:nvGrpSpPr>
          <p:grpSpPr>
            <a:xfrm>
              <a:off x="1181100" y="1369420"/>
              <a:ext cx="1720850" cy="1860550"/>
              <a:chOff x="3971" y="1776"/>
              <a:chExt cx="1084" cy="1172"/>
            </a:xfrm>
          </p:grpSpPr>
          <p:grpSp>
            <p:nvGrpSpPr>
              <p:cNvPr id="321" name="Google Shape;321;p15"/>
              <p:cNvGrpSpPr/>
              <p:nvPr/>
            </p:nvGrpSpPr>
            <p:grpSpPr>
              <a:xfrm>
                <a:off x="4297" y="1776"/>
                <a:ext cx="432" cy="720"/>
                <a:chOff x="1249" y="2496"/>
                <a:chExt cx="432" cy="720"/>
              </a:xfrm>
            </p:grpSpPr>
            <p:sp>
              <p:nvSpPr>
                <p:cNvPr id="322" name="Google Shape;322;p15"/>
                <p:cNvSpPr/>
                <p:nvPr/>
              </p:nvSpPr>
              <p:spPr>
                <a:xfrm>
                  <a:off x="1249" y="2496"/>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23" name="Google Shape;323;p15"/>
                <p:cNvCxnSpPr/>
                <p:nvPr/>
              </p:nvCxnSpPr>
              <p:spPr>
                <a:xfrm>
                  <a:off x="1537" y="2496"/>
                  <a:ext cx="144" cy="144"/>
                </a:xfrm>
                <a:prstGeom prst="straightConnector1">
                  <a:avLst/>
                </a:prstGeom>
                <a:noFill/>
                <a:ln cap="flat" cmpd="sng" w="28575">
                  <a:solidFill>
                    <a:schemeClr val="dk1"/>
                  </a:solidFill>
                  <a:prstDash val="solid"/>
                  <a:round/>
                  <a:headEnd len="sm" w="sm" type="none"/>
                  <a:tailEnd len="sm" w="sm" type="none"/>
                </a:ln>
              </p:spPr>
            </p:cxnSp>
            <p:cxnSp>
              <p:nvCxnSpPr>
                <p:cNvPr id="324" name="Google Shape;324;p15"/>
                <p:cNvCxnSpPr/>
                <p:nvPr/>
              </p:nvCxnSpPr>
              <p:spPr>
                <a:xfrm>
                  <a:off x="1537" y="2496"/>
                  <a:ext cx="0" cy="144"/>
                </a:xfrm>
                <a:prstGeom prst="straightConnector1">
                  <a:avLst/>
                </a:prstGeom>
                <a:noFill/>
                <a:ln cap="flat" cmpd="sng" w="28575">
                  <a:solidFill>
                    <a:schemeClr val="dk1"/>
                  </a:solidFill>
                  <a:prstDash val="solid"/>
                  <a:round/>
                  <a:headEnd len="sm" w="sm" type="none"/>
                  <a:tailEnd len="sm" w="sm" type="none"/>
                </a:ln>
              </p:spPr>
            </p:cxnSp>
            <p:cxnSp>
              <p:nvCxnSpPr>
                <p:cNvPr id="325" name="Google Shape;325;p15"/>
                <p:cNvCxnSpPr/>
                <p:nvPr/>
              </p:nvCxnSpPr>
              <p:spPr>
                <a:xfrm rot="10800000">
                  <a:off x="1537" y="2640"/>
                  <a:ext cx="144" cy="0"/>
                </a:xfrm>
                <a:prstGeom prst="straightConnector1">
                  <a:avLst/>
                </a:prstGeom>
                <a:noFill/>
                <a:ln cap="flat" cmpd="sng" w="28575">
                  <a:solidFill>
                    <a:schemeClr val="dk1"/>
                  </a:solidFill>
                  <a:prstDash val="solid"/>
                  <a:round/>
                  <a:headEnd len="sm" w="sm" type="none"/>
                  <a:tailEnd len="sm" w="sm" type="none"/>
                </a:ln>
              </p:spPr>
            </p:cxnSp>
            <p:cxnSp>
              <p:nvCxnSpPr>
                <p:cNvPr id="326" name="Google Shape;326;p15"/>
                <p:cNvCxnSpPr/>
                <p:nvPr/>
              </p:nvCxnSpPr>
              <p:spPr>
                <a:xfrm>
                  <a:off x="1297" y="2736"/>
                  <a:ext cx="336" cy="0"/>
                </a:xfrm>
                <a:prstGeom prst="straightConnector1">
                  <a:avLst/>
                </a:prstGeom>
                <a:noFill/>
                <a:ln cap="flat" cmpd="sng" w="28575">
                  <a:solidFill>
                    <a:schemeClr val="dk1"/>
                  </a:solidFill>
                  <a:prstDash val="solid"/>
                  <a:round/>
                  <a:headEnd len="sm" w="sm" type="none"/>
                  <a:tailEnd len="sm" w="sm" type="none"/>
                </a:ln>
              </p:spPr>
            </p:cxnSp>
            <p:cxnSp>
              <p:nvCxnSpPr>
                <p:cNvPr id="327" name="Google Shape;327;p15"/>
                <p:cNvCxnSpPr/>
                <p:nvPr/>
              </p:nvCxnSpPr>
              <p:spPr>
                <a:xfrm>
                  <a:off x="1297" y="2784"/>
                  <a:ext cx="336" cy="0"/>
                </a:xfrm>
                <a:prstGeom prst="straightConnector1">
                  <a:avLst/>
                </a:prstGeom>
                <a:noFill/>
                <a:ln cap="flat" cmpd="sng" w="28575">
                  <a:solidFill>
                    <a:schemeClr val="dk1"/>
                  </a:solidFill>
                  <a:prstDash val="solid"/>
                  <a:round/>
                  <a:headEnd len="sm" w="sm" type="none"/>
                  <a:tailEnd len="sm" w="sm" type="none"/>
                </a:ln>
              </p:spPr>
            </p:cxnSp>
            <p:cxnSp>
              <p:nvCxnSpPr>
                <p:cNvPr id="328" name="Google Shape;328;p15"/>
                <p:cNvCxnSpPr/>
                <p:nvPr/>
              </p:nvCxnSpPr>
              <p:spPr>
                <a:xfrm>
                  <a:off x="1297" y="2832"/>
                  <a:ext cx="336" cy="0"/>
                </a:xfrm>
                <a:prstGeom prst="straightConnector1">
                  <a:avLst/>
                </a:prstGeom>
                <a:noFill/>
                <a:ln cap="flat" cmpd="sng" w="28575">
                  <a:solidFill>
                    <a:schemeClr val="dk1"/>
                  </a:solidFill>
                  <a:prstDash val="solid"/>
                  <a:round/>
                  <a:headEnd len="sm" w="sm" type="none"/>
                  <a:tailEnd len="sm" w="sm" type="none"/>
                </a:ln>
              </p:spPr>
            </p:cxnSp>
            <p:cxnSp>
              <p:nvCxnSpPr>
                <p:cNvPr id="329" name="Google Shape;329;p15"/>
                <p:cNvCxnSpPr/>
                <p:nvPr/>
              </p:nvCxnSpPr>
              <p:spPr>
                <a:xfrm>
                  <a:off x="1297" y="2928"/>
                  <a:ext cx="336" cy="0"/>
                </a:xfrm>
                <a:prstGeom prst="straightConnector1">
                  <a:avLst/>
                </a:prstGeom>
                <a:noFill/>
                <a:ln cap="flat" cmpd="sng" w="28575">
                  <a:solidFill>
                    <a:schemeClr val="dk1"/>
                  </a:solidFill>
                  <a:prstDash val="solid"/>
                  <a:round/>
                  <a:headEnd len="sm" w="sm" type="none"/>
                  <a:tailEnd len="sm" w="sm" type="none"/>
                </a:ln>
              </p:spPr>
            </p:cxnSp>
            <p:cxnSp>
              <p:nvCxnSpPr>
                <p:cNvPr id="330" name="Google Shape;330;p15"/>
                <p:cNvCxnSpPr/>
                <p:nvPr/>
              </p:nvCxnSpPr>
              <p:spPr>
                <a:xfrm>
                  <a:off x="1297" y="2880"/>
                  <a:ext cx="336" cy="0"/>
                </a:xfrm>
                <a:prstGeom prst="straightConnector1">
                  <a:avLst/>
                </a:prstGeom>
                <a:noFill/>
                <a:ln cap="flat" cmpd="sng" w="28575">
                  <a:solidFill>
                    <a:schemeClr val="dk1"/>
                  </a:solidFill>
                  <a:prstDash val="solid"/>
                  <a:round/>
                  <a:headEnd len="sm" w="sm" type="none"/>
                  <a:tailEnd len="sm" w="sm" type="none"/>
                </a:ln>
              </p:spPr>
            </p:cxnSp>
            <p:cxnSp>
              <p:nvCxnSpPr>
                <p:cNvPr id="331" name="Google Shape;331;p15"/>
                <p:cNvCxnSpPr/>
                <p:nvPr/>
              </p:nvCxnSpPr>
              <p:spPr>
                <a:xfrm>
                  <a:off x="1297" y="2976"/>
                  <a:ext cx="336" cy="0"/>
                </a:xfrm>
                <a:prstGeom prst="straightConnector1">
                  <a:avLst/>
                </a:prstGeom>
                <a:noFill/>
                <a:ln cap="flat" cmpd="sng" w="28575">
                  <a:solidFill>
                    <a:schemeClr val="dk1"/>
                  </a:solidFill>
                  <a:prstDash val="solid"/>
                  <a:round/>
                  <a:headEnd len="sm" w="sm" type="none"/>
                  <a:tailEnd len="sm" w="sm" type="none"/>
                </a:ln>
              </p:spPr>
            </p:cxnSp>
            <p:cxnSp>
              <p:nvCxnSpPr>
                <p:cNvPr id="332" name="Google Shape;332;p15"/>
                <p:cNvCxnSpPr/>
                <p:nvPr/>
              </p:nvCxnSpPr>
              <p:spPr>
                <a:xfrm>
                  <a:off x="1297" y="3024"/>
                  <a:ext cx="336" cy="0"/>
                </a:xfrm>
                <a:prstGeom prst="straightConnector1">
                  <a:avLst/>
                </a:prstGeom>
                <a:noFill/>
                <a:ln cap="flat" cmpd="sng" w="28575">
                  <a:solidFill>
                    <a:schemeClr val="dk1"/>
                  </a:solidFill>
                  <a:prstDash val="solid"/>
                  <a:round/>
                  <a:headEnd len="sm" w="sm" type="none"/>
                  <a:tailEnd len="sm" w="sm" type="none"/>
                </a:ln>
              </p:spPr>
            </p:cxnSp>
            <p:cxnSp>
              <p:nvCxnSpPr>
                <p:cNvPr id="333" name="Google Shape;333;p15"/>
                <p:cNvCxnSpPr/>
                <p:nvPr/>
              </p:nvCxnSpPr>
              <p:spPr>
                <a:xfrm>
                  <a:off x="1297" y="3072"/>
                  <a:ext cx="336" cy="0"/>
                </a:xfrm>
                <a:prstGeom prst="straightConnector1">
                  <a:avLst/>
                </a:prstGeom>
                <a:noFill/>
                <a:ln cap="flat" cmpd="sng" w="28575">
                  <a:solidFill>
                    <a:schemeClr val="dk1"/>
                  </a:solidFill>
                  <a:prstDash val="solid"/>
                  <a:round/>
                  <a:headEnd len="sm" w="sm" type="none"/>
                  <a:tailEnd len="sm" w="sm" type="none"/>
                </a:ln>
              </p:spPr>
            </p:cxnSp>
            <p:cxnSp>
              <p:nvCxnSpPr>
                <p:cNvPr id="334" name="Google Shape;334;p15"/>
                <p:cNvCxnSpPr/>
                <p:nvPr/>
              </p:nvCxnSpPr>
              <p:spPr>
                <a:xfrm>
                  <a:off x="1297" y="3120"/>
                  <a:ext cx="336" cy="0"/>
                </a:xfrm>
                <a:prstGeom prst="straightConnector1">
                  <a:avLst/>
                </a:prstGeom>
                <a:noFill/>
                <a:ln cap="flat" cmpd="sng" w="28575">
                  <a:solidFill>
                    <a:schemeClr val="dk1"/>
                  </a:solidFill>
                  <a:prstDash val="solid"/>
                  <a:round/>
                  <a:headEnd len="sm" w="sm" type="none"/>
                  <a:tailEnd len="sm" w="sm" type="none"/>
                </a:ln>
              </p:spPr>
            </p:cxnSp>
            <p:cxnSp>
              <p:nvCxnSpPr>
                <p:cNvPr id="335" name="Google Shape;335;p15"/>
                <p:cNvCxnSpPr/>
                <p:nvPr/>
              </p:nvCxnSpPr>
              <p:spPr>
                <a:xfrm>
                  <a:off x="1297" y="3168"/>
                  <a:ext cx="336" cy="0"/>
                </a:xfrm>
                <a:prstGeom prst="straightConnector1">
                  <a:avLst/>
                </a:prstGeom>
                <a:noFill/>
                <a:ln cap="flat" cmpd="sng" w="28575">
                  <a:solidFill>
                    <a:schemeClr val="dk1"/>
                  </a:solidFill>
                  <a:prstDash val="solid"/>
                  <a:round/>
                  <a:headEnd len="sm" w="sm" type="none"/>
                  <a:tailEnd len="sm" w="sm" type="none"/>
                </a:ln>
              </p:spPr>
            </p:cxnSp>
            <p:cxnSp>
              <p:nvCxnSpPr>
                <p:cNvPr id="336" name="Google Shape;336;p15"/>
                <p:cNvCxnSpPr/>
                <p:nvPr/>
              </p:nvCxnSpPr>
              <p:spPr>
                <a:xfrm>
                  <a:off x="1297" y="2688"/>
                  <a:ext cx="336" cy="0"/>
                </a:xfrm>
                <a:prstGeom prst="straightConnector1">
                  <a:avLst/>
                </a:prstGeom>
                <a:noFill/>
                <a:ln cap="flat" cmpd="sng" w="28575">
                  <a:solidFill>
                    <a:schemeClr val="dk1"/>
                  </a:solidFill>
                  <a:prstDash val="solid"/>
                  <a:round/>
                  <a:headEnd len="sm" w="sm" type="none"/>
                  <a:tailEnd len="sm" w="sm" type="none"/>
                </a:ln>
              </p:spPr>
            </p:cxnSp>
            <p:cxnSp>
              <p:nvCxnSpPr>
                <p:cNvPr id="337" name="Google Shape;337;p15"/>
                <p:cNvCxnSpPr/>
                <p:nvPr/>
              </p:nvCxnSpPr>
              <p:spPr>
                <a:xfrm>
                  <a:off x="1297" y="2592"/>
                  <a:ext cx="209" cy="0"/>
                </a:xfrm>
                <a:prstGeom prst="straightConnector1">
                  <a:avLst/>
                </a:prstGeom>
                <a:noFill/>
                <a:ln cap="flat" cmpd="sng" w="28575">
                  <a:solidFill>
                    <a:schemeClr val="dk1"/>
                  </a:solidFill>
                  <a:prstDash val="solid"/>
                  <a:round/>
                  <a:headEnd len="sm" w="sm" type="none"/>
                  <a:tailEnd len="sm" w="sm" type="none"/>
                </a:ln>
              </p:spPr>
            </p:cxnSp>
            <p:cxnSp>
              <p:nvCxnSpPr>
                <p:cNvPr id="338" name="Google Shape;338;p15"/>
                <p:cNvCxnSpPr/>
                <p:nvPr/>
              </p:nvCxnSpPr>
              <p:spPr>
                <a:xfrm>
                  <a:off x="1297" y="2544"/>
                  <a:ext cx="209" cy="0"/>
                </a:xfrm>
                <a:prstGeom prst="straightConnector1">
                  <a:avLst/>
                </a:prstGeom>
                <a:noFill/>
                <a:ln cap="flat" cmpd="sng" w="28575">
                  <a:solidFill>
                    <a:schemeClr val="dk1"/>
                  </a:solidFill>
                  <a:prstDash val="solid"/>
                  <a:round/>
                  <a:headEnd len="sm" w="sm" type="none"/>
                  <a:tailEnd len="sm" w="sm" type="none"/>
                </a:ln>
              </p:spPr>
            </p:cxnSp>
            <p:cxnSp>
              <p:nvCxnSpPr>
                <p:cNvPr id="339" name="Google Shape;339;p15"/>
                <p:cNvCxnSpPr/>
                <p:nvPr/>
              </p:nvCxnSpPr>
              <p:spPr>
                <a:xfrm>
                  <a:off x="1297" y="2640"/>
                  <a:ext cx="209" cy="0"/>
                </a:xfrm>
                <a:prstGeom prst="straightConnector1">
                  <a:avLst/>
                </a:prstGeom>
                <a:noFill/>
                <a:ln cap="flat" cmpd="sng" w="28575">
                  <a:solidFill>
                    <a:schemeClr val="dk1"/>
                  </a:solidFill>
                  <a:prstDash val="solid"/>
                  <a:round/>
                  <a:headEnd len="sm" w="sm" type="none"/>
                  <a:tailEnd len="sm" w="sm" type="none"/>
                </a:ln>
              </p:spPr>
            </p:cxnSp>
          </p:grpSp>
          <p:sp>
            <p:nvSpPr>
              <p:cNvPr id="340" name="Google Shape;340;p15"/>
              <p:cNvSpPr txBox="1"/>
              <p:nvPr/>
            </p:nvSpPr>
            <p:spPr>
              <a:xfrm>
                <a:off x="3971" y="2544"/>
                <a:ext cx="1084" cy="4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Supplementary</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Specifications</a:t>
                </a:r>
                <a:endParaRPr/>
              </a:p>
            </p:txBody>
          </p:sp>
        </p:grpSp>
        <p:cxnSp>
          <p:nvCxnSpPr>
            <p:cNvPr id="341" name="Google Shape;341;p15"/>
            <p:cNvCxnSpPr/>
            <p:nvPr/>
          </p:nvCxnSpPr>
          <p:spPr>
            <a:xfrm>
              <a:off x="6045200" y="3820520"/>
              <a:ext cx="609600" cy="0"/>
            </a:xfrm>
            <a:prstGeom prst="straightConnector1">
              <a:avLst/>
            </a:prstGeom>
            <a:noFill/>
            <a:ln cap="flat" cmpd="sng" w="28575">
              <a:solidFill>
                <a:srgbClr val="FF0000"/>
              </a:solidFill>
              <a:prstDash val="solid"/>
              <a:round/>
              <a:headEnd len="med" w="med" type="triangle"/>
              <a:tailEnd len="med" w="med" type="triangle"/>
            </a:ln>
          </p:spPr>
        </p:cxnSp>
        <p:grpSp>
          <p:nvGrpSpPr>
            <p:cNvPr id="342" name="Google Shape;342;p15"/>
            <p:cNvGrpSpPr/>
            <p:nvPr/>
          </p:nvGrpSpPr>
          <p:grpSpPr>
            <a:xfrm>
              <a:off x="990600" y="4430122"/>
              <a:ext cx="1976438" cy="1673226"/>
              <a:chOff x="512" y="2416"/>
              <a:chExt cx="1245" cy="1054"/>
            </a:xfrm>
          </p:grpSpPr>
          <p:grpSp>
            <p:nvGrpSpPr>
              <p:cNvPr id="343" name="Google Shape;343;p15"/>
              <p:cNvGrpSpPr/>
              <p:nvPr/>
            </p:nvGrpSpPr>
            <p:grpSpPr>
              <a:xfrm>
                <a:off x="512" y="2416"/>
                <a:ext cx="1245" cy="766"/>
                <a:chOff x="1309" y="1072"/>
                <a:chExt cx="1245" cy="766"/>
              </a:xfrm>
            </p:grpSpPr>
            <p:grpSp>
              <p:nvGrpSpPr>
                <p:cNvPr id="344" name="Google Shape;344;p15"/>
                <p:cNvGrpSpPr/>
                <p:nvPr/>
              </p:nvGrpSpPr>
              <p:grpSpPr>
                <a:xfrm>
                  <a:off x="1309" y="1231"/>
                  <a:ext cx="302" cy="175"/>
                  <a:chOff x="144" y="1440"/>
                  <a:chExt cx="881" cy="510"/>
                </a:xfrm>
              </p:grpSpPr>
              <p:sp>
                <p:nvSpPr>
                  <p:cNvPr id="345" name="Google Shape;345;p15"/>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46" name="Google Shape;346;p15"/>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47" name="Google Shape;347;p15"/>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48" name="Google Shape;348;p15"/>
                <p:cNvGrpSpPr/>
                <p:nvPr/>
              </p:nvGrpSpPr>
              <p:grpSpPr>
                <a:xfrm>
                  <a:off x="1950" y="1072"/>
                  <a:ext cx="302" cy="175"/>
                  <a:chOff x="144" y="1440"/>
                  <a:chExt cx="881" cy="510"/>
                </a:xfrm>
              </p:grpSpPr>
              <p:sp>
                <p:nvSpPr>
                  <p:cNvPr id="349" name="Google Shape;349;p15"/>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50" name="Google Shape;350;p15"/>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51" name="Google Shape;351;p15"/>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52" name="Google Shape;352;p15"/>
                <p:cNvGrpSpPr/>
                <p:nvPr/>
              </p:nvGrpSpPr>
              <p:grpSpPr>
                <a:xfrm>
                  <a:off x="1648" y="1663"/>
                  <a:ext cx="302" cy="175"/>
                  <a:chOff x="144" y="1440"/>
                  <a:chExt cx="881" cy="510"/>
                </a:xfrm>
              </p:grpSpPr>
              <p:sp>
                <p:nvSpPr>
                  <p:cNvPr id="353" name="Google Shape;353;p15"/>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54" name="Google Shape;354;p15"/>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55" name="Google Shape;355;p15"/>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grpSp>
              <p:nvGrpSpPr>
                <p:cNvPr id="356" name="Google Shape;356;p15"/>
                <p:cNvGrpSpPr/>
                <p:nvPr/>
              </p:nvGrpSpPr>
              <p:grpSpPr>
                <a:xfrm>
                  <a:off x="2252" y="1581"/>
                  <a:ext cx="302" cy="175"/>
                  <a:chOff x="144" y="1440"/>
                  <a:chExt cx="881" cy="510"/>
                </a:xfrm>
              </p:grpSpPr>
              <p:sp>
                <p:nvSpPr>
                  <p:cNvPr id="357" name="Google Shape;357;p15"/>
                  <p:cNvSpPr/>
                  <p:nvPr/>
                </p:nvSpPr>
                <p:spPr>
                  <a:xfrm>
                    <a:off x="144" y="1440"/>
                    <a:ext cx="881" cy="510"/>
                  </a:xfrm>
                  <a:prstGeom prst="rect">
                    <a:avLst/>
                  </a:prstGeom>
                  <a:noFill/>
                  <a:ln cap="flat" cmpd="sng" w="28575">
                    <a:solidFill>
                      <a:schemeClr val="dk1"/>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58" name="Google Shape;358;p15"/>
                  <p:cNvCxnSpPr/>
                  <p:nvPr/>
                </p:nvCxnSpPr>
                <p:spPr>
                  <a:xfrm>
                    <a:off x="144" y="1810"/>
                    <a:ext cx="881" cy="0"/>
                  </a:xfrm>
                  <a:prstGeom prst="straightConnector1">
                    <a:avLst/>
                  </a:prstGeom>
                  <a:noFill/>
                  <a:ln cap="flat" cmpd="sng" w="28575">
                    <a:solidFill>
                      <a:schemeClr val="dk1"/>
                    </a:solidFill>
                    <a:prstDash val="solid"/>
                    <a:round/>
                    <a:headEnd len="sm" w="sm" type="none"/>
                    <a:tailEnd len="sm" w="sm" type="none"/>
                  </a:ln>
                </p:spPr>
              </p:cxnSp>
              <p:cxnSp>
                <p:nvCxnSpPr>
                  <p:cNvPr id="359" name="Google Shape;359;p15"/>
                  <p:cNvCxnSpPr/>
                  <p:nvPr/>
                </p:nvCxnSpPr>
                <p:spPr>
                  <a:xfrm>
                    <a:off x="144" y="1680"/>
                    <a:ext cx="881" cy="0"/>
                  </a:xfrm>
                  <a:prstGeom prst="straightConnector1">
                    <a:avLst/>
                  </a:prstGeom>
                  <a:noFill/>
                  <a:ln cap="flat" cmpd="sng" w="28575">
                    <a:solidFill>
                      <a:schemeClr val="dk1"/>
                    </a:solidFill>
                    <a:prstDash val="solid"/>
                    <a:round/>
                    <a:headEnd len="sm" w="sm" type="none"/>
                    <a:tailEnd len="sm" w="sm" type="none"/>
                  </a:ln>
                </p:spPr>
              </p:cxnSp>
            </p:grpSp>
            <p:cxnSp>
              <p:nvCxnSpPr>
                <p:cNvPr id="360" name="Google Shape;360;p15"/>
                <p:cNvCxnSpPr/>
                <p:nvPr/>
              </p:nvCxnSpPr>
              <p:spPr>
                <a:xfrm rot="10800000">
                  <a:off x="1463" y="1406"/>
                  <a:ext cx="312" cy="257"/>
                </a:xfrm>
                <a:prstGeom prst="straightConnector1">
                  <a:avLst/>
                </a:prstGeom>
                <a:noFill/>
                <a:ln cap="flat" cmpd="sng" w="28575">
                  <a:solidFill>
                    <a:schemeClr val="dk1"/>
                  </a:solidFill>
                  <a:prstDash val="solid"/>
                  <a:round/>
                  <a:headEnd len="sm" w="sm" type="none"/>
                  <a:tailEnd len="sm" w="sm" type="none"/>
                </a:ln>
              </p:spPr>
            </p:cxnSp>
            <p:cxnSp>
              <p:nvCxnSpPr>
                <p:cNvPr id="361" name="Google Shape;361;p15"/>
                <p:cNvCxnSpPr/>
                <p:nvPr/>
              </p:nvCxnSpPr>
              <p:spPr>
                <a:xfrm flipH="1" rot="10800000">
                  <a:off x="1611" y="1160"/>
                  <a:ext cx="339" cy="153"/>
                </a:xfrm>
                <a:prstGeom prst="straightConnector1">
                  <a:avLst/>
                </a:prstGeom>
                <a:noFill/>
                <a:ln cap="flat" cmpd="sng" w="28575">
                  <a:solidFill>
                    <a:schemeClr val="dk1"/>
                  </a:solidFill>
                  <a:prstDash val="solid"/>
                  <a:round/>
                  <a:headEnd len="sm" w="sm" type="none"/>
                  <a:tailEnd len="sm" w="sm" type="none"/>
                </a:ln>
              </p:spPr>
            </p:cxnSp>
            <p:cxnSp>
              <p:nvCxnSpPr>
                <p:cNvPr id="362" name="Google Shape;362;p15"/>
                <p:cNvCxnSpPr/>
                <p:nvPr/>
              </p:nvCxnSpPr>
              <p:spPr>
                <a:xfrm flipH="1" rot="10800000">
                  <a:off x="1950" y="1663"/>
                  <a:ext cx="302" cy="82"/>
                </a:xfrm>
                <a:prstGeom prst="straightConnector1">
                  <a:avLst/>
                </a:prstGeom>
                <a:noFill/>
                <a:ln cap="flat" cmpd="sng" w="28575">
                  <a:solidFill>
                    <a:schemeClr val="dk1"/>
                  </a:solidFill>
                  <a:prstDash val="solid"/>
                  <a:round/>
                  <a:headEnd len="sm" w="sm" type="none"/>
                  <a:tailEnd len="sm" w="sm" type="none"/>
                </a:ln>
              </p:spPr>
            </p:cxnSp>
            <p:cxnSp>
              <p:nvCxnSpPr>
                <p:cNvPr id="363" name="Google Shape;363;p15"/>
                <p:cNvCxnSpPr/>
                <p:nvPr/>
              </p:nvCxnSpPr>
              <p:spPr>
                <a:xfrm flipH="1" rot="10800000">
                  <a:off x="1775" y="1247"/>
                  <a:ext cx="329" cy="416"/>
                </a:xfrm>
                <a:prstGeom prst="straightConnector1">
                  <a:avLst/>
                </a:prstGeom>
                <a:noFill/>
                <a:ln cap="flat" cmpd="sng" w="28575">
                  <a:solidFill>
                    <a:schemeClr val="dk1"/>
                  </a:solidFill>
                  <a:prstDash val="solid"/>
                  <a:round/>
                  <a:headEnd len="sm" w="sm" type="none"/>
                  <a:tailEnd len="sm" w="sm" type="none"/>
                </a:ln>
              </p:spPr>
            </p:cxnSp>
          </p:grpSp>
          <p:sp>
            <p:nvSpPr>
              <p:cNvPr id="364" name="Google Shape;364;p15"/>
              <p:cNvSpPr txBox="1"/>
              <p:nvPr/>
            </p:nvSpPr>
            <p:spPr>
              <a:xfrm>
                <a:off x="629" y="3239"/>
                <a:ext cx="996" cy="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Design Model</a:t>
                </a:r>
                <a:endParaRPr/>
              </a:p>
            </p:txBody>
          </p:sp>
        </p:grpSp>
        <p:grpSp>
          <p:nvGrpSpPr>
            <p:cNvPr id="365" name="Google Shape;365;p15"/>
            <p:cNvGrpSpPr/>
            <p:nvPr/>
          </p:nvGrpSpPr>
          <p:grpSpPr>
            <a:xfrm>
              <a:off x="6572250" y="2652120"/>
              <a:ext cx="1403350" cy="2120900"/>
              <a:chOff x="4284" y="1392"/>
              <a:chExt cx="884" cy="1336"/>
            </a:xfrm>
          </p:grpSpPr>
          <p:grpSp>
            <p:nvGrpSpPr>
              <p:cNvPr id="366" name="Google Shape;366;p15"/>
              <p:cNvGrpSpPr/>
              <p:nvPr/>
            </p:nvGrpSpPr>
            <p:grpSpPr>
              <a:xfrm>
                <a:off x="4502" y="1392"/>
                <a:ext cx="432" cy="720"/>
                <a:chOff x="1249" y="2496"/>
                <a:chExt cx="432" cy="720"/>
              </a:xfrm>
            </p:grpSpPr>
            <p:sp>
              <p:nvSpPr>
                <p:cNvPr id="367" name="Google Shape;367;p15"/>
                <p:cNvSpPr/>
                <p:nvPr/>
              </p:nvSpPr>
              <p:spPr>
                <a:xfrm>
                  <a:off x="1249" y="2496"/>
                  <a:ext cx="432" cy="720"/>
                </a:xfrm>
                <a:prstGeom prst="rect">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68" name="Google Shape;368;p15"/>
                <p:cNvCxnSpPr/>
                <p:nvPr/>
              </p:nvCxnSpPr>
              <p:spPr>
                <a:xfrm>
                  <a:off x="1537" y="2496"/>
                  <a:ext cx="144" cy="144"/>
                </a:xfrm>
                <a:prstGeom prst="straightConnector1">
                  <a:avLst/>
                </a:prstGeom>
                <a:noFill/>
                <a:ln cap="flat" cmpd="sng" w="28575">
                  <a:solidFill>
                    <a:schemeClr val="dk1"/>
                  </a:solidFill>
                  <a:prstDash val="solid"/>
                  <a:round/>
                  <a:headEnd len="sm" w="sm" type="none"/>
                  <a:tailEnd len="sm" w="sm" type="none"/>
                </a:ln>
              </p:spPr>
            </p:cxnSp>
            <p:cxnSp>
              <p:nvCxnSpPr>
                <p:cNvPr id="369" name="Google Shape;369;p15"/>
                <p:cNvCxnSpPr/>
                <p:nvPr/>
              </p:nvCxnSpPr>
              <p:spPr>
                <a:xfrm>
                  <a:off x="1537" y="2496"/>
                  <a:ext cx="0" cy="144"/>
                </a:xfrm>
                <a:prstGeom prst="straightConnector1">
                  <a:avLst/>
                </a:prstGeom>
                <a:noFill/>
                <a:ln cap="flat" cmpd="sng" w="28575">
                  <a:solidFill>
                    <a:schemeClr val="dk1"/>
                  </a:solidFill>
                  <a:prstDash val="solid"/>
                  <a:round/>
                  <a:headEnd len="sm" w="sm" type="none"/>
                  <a:tailEnd len="sm" w="sm" type="none"/>
                </a:ln>
              </p:spPr>
            </p:cxnSp>
            <p:cxnSp>
              <p:nvCxnSpPr>
                <p:cNvPr id="370" name="Google Shape;370;p15"/>
                <p:cNvCxnSpPr/>
                <p:nvPr/>
              </p:nvCxnSpPr>
              <p:spPr>
                <a:xfrm rot="10800000">
                  <a:off x="1537" y="2640"/>
                  <a:ext cx="144" cy="0"/>
                </a:xfrm>
                <a:prstGeom prst="straightConnector1">
                  <a:avLst/>
                </a:prstGeom>
                <a:noFill/>
                <a:ln cap="flat" cmpd="sng" w="28575">
                  <a:solidFill>
                    <a:schemeClr val="dk1"/>
                  </a:solidFill>
                  <a:prstDash val="solid"/>
                  <a:round/>
                  <a:headEnd len="sm" w="sm" type="none"/>
                  <a:tailEnd len="sm" w="sm" type="none"/>
                </a:ln>
              </p:spPr>
            </p:cxnSp>
            <p:cxnSp>
              <p:nvCxnSpPr>
                <p:cNvPr id="371" name="Google Shape;371;p15"/>
                <p:cNvCxnSpPr/>
                <p:nvPr/>
              </p:nvCxnSpPr>
              <p:spPr>
                <a:xfrm>
                  <a:off x="1297" y="2736"/>
                  <a:ext cx="336" cy="0"/>
                </a:xfrm>
                <a:prstGeom prst="straightConnector1">
                  <a:avLst/>
                </a:prstGeom>
                <a:noFill/>
                <a:ln cap="flat" cmpd="sng" w="28575">
                  <a:solidFill>
                    <a:schemeClr val="dk1"/>
                  </a:solidFill>
                  <a:prstDash val="solid"/>
                  <a:round/>
                  <a:headEnd len="sm" w="sm" type="none"/>
                  <a:tailEnd len="sm" w="sm" type="none"/>
                </a:ln>
              </p:spPr>
            </p:cxnSp>
            <p:cxnSp>
              <p:nvCxnSpPr>
                <p:cNvPr id="372" name="Google Shape;372;p15"/>
                <p:cNvCxnSpPr/>
                <p:nvPr/>
              </p:nvCxnSpPr>
              <p:spPr>
                <a:xfrm>
                  <a:off x="1297" y="2784"/>
                  <a:ext cx="336" cy="0"/>
                </a:xfrm>
                <a:prstGeom prst="straightConnector1">
                  <a:avLst/>
                </a:prstGeom>
                <a:noFill/>
                <a:ln cap="flat" cmpd="sng" w="28575">
                  <a:solidFill>
                    <a:schemeClr val="dk1"/>
                  </a:solidFill>
                  <a:prstDash val="solid"/>
                  <a:round/>
                  <a:headEnd len="sm" w="sm" type="none"/>
                  <a:tailEnd len="sm" w="sm" type="none"/>
                </a:ln>
              </p:spPr>
            </p:cxnSp>
            <p:cxnSp>
              <p:nvCxnSpPr>
                <p:cNvPr id="373" name="Google Shape;373;p15"/>
                <p:cNvCxnSpPr/>
                <p:nvPr/>
              </p:nvCxnSpPr>
              <p:spPr>
                <a:xfrm>
                  <a:off x="1297" y="2832"/>
                  <a:ext cx="336" cy="0"/>
                </a:xfrm>
                <a:prstGeom prst="straightConnector1">
                  <a:avLst/>
                </a:prstGeom>
                <a:noFill/>
                <a:ln cap="flat" cmpd="sng" w="28575">
                  <a:solidFill>
                    <a:schemeClr val="dk1"/>
                  </a:solidFill>
                  <a:prstDash val="solid"/>
                  <a:round/>
                  <a:headEnd len="sm" w="sm" type="none"/>
                  <a:tailEnd len="sm" w="sm" type="none"/>
                </a:ln>
              </p:spPr>
            </p:cxnSp>
            <p:cxnSp>
              <p:nvCxnSpPr>
                <p:cNvPr id="374" name="Google Shape;374;p15"/>
                <p:cNvCxnSpPr/>
                <p:nvPr/>
              </p:nvCxnSpPr>
              <p:spPr>
                <a:xfrm>
                  <a:off x="1297" y="2928"/>
                  <a:ext cx="336" cy="0"/>
                </a:xfrm>
                <a:prstGeom prst="straightConnector1">
                  <a:avLst/>
                </a:prstGeom>
                <a:noFill/>
                <a:ln cap="flat" cmpd="sng" w="28575">
                  <a:solidFill>
                    <a:schemeClr val="dk1"/>
                  </a:solidFill>
                  <a:prstDash val="solid"/>
                  <a:round/>
                  <a:headEnd len="sm" w="sm" type="none"/>
                  <a:tailEnd len="sm" w="sm" type="none"/>
                </a:ln>
              </p:spPr>
            </p:cxnSp>
            <p:cxnSp>
              <p:nvCxnSpPr>
                <p:cNvPr id="375" name="Google Shape;375;p15"/>
                <p:cNvCxnSpPr/>
                <p:nvPr/>
              </p:nvCxnSpPr>
              <p:spPr>
                <a:xfrm>
                  <a:off x="1297" y="2880"/>
                  <a:ext cx="336" cy="0"/>
                </a:xfrm>
                <a:prstGeom prst="straightConnector1">
                  <a:avLst/>
                </a:prstGeom>
                <a:noFill/>
                <a:ln cap="flat" cmpd="sng" w="28575">
                  <a:solidFill>
                    <a:schemeClr val="dk1"/>
                  </a:solidFill>
                  <a:prstDash val="solid"/>
                  <a:round/>
                  <a:headEnd len="sm" w="sm" type="none"/>
                  <a:tailEnd len="sm" w="sm" type="none"/>
                </a:ln>
              </p:spPr>
            </p:cxnSp>
            <p:cxnSp>
              <p:nvCxnSpPr>
                <p:cNvPr id="376" name="Google Shape;376;p15"/>
                <p:cNvCxnSpPr/>
                <p:nvPr/>
              </p:nvCxnSpPr>
              <p:spPr>
                <a:xfrm>
                  <a:off x="1297" y="2976"/>
                  <a:ext cx="336" cy="0"/>
                </a:xfrm>
                <a:prstGeom prst="straightConnector1">
                  <a:avLst/>
                </a:prstGeom>
                <a:noFill/>
                <a:ln cap="flat" cmpd="sng" w="28575">
                  <a:solidFill>
                    <a:schemeClr val="dk1"/>
                  </a:solidFill>
                  <a:prstDash val="solid"/>
                  <a:round/>
                  <a:headEnd len="sm" w="sm" type="none"/>
                  <a:tailEnd len="sm" w="sm" type="none"/>
                </a:ln>
              </p:spPr>
            </p:cxnSp>
            <p:cxnSp>
              <p:nvCxnSpPr>
                <p:cNvPr id="377" name="Google Shape;377;p15"/>
                <p:cNvCxnSpPr/>
                <p:nvPr/>
              </p:nvCxnSpPr>
              <p:spPr>
                <a:xfrm>
                  <a:off x="1297" y="3024"/>
                  <a:ext cx="336" cy="0"/>
                </a:xfrm>
                <a:prstGeom prst="straightConnector1">
                  <a:avLst/>
                </a:prstGeom>
                <a:noFill/>
                <a:ln cap="flat" cmpd="sng" w="28575">
                  <a:solidFill>
                    <a:schemeClr val="dk1"/>
                  </a:solidFill>
                  <a:prstDash val="solid"/>
                  <a:round/>
                  <a:headEnd len="sm" w="sm" type="none"/>
                  <a:tailEnd len="sm" w="sm" type="none"/>
                </a:ln>
              </p:spPr>
            </p:cxnSp>
            <p:cxnSp>
              <p:nvCxnSpPr>
                <p:cNvPr id="378" name="Google Shape;378;p15"/>
                <p:cNvCxnSpPr/>
                <p:nvPr/>
              </p:nvCxnSpPr>
              <p:spPr>
                <a:xfrm>
                  <a:off x="1297" y="3072"/>
                  <a:ext cx="336" cy="0"/>
                </a:xfrm>
                <a:prstGeom prst="straightConnector1">
                  <a:avLst/>
                </a:prstGeom>
                <a:noFill/>
                <a:ln cap="flat" cmpd="sng" w="28575">
                  <a:solidFill>
                    <a:schemeClr val="dk1"/>
                  </a:solidFill>
                  <a:prstDash val="solid"/>
                  <a:round/>
                  <a:headEnd len="sm" w="sm" type="none"/>
                  <a:tailEnd len="sm" w="sm" type="none"/>
                </a:ln>
              </p:spPr>
            </p:cxnSp>
            <p:cxnSp>
              <p:nvCxnSpPr>
                <p:cNvPr id="379" name="Google Shape;379;p15"/>
                <p:cNvCxnSpPr/>
                <p:nvPr/>
              </p:nvCxnSpPr>
              <p:spPr>
                <a:xfrm>
                  <a:off x="1297" y="3120"/>
                  <a:ext cx="336" cy="0"/>
                </a:xfrm>
                <a:prstGeom prst="straightConnector1">
                  <a:avLst/>
                </a:prstGeom>
                <a:noFill/>
                <a:ln cap="flat" cmpd="sng" w="28575">
                  <a:solidFill>
                    <a:schemeClr val="dk1"/>
                  </a:solidFill>
                  <a:prstDash val="solid"/>
                  <a:round/>
                  <a:headEnd len="sm" w="sm" type="none"/>
                  <a:tailEnd len="sm" w="sm" type="none"/>
                </a:ln>
              </p:spPr>
            </p:cxnSp>
            <p:cxnSp>
              <p:nvCxnSpPr>
                <p:cNvPr id="380" name="Google Shape;380;p15"/>
                <p:cNvCxnSpPr/>
                <p:nvPr/>
              </p:nvCxnSpPr>
              <p:spPr>
                <a:xfrm>
                  <a:off x="1297" y="3168"/>
                  <a:ext cx="336" cy="0"/>
                </a:xfrm>
                <a:prstGeom prst="straightConnector1">
                  <a:avLst/>
                </a:prstGeom>
                <a:noFill/>
                <a:ln cap="flat" cmpd="sng" w="28575">
                  <a:solidFill>
                    <a:schemeClr val="dk1"/>
                  </a:solidFill>
                  <a:prstDash val="solid"/>
                  <a:round/>
                  <a:headEnd len="sm" w="sm" type="none"/>
                  <a:tailEnd len="sm" w="sm" type="none"/>
                </a:ln>
              </p:spPr>
            </p:cxnSp>
            <p:cxnSp>
              <p:nvCxnSpPr>
                <p:cNvPr id="381" name="Google Shape;381;p15"/>
                <p:cNvCxnSpPr/>
                <p:nvPr/>
              </p:nvCxnSpPr>
              <p:spPr>
                <a:xfrm>
                  <a:off x="1297" y="2688"/>
                  <a:ext cx="336" cy="0"/>
                </a:xfrm>
                <a:prstGeom prst="straightConnector1">
                  <a:avLst/>
                </a:prstGeom>
                <a:noFill/>
                <a:ln cap="flat" cmpd="sng" w="28575">
                  <a:solidFill>
                    <a:schemeClr val="dk1"/>
                  </a:solidFill>
                  <a:prstDash val="solid"/>
                  <a:round/>
                  <a:headEnd len="sm" w="sm" type="none"/>
                  <a:tailEnd len="sm" w="sm" type="none"/>
                </a:ln>
              </p:spPr>
            </p:cxnSp>
            <p:cxnSp>
              <p:nvCxnSpPr>
                <p:cNvPr id="382" name="Google Shape;382;p15"/>
                <p:cNvCxnSpPr/>
                <p:nvPr/>
              </p:nvCxnSpPr>
              <p:spPr>
                <a:xfrm>
                  <a:off x="1297" y="2592"/>
                  <a:ext cx="209" cy="0"/>
                </a:xfrm>
                <a:prstGeom prst="straightConnector1">
                  <a:avLst/>
                </a:prstGeom>
                <a:noFill/>
                <a:ln cap="flat" cmpd="sng" w="28575">
                  <a:solidFill>
                    <a:schemeClr val="dk1"/>
                  </a:solidFill>
                  <a:prstDash val="solid"/>
                  <a:round/>
                  <a:headEnd len="sm" w="sm" type="none"/>
                  <a:tailEnd len="sm" w="sm" type="none"/>
                </a:ln>
              </p:spPr>
            </p:cxnSp>
            <p:cxnSp>
              <p:nvCxnSpPr>
                <p:cNvPr id="383" name="Google Shape;383;p15"/>
                <p:cNvCxnSpPr/>
                <p:nvPr/>
              </p:nvCxnSpPr>
              <p:spPr>
                <a:xfrm>
                  <a:off x="1297" y="2544"/>
                  <a:ext cx="209" cy="0"/>
                </a:xfrm>
                <a:prstGeom prst="straightConnector1">
                  <a:avLst/>
                </a:prstGeom>
                <a:noFill/>
                <a:ln cap="flat" cmpd="sng" w="28575">
                  <a:solidFill>
                    <a:schemeClr val="dk1"/>
                  </a:solidFill>
                  <a:prstDash val="solid"/>
                  <a:round/>
                  <a:headEnd len="sm" w="sm" type="none"/>
                  <a:tailEnd len="sm" w="sm" type="none"/>
                </a:ln>
              </p:spPr>
            </p:cxnSp>
            <p:cxnSp>
              <p:nvCxnSpPr>
                <p:cNvPr id="384" name="Google Shape;384;p15"/>
                <p:cNvCxnSpPr/>
                <p:nvPr/>
              </p:nvCxnSpPr>
              <p:spPr>
                <a:xfrm>
                  <a:off x="1297" y="2640"/>
                  <a:ext cx="209" cy="0"/>
                </a:xfrm>
                <a:prstGeom prst="straightConnector1">
                  <a:avLst/>
                </a:prstGeom>
                <a:noFill/>
                <a:ln cap="flat" cmpd="sng" w="28575">
                  <a:solidFill>
                    <a:schemeClr val="dk1"/>
                  </a:solidFill>
                  <a:prstDash val="solid"/>
                  <a:round/>
                  <a:headEnd len="sm" w="sm" type="none"/>
                  <a:tailEnd len="sm" w="sm" type="none"/>
                </a:ln>
              </p:spPr>
            </p:cxnSp>
          </p:grpSp>
          <p:sp>
            <p:nvSpPr>
              <p:cNvPr id="385" name="Google Shape;385;p15"/>
              <p:cNvSpPr txBox="1"/>
              <p:nvPr/>
            </p:nvSpPr>
            <p:spPr>
              <a:xfrm>
                <a:off x="4284" y="2151"/>
                <a:ext cx="884" cy="5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Software </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Architecture</a:t>
                </a:r>
                <a:endParaRPr/>
              </a:p>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Document</a:t>
                </a:r>
                <a:endParaRPr/>
              </a:p>
            </p:txBody>
          </p:sp>
        </p:grpSp>
        <p:cxnSp>
          <p:nvCxnSpPr>
            <p:cNvPr id="386" name="Google Shape;386;p15"/>
            <p:cNvCxnSpPr/>
            <p:nvPr/>
          </p:nvCxnSpPr>
          <p:spPr>
            <a:xfrm flipH="1" rot="10800000">
              <a:off x="2895600" y="4023720"/>
              <a:ext cx="647700" cy="647700"/>
            </a:xfrm>
            <a:prstGeom prst="straightConnector1">
              <a:avLst/>
            </a:prstGeom>
            <a:noFill/>
            <a:ln cap="flat" cmpd="sng" w="28575">
              <a:solidFill>
                <a:srgbClr val="FF0000"/>
              </a:solidFill>
              <a:prstDash val="solid"/>
              <a:round/>
              <a:headEnd len="sm" w="sm" type="none"/>
              <a:tailEnd len="med" w="med" type="triangle"/>
            </a:ln>
          </p:spPr>
        </p:cxnSp>
        <p:cxnSp>
          <p:nvCxnSpPr>
            <p:cNvPr id="387" name="Google Shape;387;p15"/>
            <p:cNvCxnSpPr/>
            <p:nvPr/>
          </p:nvCxnSpPr>
          <p:spPr>
            <a:xfrm>
              <a:off x="2895600" y="2956920"/>
              <a:ext cx="647700" cy="647700"/>
            </a:xfrm>
            <a:prstGeom prst="straightConnector1">
              <a:avLst/>
            </a:prstGeom>
            <a:noFill/>
            <a:ln cap="flat" cmpd="sng" w="28575">
              <a:solidFill>
                <a:srgbClr val="FF0000"/>
              </a:solidFill>
              <a:prstDash val="solid"/>
              <a:round/>
              <a:headEnd len="sm" w="sm" type="none"/>
              <a:tailEnd len="med" w="med" type="triangle"/>
            </a:ln>
          </p:spPr>
        </p:cxn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6"/>
          <p:cNvSpPr txBox="1"/>
          <p:nvPr>
            <p:ph type="title"/>
          </p:nvPr>
        </p:nvSpPr>
        <p:spPr>
          <a:xfrm>
            <a:off x="457200" y="704088"/>
            <a:ext cx="8229600" cy="972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Process View</a:t>
            </a:r>
            <a:endParaRPr/>
          </a:p>
        </p:txBody>
      </p:sp>
      <p:sp>
        <p:nvSpPr>
          <p:cNvPr id="393" name="Google Shape;393;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94" name="Google Shape;394;p16"/>
          <p:cNvPicPr preferRelativeResize="0"/>
          <p:nvPr>
            <p:ph idx="1" type="body"/>
          </p:nvPr>
        </p:nvPicPr>
        <p:blipFill rotWithShape="1">
          <a:blip r:embed="rId3">
            <a:alphaModFix/>
          </a:blip>
          <a:srcRect b="0" l="0" r="0" t="0"/>
          <a:stretch/>
        </p:blipFill>
        <p:spPr>
          <a:xfrm>
            <a:off x="693402" y="1935163"/>
            <a:ext cx="7757195" cy="43894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17"/>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Đồng thời (concurrency) là gì?</a:t>
            </a:r>
            <a:endParaRPr sz="3600"/>
          </a:p>
        </p:txBody>
      </p:sp>
      <p:sp>
        <p:nvSpPr>
          <p:cNvPr id="400" name="Google Shape;400;p17"/>
          <p:cNvSpPr txBox="1"/>
          <p:nvPr>
            <p:ph idx="1" type="body"/>
          </p:nvPr>
        </p:nvSpPr>
        <p:spPr>
          <a:xfrm>
            <a:off x="457200" y="1935480"/>
            <a:ext cx="45720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5"/>
              <a:buChar char="⚫"/>
            </a:pPr>
            <a:r>
              <a:rPr lang="en-US" sz="2405"/>
              <a:t>Ví dụ về đồng thời (concurrency):</a:t>
            </a:r>
            <a:endParaRPr/>
          </a:p>
          <a:p>
            <a:pPr indent="-246888" lvl="1" marL="640080" rtl="0" algn="l">
              <a:spcBef>
                <a:spcPts val="444"/>
              </a:spcBef>
              <a:spcAft>
                <a:spcPts val="0"/>
              </a:spcAft>
              <a:buSzPts val="1887"/>
              <a:buChar char="⚫"/>
            </a:pPr>
            <a:r>
              <a:rPr lang="en-US" sz="2220"/>
              <a:t>Parallel roads (đường hai làn – hai làn cùng chiều) không đòi hỏi nhiều sự phối hợp</a:t>
            </a:r>
            <a:endParaRPr sz="2220"/>
          </a:p>
          <a:p>
            <a:pPr indent="-246888" lvl="1" marL="640080" rtl="0" algn="l">
              <a:spcBef>
                <a:spcPts val="444"/>
              </a:spcBef>
              <a:spcAft>
                <a:spcPts val="0"/>
              </a:spcAft>
              <a:buSzPts val="1887"/>
              <a:buChar char="⚫"/>
            </a:pPr>
            <a:r>
              <a:rPr lang="en-US" sz="2220"/>
              <a:t>Two-way roads (đường hai chiều – xe đi ngược chiều) đỏi hỏi nhiều hơn sự phối hợp</a:t>
            </a:r>
            <a:endParaRPr sz="2220"/>
          </a:p>
          <a:p>
            <a:pPr indent="-246888" lvl="1" marL="640080" rtl="0" algn="l">
              <a:spcBef>
                <a:spcPts val="444"/>
              </a:spcBef>
              <a:spcAft>
                <a:spcPts val="0"/>
              </a:spcAft>
              <a:buSzPts val="1887"/>
              <a:buChar char="⚫"/>
            </a:pPr>
            <a:r>
              <a:rPr lang="en-US" sz="2220"/>
              <a:t>Intersections (đường giao) đòi hỏi sự phối hợp thận trọng</a:t>
            </a:r>
            <a:endParaRPr sz="2220"/>
          </a:p>
          <a:p>
            <a:pPr indent="-129238" lvl="0" marL="274320" rtl="0" algn="l">
              <a:spcBef>
                <a:spcPts val="481"/>
              </a:spcBef>
              <a:spcAft>
                <a:spcPts val="0"/>
              </a:spcAft>
              <a:buSzPts val="2285"/>
              <a:buNone/>
            </a:pPr>
            <a:r>
              <a:t/>
            </a:r>
            <a:endParaRPr sz="2405"/>
          </a:p>
        </p:txBody>
      </p:sp>
      <p:sp>
        <p:nvSpPr>
          <p:cNvPr id="401" name="Google Shape;401;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402" name="Google Shape;402;p17"/>
          <p:cNvPicPr preferRelativeResize="0"/>
          <p:nvPr/>
        </p:nvPicPr>
        <p:blipFill rotWithShape="1">
          <a:blip r:embed="rId3">
            <a:alphaModFix/>
          </a:blip>
          <a:srcRect b="0" l="0" r="0" t="0"/>
          <a:stretch/>
        </p:blipFill>
        <p:spPr>
          <a:xfrm>
            <a:off x="4953000" y="1447800"/>
            <a:ext cx="3552825"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18"/>
          <p:cNvSpPr txBox="1"/>
          <p:nvPr>
            <p:ph type="title"/>
          </p:nvPr>
        </p:nvSpPr>
        <p:spPr>
          <a:xfrm>
            <a:off x="457200" y="704088"/>
            <a:ext cx="8229600" cy="896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Tại </a:t>
            </a:r>
            <a:r>
              <a:rPr lang="en-US" sz="3240"/>
              <a:t>sao</a:t>
            </a:r>
            <a:r>
              <a:rPr lang="en-US" sz="3240"/>
              <a:t> chúng ta cần quan tâm tới sự đồng thời (Concurrency)?</a:t>
            </a:r>
            <a:endParaRPr sz="3240"/>
          </a:p>
        </p:txBody>
      </p:sp>
      <p:sp>
        <p:nvSpPr>
          <p:cNvPr id="408" name="Google Shape;408;p18"/>
          <p:cNvSpPr txBox="1"/>
          <p:nvPr>
            <p:ph idx="1" type="body"/>
          </p:nvPr>
        </p:nvSpPr>
        <p:spPr>
          <a:xfrm>
            <a:off x="457200" y="1676400"/>
            <a:ext cx="8229600" cy="4648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Phần mềm có thể cần phải trả lời các sự kiện bên ngoài hệ thống theo một cách ngẫu nhiên.</a:t>
            </a:r>
            <a:endParaRPr/>
          </a:p>
          <a:p>
            <a:pPr indent="-274320" lvl="0" marL="274320" rtl="0" algn="l">
              <a:spcBef>
                <a:spcPts val="520"/>
              </a:spcBef>
              <a:spcAft>
                <a:spcPts val="0"/>
              </a:spcAft>
              <a:buSzPts val="2470"/>
              <a:buChar char="⚫"/>
            </a:pPr>
            <a:r>
              <a:rPr lang="en-US"/>
              <a:t>Bảo đảm các sự kiện này phản ứng trong khoảng thời gian tối thiểu cho phép.</a:t>
            </a:r>
            <a:endParaRPr/>
          </a:p>
          <a:p>
            <a:pPr indent="-274320" lvl="0" marL="274320" rtl="0" algn="l">
              <a:spcBef>
                <a:spcPts val="520"/>
              </a:spcBef>
              <a:spcAft>
                <a:spcPts val="0"/>
              </a:spcAft>
              <a:buSzPts val="2470"/>
              <a:buChar char="⚫"/>
            </a:pPr>
            <a:r>
              <a:rPr lang="en-US"/>
              <a:t>Các tác vụ được thực hiện song song có thể cải thiện hiệu năng nếu có đa bộ xử lý</a:t>
            </a:r>
            <a:endParaRPr/>
          </a:p>
          <a:p>
            <a:pPr indent="-246888" lvl="1" marL="640080" rtl="0" algn="l">
              <a:spcBef>
                <a:spcPts val="480"/>
              </a:spcBef>
              <a:spcAft>
                <a:spcPts val="0"/>
              </a:spcAft>
              <a:buSzPts val="2040"/>
              <a:buChar char="⚫"/>
            </a:pPr>
            <a:r>
              <a:rPr lang="en-US"/>
              <a:t>Ví dụ: Việc khởi động một hệ thống</a:t>
            </a:r>
            <a:endParaRPr/>
          </a:p>
          <a:p>
            <a:pPr indent="-274320" lvl="0" marL="274320" rtl="0" algn="l">
              <a:spcBef>
                <a:spcPts val="520"/>
              </a:spcBef>
              <a:spcAft>
                <a:spcPts val="0"/>
              </a:spcAft>
              <a:buSzPts val="2470"/>
              <a:buChar char="⚫"/>
            </a:pPr>
            <a:r>
              <a:rPr lang="en-US"/>
              <a:t>Việc điều khiển một hệ thống có thể được thực hiện thông qua tương tranh (concurrency)</a:t>
            </a:r>
            <a:endParaRPr/>
          </a:p>
        </p:txBody>
      </p:sp>
      <p:sp>
        <p:nvSpPr>
          <p:cNvPr id="409" name="Google Shape;409;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9"/>
          <p:cNvSpPr txBox="1"/>
          <p:nvPr>
            <p:ph type="title"/>
          </p:nvPr>
        </p:nvSpPr>
        <p:spPr>
          <a:xfrm>
            <a:off x="457200" y="609600"/>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Các cơ chế tương tranh</a:t>
            </a:r>
            <a:endParaRPr sz="3600"/>
          </a:p>
        </p:txBody>
      </p:sp>
      <p:sp>
        <p:nvSpPr>
          <p:cNvPr id="415" name="Google Shape;415;p19"/>
          <p:cNvSpPr txBox="1"/>
          <p:nvPr>
            <p:ph idx="1" type="body"/>
          </p:nvPr>
        </p:nvSpPr>
        <p:spPr>
          <a:xfrm>
            <a:off x="457200" y="1219200"/>
            <a:ext cx="8229600" cy="52578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Để hỗ trợ việc tương tranh, một hệ thống cần phải được trang bị nhiều luồng điều khiển (threads of control)</a:t>
            </a:r>
            <a:endParaRPr/>
          </a:p>
          <a:p>
            <a:pPr indent="-274320" lvl="0" marL="274320" rtl="0" algn="l">
              <a:lnSpc>
                <a:spcPct val="90000"/>
              </a:lnSpc>
              <a:spcBef>
                <a:spcPts val="520"/>
              </a:spcBef>
              <a:spcAft>
                <a:spcPts val="0"/>
              </a:spcAft>
              <a:buSzPts val="2470"/>
              <a:buChar char="⚫"/>
            </a:pPr>
            <a:r>
              <a:rPr lang="en-US"/>
              <a:t>Các cơ chế tương tranh phổ biến</a:t>
            </a:r>
            <a:endParaRPr/>
          </a:p>
          <a:p>
            <a:pPr indent="-246888" lvl="1" marL="640080" rtl="0" algn="l">
              <a:lnSpc>
                <a:spcPct val="90000"/>
              </a:lnSpc>
              <a:spcBef>
                <a:spcPts val="480"/>
              </a:spcBef>
              <a:spcAft>
                <a:spcPts val="0"/>
              </a:spcAft>
              <a:buSzPts val="2040"/>
              <a:buChar char="⚫"/>
            </a:pPr>
            <a:r>
              <a:rPr lang="en-US"/>
              <a:t>Đa xử lý (Multiprocessing)</a:t>
            </a:r>
            <a:endParaRPr/>
          </a:p>
          <a:p>
            <a:pPr indent="-246887" lvl="2" marL="914400" rtl="0" algn="l">
              <a:lnSpc>
                <a:spcPct val="90000"/>
              </a:lnSpc>
              <a:spcBef>
                <a:spcPts val="420"/>
              </a:spcBef>
              <a:spcAft>
                <a:spcPts val="0"/>
              </a:spcAft>
              <a:buSzPts val="1470"/>
              <a:buChar char="⚫"/>
            </a:pPr>
            <a:r>
              <a:rPr lang="en-US"/>
              <a:t>Đa bộ vị xử lý thực thi đồng thời  (Multiple CPUs)</a:t>
            </a:r>
            <a:endParaRPr/>
          </a:p>
          <a:p>
            <a:pPr indent="-246888" lvl="1" marL="640080" rtl="0" algn="l">
              <a:lnSpc>
                <a:spcPct val="90000"/>
              </a:lnSpc>
              <a:spcBef>
                <a:spcPts val="480"/>
              </a:spcBef>
              <a:spcAft>
                <a:spcPts val="0"/>
              </a:spcAft>
              <a:buSzPts val="2040"/>
              <a:buChar char="⚫"/>
            </a:pPr>
            <a:r>
              <a:rPr lang="en-US"/>
              <a:t>Đa nhiệm (Multitasking)</a:t>
            </a:r>
            <a:endParaRPr/>
          </a:p>
          <a:p>
            <a:pPr indent="-246887" lvl="2" marL="914400" rtl="0" algn="l">
              <a:lnSpc>
                <a:spcPct val="90000"/>
              </a:lnSpc>
              <a:spcBef>
                <a:spcPts val="420"/>
              </a:spcBef>
              <a:spcAft>
                <a:spcPts val="0"/>
              </a:spcAft>
              <a:buSzPts val="1470"/>
              <a:buChar char="⚫"/>
            </a:pPr>
            <a:r>
              <a:rPr lang="en-US"/>
              <a:t>Các hệ điều hành mô phỏng sự tương tranh trên một bộ vi xử lý bằng việc chen lẫn sự thực thi của các tác vụ khác nhau</a:t>
            </a:r>
            <a:endParaRPr/>
          </a:p>
          <a:p>
            <a:pPr indent="-246888" lvl="1" marL="640080" rtl="0" algn="l">
              <a:lnSpc>
                <a:spcPct val="90000"/>
              </a:lnSpc>
              <a:spcBef>
                <a:spcPts val="480"/>
              </a:spcBef>
              <a:spcAft>
                <a:spcPts val="0"/>
              </a:spcAft>
              <a:buSzPts val="2040"/>
              <a:buChar char="⚫"/>
            </a:pPr>
            <a:r>
              <a:rPr lang="en-US"/>
              <a:t>Giải pháp dự trên ứng dụng (Application-based solutions)</a:t>
            </a:r>
            <a:endParaRPr/>
          </a:p>
          <a:p>
            <a:pPr indent="-246887" lvl="2" marL="914400" rtl="0" algn="l">
              <a:lnSpc>
                <a:spcPct val="90000"/>
              </a:lnSpc>
              <a:spcBef>
                <a:spcPts val="420"/>
              </a:spcBef>
              <a:spcAft>
                <a:spcPts val="0"/>
              </a:spcAft>
              <a:buSzPts val="1470"/>
              <a:buChar char="⚫"/>
            </a:pPr>
            <a:r>
              <a:rPr lang="en-US"/>
              <a:t>Các phần mềm ứng dụng chịu trách nhiệm đảo việc thực hiện các nhánh mã chương trình khác nhau tại những thời điểm thích hợp</a:t>
            </a:r>
            <a:endParaRPr/>
          </a:p>
          <a:p>
            <a:pPr indent="-117475" lvl="0" marL="274320" rtl="0" algn="l">
              <a:lnSpc>
                <a:spcPct val="90000"/>
              </a:lnSpc>
              <a:spcBef>
                <a:spcPts val="520"/>
              </a:spcBef>
              <a:spcAft>
                <a:spcPts val="0"/>
              </a:spcAft>
              <a:buSzPts val="2470"/>
              <a:buNone/>
            </a:pPr>
            <a:r>
              <a:t/>
            </a:r>
            <a:endParaRPr/>
          </a:p>
        </p:txBody>
      </p:sp>
      <p:sp>
        <p:nvSpPr>
          <p:cNvPr id="416" name="Google Shape;416;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0"/>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Khái niệm – Luồng và tiến trình</a:t>
            </a:r>
            <a:endParaRPr sz="3600"/>
          </a:p>
        </p:txBody>
      </p:sp>
      <p:sp>
        <p:nvSpPr>
          <p:cNvPr id="422" name="Google Shape;422;p20"/>
          <p:cNvSpPr txBox="1"/>
          <p:nvPr>
            <p:ph idx="1" type="body"/>
          </p:nvPr>
        </p:nvSpPr>
        <p:spPr>
          <a:xfrm>
            <a:off x="457200" y="1524000"/>
            <a:ext cx="8229600" cy="4800600"/>
          </a:xfrm>
          <a:prstGeom prst="rect">
            <a:avLst/>
          </a:prstGeom>
          <a:noFill/>
          <a:ln>
            <a:noFill/>
          </a:ln>
        </p:spPr>
        <p:txBody>
          <a:bodyPr anchorCtr="0" anchor="t" bIns="45700" lIns="91425" spcFirstLastPara="1" rIns="91425" wrap="square" tIns="45700">
            <a:normAutofit/>
          </a:bodyPr>
          <a:lstStyle/>
          <a:p>
            <a:pPr indent="-274320" lvl="0" marL="274320" rtl="0" algn="l">
              <a:lnSpc>
                <a:spcPct val="80000"/>
              </a:lnSpc>
              <a:spcBef>
                <a:spcPts val="0"/>
              </a:spcBef>
              <a:spcAft>
                <a:spcPts val="0"/>
              </a:spcAft>
              <a:buSzPts val="2285"/>
              <a:buChar char="⚫"/>
            </a:pPr>
            <a:r>
              <a:rPr lang="en-US" sz="2405"/>
              <a:t>Tiến trình (Process)</a:t>
            </a:r>
            <a:endParaRPr/>
          </a:p>
          <a:p>
            <a:pPr indent="-246888" lvl="1" marL="640080" rtl="0" algn="l">
              <a:lnSpc>
                <a:spcPct val="80000"/>
              </a:lnSpc>
              <a:spcBef>
                <a:spcPts val="444"/>
              </a:spcBef>
              <a:spcAft>
                <a:spcPts val="0"/>
              </a:spcAft>
              <a:buSzPts val="1887"/>
              <a:buChar char="⚫"/>
            </a:pPr>
            <a:r>
              <a:rPr lang="en-US" sz="2220"/>
              <a:t>Cung </a:t>
            </a:r>
            <a:r>
              <a:rPr lang="en-US" sz="2220"/>
              <a:t>cấp</a:t>
            </a:r>
            <a:r>
              <a:rPr lang="en-US" sz="2220"/>
              <a:t> luồng điều khiển tải lớn</a:t>
            </a:r>
            <a:endParaRPr sz="2220"/>
          </a:p>
          <a:p>
            <a:pPr indent="-246888" lvl="1" marL="640080" rtl="0" algn="l">
              <a:lnSpc>
                <a:spcPct val="80000"/>
              </a:lnSpc>
              <a:spcBef>
                <a:spcPts val="444"/>
              </a:spcBef>
              <a:spcAft>
                <a:spcPts val="0"/>
              </a:spcAft>
              <a:buSzPts val="1887"/>
              <a:buChar char="⚫"/>
            </a:pPr>
            <a:r>
              <a:rPr lang="en-US" sz="2220"/>
              <a:t>Độc lập</a:t>
            </a:r>
            <a:endParaRPr sz="2220"/>
          </a:p>
          <a:p>
            <a:pPr indent="-246888" lvl="1" marL="640080" rtl="0" algn="l">
              <a:lnSpc>
                <a:spcPct val="80000"/>
              </a:lnSpc>
              <a:spcBef>
                <a:spcPts val="444"/>
              </a:spcBef>
              <a:spcAft>
                <a:spcPts val="0"/>
              </a:spcAft>
              <a:buSzPts val="1887"/>
              <a:buChar char="⚫"/>
            </a:pPr>
            <a:r>
              <a:rPr lang="en-US" sz="2220"/>
              <a:t>Có thể được chia ra thành các luồng</a:t>
            </a:r>
            <a:endParaRPr sz="2220"/>
          </a:p>
          <a:p>
            <a:pPr indent="-246888" lvl="1" marL="640080" rtl="0" algn="l">
              <a:lnSpc>
                <a:spcPct val="80000"/>
              </a:lnSpc>
              <a:spcBef>
                <a:spcPts val="444"/>
              </a:spcBef>
              <a:spcAft>
                <a:spcPts val="0"/>
              </a:spcAft>
              <a:buSzPts val="1887"/>
              <a:buChar char="⚫"/>
            </a:pPr>
            <a:r>
              <a:rPr i="1" lang="en-US" sz="2220"/>
              <a:t>Là một không gian có địa chỉ duy nhất và có môi trường thực hiện trong đó các đối tượng của các lớp và hệ </a:t>
            </a:r>
            <a:r>
              <a:rPr i="1" lang="en-US" sz="2220"/>
              <a:t>thống con</a:t>
            </a:r>
            <a:r>
              <a:rPr i="1" lang="en-US" sz="2220"/>
              <a:t> hoạt động trên đó. Môi trường thực hiện có thể chia ra một hoặc nhiều </a:t>
            </a:r>
            <a:r>
              <a:rPr i="1" lang="en-US" sz="2220"/>
              <a:t>luồng</a:t>
            </a:r>
            <a:r>
              <a:rPr i="1" lang="en-US" sz="2220"/>
              <a:t> điều khiển.</a:t>
            </a:r>
            <a:endParaRPr/>
          </a:p>
          <a:p>
            <a:pPr indent="-274320" lvl="0" marL="274320" rtl="0" algn="l">
              <a:lnSpc>
                <a:spcPct val="80000"/>
              </a:lnSpc>
              <a:spcBef>
                <a:spcPts val="481"/>
              </a:spcBef>
              <a:spcAft>
                <a:spcPts val="0"/>
              </a:spcAft>
              <a:buSzPts val="2285"/>
              <a:buChar char="⚫"/>
            </a:pPr>
            <a:r>
              <a:rPr lang="en-US" sz="2405"/>
              <a:t>Luồng</a:t>
            </a:r>
            <a:endParaRPr sz="2405"/>
          </a:p>
          <a:p>
            <a:pPr indent="-246888" lvl="1" marL="640080" rtl="0" algn="l">
              <a:lnSpc>
                <a:spcPct val="80000"/>
              </a:lnSpc>
              <a:spcBef>
                <a:spcPts val="444"/>
              </a:spcBef>
              <a:spcAft>
                <a:spcPts val="0"/>
              </a:spcAft>
              <a:buSzPts val="1887"/>
              <a:buChar char="⚫"/>
            </a:pPr>
            <a:r>
              <a:rPr lang="en-US" sz="2220"/>
              <a:t>Cung cấp luồng </a:t>
            </a:r>
            <a:r>
              <a:rPr lang="en-US" sz="2220"/>
              <a:t>điều</a:t>
            </a:r>
            <a:r>
              <a:rPr lang="en-US" sz="2220"/>
              <a:t> khiển tải nhẹ</a:t>
            </a:r>
            <a:endParaRPr sz="2220"/>
          </a:p>
          <a:p>
            <a:pPr indent="-246888" lvl="1" marL="640080" rtl="0" algn="l">
              <a:lnSpc>
                <a:spcPct val="80000"/>
              </a:lnSpc>
              <a:spcBef>
                <a:spcPts val="444"/>
              </a:spcBef>
              <a:spcAft>
                <a:spcPts val="0"/>
              </a:spcAft>
              <a:buSzPts val="1887"/>
              <a:buChar char="⚫"/>
            </a:pPr>
            <a:r>
              <a:rPr lang="en-US" sz="2220"/>
              <a:t>Hoạt động trong ngữ cảnh của tiến trình chứa chúng</a:t>
            </a:r>
            <a:endParaRPr sz="2220"/>
          </a:p>
          <a:p>
            <a:pPr indent="-246888" lvl="1" marL="640080" rtl="0" algn="l">
              <a:lnSpc>
                <a:spcPct val="80000"/>
              </a:lnSpc>
              <a:spcBef>
                <a:spcPts val="444"/>
              </a:spcBef>
              <a:spcAft>
                <a:spcPts val="0"/>
              </a:spcAft>
              <a:buSzPts val="1887"/>
              <a:buChar char="⚫"/>
            </a:pPr>
            <a:r>
              <a:rPr i="1" lang="en-US" sz="2220"/>
              <a:t>là một bộ phận tính toán đọc lập có thể chạy được trong môi trường thực hiện và một không gian địa chỉ định nghĩa bởi tiến trình đi kèm.</a:t>
            </a:r>
            <a:endParaRPr/>
          </a:p>
          <a:p>
            <a:pPr indent="-129238" lvl="0" marL="274320" rtl="0" algn="l">
              <a:lnSpc>
                <a:spcPct val="80000"/>
              </a:lnSpc>
              <a:spcBef>
                <a:spcPts val="481"/>
              </a:spcBef>
              <a:spcAft>
                <a:spcPts val="0"/>
              </a:spcAft>
              <a:buSzPts val="2285"/>
              <a:buNone/>
            </a:pPr>
            <a:r>
              <a:t/>
            </a:r>
            <a:endParaRPr sz="2405"/>
          </a:p>
        </p:txBody>
      </p:sp>
      <p:sp>
        <p:nvSpPr>
          <p:cNvPr id="423" name="Google Shape;423;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1"/>
          <p:cNvSpPr txBox="1"/>
          <p:nvPr>
            <p:ph idx="1" type="body"/>
          </p:nvPr>
        </p:nvSpPr>
        <p:spPr>
          <a:xfrm>
            <a:off x="457200" y="1371600"/>
            <a:ext cx="8229600" cy="4953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Sự khác nhau giữa tiến trình và luồng là ở không gian bộ nhớ trong đó nó thực hiện</a:t>
            </a:r>
            <a:endParaRPr/>
          </a:p>
          <a:p>
            <a:pPr indent="-246888" lvl="1" marL="640080" rtl="0" algn="l">
              <a:spcBef>
                <a:spcPts val="480"/>
              </a:spcBef>
              <a:spcAft>
                <a:spcPts val="0"/>
              </a:spcAft>
              <a:buSzPts val="2040"/>
              <a:buChar char="⚫"/>
            </a:pPr>
            <a:r>
              <a:rPr lang="en-US"/>
              <a:t>một tiến trình thực hiện trong không gian bộ nhớ, được đóng gói và bảo vệ cấu trúc nội tại. Một tiến trình có thể được xem như </a:t>
            </a:r>
            <a:r>
              <a:rPr lang="en-US"/>
              <a:t>một</a:t>
            </a:r>
            <a:r>
              <a:rPr lang="en-US"/>
              <a:t> hệ thống của chính nó, được khởi tạo </a:t>
            </a:r>
            <a:r>
              <a:rPr lang="en-US"/>
              <a:t>bởi</a:t>
            </a:r>
            <a:r>
              <a:rPr lang="en-US"/>
              <a:t> một chương trình thực hiện được. Một tiến trình có thể chứa nhiều luồng.</a:t>
            </a:r>
            <a:endParaRPr/>
          </a:p>
          <a:p>
            <a:pPr indent="-246888" lvl="1" marL="640080" rtl="0" algn="l">
              <a:spcBef>
                <a:spcPts val="480"/>
              </a:spcBef>
              <a:spcAft>
                <a:spcPts val="0"/>
              </a:spcAft>
              <a:buSzPts val="2040"/>
              <a:buChar char="⚫"/>
            </a:pPr>
            <a:r>
              <a:rPr lang="en-US"/>
              <a:t>Một luồng thực hiện trong một không gian bộ nhớ ở đó nó có thể chia sẻ với các luồng khác.</a:t>
            </a:r>
            <a:endParaRPr/>
          </a:p>
          <a:p>
            <a:pPr indent="-117475" lvl="0" marL="274320" rtl="0" algn="l">
              <a:spcBef>
                <a:spcPts val="520"/>
              </a:spcBef>
              <a:spcAft>
                <a:spcPts val="0"/>
              </a:spcAft>
              <a:buSzPts val="2470"/>
              <a:buNone/>
            </a:pPr>
            <a:r>
              <a:t/>
            </a:r>
            <a:endParaRPr/>
          </a:p>
        </p:txBody>
      </p:sp>
      <p:sp>
        <p:nvSpPr>
          <p:cNvPr id="429" name="Google Shape;429;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22"/>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Xác định tiến trình và luồng</a:t>
            </a:r>
            <a:endParaRPr sz="4500"/>
          </a:p>
        </p:txBody>
      </p:sp>
      <p:sp>
        <p:nvSpPr>
          <p:cNvPr id="435" name="Google Shape;435;p22"/>
          <p:cNvSpPr txBox="1"/>
          <p:nvPr>
            <p:ph idx="1" type="body"/>
          </p:nvPr>
        </p:nvSpPr>
        <p:spPr>
          <a:xfrm>
            <a:off x="457200" y="14478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Với mỗi luồng điều khiển của hệ thống hãy tạo ra một tiến trình hoặc luồng</a:t>
            </a:r>
            <a:endParaRPr/>
          </a:p>
          <a:p>
            <a:pPr indent="-246888" lvl="1" marL="640080" rtl="0" algn="l">
              <a:lnSpc>
                <a:spcPct val="100000"/>
              </a:lnSpc>
              <a:spcBef>
                <a:spcPts val="480"/>
              </a:spcBef>
              <a:spcAft>
                <a:spcPts val="0"/>
              </a:spcAft>
              <a:buSzPts val="2040"/>
              <a:buChar char="⚫"/>
            </a:pPr>
            <a:r>
              <a:rPr lang="en-US"/>
              <a:t>Phân tách các luồng điều khiển cần để:</a:t>
            </a:r>
            <a:endParaRPr/>
          </a:p>
          <a:p>
            <a:pPr indent="-246887" lvl="2" marL="914400" rtl="0" algn="l">
              <a:lnSpc>
                <a:spcPct val="100000"/>
              </a:lnSpc>
              <a:spcBef>
                <a:spcPts val="420"/>
              </a:spcBef>
              <a:spcAft>
                <a:spcPts val="0"/>
              </a:spcAft>
              <a:buSzPts val="1470"/>
              <a:buChar char="⚫"/>
            </a:pPr>
            <a:r>
              <a:rPr lang="en-US"/>
              <a:t>Sử dụng đa bộ xử lý hoặc nút</a:t>
            </a:r>
            <a:endParaRPr/>
          </a:p>
          <a:p>
            <a:pPr indent="-246887" lvl="2" marL="914400" rtl="0" algn="l">
              <a:lnSpc>
                <a:spcPct val="100000"/>
              </a:lnSpc>
              <a:spcBef>
                <a:spcPts val="420"/>
              </a:spcBef>
              <a:spcAft>
                <a:spcPts val="0"/>
              </a:spcAft>
              <a:buSzPts val="1470"/>
              <a:buChar char="⚫"/>
            </a:pPr>
            <a:r>
              <a:rPr lang="en-US"/>
              <a:t>Tăng khả năng tận dụng CPU</a:t>
            </a:r>
            <a:endParaRPr/>
          </a:p>
          <a:p>
            <a:pPr indent="-246887" lvl="2" marL="914400" rtl="0" algn="l">
              <a:lnSpc>
                <a:spcPct val="100000"/>
              </a:lnSpc>
              <a:spcBef>
                <a:spcPts val="420"/>
              </a:spcBef>
              <a:spcAft>
                <a:spcPts val="0"/>
              </a:spcAft>
              <a:buSzPts val="1470"/>
              <a:buChar char="⚫"/>
            </a:pPr>
            <a:r>
              <a:rPr lang="en-US"/>
              <a:t>Phục vụ các sự kiện liên quan tới thời gian</a:t>
            </a:r>
            <a:endParaRPr/>
          </a:p>
          <a:p>
            <a:pPr indent="-246887" lvl="2" marL="914400" rtl="0" algn="l">
              <a:lnSpc>
                <a:spcPct val="100000"/>
              </a:lnSpc>
              <a:spcBef>
                <a:spcPts val="420"/>
              </a:spcBef>
              <a:spcAft>
                <a:spcPts val="0"/>
              </a:spcAft>
              <a:buSzPts val="1470"/>
              <a:buChar char="⚫"/>
            </a:pPr>
            <a:r>
              <a:rPr lang="en-US"/>
              <a:t>Ưu tiên các hoạt động </a:t>
            </a:r>
            <a:endParaRPr/>
          </a:p>
          <a:p>
            <a:pPr indent="-246887" lvl="2" marL="914400" rtl="0" algn="l">
              <a:lnSpc>
                <a:spcPct val="100000"/>
              </a:lnSpc>
              <a:spcBef>
                <a:spcPts val="420"/>
              </a:spcBef>
              <a:spcAft>
                <a:spcPts val="0"/>
              </a:spcAft>
              <a:buSzPts val="1470"/>
              <a:buChar char="⚫"/>
            </a:pPr>
            <a:r>
              <a:rPr lang="en-US"/>
              <a:t>Đạt được sự mở rộng (phân chia tải)</a:t>
            </a:r>
            <a:endParaRPr/>
          </a:p>
          <a:p>
            <a:pPr indent="-246887" lvl="2" marL="914400" rtl="0" algn="l">
              <a:lnSpc>
                <a:spcPct val="100000"/>
              </a:lnSpc>
              <a:spcBef>
                <a:spcPts val="420"/>
              </a:spcBef>
              <a:spcAft>
                <a:spcPts val="0"/>
              </a:spcAft>
              <a:buSzPts val="1470"/>
              <a:buChar char="⚫"/>
            </a:pPr>
            <a:r>
              <a:rPr lang="en-US"/>
              <a:t>Tách biệt các mối quan tâm trong các </a:t>
            </a:r>
            <a:r>
              <a:rPr lang="en-US"/>
              <a:t>lĩnh</a:t>
            </a:r>
            <a:r>
              <a:rPr lang="en-US"/>
              <a:t> vực phần mềm</a:t>
            </a:r>
            <a:endParaRPr/>
          </a:p>
          <a:p>
            <a:pPr indent="-246887" lvl="2" marL="914400" rtl="0" algn="l">
              <a:lnSpc>
                <a:spcPct val="100000"/>
              </a:lnSpc>
              <a:spcBef>
                <a:spcPts val="420"/>
              </a:spcBef>
              <a:spcAft>
                <a:spcPts val="0"/>
              </a:spcAft>
              <a:buSzPts val="1470"/>
              <a:buChar char="⚫"/>
            </a:pPr>
            <a:r>
              <a:rPr lang="en-US"/>
              <a:t>Tăng tính sẵn dùng của phần mềm (system availability)</a:t>
            </a:r>
            <a:endParaRPr/>
          </a:p>
          <a:p>
            <a:pPr indent="-246887" lvl="2" marL="914400" rtl="0" algn="l">
              <a:lnSpc>
                <a:spcPct val="100000"/>
              </a:lnSpc>
              <a:spcBef>
                <a:spcPts val="420"/>
              </a:spcBef>
              <a:spcAft>
                <a:spcPts val="0"/>
              </a:spcAft>
              <a:buSzPts val="1470"/>
              <a:buChar char="⚫"/>
            </a:pPr>
            <a:r>
              <a:rPr lang="en-US"/>
              <a:t>Hỗ trợ các hệ thống con chính</a:t>
            </a:r>
            <a:endParaRPr/>
          </a:p>
          <a:p>
            <a:pPr indent="-117475" lvl="0" marL="274320" rtl="0" algn="l">
              <a:spcBef>
                <a:spcPts val="520"/>
              </a:spcBef>
              <a:spcAft>
                <a:spcPts val="0"/>
              </a:spcAft>
              <a:buSzPts val="2470"/>
              <a:buNone/>
            </a:pPr>
            <a:r>
              <a:t/>
            </a:r>
            <a:endParaRPr/>
          </a:p>
        </p:txBody>
      </p:sp>
      <p:sp>
        <p:nvSpPr>
          <p:cNvPr id="436" name="Google Shape;436;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3"/>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Mô hình hóa các tiến trình</a:t>
            </a:r>
            <a:endParaRPr sz="4500"/>
          </a:p>
        </p:txBody>
      </p:sp>
      <p:sp>
        <p:nvSpPr>
          <p:cNvPr id="442" name="Google Shape;442;p23"/>
          <p:cNvSpPr txBox="1"/>
          <p:nvPr>
            <p:ph idx="1" type="body"/>
          </p:nvPr>
        </p:nvSpPr>
        <p:spPr>
          <a:xfrm>
            <a:off x="457200" y="1524000"/>
            <a:ext cx="8229600" cy="3505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tiến trình có thể được mô hình hóa sử dụng</a:t>
            </a:r>
            <a:endParaRPr/>
          </a:p>
          <a:p>
            <a:pPr indent="-246888" lvl="1" marL="640080" rtl="0" algn="l">
              <a:spcBef>
                <a:spcPts val="480"/>
              </a:spcBef>
              <a:spcAft>
                <a:spcPts val="0"/>
              </a:spcAft>
              <a:buSzPts val="2040"/>
              <a:buChar char="⚫"/>
            </a:pPr>
            <a:r>
              <a:rPr lang="en-US"/>
              <a:t>Lớp tích cực/active classes (class diagrams) và đối tượng (Interaction Diagrams)</a:t>
            </a:r>
            <a:endParaRPr/>
          </a:p>
          <a:p>
            <a:pPr indent="-246888" lvl="1" marL="640080" rtl="0" algn="l">
              <a:spcBef>
                <a:spcPts val="480"/>
              </a:spcBef>
              <a:spcAft>
                <a:spcPts val="0"/>
              </a:spcAft>
              <a:buSzPts val="2040"/>
              <a:buChar char="⚫"/>
            </a:pPr>
            <a:r>
              <a:rPr lang="en-US"/>
              <a:t>Các thành phần/components (Component Diagrams)</a:t>
            </a:r>
            <a:endParaRPr/>
          </a:p>
          <a:p>
            <a:pPr indent="-274320" lvl="0" marL="274320" rtl="0" algn="l">
              <a:spcBef>
                <a:spcPts val="520"/>
              </a:spcBef>
              <a:spcAft>
                <a:spcPts val="0"/>
              </a:spcAft>
              <a:buSzPts val="2470"/>
              <a:buChar char="⚫"/>
            </a:pPr>
            <a:r>
              <a:rPr lang="en-US"/>
              <a:t>Các khuôn mẫu/kiểu mở rộng: &lt;&lt;process&gt;&gt; hay &lt;&lt;thread&gt;&gt;</a:t>
            </a:r>
            <a:endParaRPr/>
          </a:p>
          <a:p>
            <a:pPr indent="-274320" lvl="0" marL="274320" rtl="0" algn="l">
              <a:spcBef>
                <a:spcPts val="520"/>
              </a:spcBef>
              <a:spcAft>
                <a:spcPts val="0"/>
              </a:spcAft>
              <a:buSzPts val="2470"/>
              <a:buChar char="⚫"/>
            </a:pPr>
            <a:r>
              <a:rPr lang="en-US"/>
              <a:t>Mối quan hệ tiến trình có thể được mô hình theo các cách khác nhau</a:t>
            </a:r>
            <a:endParaRPr/>
          </a:p>
          <a:p>
            <a:pPr indent="-117475" lvl="0" marL="274320" rtl="0" algn="l">
              <a:spcBef>
                <a:spcPts val="520"/>
              </a:spcBef>
              <a:spcAft>
                <a:spcPts val="0"/>
              </a:spcAft>
              <a:buSzPts val="2470"/>
              <a:buNone/>
            </a:pPr>
            <a:r>
              <a:t/>
            </a:r>
            <a:endParaRPr/>
          </a:p>
        </p:txBody>
      </p:sp>
      <p:sp>
        <p:nvSpPr>
          <p:cNvPr id="443" name="Google Shape;443;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444" name="Google Shape;444;p23"/>
          <p:cNvGrpSpPr/>
          <p:nvPr/>
        </p:nvGrpSpPr>
        <p:grpSpPr>
          <a:xfrm>
            <a:off x="533400" y="5105400"/>
            <a:ext cx="8150225" cy="1049338"/>
            <a:chOff x="502558" y="3241675"/>
            <a:chExt cx="8150225" cy="1049338"/>
          </a:xfrm>
        </p:grpSpPr>
        <p:sp>
          <p:nvSpPr>
            <p:cNvPr id="445" name="Google Shape;445;p23"/>
            <p:cNvSpPr/>
            <p:nvPr/>
          </p:nvSpPr>
          <p:spPr>
            <a:xfrm>
              <a:off x="502558" y="3276600"/>
              <a:ext cx="2008188" cy="990600"/>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46" name="Google Shape;446;p23"/>
            <p:cNvCxnSpPr/>
            <p:nvPr/>
          </p:nvCxnSpPr>
          <p:spPr>
            <a:xfrm>
              <a:off x="502558" y="4114800"/>
              <a:ext cx="2008188" cy="0"/>
            </a:xfrm>
            <a:prstGeom prst="straightConnector1">
              <a:avLst/>
            </a:prstGeom>
            <a:noFill/>
            <a:ln cap="flat" cmpd="sng" w="19050">
              <a:solidFill>
                <a:srgbClr val="990033"/>
              </a:solidFill>
              <a:prstDash val="solid"/>
              <a:round/>
              <a:headEnd len="sm" w="sm" type="none"/>
              <a:tailEnd len="sm" w="sm" type="none"/>
            </a:ln>
          </p:spPr>
        </p:cxnSp>
        <p:cxnSp>
          <p:nvCxnSpPr>
            <p:cNvPr id="447" name="Google Shape;447;p23"/>
            <p:cNvCxnSpPr/>
            <p:nvPr/>
          </p:nvCxnSpPr>
          <p:spPr>
            <a:xfrm>
              <a:off x="502558" y="3962400"/>
              <a:ext cx="2008188" cy="0"/>
            </a:xfrm>
            <a:prstGeom prst="straightConnector1">
              <a:avLst/>
            </a:prstGeom>
            <a:noFill/>
            <a:ln cap="flat" cmpd="sng" w="19050">
              <a:solidFill>
                <a:srgbClr val="990033"/>
              </a:solidFill>
              <a:prstDash val="solid"/>
              <a:round/>
              <a:headEnd len="sm" w="sm" type="none"/>
              <a:tailEnd len="sm" w="sm" type="none"/>
            </a:ln>
          </p:spPr>
        </p:cxnSp>
        <p:sp>
          <p:nvSpPr>
            <p:cNvPr id="448" name="Google Shape;448;p23"/>
            <p:cNvSpPr txBox="1"/>
            <p:nvPr/>
          </p:nvSpPr>
          <p:spPr>
            <a:xfrm>
              <a:off x="713696" y="3376613"/>
              <a:ext cx="1600200" cy="488950"/>
            </a:xfrm>
            <a:prstGeom prst="rect">
              <a:avLst/>
            </a:prstGeom>
            <a:solidFill>
              <a:srgbClr val="FFFFCC"/>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&lt;&lt;process&gt;&gt;</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ActiveClassName</a:t>
              </a:r>
              <a:endParaRPr sz="1600">
                <a:solidFill>
                  <a:schemeClr val="dk1"/>
                </a:solidFill>
                <a:latin typeface="Constantia"/>
                <a:ea typeface="Constantia"/>
                <a:cs typeface="Constantia"/>
                <a:sym typeface="Constantia"/>
              </a:endParaRPr>
            </a:p>
          </p:txBody>
        </p:sp>
        <p:sp>
          <p:nvSpPr>
            <p:cNvPr id="449" name="Google Shape;449;p23"/>
            <p:cNvSpPr/>
            <p:nvPr/>
          </p:nvSpPr>
          <p:spPr>
            <a:xfrm>
              <a:off x="3321958" y="3276600"/>
              <a:ext cx="2008188" cy="990600"/>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ctr"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50" name="Google Shape;450;p23"/>
            <p:cNvCxnSpPr/>
            <p:nvPr/>
          </p:nvCxnSpPr>
          <p:spPr>
            <a:xfrm>
              <a:off x="3321958" y="4114800"/>
              <a:ext cx="2008188" cy="0"/>
            </a:xfrm>
            <a:prstGeom prst="straightConnector1">
              <a:avLst/>
            </a:prstGeom>
            <a:noFill/>
            <a:ln cap="flat" cmpd="sng" w="19050">
              <a:solidFill>
                <a:srgbClr val="990033"/>
              </a:solidFill>
              <a:prstDash val="solid"/>
              <a:round/>
              <a:headEnd len="sm" w="sm" type="none"/>
              <a:tailEnd len="sm" w="sm" type="none"/>
            </a:ln>
          </p:spPr>
        </p:cxnSp>
        <p:cxnSp>
          <p:nvCxnSpPr>
            <p:cNvPr id="451" name="Google Shape;451;p23"/>
            <p:cNvCxnSpPr/>
            <p:nvPr/>
          </p:nvCxnSpPr>
          <p:spPr>
            <a:xfrm>
              <a:off x="3321958" y="3962400"/>
              <a:ext cx="2008188" cy="0"/>
            </a:xfrm>
            <a:prstGeom prst="straightConnector1">
              <a:avLst/>
            </a:prstGeom>
            <a:noFill/>
            <a:ln cap="flat" cmpd="sng" w="19050">
              <a:solidFill>
                <a:srgbClr val="990033"/>
              </a:solidFill>
              <a:prstDash val="solid"/>
              <a:round/>
              <a:headEnd len="sm" w="sm" type="none"/>
              <a:tailEnd len="sm" w="sm" type="none"/>
            </a:ln>
          </p:spPr>
        </p:cxnSp>
        <p:sp>
          <p:nvSpPr>
            <p:cNvPr id="452" name="Google Shape;452;p23"/>
            <p:cNvSpPr txBox="1"/>
            <p:nvPr/>
          </p:nvSpPr>
          <p:spPr>
            <a:xfrm>
              <a:off x="3533096" y="3376613"/>
              <a:ext cx="1600200" cy="488950"/>
            </a:xfrm>
            <a:prstGeom prst="rect">
              <a:avLst/>
            </a:prstGeom>
            <a:solidFill>
              <a:srgbClr val="FFFFCC"/>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&lt;&lt;process&gt;&gt;</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ActiveClassName</a:t>
              </a:r>
              <a:endParaRPr/>
            </a:p>
          </p:txBody>
        </p:sp>
        <p:cxnSp>
          <p:nvCxnSpPr>
            <p:cNvPr id="453" name="Google Shape;453;p23"/>
            <p:cNvCxnSpPr/>
            <p:nvPr/>
          </p:nvCxnSpPr>
          <p:spPr>
            <a:xfrm>
              <a:off x="2559958" y="3746500"/>
              <a:ext cx="723900" cy="0"/>
            </a:xfrm>
            <a:prstGeom prst="straightConnector1">
              <a:avLst/>
            </a:prstGeom>
            <a:noFill/>
            <a:ln cap="flat" cmpd="sng" w="28575">
              <a:solidFill>
                <a:schemeClr val="dk1"/>
              </a:solidFill>
              <a:prstDash val="lgDash"/>
              <a:round/>
              <a:headEnd len="med" w="med" type="none"/>
              <a:tailEnd len="lg" w="lg" type="stealth"/>
            </a:ln>
          </p:spPr>
        </p:cxnSp>
        <p:sp>
          <p:nvSpPr>
            <p:cNvPr id="454" name="Google Shape;454;p23"/>
            <p:cNvSpPr/>
            <p:nvPr/>
          </p:nvSpPr>
          <p:spPr>
            <a:xfrm>
              <a:off x="6181046" y="3241675"/>
              <a:ext cx="2471737" cy="1049338"/>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55" name="Google Shape;455;p23"/>
            <p:cNvSpPr/>
            <p:nvPr/>
          </p:nvSpPr>
          <p:spPr>
            <a:xfrm>
              <a:off x="5852433" y="3427413"/>
              <a:ext cx="704850" cy="274637"/>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56" name="Google Shape;456;p23"/>
            <p:cNvSpPr/>
            <p:nvPr/>
          </p:nvSpPr>
          <p:spPr>
            <a:xfrm>
              <a:off x="5852433" y="3849688"/>
              <a:ext cx="704850" cy="277812"/>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57" name="Google Shape;457;p23"/>
            <p:cNvSpPr/>
            <p:nvPr/>
          </p:nvSpPr>
          <p:spPr>
            <a:xfrm>
              <a:off x="6766833" y="3660775"/>
              <a:ext cx="1647825" cy="244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Component Name</a:t>
              </a:r>
              <a:endParaRPr sz="1800">
                <a:solidFill>
                  <a:schemeClr val="dk1"/>
                </a:solidFill>
                <a:latin typeface="Constantia"/>
                <a:ea typeface="Constantia"/>
                <a:cs typeface="Constantia"/>
                <a:sym typeface="Constantia"/>
              </a:endParaRPr>
            </a:p>
          </p:txBody>
        </p:sp>
        <p:sp>
          <p:nvSpPr>
            <p:cNvPr id="458" name="Google Shape;458;p23"/>
            <p:cNvSpPr/>
            <p:nvPr/>
          </p:nvSpPr>
          <p:spPr>
            <a:xfrm>
              <a:off x="6766833" y="3405188"/>
              <a:ext cx="1209675" cy="244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&lt;&lt;Process&gt;&gt;</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4"/>
          <p:cNvSpPr txBox="1"/>
          <p:nvPr>
            <p:ph type="title"/>
          </p:nvPr>
        </p:nvSpPr>
        <p:spPr>
          <a:xfrm>
            <a:off x="457200" y="704088"/>
            <a:ext cx="8229600" cy="896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Mô hình hóa tiến trình: lược đồ lớp</a:t>
            </a:r>
            <a:endParaRPr sz="4000"/>
          </a:p>
        </p:txBody>
      </p:sp>
      <p:sp>
        <p:nvSpPr>
          <p:cNvPr id="464" name="Google Shape;464;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465" name="Google Shape;465;p24"/>
          <p:cNvGrpSpPr/>
          <p:nvPr/>
        </p:nvGrpSpPr>
        <p:grpSpPr>
          <a:xfrm>
            <a:off x="457200" y="1935163"/>
            <a:ext cx="8229600" cy="4389437"/>
            <a:chOff x="647700" y="1559048"/>
            <a:chExt cx="7423150" cy="4673600"/>
          </a:xfrm>
        </p:grpSpPr>
        <p:cxnSp>
          <p:nvCxnSpPr>
            <p:cNvPr id="466" name="Google Shape;466;p24"/>
            <p:cNvCxnSpPr/>
            <p:nvPr/>
          </p:nvCxnSpPr>
          <p:spPr>
            <a:xfrm flipH="1" rot="10800000">
              <a:off x="2565400" y="3424361"/>
              <a:ext cx="728663" cy="712787"/>
            </a:xfrm>
            <a:prstGeom prst="straightConnector1">
              <a:avLst/>
            </a:prstGeom>
            <a:noFill/>
            <a:ln cap="flat" cmpd="sng" w="28575">
              <a:solidFill>
                <a:schemeClr val="dk1"/>
              </a:solidFill>
              <a:prstDash val="lgDash"/>
              <a:round/>
              <a:headEnd len="sm" w="sm" type="none"/>
              <a:tailEnd len="lg" w="lg" type="stealth"/>
            </a:ln>
          </p:spPr>
        </p:cxnSp>
        <p:cxnSp>
          <p:nvCxnSpPr>
            <p:cNvPr id="467" name="Google Shape;467;p24"/>
            <p:cNvCxnSpPr/>
            <p:nvPr/>
          </p:nvCxnSpPr>
          <p:spPr>
            <a:xfrm flipH="1" rot="10800000">
              <a:off x="2006600" y="5000748"/>
              <a:ext cx="457200" cy="457200"/>
            </a:xfrm>
            <a:prstGeom prst="straightConnector1">
              <a:avLst/>
            </a:prstGeom>
            <a:noFill/>
            <a:ln cap="flat" cmpd="sng" w="28575">
              <a:solidFill>
                <a:schemeClr val="dk1"/>
              </a:solidFill>
              <a:prstDash val="lgDash"/>
              <a:round/>
              <a:headEnd len="sm" w="sm" type="none"/>
              <a:tailEnd len="lg" w="lg" type="stealth"/>
            </a:ln>
          </p:spPr>
        </p:cxnSp>
        <p:sp>
          <p:nvSpPr>
            <p:cNvPr id="468" name="Google Shape;468;p24"/>
            <p:cNvSpPr txBox="1"/>
            <p:nvPr/>
          </p:nvSpPr>
          <p:spPr>
            <a:xfrm>
              <a:off x="5753100" y="2790948"/>
              <a:ext cx="16002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00CCFF"/>
                  </a:solidFill>
                  <a:latin typeface="Constantia"/>
                  <a:ea typeface="Constantia"/>
                  <a:cs typeface="Constantia"/>
                  <a:sym typeface="Constantia"/>
                </a:rPr>
                <a:t>composition</a:t>
              </a:r>
              <a:endParaRPr sz="1800">
                <a:solidFill>
                  <a:srgbClr val="00CCFF"/>
                </a:solidFill>
                <a:latin typeface="Constantia"/>
                <a:ea typeface="Constantia"/>
                <a:cs typeface="Constantia"/>
                <a:sym typeface="Constantia"/>
              </a:endParaRPr>
            </a:p>
          </p:txBody>
        </p:sp>
        <p:cxnSp>
          <p:nvCxnSpPr>
            <p:cNvPr id="469" name="Google Shape;469;p24"/>
            <p:cNvCxnSpPr/>
            <p:nvPr/>
          </p:nvCxnSpPr>
          <p:spPr>
            <a:xfrm flipH="1">
              <a:off x="5195888" y="2994148"/>
              <a:ext cx="595312" cy="603250"/>
            </a:xfrm>
            <a:prstGeom prst="straightConnector1">
              <a:avLst/>
            </a:prstGeom>
            <a:noFill/>
            <a:ln cap="flat" cmpd="sng" w="22225">
              <a:solidFill>
                <a:srgbClr val="FF0000"/>
              </a:solidFill>
              <a:prstDash val="solid"/>
              <a:round/>
              <a:headEnd len="sm" w="sm" type="none"/>
              <a:tailEnd len="med" w="med" type="triangle"/>
            </a:ln>
          </p:spPr>
        </p:cxnSp>
        <p:cxnSp>
          <p:nvCxnSpPr>
            <p:cNvPr id="470" name="Google Shape;470;p24"/>
            <p:cNvCxnSpPr/>
            <p:nvPr/>
          </p:nvCxnSpPr>
          <p:spPr>
            <a:xfrm rot="10800000">
              <a:off x="5195888" y="2411536"/>
              <a:ext cx="595312" cy="595312"/>
            </a:xfrm>
            <a:prstGeom prst="straightConnector1">
              <a:avLst/>
            </a:prstGeom>
            <a:noFill/>
            <a:ln cap="flat" cmpd="sng" w="22225">
              <a:solidFill>
                <a:srgbClr val="FF0000"/>
              </a:solidFill>
              <a:prstDash val="solid"/>
              <a:round/>
              <a:headEnd len="sm" w="sm" type="none"/>
              <a:tailEnd len="med" w="med" type="triangle"/>
            </a:ln>
          </p:spPr>
        </p:cxnSp>
        <p:sp>
          <p:nvSpPr>
            <p:cNvPr id="471" name="Google Shape;471;p24"/>
            <p:cNvSpPr/>
            <p:nvPr/>
          </p:nvSpPr>
          <p:spPr>
            <a:xfrm>
              <a:off x="1257300" y="2541711"/>
              <a:ext cx="3252788" cy="838200"/>
            </a:xfrm>
            <a:prstGeom prst="rect">
              <a:avLst/>
            </a:prstGeom>
            <a:solidFill>
              <a:srgbClr val="FFFFCC"/>
            </a:solidFill>
            <a:ln cap="flat" cmpd="sng" w="1905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72" name="Google Shape;472;p24"/>
            <p:cNvSpPr txBox="1"/>
            <p:nvPr/>
          </p:nvSpPr>
          <p:spPr>
            <a:xfrm>
              <a:off x="1449388" y="2524248"/>
              <a:ext cx="2868612" cy="581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&lt;&lt;process&gt;&gt;</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CourseCatalogSystemAccess</a:t>
              </a:r>
              <a:endParaRPr sz="1600">
                <a:solidFill>
                  <a:schemeClr val="dk1"/>
                </a:solidFill>
                <a:latin typeface="Constantia"/>
                <a:ea typeface="Constantia"/>
                <a:cs typeface="Constantia"/>
                <a:sym typeface="Constantia"/>
              </a:endParaRPr>
            </a:p>
          </p:txBody>
        </p:sp>
        <p:sp>
          <p:nvSpPr>
            <p:cNvPr id="473" name="Google Shape;473;p24"/>
            <p:cNvSpPr/>
            <p:nvPr/>
          </p:nvSpPr>
          <p:spPr>
            <a:xfrm>
              <a:off x="5792788" y="1576511"/>
              <a:ext cx="2185987" cy="838200"/>
            </a:xfrm>
            <a:prstGeom prst="rect">
              <a:avLst/>
            </a:prstGeom>
            <a:solidFill>
              <a:srgbClr val="FFFFCC"/>
            </a:solidFill>
            <a:ln cap="flat" cmpd="sng" w="1905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74" name="Google Shape;474;p24"/>
            <p:cNvSpPr txBox="1"/>
            <p:nvPr/>
          </p:nvSpPr>
          <p:spPr>
            <a:xfrm>
              <a:off x="6173788" y="1559048"/>
              <a:ext cx="1423987" cy="581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&lt;&lt;thread&gt;&gt;</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CourseCache</a:t>
              </a:r>
              <a:endParaRPr/>
            </a:p>
          </p:txBody>
        </p:sp>
        <p:sp>
          <p:nvSpPr>
            <p:cNvPr id="475" name="Google Shape;475;p24"/>
            <p:cNvSpPr/>
            <p:nvPr/>
          </p:nvSpPr>
          <p:spPr>
            <a:xfrm>
              <a:off x="1273175" y="4124448"/>
              <a:ext cx="3219450" cy="838200"/>
            </a:xfrm>
            <a:prstGeom prst="rect">
              <a:avLst/>
            </a:prstGeom>
            <a:solidFill>
              <a:srgbClr val="FFFFCC"/>
            </a:solidFill>
            <a:ln cap="flat" cmpd="sng" w="1905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76" name="Google Shape;476;p24"/>
            <p:cNvSpPr txBox="1"/>
            <p:nvPr/>
          </p:nvSpPr>
          <p:spPr>
            <a:xfrm>
              <a:off x="1555750" y="4106986"/>
              <a:ext cx="2654300" cy="581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&lt;&lt;process&gt;&gt;</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CourseRegistrationProcess</a:t>
              </a:r>
              <a:endParaRPr/>
            </a:p>
          </p:txBody>
        </p:sp>
        <p:sp>
          <p:nvSpPr>
            <p:cNvPr id="477" name="Google Shape;477;p24"/>
            <p:cNvSpPr/>
            <p:nvPr/>
          </p:nvSpPr>
          <p:spPr>
            <a:xfrm>
              <a:off x="5792788" y="3514848"/>
              <a:ext cx="2278062" cy="838200"/>
            </a:xfrm>
            <a:prstGeom prst="rect">
              <a:avLst/>
            </a:prstGeom>
            <a:solidFill>
              <a:srgbClr val="FFFFCC"/>
            </a:solidFill>
            <a:ln cap="flat" cmpd="sng" w="1905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78" name="Google Shape;478;p24"/>
            <p:cNvSpPr txBox="1"/>
            <p:nvPr/>
          </p:nvSpPr>
          <p:spPr>
            <a:xfrm>
              <a:off x="6183313" y="3497386"/>
              <a:ext cx="1493837" cy="581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&lt;&lt;thread&gt;&gt;</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OfferingCache</a:t>
              </a:r>
              <a:endParaRPr/>
            </a:p>
          </p:txBody>
        </p:sp>
        <p:sp>
          <p:nvSpPr>
            <p:cNvPr id="479" name="Google Shape;479;p24"/>
            <p:cNvSpPr txBox="1"/>
            <p:nvPr/>
          </p:nvSpPr>
          <p:spPr>
            <a:xfrm>
              <a:off x="647700" y="3554536"/>
              <a:ext cx="16002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00CCFF"/>
                  </a:solidFill>
                  <a:latin typeface="Constantia"/>
                  <a:ea typeface="Constantia"/>
                  <a:cs typeface="Constantia"/>
                  <a:sym typeface="Constantia"/>
                </a:rPr>
                <a:t>dependency</a:t>
              </a:r>
              <a:endParaRPr sz="1800">
                <a:solidFill>
                  <a:srgbClr val="00CCFF"/>
                </a:solidFill>
                <a:latin typeface="Constantia"/>
                <a:ea typeface="Constantia"/>
                <a:cs typeface="Constantia"/>
                <a:sym typeface="Constantia"/>
              </a:endParaRPr>
            </a:p>
          </p:txBody>
        </p:sp>
        <p:cxnSp>
          <p:nvCxnSpPr>
            <p:cNvPr id="480" name="Google Shape;480;p24"/>
            <p:cNvCxnSpPr/>
            <p:nvPr/>
          </p:nvCxnSpPr>
          <p:spPr>
            <a:xfrm>
              <a:off x="2133600" y="3768848"/>
              <a:ext cx="685800" cy="0"/>
            </a:xfrm>
            <a:prstGeom prst="straightConnector1">
              <a:avLst/>
            </a:prstGeom>
            <a:noFill/>
            <a:ln cap="flat" cmpd="sng" w="22225">
              <a:solidFill>
                <a:srgbClr val="FF0000"/>
              </a:solidFill>
              <a:prstDash val="solid"/>
              <a:round/>
              <a:headEnd len="sm" w="sm" type="none"/>
              <a:tailEnd len="med" w="med" type="triangle"/>
            </a:ln>
          </p:spPr>
        </p:cxnSp>
        <p:cxnSp>
          <p:nvCxnSpPr>
            <p:cNvPr id="481" name="Google Shape;481;p24"/>
            <p:cNvCxnSpPr/>
            <p:nvPr/>
          </p:nvCxnSpPr>
          <p:spPr>
            <a:xfrm>
              <a:off x="4673600" y="3286248"/>
              <a:ext cx="1055688" cy="762000"/>
            </a:xfrm>
            <a:prstGeom prst="straightConnector1">
              <a:avLst/>
            </a:prstGeom>
            <a:noFill/>
            <a:ln cap="flat" cmpd="sng" w="12700">
              <a:solidFill>
                <a:schemeClr val="dk1"/>
              </a:solidFill>
              <a:prstDash val="solid"/>
              <a:round/>
              <a:headEnd len="sm" w="sm" type="none"/>
              <a:tailEnd len="lg" w="lg" type="stealth"/>
            </a:ln>
          </p:spPr>
        </p:cxnSp>
        <p:sp>
          <p:nvSpPr>
            <p:cNvPr id="482" name="Google Shape;482;p24"/>
            <p:cNvSpPr/>
            <p:nvPr/>
          </p:nvSpPr>
          <p:spPr>
            <a:xfrm rot="2510221">
              <a:off x="4516438" y="3164011"/>
              <a:ext cx="217487" cy="153987"/>
            </a:xfrm>
            <a:prstGeom prst="diamond">
              <a:avLst/>
            </a:prstGeom>
            <a:solidFill>
              <a:srgbClr val="96969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483" name="Google Shape;483;p24"/>
            <p:cNvCxnSpPr/>
            <p:nvPr/>
          </p:nvCxnSpPr>
          <p:spPr>
            <a:xfrm flipH="1" rot="10800000">
              <a:off x="4667250" y="1970211"/>
              <a:ext cx="1055688" cy="736600"/>
            </a:xfrm>
            <a:prstGeom prst="straightConnector1">
              <a:avLst/>
            </a:prstGeom>
            <a:noFill/>
            <a:ln cap="flat" cmpd="sng" w="12700">
              <a:solidFill>
                <a:schemeClr val="dk1"/>
              </a:solidFill>
              <a:prstDash val="solid"/>
              <a:round/>
              <a:headEnd len="sm" w="sm" type="none"/>
              <a:tailEnd len="lg" w="lg" type="stealth"/>
            </a:ln>
          </p:spPr>
        </p:cxnSp>
        <p:sp>
          <p:nvSpPr>
            <p:cNvPr id="484" name="Google Shape;484;p24"/>
            <p:cNvSpPr/>
            <p:nvPr/>
          </p:nvSpPr>
          <p:spPr>
            <a:xfrm flipH="1" rot="8289779">
              <a:off x="4510088" y="2675061"/>
              <a:ext cx="217487" cy="153987"/>
            </a:xfrm>
            <a:prstGeom prst="diamond">
              <a:avLst/>
            </a:prstGeom>
            <a:solidFill>
              <a:srgbClr val="96969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85" name="Google Shape;485;p24"/>
            <p:cNvSpPr txBox="1"/>
            <p:nvPr/>
          </p:nvSpPr>
          <p:spPr>
            <a:xfrm>
              <a:off x="5410200" y="1576511"/>
              <a:ext cx="304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1</a:t>
              </a:r>
              <a:endParaRPr/>
            </a:p>
          </p:txBody>
        </p:sp>
        <p:sp>
          <p:nvSpPr>
            <p:cNvPr id="486" name="Google Shape;486;p24"/>
            <p:cNvSpPr txBox="1"/>
            <p:nvPr/>
          </p:nvSpPr>
          <p:spPr>
            <a:xfrm>
              <a:off x="4572000" y="2109911"/>
              <a:ext cx="304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1</a:t>
              </a:r>
              <a:endParaRPr/>
            </a:p>
          </p:txBody>
        </p:sp>
        <p:sp>
          <p:nvSpPr>
            <p:cNvPr id="487" name="Google Shape;487;p24"/>
            <p:cNvSpPr txBox="1"/>
            <p:nvPr/>
          </p:nvSpPr>
          <p:spPr>
            <a:xfrm>
              <a:off x="4495800" y="3405311"/>
              <a:ext cx="304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1</a:t>
              </a:r>
              <a:endParaRPr/>
            </a:p>
          </p:txBody>
        </p:sp>
        <p:sp>
          <p:nvSpPr>
            <p:cNvPr id="488" name="Google Shape;488;p24"/>
            <p:cNvSpPr txBox="1"/>
            <p:nvPr/>
          </p:nvSpPr>
          <p:spPr>
            <a:xfrm>
              <a:off x="5334000" y="4014911"/>
              <a:ext cx="3048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1</a:t>
              </a:r>
              <a:endParaRPr/>
            </a:p>
          </p:txBody>
        </p:sp>
        <p:sp>
          <p:nvSpPr>
            <p:cNvPr id="489" name="Google Shape;489;p24"/>
            <p:cNvSpPr/>
            <p:nvPr/>
          </p:nvSpPr>
          <p:spPr>
            <a:xfrm>
              <a:off x="1273175" y="5394448"/>
              <a:ext cx="3219450" cy="838200"/>
            </a:xfrm>
            <a:prstGeom prst="rect">
              <a:avLst/>
            </a:prstGeom>
            <a:solidFill>
              <a:srgbClr val="FFFFCC"/>
            </a:solidFill>
            <a:ln cap="flat" cmpd="sng" w="1905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90" name="Google Shape;490;p24"/>
            <p:cNvSpPr txBox="1"/>
            <p:nvPr/>
          </p:nvSpPr>
          <p:spPr>
            <a:xfrm>
              <a:off x="1944688" y="5376986"/>
              <a:ext cx="1874837" cy="5810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&lt;&lt;process&gt;&gt;</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StudentApplication</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25"/>
          <p:cNvSpPr txBox="1"/>
          <p:nvPr>
            <p:ph type="title"/>
          </p:nvPr>
        </p:nvSpPr>
        <p:spPr>
          <a:xfrm>
            <a:off x="457200" y="704088"/>
            <a:ext cx="8229600" cy="896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Mô hình hóa tiến trình: Lược đồ thành phần</a:t>
            </a:r>
            <a:endParaRPr sz="3600"/>
          </a:p>
        </p:txBody>
      </p:sp>
      <p:sp>
        <p:nvSpPr>
          <p:cNvPr id="496" name="Google Shape;496;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497" name="Google Shape;497;p25"/>
          <p:cNvGrpSpPr/>
          <p:nvPr/>
        </p:nvGrpSpPr>
        <p:grpSpPr>
          <a:xfrm>
            <a:off x="457200" y="1935163"/>
            <a:ext cx="8229600" cy="4389437"/>
            <a:chOff x="1023938" y="1144588"/>
            <a:chExt cx="6975475" cy="4670425"/>
          </a:xfrm>
        </p:grpSpPr>
        <p:sp>
          <p:nvSpPr>
            <p:cNvPr id="498" name="Google Shape;498;p25"/>
            <p:cNvSpPr/>
            <p:nvPr/>
          </p:nvSpPr>
          <p:spPr>
            <a:xfrm>
              <a:off x="5984875" y="2497138"/>
              <a:ext cx="2014538" cy="804862"/>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499" name="Google Shape;499;p25"/>
            <p:cNvSpPr/>
            <p:nvPr/>
          </p:nvSpPr>
          <p:spPr>
            <a:xfrm>
              <a:off x="5646738" y="265747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00" name="Google Shape;500;p25"/>
            <p:cNvSpPr txBox="1"/>
            <p:nvPr/>
          </p:nvSpPr>
          <p:spPr>
            <a:xfrm>
              <a:off x="4559300" y="4114800"/>
              <a:ext cx="16002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00CCFF"/>
                  </a:solidFill>
                  <a:latin typeface="Constantia"/>
                  <a:ea typeface="Constantia"/>
                  <a:cs typeface="Constantia"/>
                  <a:sym typeface="Constantia"/>
                </a:rPr>
                <a:t>dependency</a:t>
              </a:r>
              <a:endParaRPr sz="1800">
                <a:solidFill>
                  <a:srgbClr val="00CCFF"/>
                </a:solidFill>
                <a:latin typeface="Constantia"/>
                <a:ea typeface="Constantia"/>
                <a:cs typeface="Constantia"/>
                <a:sym typeface="Constantia"/>
              </a:endParaRPr>
            </a:p>
          </p:txBody>
        </p:sp>
        <p:cxnSp>
          <p:nvCxnSpPr>
            <p:cNvPr id="501" name="Google Shape;501;p25"/>
            <p:cNvCxnSpPr/>
            <p:nvPr/>
          </p:nvCxnSpPr>
          <p:spPr>
            <a:xfrm flipH="1">
              <a:off x="3670300" y="4330700"/>
              <a:ext cx="889000" cy="355600"/>
            </a:xfrm>
            <a:prstGeom prst="straightConnector1">
              <a:avLst/>
            </a:prstGeom>
            <a:noFill/>
            <a:ln cap="flat" cmpd="sng" w="22225">
              <a:solidFill>
                <a:srgbClr val="FF0000"/>
              </a:solidFill>
              <a:prstDash val="solid"/>
              <a:round/>
              <a:headEnd len="sm" w="sm" type="none"/>
              <a:tailEnd len="med" w="med" type="stealth"/>
            </a:ln>
          </p:spPr>
        </p:cxnSp>
        <p:sp>
          <p:nvSpPr>
            <p:cNvPr id="502" name="Google Shape;502;p25"/>
            <p:cNvSpPr/>
            <p:nvPr/>
          </p:nvSpPr>
          <p:spPr>
            <a:xfrm>
              <a:off x="1423988" y="1851025"/>
              <a:ext cx="2192337" cy="806450"/>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03" name="Google Shape;503;p25"/>
            <p:cNvSpPr/>
            <p:nvPr/>
          </p:nvSpPr>
          <p:spPr>
            <a:xfrm>
              <a:off x="1947863" y="2117725"/>
              <a:ext cx="1443037"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CourseCatalog</a:t>
              </a:r>
              <a:endParaRPr sz="1800">
                <a:solidFill>
                  <a:schemeClr val="dk1"/>
                </a:solidFill>
                <a:latin typeface="Constantia"/>
                <a:ea typeface="Constantia"/>
                <a:cs typeface="Constantia"/>
                <a:sym typeface="Constantia"/>
              </a:endParaRPr>
            </a:p>
          </p:txBody>
        </p:sp>
        <p:sp>
          <p:nvSpPr>
            <p:cNvPr id="504" name="Google Shape;504;p25"/>
            <p:cNvSpPr/>
            <p:nvPr/>
          </p:nvSpPr>
          <p:spPr>
            <a:xfrm>
              <a:off x="1947863" y="2374900"/>
              <a:ext cx="1417637"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SystemAccess</a:t>
              </a:r>
              <a:endParaRPr sz="1800">
                <a:solidFill>
                  <a:schemeClr val="dk1"/>
                </a:solidFill>
                <a:latin typeface="Constantia"/>
                <a:ea typeface="Constantia"/>
                <a:cs typeface="Constantia"/>
                <a:sym typeface="Constantia"/>
              </a:endParaRPr>
            </a:p>
          </p:txBody>
        </p:sp>
        <p:sp>
          <p:nvSpPr>
            <p:cNvPr id="505" name="Google Shape;505;p25"/>
            <p:cNvSpPr/>
            <p:nvPr/>
          </p:nvSpPr>
          <p:spPr>
            <a:xfrm>
              <a:off x="1947863" y="1858963"/>
              <a:ext cx="1282700"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&lt;&lt;Process&gt;&gt;</a:t>
              </a:r>
              <a:endParaRPr sz="1800">
                <a:solidFill>
                  <a:schemeClr val="dk1"/>
                </a:solidFill>
                <a:latin typeface="Constantia"/>
                <a:ea typeface="Constantia"/>
                <a:cs typeface="Constantia"/>
                <a:sym typeface="Constantia"/>
              </a:endParaRPr>
            </a:p>
          </p:txBody>
        </p:sp>
        <p:sp>
          <p:nvSpPr>
            <p:cNvPr id="506" name="Google Shape;506;p25"/>
            <p:cNvSpPr/>
            <p:nvPr/>
          </p:nvSpPr>
          <p:spPr>
            <a:xfrm>
              <a:off x="1336675" y="3367088"/>
              <a:ext cx="2473325" cy="8223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07" name="Google Shape;507;p25"/>
            <p:cNvSpPr/>
            <p:nvPr/>
          </p:nvSpPr>
          <p:spPr>
            <a:xfrm>
              <a:off x="1852613" y="3633788"/>
              <a:ext cx="1851025"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CourseRegistration</a:t>
              </a:r>
              <a:endParaRPr sz="1800">
                <a:solidFill>
                  <a:schemeClr val="dk1"/>
                </a:solidFill>
                <a:latin typeface="Constantia"/>
                <a:ea typeface="Constantia"/>
                <a:cs typeface="Constantia"/>
                <a:sym typeface="Constantia"/>
              </a:endParaRPr>
            </a:p>
          </p:txBody>
        </p:sp>
        <p:sp>
          <p:nvSpPr>
            <p:cNvPr id="508" name="Google Shape;508;p25"/>
            <p:cNvSpPr/>
            <p:nvPr/>
          </p:nvSpPr>
          <p:spPr>
            <a:xfrm>
              <a:off x="1852613" y="3890963"/>
              <a:ext cx="781050"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Process</a:t>
              </a:r>
              <a:endParaRPr sz="1800">
                <a:solidFill>
                  <a:schemeClr val="dk1"/>
                </a:solidFill>
                <a:latin typeface="Constantia"/>
                <a:ea typeface="Constantia"/>
                <a:cs typeface="Constantia"/>
                <a:sym typeface="Constantia"/>
              </a:endParaRPr>
            </a:p>
          </p:txBody>
        </p:sp>
        <p:sp>
          <p:nvSpPr>
            <p:cNvPr id="509" name="Google Shape;509;p25"/>
            <p:cNvSpPr/>
            <p:nvPr/>
          </p:nvSpPr>
          <p:spPr>
            <a:xfrm>
              <a:off x="1852613" y="3376613"/>
              <a:ext cx="1282700"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&lt;&lt;Process&gt;&gt;</a:t>
              </a:r>
              <a:endParaRPr sz="1800">
                <a:solidFill>
                  <a:schemeClr val="dk1"/>
                </a:solidFill>
                <a:latin typeface="Constantia"/>
                <a:ea typeface="Constantia"/>
                <a:cs typeface="Constantia"/>
                <a:sym typeface="Constantia"/>
              </a:endParaRPr>
            </a:p>
          </p:txBody>
        </p:sp>
        <p:sp>
          <p:nvSpPr>
            <p:cNvPr id="510" name="Google Shape;510;p25"/>
            <p:cNvSpPr/>
            <p:nvPr/>
          </p:nvSpPr>
          <p:spPr>
            <a:xfrm>
              <a:off x="3713163" y="4945063"/>
              <a:ext cx="2625725" cy="869950"/>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1" name="Google Shape;511;p25"/>
            <p:cNvSpPr/>
            <p:nvPr/>
          </p:nvSpPr>
          <p:spPr>
            <a:xfrm>
              <a:off x="4349750" y="5243513"/>
              <a:ext cx="1806575" cy="2587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StudentApplication</a:t>
              </a:r>
              <a:endParaRPr sz="1800">
                <a:solidFill>
                  <a:schemeClr val="dk1"/>
                </a:solidFill>
                <a:latin typeface="Constantia"/>
                <a:ea typeface="Constantia"/>
                <a:cs typeface="Constantia"/>
                <a:sym typeface="Constantia"/>
              </a:endParaRPr>
            </a:p>
          </p:txBody>
        </p:sp>
        <p:sp>
          <p:nvSpPr>
            <p:cNvPr id="512" name="Google Shape;512;p25"/>
            <p:cNvSpPr/>
            <p:nvPr/>
          </p:nvSpPr>
          <p:spPr>
            <a:xfrm>
              <a:off x="4349750" y="4984750"/>
              <a:ext cx="128270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&lt;&lt;Process&gt;&gt;</a:t>
              </a:r>
              <a:endParaRPr sz="1800">
                <a:solidFill>
                  <a:schemeClr val="dk1"/>
                </a:solidFill>
                <a:latin typeface="Constantia"/>
                <a:ea typeface="Constantia"/>
                <a:cs typeface="Constantia"/>
                <a:sym typeface="Constantia"/>
              </a:endParaRPr>
            </a:p>
          </p:txBody>
        </p:sp>
        <p:sp>
          <p:nvSpPr>
            <p:cNvPr id="513" name="Google Shape;513;p25"/>
            <p:cNvSpPr/>
            <p:nvPr/>
          </p:nvSpPr>
          <p:spPr>
            <a:xfrm>
              <a:off x="6411913" y="2771775"/>
              <a:ext cx="1322387"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CourseCache</a:t>
              </a:r>
              <a:endParaRPr sz="1800">
                <a:solidFill>
                  <a:schemeClr val="dk1"/>
                </a:solidFill>
                <a:latin typeface="Constantia"/>
                <a:ea typeface="Constantia"/>
                <a:cs typeface="Constantia"/>
                <a:sym typeface="Constantia"/>
              </a:endParaRPr>
            </a:p>
          </p:txBody>
        </p:sp>
        <p:sp>
          <p:nvSpPr>
            <p:cNvPr id="514" name="Google Shape;514;p25"/>
            <p:cNvSpPr/>
            <p:nvPr/>
          </p:nvSpPr>
          <p:spPr>
            <a:xfrm>
              <a:off x="6411913" y="2514600"/>
              <a:ext cx="11874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&lt;&lt;Thread&gt;&gt;</a:t>
              </a:r>
              <a:endParaRPr sz="1800">
                <a:solidFill>
                  <a:schemeClr val="dk1"/>
                </a:solidFill>
                <a:latin typeface="Constantia"/>
                <a:ea typeface="Constantia"/>
                <a:cs typeface="Constantia"/>
                <a:sym typeface="Constantia"/>
              </a:endParaRPr>
            </a:p>
          </p:txBody>
        </p:sp>
        <p:sp>
          <p:nvSpPr>
            <p:cNvPr id="515" name="Google Shape;515;p25"/>
            <p:cNvSpPr/>
            <p:nvPr/>
          </p:nvSpPr>
          <p:spPr>
            <a:xfrm>
              <a:off x="5984875" y="1144588"/>
              <a:ext cx="2014538" cy="804862"/>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6" name="Google Shape;516;p25"/>
            <p:cNvSpPr/>
            <p:nvPr/>
          </p:nvSpPr>
          <p:spPr>
            <a:xfrm>
              <a:off x="5646738" y="130492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17" name="Google Shape;517;p25"/>
            <p:cNvSpPr/>
            <p:nvPr/>
          </p:nvSpPr>
          <p:spPr>
            <a:xfrm>
              <a:off x="6459538" y="1409700"/>
              <a:ext cx="1395412"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OfferingCache</a:t>
              </a:r>
              <a:endParaRPr sz="1800">
                <a:solidFill>
                  <a:schemeClr val="dk1"/>
                </a:solidFill>
                <a:latin typeface="Constantia"/>
                <a:ea typeface="Constantia"/>
                <a:cs typeface="Constantia"/>
                <a:sym typeface="Constantia"/>
              </a:endParaRPr>
            </a:p>
          </p:txBody>
        </p:sp>
        <p:sp>
          <p:nvSpPr>
            <p:cNvPr id="518" name="Google Shape;518;p25"/>
            <p:cNvSpPr/>
            <p:nvPr/>
          </p:nvSpPr>
          <p:spPr>
            <a:xfrm>
              <a:off x="6459538" y="1168400"/>
              <a:ext cx="11874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Constantia"/>
                  <a:ea typeface="Constantia"/>
                  <a:cs typeface="Constantia"/>
                  <a:sym typeface="Constantia"/>
                </a:rPr>
                <a:t>&lt;&lt;Thread&gt;&gt;</a:t>
              </a:r>
              <a:endParaRPr sz="1800">
                <a:solidFill>
                  <a:schemeClr val="dk1"/>
                </a:solidFill>
                <a:latin typeface="Constantia"/>
                <a:ea typeface="Constantia"/>
                <a:cs typeface="Constantia"/>
                <a:sym typeface="Constantia"/>
              </a:endParaRPr>
            </a:p>
          </p:txBody>
        </p:sp>
        <p:cxnSp>
          <p:nvCxnSpPr>
            <p:cNvPr id="519" name="Google Shape;519;p25"/>
            <p:cNvCxnSpPr/>
            <p:nvPr/>
          </p:nvCxnSpPr>
          <p:spPr>
            <a:xfrm>
              <a:off x="3633788" y="2339975"/>
              <a:ext cx="1933575" cy="549275"/>
            </a:xfrm>
            <a:prstGeom prst="straightConnector1">
              <a:avLst/>
            </a:prstGeom>
            <a:noFill/>
            <a:ln cap="flat" cmpd="sng" w="28575">
              <a:solidFill>
                <a:schemeClr val="dk1"/>
              </a:solidFill>
              <a:prstDash val="dash"/>
              <a:round/>
              <a:headEnd len="med" w="med" type="none"/>
              <a:tailEnd len="lg" w="lg" type="stealth"/>
            </a:ln>
          </p:spPr>
        </p:cxnSp>
        <p:cxnSp>
          <p:nvCxnSpPr>
            <p:cNvPr id="520" name="Google Shape;520;p25"/>
            <p:cNvCxnSpPr/>
            <p:nvPr/>
          </p:nvCxnSpPr>
          <p:spPr>
            <a:xfrm rot="10800000">
              <a:off x="3124200" y="4219575"/>
              <a:ext cx="652463" cy="727075"/>
            </a:xfrm>
            <a:prstGeom prst="straightConnector1">
              <a:avLst/>
            </a:prstGeom>
            <a:noFill/>
            <a:ln cap="flat" cmpd="sng" w="28575">
              <a:solidFill>
                <a:schemeClr val="dk1"/>
              </a:solidFill>
              <a:prstDash val="dash"/>
              <a:round/>
              <a:headEnd len="med" w="med" type="none"/>
              <a:tailEnd len="lg" w="lg" type="stealth"/>
            </a:ln>
          </p:spPr>
        </p:cxnSp>
        <p:cxnSp>
          <p:nvCxnSpPr>
            <p:cNvPr id="521" name="Google Shape;521;p25"/>
            <p:cNvCxnSpPr/>
            <p:nvPr/>
          </p:nvCxnSpPr>
          <p:spPr>
            <a:xfrm rot="10800000">
              <a:off x="2513013" y="2687638"/>
              <a:ext cx="15875" cy="687387"/>
            </a:xfrm>
            <a:prstGeom prst="straightConnector1">
              <a:avLst/>
            </a:prstGeom>
            <a:noFill/>
            <a:ln cap="flat" cmpd="sng" w="28575">
              <a:solidFill>
                <a:schemeClr val="dk1"/>
              </a:solidFill>
              <a:prstDash val="dash"/>
              <a:round/>
              <a:headEnd len="med" w="med" type="none"/>
              <a:tailEnd len="lg" w="lg" type="stealth"/>
            </a:ln>
          </p:spPr>
        </p:cxnSp>
        <p:cxnSp>
          <p:nvCxnSpPr>
            <p:cNvPr id="522" name="Google Shape;522;p25"/>
            <p:cNvCxnSpPr/>
            <p:nvPr/>
          </p:nvCxnSpPr>
          <p:spPr>
            <a:xfrm flipH="1" rot="10800000">
              <a:off x="3633788" y="1565275"/>
              <a:ext cx="1933575" cy="549275"/>
            </a:xfrm>
            <a:prstGeom prst="straightConnector1">
              <a:avLst/>
            </a:prstGeom>
            <a:noFill/>
            <a:ln cap="flat" cmpd="sng" w="28575">
              <a:solidFill>
                <a:schemeClr val="dk1"/>
              </a:solidFill>
              <a:prstDash val="dash"/>
              <a:round/>
              <a:headEnd len="med" w="med" type="none"/>
              <a:tailEnd len="lg" w="lg" type="stealth"/>
            </a:ln>
          </p:spPr>
        </p:cxnSp>
        <p:sp>
          <p:nvSpPr>
            <p:cNvPr id="523" name="Google Shape;523;p25"/>
            <p:cNvSpPr/>
            <p:nvPr/>
          </p:nvSpPr>
          <p:spPr>
            <a:xfrm>
              <a:off x="5646738" y="298767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4" name="Google Shape;524;p25"/>
            <p:cNvSpPr/>
            <p:nvPr/>
          </p:nvSpPr>
          <p:spPr>
            <a:xfrm>
              <a:off x="5646738" y="162242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5" name="Google Shape;525;p25"/>
            <p:cNvSpPr/>
            <p:nvPr/>
          </p:nvSpPr>
          <p:spPr>
            <a:xfrm>
              <a:off x="1100138" y="201612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6" name="Google Shape;526;p25"/>
            <p:cNvSpPr/>
            <p:nvPr/>
          </p:nvSpPr>
          <p:spPr>
            <a:xfrm>
              <a:off x="1100138" y="233362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7" name="Google Shape;527;p25"/>
            <p:cNvSpPr/>
            <p:nvPr/>
          </p:nvSpPr>
          <p:spPr>
            <a:xfrm>
              <a:off x="1023938" y="354012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8" name="Google Shape;528;p25"/>
            <p:cNvSpPr/>
            <p:nvPr/>
          </p:nvSpPr>
          <p:spPr>
            <a:xfrm>
              <a:off x="1023938" y="385762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29" name="Google Shape;529;p25"/>
            <p:cNvSpPr/>
            <p:nvPr/>
          </p:nvSpPr>
          <p:spPr>
            <a:xfrm>
              <a:off x="3373438" y="514032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30" name="Google Shape;530;p25"/>
            <p:cNvSpPr/>
            <p:nvPr/>
          </p:nvSpPr>
          <p:spPr>
            <a:xfrm>
              <a:off x="3373438" y="5457825"/>
              <a:ext cx="660400" cy="161925"/>
            </a:xfrm>
            <a:prstGeom prst="rect">
              <a:avLst/>
            </a:prstGeom>
            <a:solidFill>
              <a:srgbClr val="FFFFCC"/>
            </a:solidFill>
            <a:ln cap="flat" cmpd="sng" w="1587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26"/>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Tạo và hủy Tiến trình và Luồng</a:t>
            </a:r>
            <a:endParaRPr sz="4500"/>
          </a:p>
        </p:txBody>
      </p:sp>
      <p:sp>
        <p:nvSpPr>
          <p:cNvPr id="536" name="Google Shape;536;p26"/>
          <p:cNvSpPr txBox="1"/>
          <p:nvPr>
            <p:ph idx="1" type="body"/>
          </p:nvPr>
        </p:nvSpPr>
        <p:spPr>
          <a:xfrm>
            <a:off x="457200" y="16764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Kiến trúc đơn tiến trình</a:t>
            </a:r>
            <a:endParaRPr/>
          </a:p>
          <a:p>
            <a:pPr indent="-246888" lvl="1" marL="640080" rtl="0" algn="l">
              <a:spcBef>
                <a:spcPts val="480"/>
              </a:spcBef>
              <a:spcAft>
                <a:spcPts val="0"/>
              </a:spcAft>
              <a:buSzPts val="2040"/>
              <a:buChar char="⚫"/>
            </a:pPr>
            <a:r>
              <a:rPr lang="en-US"/>
              <a:t>Việc tạo tiến trình xảy ra khi ứng dụng bắt đầu</a:t>
            </a:r>
            <a:endParaRPr/>
          </a:p>
          <a:p>
            <a:pPr indent="-246888" lvl="1" marL="640080" rtl="0" algn="l">
              <a:spcBef>
                <a:spcPts val="480"/>
              </a:spcBef>
              <a:spcAft>
                <a:spcPts val="0"/>
              </a:spcAft>
              <a:buSzPts val="2040"/>
              <a:buChar char="⚫"/>
            </a:pPr>
            <a:r>
              <a:rPr lang="en-US"/>
              <a:t>Việc hỷ tiến trình xảy ra khi ứng dụng kết thúc</a:t>
            </a:r>
            <a:endParaRPr/>
          </a:p>
          <a:p>
            <a:pPr indent="-274320" lvl="0" marL="274320" rtl="0" algn="l">
              <a:spcBef>
                <a:spcPts val="520"/>
              </a:spcBef>
              <a:spcAft>
                <a:spcPts val="0"/>
              </a:spcAft>
              <a:buSzPts val="2470"/>
              <a:buChar char="⚫"/>
            </a:pPr>
            <a:r>
              <a:rPr lang="en-US"/>
              <a:t>Kiến trúc đa xử lý</a:t>
            </a:r>
            <a:endParaRPr/>
          </a:p>
          <a:p>
            <a:pPr indent="-246888" lvl="1" marL="640080" rtl="0" algn="l">
              <a:spcBef>
                <a:spcPts val="480"/>
              </a:spcBef>
              <a:spcAft>
                <a:spcPts val="0"/>
              </a:spcAft>
              <a:buSzPts val="2040"/>
              <a:buChar char="⚫"/>
            </a:pPr>
            <a:r>
              <a:rPr lang="en-US"/>
              <a:t>Các tiến trình mới thường được tạo từ tiến trình khởi tạo, tiến trình này được tạo khi ứng dụng bắt đầu</a:t>
            </a:r>
            <a:endParaRPr/>
          </a:p>
          <a:p>
            <a:pPr indent="-246888" lvl="1" marL="640080" rtl="0" algn="l">
              <a:spcBef>
                <a:spcPts val="480"/>
              </a:spcBef>
              <a:spcAft>
                <a:spcPts val="0"/>
              </a:spcAft>
              <a:buSzPts val="2040"/>
              <a:buChar char="⚫"/>
            </a:pPr>
            <a:r>
              <a:rPr lang="en-US"/>
              <a:t>Mỗi tiến trình cần được hủy một cách độc lập</a:t>
            </a:r>
            <a:endParaRPr/>
          </a:p>
          <a:p>
            <a:pPr indent="-117475" lvl="0" marL="274320" rtl="0" algn="l">
              <a:spcBef>
                <a:spcPts val="520"/>
              </a:spcBef>
              <a:spcAft>
                <a:spcPts val="0"/>
              </a:spcAft>
              <a:buSzPts val="2470"/>
              <a:buNone/>
            </a:pPr>
            <a:r>
              <a:t/>
            </a:r>
            <a:endParaRPr/>
          </a:p>
        </p:txBody>
      </p:sp>
      <p:sp>
        <p:nvSpPr>
          <p:cNvPr id="537" name="Google Shape;537;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27"/>
          <p:cNvSpPr txBox="1"/>
          <p:nvPr>
            <p:ph type="title"/>
          </p:nvPr>
        </p:nvSpPr>
        <p:spPr>
          <a:xfrm>
            <a:off x="457200" y="704088"/>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Ví dụ: Tạo tiến trình và luồng</a:t>
            </a:r>
            <a:endParaRPr sz="4500"/>
          </a:p>
        </p:txBody>
      </p:sp>
      <p:sp>
        <p:nvSpPr>
          <p:cNvPr id="543" name="Google Shape;543;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544" name="Google Shape;544;p27"/>
          <p:cNvGrpSpPr/>
          <p:nvPr/>
        </p:nvGrpSpPr>
        <p:grpSpPr>
          <a:xfrm>
            <a:off x="533400" y="1828803"/>
            <a:ext cx="8153400" cy="4208459"/>
            <a:chOff x="533400" y="1189041"/>
            <a:chExt cx="8153400" cy="4208459"/>
          </a:xfrm>
        </p:grpSpPr>
        <p:cxnSp>
          <p:nvCxnSpPr>
            <p:cNvPr id="545" name="Google Shape;545;p27"/>
            <p:cNvCxnSpPr/>
            <p:nvPr/>
          </p:nvCxnSpPr>
          <p:spPr>
            <a:xfrm>
              <a:off x="2235200" y="1947863"/>
              <a:ext cx="0" cy="458787"/>
            </a:xfrm>
            <a:prstGeom prst="straightConnector1">
              <a:avLst/>
            </a:prstGeom>
            <a:noFill/>
            <a:ln cap="flat" cmpd="sng" w="9525">
              <a:solidFill>
                <a:schemeClr val="dk1"/>
              </a:solidFill>
              <a:prstDash val="lgDash"/>
              <a:round/>
              <a:headEnd len="med" w="med" type="none"/>
              <a:tailEnd len="med" w="med" type="none"/>
            </a:ln>
          </p:spPr>
        </p:cxnSp>
        <p:cxnSp>
          <p:nvCxnSpPr>
            <p:cNvPr id="546" name="Google Shape;546;p27"/>
            <p:cNvCxnSpPr/>
            <p:nvPr/>
          </p:nvCxnSpPr>
          <p:spPr>
            <a:xfrm flipH="1">
              <a:off x="5945188" y="1947863"/>
              <a:ext cx="3175" cy="1258887"/>
            </a:xfrm>
            <a:prstGeom prst="straightConnector1">
              <a:avLst/>
            </a:prstGeom>
            <a:noFill/>
            <a:ln cap="flat" cmpd="sng" w="9525">
              <a:solidFill>
                <a:schemeClr val="dk1"/>
              </a:solidFill>
              <a:prstDash val="lgDash"/>
              <a:round/>
              <a:headEnd len="med" w="med" type="none"/>
              <a:tailEnd len="med" w="med" type="none"/>
            </a:ln>
          </p:spPr>
        </p:cxnSp>
        <p:cxnSp>
          <p:nvCxnSpPr>
            <p:cNvPr id="547" name="Google Shape;547;p27"/>
            <p:cNvCxnSpPr/>
            <p:nvPr/>
          </p:nvCxnSpPr>
          <p:spPr>
            <a:xfrm>
              <a:off x="7764463" y="1947863"/>
              <a:ext cx="1587" cy="1754187"/>
            </a:xfrm>
            <a:prstGeom prst="straightConnector1">
              <a:avLst/>
            </a:prstGeom>
            <a:noFill/>
            <a:ln cap="flat" cmpd="sng" w="9525">
              <a:solidFill>
                <a:schemeClr val="dk1"/>
              </a:solidFill>
              <a:prstDash val="lgDash"/>
              <a:round/>
              <a:headEnd len="med" w="med" type="none"/>
              <a:tailEnd len="med" w="med" type="none"/>
            </a:ln>
          </p:spPr>
        </p:cxnSp>
        <p:cxnSp>
          <p:nvCxnSpPr>
            <p:cNvPr id="548" name="Google Shape;548;p27"/>
            <p:cNvCxnSpPr/>
            <p:nvPr/>
          </p:nvCxnSpPr>
          <p:spPr>
            <a:xfrm flipH="1">
              <a:off x="4060825" y="1947863"/>
              <a:ext cx="1588" cy="668337"/>
            </a:xfrm>
            <a:prstGeom prst="straightConnector1">
              <a:avLst/>
            </a:prstGeom>
            <a:noFill/>
            <a:ln cap="flat" cmpd="sng" w="9525">
              <a:solidFill>
                <a:schemeClr val="dk1"/>
              </a:solidFill>
              <a:prstDash val="lgDash"/>
              <a:round/>
              <a:headEnd len="med" w="med" type="none"/>
              <a:tailEnd len="med" w="med" type="none"/>
            </a:ln>
          </p:spPr>
        </p:cxnSp>
        <p:grpSp>
          <p:nvGrpSpPr>
            <p:cNvPr id="549" name="Google Shape;549;p27"/>
            <p:cNvGrpSpPr/>
            <p:nvPr/>
          </p:nvGrpSpPr>
          <p:grpSpPr>
            <a:xfrm>
              <a:off x="638175" y="1189041"/>
              <a:ext cx="481013" cy="673102"/>
              <a:chOff x="402" y="563"/>
              <a:chExt cx="303" cy="424"/>
            </a:xfrm>
          </p:grpSpPr>
          <p:sp>
            <p:nvSpPr>
              <p:cNvPr id="550" name="Google Shape;550;p27"/>
              <p:cNvSpPr/>
              <p:nvPr/>
            </p:nvSpPr>
            <p:spPr>
              <a:xfrm>
                <a:off x="484" y="563"/>
                <a:ext cx="143" cy="151"/>
              </a:xfrm>
              <a:prstGeom prst="ellipse">
                <a:avLst/>
              </a:prstGeom>
              <a:noFill/>
              <a:ln cap="flat" cmpd="sng" w="9525">
                <a:solidFill>
                  <a:srgbClr val="CC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1" name="Google Shape;551;p27"/>
              <p:cNvSpPr/>
              <p:nvPr/>
            </p:nvSpPr>
            <p:spPr>
              <a:xfrm>
                <a:off x="555" y="714"/>
                <a:ext cx="27" cy="123"/>
              </a:xfrm>
              <a:custGeom>
                <a:rect b="b" l="l" r="r" t="t"/>
                <a:pathLst>
                  <a:path extrusionOk="0" h="129" w="1">
                    <a:moveTo>
                      <a:pt x="0" y="0"/>
                    </a:moveTo>
                    <a:lnTo>
                      <a:pt x="0" y="129"/>
                    </a:lnTo>
                  </a:path>
                </a:pathLst>
              </a:custGeom>
              <a:solidFill>
                <a:srgbClr val="FFFFFF"/>
              </a:solid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2" name="Google Shape;552;p27"/>
              <p:cNvSpPr/>
              <p:nvPr/>
            </p:nvSpPr>
            <p:spPr>
              <a:xfrm>
                <a:off x="453" y="744"/>
                <a:ext cx="195" cy="1"/>
              </a:xfrm>
              <a:custGeom>
                <a:rect b="b" l="l" r="r" t="t"/>
                <a:pathLst>
                  <a:path extrusionOk="0" h="1" w="195">
                    <a:moveTo>
                      <a:pt x="0" y="0"/>
                    </a:moveTo>
                    <a:lnTo>
                      <a:pt x="195" y="0"/>
                    </a:lnTo>
                  </a:path>
                </a:pathLst>
              </a:custGeom>
              <a:solidFill>
                <a:srgbClr val="FFFFFF"/>
              </a:solid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3" name="Google Shape;553;p27"/>
              <p:cNvSpPr/>
              <p:nvPr/>
            </p:nvSpPr>
            <p:spPr>
              <a:xfrm>
                <a:off x="402" y="837"/>
                <a:ext cx="303" cy="150"/>
              </a:xfrm>
              <a:custGeom>
                <a:rect b="b" l="l" r="r" t="t"/>
                <a:pathLst>
                  <a:path extrusionOk="0" h="150" w="303">
                    <a:moveTo>
                      <a:pt x="0" y="147"/>
                    </a:moveTo>
                    <a:lnTo>
                      <a:pt x="153" y="0"/>
                    </a:lnTo>
                    <a:lnTo>
                      <a:pt x="303" y="150"/>
                    </a:lnTo>
                  </a:path>
                </a:pathLst>
              </a:custGeom>
              <a:noFill/>
              <a:ln cap="flat" cmpd="sng" w="9525">
                <a:solidFill>
                  <a:srgbClr val="CC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554" name="Google Shape;554;p27"/>
            <p:cNvSpPr/>
            <p:nvPr/>
          </p:nvSpPr>
          <p:spPr>
            <a:xfrm>
              <a:off x="533400" y="1957388"/>
              <a:ext cx="65883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chemeClr val="dk1"/>
                  </a:solidFill>
                  <a:latin typeface="Constantia"/>
                  <a:ea typeface="Constantia"/>
                  <a:cs typeface="Constantia"/>
                  <a:sym typeface="Constantia"/>
                </a:rPr>
                <a:t> : Student</a:t>
              </a:r>
              <a:endParaRPr sz="1800">
                <a:solidFill>
                  <a:schemeClr val="dk1"/>
                </a:solidFill>
                <a:latin typeface="Constantia"/>
                <a:ea typeface="Constantia"/>
                <a:cs typeface="Constantia"/>
                <a:sym typeface="Constantia"/>
              </a:endParaRPr>
            </a:p>
          </p:txBody>
        </p:sp>
        <p:cxnSp>
          <p:nvCxnSpPr>
            <p:cNvPr id="555" name="Google Shape;555;p27"/>
            <p:cNvCxnSpPr/>
            <p:nvPr/>
          </p:nvCxnSpPr>
          <p:spPr>
            <a:xfrm>
              <a:off x="877888" y="2233613"/>
              <a:ext cx="0" cy="174625"/>
            </a:xfrm>
            <a:prstGeom prst="straightConnector1">
              <a:avLst/>
            </a:prstGeom>
            <a:noFill/>
            <a:ln cap="flat" cmpd="sng" w="9525">
              <a:solidFill>
                <a:schemeClr val="dk1"/>
              </a:solidFill>
              <a:prstDash val="lgDash"/>
              <a:round/>
              <a:headEnd len="med" w="med" type="none"/>
              <a:tailEnd len="med" w="med" type="none"/>
            </a:ln>
          </p:spPr>
        </p:cxnSp>
        <p:sp>
          <p:nvSpPr>
            <p:cNvPr id="556" name="Google Shape;556;p27"/>
            <p:cNvSpPr/>
            <p:nvPr/>
          </p:nvSpPr>
          <p:spPr>
            <a:xfrm>
              <a:off x="814388" y="2409825"/>
              <a:ext cx="120650" cy="2132013"/>
            </a:xfrm>
            <a:prstGeom prst="rect">
              <a:avLst/>
            </a:prstGeom>
            <a:noFill/>
            <a:ln cap="flat" cmpd="sng" w="9525">
              <a:solidFill>
                <a:srgbClr val="54632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7" name="Google Shape;557;p27"/>
            <p:cNvSpPr/>
            <p:nvPr/>
          </p:nvSpPr>
          <p:spPr>
            <a:xfrm>
              <a:off x="1509713" y="1479550"/>
              <a:ext cx="1457325" cy="5397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58" name="Google Shape;558;p27"/>
            <p:cNvSpPr/>
            <p:nvPr/>
          </p:nvSpPr>
          <p:spPr>
            <a:xfrm>
              <a:off x="1552575" y="1546225"/>
              <a:ext cx="1336675"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rgbClr val="000000"/>
                  </a:solidFill>
                  <a:latin typeface="Constantia"/>
                  <a:ea typeface="Constantia"/>
                  <a:cs typeface="Constantia"/>
                  <a:sym typeface="Constantia"/>
                </a:rPr>
                <a:t> : MainStudentForm</a:t>
              </a:r>
              <a:endParaRPr sz="1200" u="sng">
                <a:solidFill>
                  <a:srgbClr val="000000"/>
                </a:solidFill>
                <a:latin typeface="Constantia"/>
                <a:ea typeface="Constantia"/>
                <a:cs typeface="Constantia"/>
                <a:sym typeface="Constantia"/>
              </a:endParaRPr>
            </a:p>
          </p:txBody>
        </p:sp>
        <p:cxnSp>
          <p:nvCxnSpPr>
            <p:cNvPr id="559" name="Google Shape;559;p27"/>
            <p:cNvCxnSpPr/>
            <p:nvPr/>
          </p:nvCxnSpPr>
          <p:spPr>
            <a:xfrm>
              <a:off x="2236788" y="4291013"/>
              <a:ext cx="0" cy="1106487"/>
            </a:xfrm>
            <a:prstGeom prst="straightConnector1">
              <a:avLst/>
            </a:prstGeom>
            <a:noFill/>
            <a:ln cap="flat" cmpd="sng" w="9525">
              <a:solidFill>
                <a:schemeClr val="dk1"/>
              </a:solidFill>
              <a:prstDash val="lgDash"/>
              <a:round/>
              <a:headEnd len="med" w="med" type="none"/>
              <a:tailEnd len="med" w="med" type="none"/>
            </a:ln>
          </p:spPr>
        </p:cxnSp>
        <p:sp>
          <p:nvSpPr>
            <p:cNvPr id="560" name="Google Shape;560;p27"/>
            <p:cNvSpPr/>
            <p:nvPr/>
          </p:nvSpPr>
          <p:spPr>
            <a:xfrm>
              <a:off x="2178050" y="2409825"/>
              <a:ext cx="120650" cy="1862138"/>
            </a:xfrm>
            <a:prstGeom prst="rect">
              <a:avLst/>
            </a:prstGeom>
            <a:noFill/>
            <a:ln cap="flat" cmpd="sng" w="9525">
              <a:solidFill>
                <a:srgbClr val="54632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1" name="Google Shape;561;p27"/>
            <p:cNvSpPr/>
            <p:nvPr/>
          </p:nvSpPr>
          <p:spPr>
            <a:xfrm>
              <a:off x="5092700" y="1479550"/>
              <a:ext cx="1697038" cy="5397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2" name="Google Shape;562;p27"/>
            <p:cNvSpPr/>
            <p:nvPr/>
          </p:nvSpPr>
          <p:spPr>
            <a:xfrm>
              <a:off x="5132388" y="1546225"/>
              <a:ext cx="1595437"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rgbClr val="000000"/>
                  </a:solidFill>
                  <a:latin typeface="Constantia"/>
                  <a:ea typeface="Constantia"/>
                  <a:cs typeface="Constantia"/>
                  <a:sym typeface="Constantia"/>
                </a:rPr>
                <a:t> : RegistrationController</a:t>
              </a:r>
              <a:endParaRPr/>
            </a:p>
          </p:txBody>
        </p:sp>
        <p:cxnSp>
          <p:nvCxnSpPr>
            <p:cNvPr id="563" name="Google Shape;563;p27"/>
            <p:cNvCxnSpPr/>
            <p:nvPr/>
          </p:nvCxnSpPr>
          <p:spPr>
            <a:xfrm>
              <a:off x="5945188" y="3505200"/>
              <a:ext cx="0" cy="1892300"/>
            </a:xfrm>
            <a:prstGeom prst="straightConnector1">
              <a:avLst/>
            </a:prstGeom>
            <a:noFill/>
            <a:ln cap="flat" cmpd="sng" w="9525">
              <a:solidFill>
                <a:schemeClr val="dk1"/>
              </a:solidFill>
              <a:prstDash val="lgDash"/>
              <a:round/>
              <a:headEnd len="med" w="med" type="none"/>
              <a:tailEnd len="med" w="med" type="none"/>
            </a:ln>
          </p:spPr>
        </p:cxnSp>
        <p:sp>
          <p:nvSpPr>
            <p:cNvPr id="564" name="Google Shape;564;p27"/>
            <p:cNvSpPr/>
            <p:nvPr/>
          </p:nvSpPr>
          <p:spPr>
            <a:xfrm>
              <a:off x="5881688" y="3206750"/>
              <a:ext cx="119062" cy="284163"/>
            </a:xfrm>
            <a:prstGeom prst="rect">
              <a:avLst/>
            </a:prstGeom>
            <a:noFill/>
            <a:ln cap="flat" cmpd="sng" w="9525">
              <a:solidFill>
                <a:srgbClr val="54632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5" name="Google Shape;565;p27"/>
            <p:cNvSpPr/>
            <p:nvPr/>
          </p:nvSpPr>
          <p:spPr>
            <a:xfrm>
              <a:off x="6829425" y="1479550"/>
              <a:ext cx="1857375" cy="5397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6" name="Google Shape;566;p27"/>
            <p:cNvSpPr/>
            <p:nvPr/>
          </p:nvSpPr>
          <p:spPr>
            <a:xfrm>
              <a:off x="6908800" y="1546225"/>
              <a:ext cx="1690688"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rgbClr val="000000"/>
                  </a:solidFill>
                  <a:latin typeface="Constantia"/>
                  <a:ea typeface="Constantia"/>
                  <a:cs typeface="Constantia"/>
                  <a:sym typeface="Constantia"/>
                </a:rPr>
                <a:t> : ICourseCatalogSystem</a:t>
              </a:r>
              <a:endParaRPr/>
            </a:p>
          </p:txBody>
        </p:sp>
        <p:cxnSp>
          <p:nvCxnSpPr>
            <p:cNvPr id="567" name="Google Shape;567;p27"/>
            <p:cNvCxnSpPr/>
            <p:nvPr/>
          </p:nvCxnSpPr>
          <p:spPr>
            <a:xfrm>
              <a:off x="7766050" y="4010025"/>
              <a:ext cx="0" cy="1387475"/>
            </a:xfrm>
            <a:prstGeom prst="straightConnector1">
              <a:avLst/>
            </a:prstGeom>
            <a:noFill/>
            <a:ln cap="flat" cmpd="sng" w="9525">
              <a:solidFill>
                <a:schemeClr val="dk1"/>
              </a:solidFill>
              <a:prstDash val="lgDash"/>
              <a:round/>
              <a:headEnd len="med" w="med" type="none"/>
              <a:tailEnd len="med" w="med" type="none"/>
            </a:ln>
          </p:spPr>
        </p:cxnSp>
        <p:sp>
          <p:nvSpPr>
            <p:cNvPr id="568" name="Google Shape;568;p27"/>
            <p:cNvSpPr/>
            <p:nvPr/>
          </p:nvSpPr>
          <p:spPr>
            <a:xfrm>
              <a:off x="7697788" y="3716338"/>
              <a:ext cx="122237" cy="284162"/>
            </a:xfrm>
            <a:prstGeom prst="rect">
              <a:avLst/>
            </a:prstGeom>
            <a:noFill/>
            <a:ln cap="flat" cmpd="sng" w="9525">
              <a:solidFill>
                <a:srgbClr val="54632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69" name="Google Shape;569;p27"/>
            <p:cNvSpPr/>
            <p:nvPr/>
          </p:nvSpPr>
          <p:spPr>
            <a:xfrm>
              <a:off x="3060700" y="1479550"/>
              <a:ext cx="1990725" cy="5397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70" name="Google Shape;570;p27"/>
            <p:cNvSpPr/>
            <p:nvPr/>
          </p:nvSpPr>
          <p:spPr>
            <a:xfrm>
              <a:off x="3138488" y="1533525"/>
              <a:ext cx="1843087" cy="1825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u="sng">
                  <a:solidFill>
                    <a:srgbClr val="000000"/>
                  </a:solidFill>
                  <a:latin typeface="Constantia"/>
                  <a:ea typeface="Constantia"/>
                  <a:cs typeface="Constantia"/>
                  <a:sym typeface="Constantia"/>
                </a:rPr>
                <a:t> : RegisterForCoursesForm</a:t>
              </a:r>
              <a:endParaRPr/>
            </a:p>
          </p:txBody>
        </p:sp>
        <p:cxnSp>
          <p:nvCxnSpPr>
            <p:cNvPr id="571" name="Google Shape;571;p27"/>
            <p:cNvCxnSpPr/>
            <p:nvPr/>
          </p:nvCxnSpPr>
          <p:spPr>
            <a:xfrm>
              <a:off x="4064000" y="2909888"/>
              <a:ext cx="0" cy="2487612"/>
            </a:xfrm>
            <a:prstGeom prst="straightConnector1">
              <a:avLst/>
            </a:prstGeom>
            <a:noFill/>
            <a:ln cap="flat" cmpd="sng" w="9525">
              <a:solidFill>
                <a:schemeClr val="dk1"/>
              </a:solidFill>
              <a:prstDash val="lgDash"/>
              <a:round/>
              <a:headEnd len="med" w="med" type="none"/>
              <a:tailEnd len="med" w="med" type="none"/>
            </a:ln>
          </p:spPr>
        </p:cxnSp>
        <p:sp>
          <p:nvSpPr>
            <p:cNvPr id="572" name="Google Shape;572;p27"/>
            <p:cNvSpPr/>
            <p:nvPr/>
          </p:nvSpPr>
          <p:spPr>
            <a:xfrm>
              <a:off x="3995738" y="2619375"/>
              <a:ext cx="120650" cy="285750"/>
            </a:xfrm>
            <a:prstGeom prst="rect">
              <a:avLst/>
            </a:prstGeom>
            <a:noFill/>
            <a:ln cap="flat" cmpd="sng" w="9525">
              <a:solidFill>
                <a:srgbClr val="54632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573" name="Google Shape;573;p27"/>
            <p:cNvCxnSpPr/>
            <p:nvPr/>
          </p:nvCxnSpPr>
          <p:spPr>
            <a:xfrm>
              <a:off x="935038" y="2409825"/>
              <a:ext cx="1243012" cy="1588"/>
            </a:xfrm>
            <a:prstGeom prst="straightConnector1">
              <a:avLst/>
            </a:prstGeom>
            <a:noFill/>
            <a:ln cap="flat" cmpd="sng" w="9525">
              <a:solidFill>
                <a:schemeClr val="dk1"/>
              </a:solidFill>
              <a:prstDash val="solid"/>
              <a:round/>
              <a:headEnd len="med" w="med" type="none"/>
              <a:tailEnd len="lg" w="lg" type="triangle"/>
            </a:ln>
          </p:spPr>
        </p:cxnSp>
        <p:sp>
          <p:nvSpPr>
            <p:cNvPr id="574" name="Google Shape;574;p27"/>
            <p:cNvSpPr/>
            <p:nvPr/>
          </p:nvSpPr>
          <p:spPr>
            <a:xfrm>
              <a:off x="1214438" y="2171700"/>
              <a:ext cx="49693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1: Start</a:t>
              </a:r>
              <a:endParaRPr sz="1800">
                <a:solidFill>
                  <a:schemeClr val="dk1"/>
                </a:solidFill>
                <a:latin typeface="Constantia"/>
                <a:ea typeface="Constantia"/>
                <a:cs typeface="Constantia"/>
                <a:sym typeface="Constantia"/>
              </a:endParaRPr>
            </a:p>
          </p:txBody>
        </p:sp>
        <p:cxnSp>
          <p:nvCxnSpPr>
            <p:cNvPr id="575" name="Google Shape;575;p27"/>
            <p:cNvCxnSpPr/>
            <p:nvPr/>
          </p:nvCxnSpPr>
          <p:spPr>
            <a:xfrm>
              <a:off x="2298700" y="2619375"/>
              <a:ext cx="1697038" cy="1588"/>
            </a:xfrm>
            <a:prstGeom prst="straightConnector1">
              <a:avLst/>
            </a:prstGeom>
            <a:noFill/>
            <a:ln cap="flat" cmpd="sng" w="9525">
              <a:solidFill>
                <a:schemeClr val="dk1"/>
              </a:solidFill>
              <a:prstDash val="solid"/>
              <a:round/>
              <a:headEnd len="med" w="med" type="none"/>
              <a:tailEnd len="lg" w="lg" type="triangle"/>
            </a:ln>
          </p:spPr>
        </p:cxnSp>
        <p:sp>
          <p:nvSpPr>
            <p:cNvPr id="576" name="Google Shape;576;p27"/>
            <p:cNvSpPr/>
            <p:nvPr/>
          </p:nvSpPr>
          <p:spPr>
            <a:xfrm>
              <a:off x="2579688" y="2376488"/>
              <a:ext cx="108363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2: createThread</a:t>
              </a:r>
              <a:endParaRPr sz="1800">
                <a:solidFill>
                  <a:schemeClr val="dk1"/>
                </a:solidFill>
                <a:latin typeface="Constantia"/>
                <a:ea typeface="Constantia"/>
                <a:cs typeface="Constantia"/>
                <a:sym typeface="Constantia"/>
              </a:endParaRPr>
            </a:p>
          </p:txBody>
        </p:sp>
        <p:cxnSp>
          <p:nvCxnSpPr>
            <p:cNvPr id="577" name="Google Shape;577;p27"/>
            <p:cNvCxnSpPr/>
            <p:nvPr/>
          </p:nvCxnSpPr>
          <p:spPr>
            <a:xfrm>
              <a:off x="2298700" y="3206750"/>
              <a:ext cx="3582988" cy="1588"/>
            </a:xfrm>
            <a:prstGeom prst="straightConnector1">
              <a:avLst/>
            </a:prstGeom>
            <a:noFill/>
            <a:ln cap="flat" cmpd="sng" w="9525">
              <a:solidFill>
                <a:schemeClr val="dk1"/>
              </a:solidFill>
              <a:prstDash val="solid"/>
              <a:round/>
              <a:headEnd len="med" w="med" type="none"/>
              <a:tailEnd len="lg" w="lg" type="triangle"/>
            </a:ln>
          </p:spPr>
        </p:cxnSp>
        <p:sp>
          <p:nvSpPr>
            <p:cNvPr id="578" name="Google Shape;578;p27"/>
            <p:cNvSpPr/>
            <p:nvPr/>
          </p:nvSpPr>
          <p:spPr>
            <a:xfrm>
              <a:off x="3514725" y="2962275"/>
              <a:ext cx="108363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3: createThread</a:t>
              </a:r>
              <a:endParaRPr sz="1800">
                <a:solidFill>
                  <a:schemeClr val="dk1"/>
                </a:solidFill>
                <a:latin typeface="Constantia"/>
                <a:ea typeface="Constantia"/>
                <a:cs typeface="Constantia"/>
                <a:sym typeface="Constantia"/>
              </a:endParaRPr>
            </a:p>
          </p:txBody>
        </p:sp>
        <p:cxnSp>
          <p:nvCxnSpPr>
            <p:cNvPr id="579" name="Google Shape;579;p27"/>
            <p:cNvCxnSpPr/>
            <p:nvPr/>
          </p:nvCxnSpPr>
          <p:spPr>
            <a:xfrm>
              <a:off x="2298700" y="3716338"/>
              <a:ext cx="5399088" cy="1587"/>
            </a:xfrm>
            <a:prstGeom prst="straightConnector1">
              <a:avLst/>
            </a:prstGeom>
            <a:noFill/>
            <a:ln cap="flat" cmpd="sng" w="9525">
              <a:solidFill>
                <a:schemeClr val="dk1"/>
              </a:solidFill>
              <a:prstDash val="solid"/>
              <a:round/>
              <a:headEnd len="med" w="med" type="none"/>
              <a:tailEnd len="lg" w="lg" type="triangle"/>
            </a:ln>
          </p:spPr>
        </p:cxnSp>
        <p:sp>
          <p:nvSpPr>
            <p:cNvPr id="580" name="Google Shape;580;p27"/>
            <p:cNvSpPr/>
            <p:nvPr/>
          </p:nvSpPr>
          <p:spPr>
            <a:xfrm>
              <a:off x="4422775" y="3473450"/>
              <a:ext cx="108363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4: createThread</a:t>
              </a:r>
              <a:endParaRPr sz="1800">
                <a:solidFill>
                  <a:schemeClr val="dk1"/>
                </a:solidFill>
                <a:latin typeface="Constantia"/>
                <a:ea typeface="Constantia"/>
                <a:cs typeface="Constantia"/>
                <a:sym typeface="Constantia"/>
              </a:endParaRPr>
            </a:p>
          </p:txBody>
        </p:sp>
        <p:cxnSp>
          <p:nvCxnSpPr>
            <p:cNvPr id="581" name="Google Shape;581;p27"/>
            <p:cNvCxnSpPr/>
            <p:nvPr/>
          </p:nvCxnSpPr>
          <p:spPr>
            <a:xfrm>
              <a:off x="877888" y="4543425"/>
              <a:ext cx="0" cy="849313"/>
            </a:xfrm>
            <a:prstGeom prst="straightConnector1">
              <a:avLst/>
            </a:prstGeom>
            <a:noFill/>
            <a:ln cap="flat" cmpd="sng" w="9525">
              <a:solidFill>
                <a:schemeClr val="dk1"/>
              </a:solidFill>
              <a:prstDash val="lgDash"/>
              <a:round/>
              <a:headEnd len="med" w="med" type="none"/>
              <a:tailEnd len="med" w="med" type="none"/>
            </a:ln>
          </p:spPr>
        </p:cxn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8"/>
          <p:cNvSpPr txBox="1"/>
          <p:nvPr>
            <p:ph type="title"/>
          </p:nvPr>
        </p:nvSpPr>
        <p:spPr>
          <a:xfrm>
            <a:off x="457200" y="704088"/>
            <a:ext cx="8229600" cy="97231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br>
              <a:rPr lang="en-US" sz="3600"/>
            </a:br>
            <a:r>
              <a:rPr lang="en-US" sz="3600"/>
              <a:t>Ánh xạ các tiến trình tới sự cài đặt</a:t>
            </a:r>
            <a:br>
              <a:rPr lang="en-US" sz="3600">
                <a:solidFill>
                  <a:srgbClr val="7030A0"/>
                </a:solidFill>
              </a:rPr>
            </a:br>
            <a:endParaRPr sz="3600"/>
          </a:p>
        </p:txBody>
      </p:sp>
      <p:sp>
        <p:nvSpPr>
          <p:cNvPr id="587" name="Google Shape;587;p28"/>
          <p:cNvSpPr txBox="1"/>
          <p:nvPr>
            <p:ph idx="1" type="body"/>
          </p:nvPr>
        </p:nvSpPr>
        <p:spPr>
          <a:xfrm>
            <a:off x="457200" y="1219200"/>
            <a:ext cx="8229600" cy="5105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Tiến trình và luồng cần phải được ánh xạ tới những cấu trúc thực thi cụ thể</a:t>
            </a:r>
            <a:endParaRPr/>
          </a:p>
          <a:p>
            <a:pPr indent="-274320" lvl="0" marL="274320" rtl="0" algn="l">
              <a:spcBef>
                <a:spcPts val="520"/>
              </a:spcBef>
              <a:spcAft>
                <a:spcPts val="0"/>
              </a:spcAft>
              <a:buSzPts val="2470"/>
              <a:buChar char="⚫"/>
            </a:pPr>
            <a:r>
              <a:rPr lang="en-US"/>
              <a:t>Những xem xét</a:t>
            </a:r>
            <a:endParaRPr/>
          </a:p>
          <a:p>
            <a:pPr indent="-246888" lvl="1" marL="640080" rtl="0" algn="l">
              <a:spcBef>
                <a:spcPts val="480"/>
              </a:spcBef>
              <a:spcAft>
                <a:spcPts val="0"/>
              </a:spcAft>
              <a:buSzPts val="2040"/>
              <a:buChar char="⚫"/>
            </a:pPr>
            <a:r>
              <a:rPr lang="en-US"/>
              <a:t>Sự móc nối tiến trình</a:t>
            </a:r>
            <a:endParaRPr/>
          </a:p>
          <a:p>
            <a:pPr indent="-246888" lvl="1" marL="640080" rtl="0" algn="l">
              <a:spcBef>
                <a:spcPts val="480"/>
              </a:spcBef>
              <a:spcAft>
                <a:spcPts val="0"/>
              </a:spcAft>
              <a:buSzPts val="2040"/>
              <a:buChar char="⚫"/>
            </a:pPr>
            <a:r>
              <a:rPr lang="en-US"/>
              <a:t>Những yêu cầu về hiệu năng</a:t>
            </a:r>
            <a:endParaRPr/>
          </a:p>
          <a:p>
            <a:pPr indent="-246888" lvl="1" marL="640080" rtl="0" algn="l">
              <a:spcBef>
                <a:spcPts val="480"/>
              </a:spcBef>
              <a:spcAft>
                <a:spcPts val="0"/>
              </a:spcAft>
              <a:buSzPts val="2040"/>
              <a:buChar char="⚫"/>
            </a:pPr>
            <a:r>
              <a:rPr lang="en-US"/>
              <a:t>Những giới hạn </a:t>
            </a:r>
            <a:r>
              <a:rPr lang="en-US"/>
              <a:t>của</a:t>
            </a:r>
            <a:r>
              <a:rPr lang="en-US"/>
              <a:t> tiến trình hệ thống và luồng</a:t>
            </a:r>
            <a:endParaRPr/>
          </a:p>
          <a:p>
            <a:pPr indent="-246888" lvl="1" marL="640080" rtl="0" algn="l">
              <a:spcBef>
                <a:spcPts val="480"/>
              </a:spcBef>
              <a:spcAft>
                <a:spcPts val="0"/>
              </a:spcAft>
              <a:buSzPts val="2040"/>
              <a:buChar char="⚫"/>
            </a:pPr>
            <a:r>
              <a:rPr lang="en-US"/>
              <a:t>Những luồng và tiến trình đã tồn tại</a:t>
            </a:r>
            <a:endParaRPr/>
          </a:p>
          <a:p>
            <a:pPr indent="-246888" lvl="1" marL="640080" rtl="0" algn="l">
              <a:spcBef>
                <a:spcPts val="480"/>
              </a:spcBef>
              <a:spcAft>
                <a:spcPts val="0"/>
              </a:spcAft>
              <a:buSzPts val="2040"/>
              <a:buChar char="⚫"/>
            </a:pPr>
            <a:r>
              <a:rPr lang="en-US"/>
              <a:t>Tính sẵn dùng của nguồn tài nguyên liên tiến trình (IPC resource availability)</a:t>
            </a:r>
            <a:endParaRPr/>
          </a:p>
          <a:p>
            <a:pPr indent="-117475" lvl="0" marL="274320" rtl="0" algn="l">
              <a:spcBef>
                <a:spcPts val="520"/>
              </a:spcBef>
              <a:spcAft>
                <a:spcPts val="0"/>
              </a:spcAft>
              <a:buSzPts val="2470"/>
              <a:buNone/>
            </a:pPr>
            <a:r>
              <a:t/>
            </a:r>
            <a:endParaRPr/>
          </a:p>
        </p:txBody>
      </p:sp>
      <p:sp>
        <p:nvSpPr>
          <p:cNvPr id="588" name="Google Shape;588;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9"/>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7030A0"/>
              </a:buClr>
              <a:buSzPts val="3240"/>
              <a:buFont typeface="Calibri"/>
              <a:buNone/>
            </a:pPr>
            <a:r>
              <a:rPr lang="en-US" sz="3240">
                <a:solidFill>
                  <a:srgbClr val="7030A0"/>
                </a:solidFill>
              </a:rPr>
              <a:t>Phân phối phần tử mô hình vào các tiến trình</a:t>
            </a:r>
            <a:endParaRPr sz="3240"/>
          </a:p>
        </p:txBody>
      </p:sp>
      <p:sp>
        <p:nvSpPr>
          <p:cNvPr id="594" name="Google Shape;594;p29"/>
          <p:cNvSpPr txBox="1"/>
          <p:nvPr>
            <p:ph idx="1" type="body"/>
          </p:nvPr>
        </p:nvSpPr>
        <p:spPr>
          <a:xfrm>
            <a:off x="457200" y="1524000"/>
            <a:ext cx="8229600" cy="2286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Cấp phát phần từ thiết kế: Các thể hiện của một lớp đã cho hoặc một hệ thống con cần phải  thực thi bên trong ít nhất một tiến trình</a:t>
            </a:r>
            <a:endParaRPr/>
          </a:p>
          <a:p>
            <a:pPr indent="-246888" lvl="1" marL="640080" rtl="0" algn="l">
              <a:spcBef>
                <a:spcPts val="480"/>
              </a:spcBef>
              <a:spcAft>
                <a:spcPts val="0"/>
              </a:spcAft>
              <a:buSzPts val="2040"/>
              <a:buChar char="⚫"/>
            </a:pPr>
            <a:r>
              <a:rPr lang="en-US"/>
              <a:t>Chúng có thể được thực thi trong một số tiến trình</a:t>
            </a:r>
            <a:endParaRPr/>
          </a:p>
          <a:p>
            <a:pPr indent="-117475" lvl="0" marL="274320" rtl="0" algn="l">
              <a:spcBef>
                <a:spcPts val="520"/>
              </a:spcBef>
              <a:spcAft>
                <a:spcPts val="0"/>
              </a:spcAft>
              <a:buSzPts val="2470"/>
              <a:buNone/>
            </a:pPr>
            <a:r>
              <a:t/>
            </a:r>
            <a:endParaRPr/>
          </a:p>
        </p:txBody>
      </p:sp>
      <p:sp>
        <p:nvSpPr>
          <p:cNvPr id="595" name="Google Shape;595;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596" name="Google Shape;596;p29"/>
          <p:cNvGrpSpPr/>
          <p:nvPr/>
        </p:nvGrpSpPr>
        <p:grpSpPr>
          <a:xfrm>
            <a:off x="1447800" y="3352800"/>
            <a:ext cx="6184900" cy="2095500"/>
            <a:chOff x="1498600" y="2959100"/>
            <a:chExt cx="6184900" cy="2095500"/>
          </a:xfrm>
        </p:grpSpPr>
        <p:sp>
          <p:nvSpPr>
            <p:cNvPr id="597" name="Google Shape;597;p29"/>
            <p:cNvSpPr/>
            <p:nvPr/>
          </p:nvSpPr>
          <p:spPr>
            <a:xfrm>
              <a:off x="4826000" y="3657600"/>
              <a:ext cx="2238375" cy="69373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598" name="Google Shape;598;p29"/>
            <p:cNvSpPr/>
            <p:nvPr/>
          </p:nvSpPr>
          <p:spPr>
            <a:xfrm>
              <a:off x="4872038" y="3910013"/>
              <a:ext cx="2152650" cy="228600"/>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000000"/>
                  </a:solidFill>
                  <a:latin typeface="Constantia"/>
                  <a:ea typeface="Constantia"/>
                  <a:cs typeface="Constantia"/>
                  <a:sym typeface="Constantia"/>
                </a:rPr>
                <a:t>RegisterForCoursesForm</a:t>
              </a:r>
              <a:endParaRPr sz="1800">
                <a:solidFill>
                  <a:schemeClr val="dk1"/>
                </a:solidFill>
                <a:latin typeface="Constantia"/>
                <a:ea typeface="Constantia"/>
                <a:cs typeface="Constantia"/>
                <a:sym typeface="Constantia"/>
              </a:endParaRPr>
            </a:p>
          </p:txBody>
        </p:sp>
        <p:sp>
          <p:nvSpPr>
            <p:cNvPr id="599" name="Google Shape;599;p29"/>
            <p:cNvSpPr/>
            <p:nvPr/>
          </p:nvSpPr>
          <p:spPr>
            <a:xfrm>
              <a:off x="2095500" y="3657600"/>
              <a:ext cx="2238375" cy="69373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00" name="Google Shape;600;p29"/>
            <p:cNvSpPr/>
            <p:nvPr/>
          </p:nvSpPr>
          <p:spPr>
            <a:xfrm>
              <a:off x="2476500" y="3910013"/>
              <a:ext cx="1516063" cy="228600"/>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rgbClr val="000000"/>
                  </a:solidFill>
                  <a:latin typeface="Constantia"/>
                  <a:ea typeface="Constantia"/>
                  <a:cs typeface="Constantia"/>
                  <a:sym typeface="Constantia"/>
                </a:rPr>
                <a:t>MainStudentForm</a:t>
              </a:r>
              <a:endParaRPr sz="1800">
                <a:solidFill>
                  <a:schemeClr val="dk1"/>
                </a:solidFill>
                <a:latin typeface="Constantia"/>
                <a:ea typeface="Constantia"/>
                <a:cs typeface="Constantia"/>
                <a:sym typeface="Constantia"/>
              </a:endParaRPr>
            </a:p>
          </p:txBody>
        </p:sp>
        <p:sp>
          <p:nvSpPr>
            <p:cNvPr id="601" name="Google Shape;601;p29"/>
            <p:cNvSpPr/>
            <p:nvPr/>
          </p:nvSpPr>
          <p:spPr>
            <a:xfrm>
              <a:off x="1498600" y="2959100"/>
              <a:ext cx="6184900" cy="2095500"/>
            </a:xfrm>
            <a:prstGeom prst="roundRect">
              <a:avLst>
                <a:gd fmla="val 16667" name="adj"/>
              </a:avLst>
            </a:prstGeom>
            <a:noFill/>
            <a:ln cap="flat" cmpd="sng" w="38100">
              <a:solidFill>
                <a:schemeClr val="hlink"/>
              </a:solidFill>
              <a:prstDash val="dash"/>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02" name="Google Shape;602;p29"/>
            <p:cNvSpPr txBox="1"/>
            <p:nvPr/>
          </p:nvSpPr>
          <p:spPr>
            <a:xfrm>
              <a:off x="3048000" y="2959100"/>
              <a:ext cx="3073400" cy="382588"/>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800">
                  <a:solidFill>
                    <a:srgbClr val="0070C0"/>
                  </a:solidFill>
                  <a:latin typeface="Constantia"/>
                  <a:ea typeface="Constantia"/>
                  <a:cs typeface="Constantia"/>
                  <a:sym typeface="Constantia"/>
                </a:rPr>
                <a:t>Student Application Process</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30"/>
          <p:cNvSpPr txBox="1"/>
          <p:nvPr>
            <p:ph type="title"/>
          </p:nvPr>
        </p:nvSpPr>
        <p:spPr>
          <a:xfrm>
            <a:off x="457200" y="704088"/>
            <a:ext cx="8229600" cy="515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Những cân nhắc Phần tử thiết kế - tới – Tiến trình</a:t>
            </a:r>
            <a:endParaRPr sz="3240"/>
          </a:p>
        </p:txBody>
      </p:sp>
      <p:sp>
        <p:nvSpPr>
          <p:cNvPr id="608" name="Google Shape;608;p30"/>
          <p:cNvSpPr txBox="1"/>
          <p:nvPr>
            <p:ph idx="1" type="body"/>
          </p:nvPr>
        </p:nvSpPr>
        <p:spPr>
          <a:xfrm>
            <a:off x="457200" y="14478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Dựa vào:</a:t>
            </a:r>
            <a:endParaRPr/>
          </a:p>
          <a:p>
            <a:pPr indent="-246888" lvl="1" marL="640080" rtl="0" algn="l">
              <a:spcBef>
                <a:spcPts val="480"/>
              </a:spcBef>
              <a:spcAft>
                <a:spcPts val="0"/>
              </a:spcAft>
              <a:buSzPts val="2040"/>
              <a:buChar char="⚫"/>
            </a:pPr>
            <a:r>
              <a:rPr lang="en-US"/>
              <a:t>Các yêu cầu về hiệu năng và sự tương tranh</a:t>
            </a:r>
            <a:endParaRPr/>
          </a:p>
          <a:p>
            <a:pPr indent="-246888" lvl="1" marL="640080" rtl="0" algn="l">
              <a:spcBef>
                <a:spcPts val="480"/>
              </a:spcBef>
              <a:spcAft>
                <a:spcPts val="0"/>
              </a:spcAft>
              <a:buSzPts val="2040"/>
              <a:buChar char="⚫"/>
            </a:pPr>
            <a:r>
              <a:rPr lang="en-US"/>
              <a:t>Các yêu cầu về sự phân tán và hỗ trợ thực thi song song</a:t>
            </a:r>
            <a:endParaRPr/>
          </a:p>
          <a:p>
            <a:pPr indent="-246888" lvl="1" marL="640080" rtl="0" algn="l">
              <a:spcBef>
                <a:spcPts val="480"/>
              </a:spcBef>
              <a:spcAft>
                <a:spcPts val="0"/>
              </a:spcAft>
              <a:buSzPts val="2040"/>
              <a:buChar char="⚫"/>
            </a:pPr>
            <a:r>
              <a:rPr lang="en-US"/>
              <a:t>Các yêu cầu về sự dư thừa và tính sẵn dùng</a:t>
            </a:r>
            <a:endParaRPr/>
          </a:p>
          <a:p>
            <a:pPr indent="-274320" lvl="0" marL="274320" rtl="0" algn="l">
              <a:spcBef>
                <a:spcPts val="520"/>
              </a:spcBef>
              <a:spcAft>
                <a:spcPts val="0"/>
              </a:spcAft>
              <a:buSzPts val="2470"/>
              <a:buChar char="⚫"/>
            </a:pPr>
            <a:r>
              <a:rPr lang="en-US"/>
              <a:t>Những đặc điểm của lớp/hệ thống con cần xem xét:</a:t>
            </a:r>
            <a:endParaRPr/>
          </a:p>
          <a:p>
            <a:pPr indent="-246888" lvl="1" marL="640080" rtl="0" algn="l">
              <a:spcBef>
                <a:spcPts val="480"/>
              </a:spcBef>
              <a:spcAft>
                <a:spcPts val="0"/>
              </a:spcAft>
              <a:buSzPts val="2040"/>
              <a:buChar char="⚫"/>
            </a:pPr>
            <a:r>
              <a:rPr lang="en-US"/>
              <a:t>Sự tự trị (Autonomy)</a:t>
            </a:r>
            <a:endParaRPr/>
          </a:p>
          <a:p>
            <a:pPr indent="-246888" lvl="1" marL="640080" rtl="0" algn="l">
              <a:spcBef>
                <a:spcPts val="480"/>
              </a:spcBef>
              <a:spcAft>
                <a:spcPts val="0"/>
              </a:spcAft>
              <a:buSzPts val="2040"/>
              <a:buChar char="⚫"/>
            </a:pPr>
            <a:r>
              <a:rPr lang="en-US"/>
              <a:t>Sự lệ thuộc (Subordination)</a:t>
            </a:r>
            <a:endParaRPr/>
          </a:p>
          <a:p>
            <a:pPr indent="-246888" lvl="1" marL="640080" rtl="0" algn="l">
              <a:spcBef>
                <a:spcPts val="480"/>
              </a:spcBef>
              <a:spcAft>
                <a:spcPts val="0"/>
              </a:spcAft>
              <a:buSzPts val="2040"/>
              <a:buChar char="⚫"/>
            </a:pPr>
            <a:r>
              <a:rPr lang="en-US"/>
              <a:t>Sự bền bỉ (Persistence)</a:t>
            </a:r>
            <a:endParaRPr/>
          </a:p>
          <a:p>
            <a:pPr indent="-246888" lvl="1" marL="640080" rtl="0" algn="l">
              <a:spcBef>
                <a:spcPts val="480"/>
              </a:spcBef>
              <a:spcAft>
                <a:spcPts val="0"/>
              </a:spcAft>
              <a:buSzPts val="2040"/>
              <a:buChar char="⚫"/>
            </a:pPr>
            <a:r>
              <a:rPr lang="en-US"/>
              <a:t>Sự phân tán (Distribution)</a:t>
            </a:r>
            <a:endParaRPr/>
          </a:p>
          <a:p>
            <a:pPr indent="-117475" lvl="0" marL="274320" rtl="0" algn="l">
              <a:spcBef>
                <a:spcPts val="520"/>
              </a:spcBef>
              <a:spcAft>
                <a:spcPts val="0"/>
              </a:spcAft>
              <a:buSzPts val="2470"/>
              <a:buNone/>
            </a:pPr>
            <a:r>
              <a:t/>
            </a:r>
            <a:endParaRPr/>
          </a:p>
        </p:txBody>
      </p:sp>
      <p:sp>
        <p:nvSpPr>
          <p:cNvPr id="609" name="Google Shape;609;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1"/>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Các chiến thuật Phần tử thiết kế - tới Tiến trình</a:t>
            </a:r>
            <a:endParaRPr sz="3240"/>
          </a:p>
        </p:txBody>
      </p:sp>
      <p:sp>
        <p:nvSpPr>
          <p:cNvPr id="615" name="Google Shape;615;p31"/>
          <p:cNvSpPr txBox="1"/>
          <p:nvPr>
            <p:ph idx="1" type="body"/>
          </p:nvPr>
        </p:nvSpPr>
        <p:spPr>
          <a:xfrm>
            <a:off x="457200" y="1486695"/>
            <a:ext cx="8229600" cy="4389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00"/>
              <a:buChar char="⚫"/>
            </a:pPr>
            <a:r>
              <a:rPr lang="en-US" sz="2210"/>
              <a:t>Hai chiến thuật (sử dụng đồng thời)</a:t>
            </a:r>
            <a:endParaRPr/>
          </a:p>
          <a:p>
            <a:pPr indent="-246888" lvl="1" marL="640080" rtl="0" algn="l">
              <a:lnSpc>
                <a:spcPct val="100000"/>
              </a:lnSpc>
              <a:spcBef>
                <a:spcPts val="408"/>
              </a:spcBef>
              <a:spcAft>
                <a:spcPts val="0"/>
              </a:spcAft>
              <a:buSzPts val="1734"/>
              <a:buChar char="⚫"/>
            </a:pPr>
            <a:r>
              <a:rPr lang="en-US" sz="2040"/>
              <a:t>Trong ra ngoài (Inside-Out)</a:t>
            </a:r>
            <a:endParaRPr/>
          </a:p>
          <a:p>
            <a:pPr indent="-246888" lvl="1" marL="640080" rtl="0" algn="l">
              <a:lnSpc>
                <a:spcPct val="100000"/>
              </a:lnSpc>
              <a:spcBef>
                <a:spcPts val="408"/>
              </a:spcBef>
              <a:spcAft>
                <a:spcPts val="0"/>
              </a:spcAft>
              <a:buSzPts val="1734"/>
              <a:buChar char="⚫"/>
            </a:pPr>
            <a:r>
              <a:rPr lang="en-US" sz="2040"/>
              <a:t>Nhóm các phần tử có hoạt động cộng tác chặt chẽ và cần được thực thi trong cùng luồng điều khiển</a:t>
            </a:r>
            <a:endParaRPr/>
          </a:p>
          <a:p>
            <a:pPr indent="-246888" lvl="1" marL="640080" rtl="0" algn="l">
              <a:lnSpc>
                <a:spcPct val="100000"/>
              </a:lnSpc>
              <a:spcBef>
                <a:spcPts val="408"/>
              </a:spcBef>
              <a:spcAft>
                <a:spcPts val="0"/>
              </a:spcAft>
              <a:buSzPts val="1734"/>
              <a:buChar char="⚫"/>
            </a:pPr>
            <a:r>
              <a:rPr lang="en-US" sz="2040"/>
              <a:t>Tách biệt các phần tử không có tương tác với nhau</a:t>
            </a:r>
            <a:endParaRPr/>
          </a:p>
          <a:p>
            <a:pPr indent="-246888" lvl="1" marL="640080" rtl="0" algn="l">
              <a:lnSpc>
                <a:spcPct val="100000"/>
              </a:lnSpc>
              <a:spcBef>
                <a:spcPts val="408"/>
              </a:spcBef>
              <a:spcAft>
                <a:spcPts val="0"/>
              </a:spcAft>
              <a:buSzPts val="1734"/>
              <a:buChar char="⚫"/>
            </a:pPr>
            <a:r>
              <a:rPr lang="en-US" sz="2040"/>
              <a:t>Lặp lại cho tới khi đạt được số lượng tối thiểu các tiến trình mà vẫn đảm bảo được sự phân tán được yêu cầu và sự hiệu quả trong sử dụng tài nguyên</a:t>
            </a:r>
            <a:endParaRPr/>
          </a:p>
          <a:p>
            <a:pPr indent="-274320" lvl="0" marL="274320" rtl="0" algn="l">
              <a:lnSpc>
                <a:spcPct val="100000"/>
              </a:lnSpc>
              <a:spcBef>
                <a:spcPts val="442"/>
              </a:spcBef>
              <a:spcAft>
                <a:spcPts val="0"/>
              </a:spcAft>
              <a:buSzPts val="2100"/>
              <a:buChar char="⚫"/>
            </a:pPr>
            <a:r>
              <a:rPr lang="en-US" sz="2210"/>
              <a:t>Từ ngoài vào trong (Outside-In)</a:t>
            </a:r>
            <a:endParaRPr/>
          </a:p>
          <a:p>
            <a:pPr indent="-246888" lvl="1" marL="640080" rtl="0" algn="l">
              <a:lnSpc>
                <a:spcPct val="100000"/>
              </a:lnSpc>
              <a:spcBef>
                <a:spcPts val="408"/>
              </a:spcBef>
              <a:spcAft>
                <a:spcPts val="0"/>
              </a:spcAft>
              <a:buSzPts val="1734"/>
              <a:buChar char="⚫"/>
            </a:pPr>
            <a:r>
              <a:rPr lang="en-US" sz="2040"/>
              <a:t>Xác định các luồng điều khiển tách biệt cho mỗi  sự kích thích ngoại vi/bên ngoài</a:t>
            </a:r>
            <a:endParaRPr/>
          </a:p>
          <a:p>
            <a:pPr indent="-246888" lvl="1" marL="640080" rtl="0" algn="l">
              <a:lnSpc>
                <a:spcPct val="100000"/>
              </a:lnSpc>
              <a:spcBef>
                <a:spcPts val="408"/>
              </a:spcBef>
              <a:spcAft>
                <a:spcPts val="0"/>
              </a:spcAft>
              <a:buSzPts val="1734"/>
              <a:buChar char="⚫"/>
            </a:pPr>
            <a:r>
              <a:rPr lang="en-US" sz="2040"/>
              <a:t>Xác định luồng phục vụ  (server thread) tách biệt cho từng dịch vụ</a:t>
            </a:r>
            <a:endParaRPr/>
          </a:p>
          <a:p>
            <a:pPr indent="-246888" lvl="1" marL="640080" rtl="0" algn="l">
              <a:lnSpc>
                <a:spcPct val="100000"/>
              </a:lnSpc>
              <a:spcBef>
                <a:spcPts val="408"/>
              </a:spcBef>
              <a:spcAft>
                <a:spcPts val="0"/>
              </a:spcAft>
              <a:buSzPts val="1734"/>
              <a:buChar char="⚫"/>
            </a:pPr>
            <a:r>
              <a:rPr lang="en-US" sz="2040"/>
              <a:t>Giảm số luồng tới mức có thể được hỗ trợ bởi hệ thống</a:t>
            </a:r>
            <a:endParaRPr/>
          </a:p>
          <a:p>
            <a:pPr indent="-136779" lvl="1" marL="640080" rtl="0" algn="l">
              <a:lnSpc>
                <a:spcPct val="90000"/>
              </a:lnSpc>
              <a:spcBef>
                <a:spcPts val="408"/>
              </a:spcBef>
              <a:spcAft>
                <a:spcPts val="0"/>
              </a:spcAft>
              <a:buSzPts val="1734"/>
              <a:buNone/>
            </a:pPr>
            <a:r>
              <a:t/>
            </a:r>
            <a:endParaRPr sz="2040"/>
          </a:p>
          <a:p>
            <a:pPr indent="-141001" lvl="0" marL="274320" rtl="0" algn="l">
              <a:lnSpc>
                <a:spcPct val="90000"/>
              </a:lnSpc>
              <a:spcBef>
                <a:spcPts val="442"/>
              </a:spcBef>
              <a:spcAft>
                <a:spcPts val="0"/>
              </a:spcAft>
              <a:buSzPts val="2100"/>
              <a:buNone/>
            </a:pPr>
            <a:r>
              <a:t/>
            </a:r>
            <a:endParaRPr sz="2210"/>
          </a:p>
        </p:txBody>
      </p:sp>
      <p:sp>
        <p:nvSpPr>
          <p:cNvPr id="616" name="Google Shape;616;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2"/>
          <p:cNvSpPr txBox="1"/>
          <p:nvPr>
            <p:ph type="title"/>
          </p:nvPr>
        </p:nvSpPr>
        <p:spPr>
          <a:xfrm>
            <a:off x="457200" y="704088"/>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Mô hình hóa việc ánh xạ phần tử vào Tiến trình</a:t>
            </a:r>
            <a:endParaRPr sz="3240"/>
          </a:p>
        </p:txBody>
      </p:sp>
      <p:sp>
        <p:nvSpPr>
          <p:cNvPr id="622" name="Google Shape;622;p32"/>
          <p:cNvSpPr txBox="1"/>
          <p:nvPr>
            <p:ph idx="1" type="body"/>
          </p:nvPr>
        </p:nvSpPr>
        <p:spPr>
          <a:xfrm>
            <a:off x="457200" y="1295400"/>
            <a:ext cx="8229600" cy="5029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850"/>
              <a:buChar char="⚫"/>
            </a:pPr>
            <a:r>
              <a:rPr lang="en-US" sz="3000"/>
              <a:t>Lược đồ lớp</a:t>
            </a:r>
            <a:endParaRPr/>
          </a:p>
          <a:p>
            <a:pPr indent="-246888" lvl="1" marL="640080" rtl="0" algn="l">
              <a:spcBef>
                <a:spcPts val="520"/>
              </a:spcBef>
              <a:spcAft>
                <a:spcPts val="0"/>
              </a:spcAft>
              <a:buSzPts val="2210"/>
              <a:buChar char="⚫"/>
            </a:pPr>
            <a:r>
              <a:rPr lang="en-US" sz="2600"/>
              <a:t>Các lớp tích cực (Active classes) đóng vai trò như các tiến trình (processes)</a:t>
            </a:r>
            <a:endParaRPr/>
          </a:p>
          <a:p>
            <a:pPr indent="-106553" lvl="1" marL="640080" rtl="0" algn="l">
              <a:spcBef>
                <a:spcPts val="520"/>
              </a:spcBef>
              <a:spcAft>
                <a:spcPts val="0"/>
              </a:spcAft>
              <a:buSzPts val="2210"/>
              <a:buNone/>
            </a:pPr>
            <a:r>
              <a:t/>
            </a:r>
            <a:endParaRPr sz="2600"/>
          </a:p>
          <a:p>
            <a:pPr indent="-106553" lvl="1" marL="640080" rtl="0" algn="l">
              <a:spcBef>
                <a:spcPts val="520"/>
              </a:spcBef>
              <a:spcAft>
                <a:spcPts val="0"/>
              </a:spcAft>
              <a:buSzPts val="2210"/>
              <a:buNone/>
            </a:pPr>
            <a:r>
              <a:t/>
            </a:r>
            <a:endParaRPr sz="2600"/>
          </a:p>
          <a:p>
            <a:pPr indent="-246888" lvl="1" marL="640080" rtl="0" algn="l">
              <a:spcBef>
                <a:spcPts val="520"/>
              </a:spcBef>
              <a:spcAft>
                <a:spcPts val="0"/>
              </a:spcAft>
              <a:buSzPts val="2210"/>
              <a:buChar char="⚫"/>
            </a:pPr>
            <a:r>
              <a:rPr lang="en-US" sz="2600"/>
              <a:t>Quan hệ Composition từ tiến trình tới lớp</a:t>
            </a:r>
            <a:endParaRPr sz="2600"/>
          </a:p>
          <a:p>
            <a:pPr indent="-106553" lvl="1" marL="640080" rtl="0" algn="l">
              <a:spcBef>
                <a:spcPts val="520"/>
              </a:spcBef>
              <a:spcAft>
                <a:spcPts val="0"/>
              </a:spcAft>
              <a:buSzPts val="2210"/>
              <a:buNone/>
            </a:pPr>
            <a:r>
              <a:t/>
            </a:r>
            <a:endParaRPr sz="2600"/>
          </a:p>
          <a:p>
            <a:pPr indent="-106553" lvl="1" marL="640080" rtl="0" algn="l">
              <a:spcBef>
                <a:spcPts val="520"/>
              </a:spcBef>
              <a:spcAft>
                <a:spcPts val="0"/>
              </a:spcAft>
              <a:buSzPts val="2210"/>
              <a:buNone/>
            </a:pPr>
            <a:r>
              <a:t/>
            </a:r>
            <a:endParaRPr sz="2600"/>
          </a:p>
          <a:p>
            <a:pPr indent="-246888" lvl="1" marL="640080" rtl="0" algn="l">
              <a:spcBef>
                <a:spcPts val="520"/>
              </a:spcBef>
              <a:spcAft>
                <a:spcPts val="0"/>
              </a:spcAft>
              <a:buSzPts val="2210"/>
              <a:buChar char="⚫"/>
            </a:pPr>
            <a:r>
              <a:rPr lang="en-US" sz="2600"/>
              <a:t>Quan hệ Composition từ tiến trình tới  hệ thống con</a:t>
            </a:r>
            <a:endParaRPr/>
          </a:p>
          <a:p>
            <a:pPr indent="-117475" lvl="0" marL="274320" rtl="0" algn="l">
              <a:spcBef>
                <a:spcPts val="520"/>
              </a:spcBef>
              <a:spcAft>
                <a:spcPts val="0"/>
              </a:spcAft>
              <a:buSzPts val="2470"/>
              <a:buNone/>
            </a:pPr>
            <a:r>
              <a:t/>
            </a:r>
            <a:endParaRPr/>
          </a:p>
        </p:txBody>
      </p:sp>
      <p:sp>
        <p:nvSpPr>
          <p:cNvPr id="623" name="Google Shape;623;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624" name="Google Shape;624;p32"/>
          <p:cNvGrpSpPr/>
          <p:nvPr/>
        </p:nvGrpSpPr>
        <p:grpSpPr>
          <a:xfrm>
            <a:off x="2057400" y="2895600"/>
            <a:ext cx="4508500" cy="647700"/>
            <a:chOff x="2159000" y="2057400"/>
            <a:chExt cx="4508500" cy="647700"/>
          </a:xfrm>
        </p:grpSpPr>
        <p:sp>
          <p:nvSpPr>
            <p:cNvPr id="625" name="Google Shape;625;p32"/>
            <p:cNvSpPr/>
            <p:nvPr/>
          </p:nvSpPr>
          <p:spPr>
            <a:xfrm>
              <a:off x="2159000" y="2057400"/>
              <a:ext cx="1917700" cy="6477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26" name="Google Shape;626;p32"/>
            <p:cNvSpPr/>
            <p:nvPr/>
          </p:nvSpPr>
          <p:spPr>
            <a:xfrm>
              <a:off x="2451100" y="2311400"/>
              <a:ext cx="1331913"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Process Name</a:t>
              </a:r>
              <a:endParaRPr sz="1800">
                <a:solidFill>
                  <a:schemeClr val="dk1"/>
                </a:solidFill>
                <a:latin typeface="Constantia"/>
                <a:ea typeface="Constantia"/>
                <a:cs typeface="Constantia"/>
                <a:sym typeface="Constantia"/>
              </a:endParaRPr>
            </a:p>
          </p:txBody>
        </p:sp>
        <p:sp>
          <p:nvSpPr>
            <p:cNvPr id="627" name="Google Shape;627;p32"/>
            <p:cNvSpPr/>
            <p:nvPr/>
          </p:nvSpPr>
          <p:spPr>
            <a:xfrm>
              <a:off x="2524125" y="2060575"/>
              <a:ext cx="118745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&lt;&lt;process&gt;&gt;</a:t>
              </a:r>
              <a:endParaRPr sz="1800">
                <a:solidFill>
                  <a:schemeClr val="dk1"/>
                </a:solidFill>
                <a:latin typeface="Constantia"/>
                <a:ea typeface="Constantia"/>
                <a:cs typeface="Constantia"/>
                <a:sym typeface="Constantia"/>
              </a:endParaRPr>
            </a:p>
          </p:txBody>
        </p:sp>
        <p:sp>
          <p:nvSpPr>
            <p:cNvPr id="628" name="Google Shape;628;p32"/>
            <p:cNvSpPr/>
            <p:nvPr/>
          </p:nvSpPr>
          <p:spPr>
            <a:xfrm>
              <a:off x="4749800" y="2057400"/>
              <a:ext cx="1917700" cy="647700"/>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29" name="Google Shape;629;p32"/>
            <p:cNvSpPr/>
            <p:nvPr/>
          </p:nvSpPr>
          <p:spPr>
            <a:xfrm>
              <a:off x="5041900" y="2311400"/>
              <a:ext cx="124142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Thread Name</a:t>
              </a:r>
              <a:endParaRPr sz="1800">
                <a:solidFill>
                  <a:schemeClr val="dk1"/>
                </a:solidFill>
                <a:latin typeface="Constantia"/>
                <a:ea typeface="Constantia"/>
                <a:cs typeface="Constantia"/>
                <a:sym typeface="Constantia"/>
              </a:endParaRPr>
            </a:p>
          </p:txBody>
        </p:sp>
        <p:sp>
          <p:nvSpPr>
            <p:cNvPr id="630" name="Google Shape;630;p32"/>
            <p:cNvSpPr/>
            <p:nvPr/>
          </p:nvSpPr>
          <p:spPr>
            <a:xfrm>
              <a:off x="5114925" y="2060575"/>
              <a:ext cx="1052513"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&lt;&lt;thread&gt;&gt;</a:t>
              </a:r>
              <a:endParaRPr sz="1800">
                <a:solidFill>
                  <a:schemeClr val="dk1"/>
                </a:solidFill>
                <a:latin typeface="Constantia"/>
                <a:ea typeface="Constantia"/>
                <a:cs typeface="Constantia"/>
                <a:sym typeface="Constantia"/>
              </a:endParaRPr>
            </a:p>
          </p:txBody>
        </p:sp>
      </p:grpSp>
      <p:grpSp>
        <p:nvGrpSpPr>
          <p:cNvPr id="631" name="Google Shape;631;p32"/>
          <p:cNvGrpSpPr/>
          <p:nvPr/>
        </p:nvGrpSpPr>
        <p:grpSpPr>
          <a:xfrm>
            <a:off x="2209800" y="4343400"/>
            <a:ext cx="4768850" cy="657225"/>
            <a:chOff x="2184400" y="3800475"/>
            <a:chExt cx="4768850" cy="657225"/>
          </a:xfrm>
        </p:grpSpPr>
        <p:sp>
          <p:nvSpPr>
            <p:cNvPr id="632" name="Google Shape;632;p32"/>
            <p:cNvSpPr/>
            <p:nvPr/>
          </p:nvSpPr>
          <p:spPr>
            <a:xfrm rot="-7033260">
              <a:off x="4184650" y="4002088"/>
              <a:ext cx="134937" cy="236538"/>
            </a:xfrm>
            <a:custGeom>
              <a:rect b="b" l="l" r="r" t="t"/>
              <a:pathLst>
                <a:path extrusionOk="0" h="149" w="85">
                  <a:moveTo>
                    <a:pt x="85" y="0"/>
                  </a:moveTo>
                  <a:lnTo>
                    <a:pt x="85" y="96"/>
                  </a:lnTo>
                  <a:lnTo>
                    <a:pt x="0" y="149"/>
                  </a:lnTo>
                  <a:lnTo>
                    <a:pt x="0" y="53"/>
                  </a:lnTo>
                  <a:lnTo>
                    <a:pt x="85" y="0"/>
                  </a:lnTo>
                  <a:close/>
                </a:path>
              </a:pathLst>
            </a:custGeom>
            <a:solidFill>
              <a:srgbClr val="969696"/>
            </a:solidFill>
            <a:ln cap="flat" cmpd="sng" w="19050">
              <a:solidFill>
                <a:srgbClr val="990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33" name="Google Shape;633;p32"/>
            <p:cNvCxnSpPr/>
            <p:nvPr/>
          </p:nvCxnSpPr>
          <p:spPr>
            <a:xfrm flipH="1" rot="-7033260">
              <a:off x="4529931" y="3844132"/>
              <a:ext cx="287337" cy="565150"/>
            </a:xfrm>
            <a:prstGeom prst="straightConnector1">
              <a:avLst/>
            </a:prstGeom>
            <a:noFill/>
            <a:ln cap="flat" cmpd="sng" w="19050">
              <a:solidFill>
                <a:srgbClr val="990033"/>
              </a:solidFill>
              <a:prstDash val="solid"/>
              <a:round/>
              <a:headEnd len="med" w="med" type="none"/>
              <a:tailEnd len="med" w="med" type="none"/>
            </a:ln>
          </p:spPr>
        </p:cxnSp>
        <p:sp>
          <p:nvSpPr>
            <p:cNvPr id="634" name="Google Shape;634;p32"/>
            <p:cNvSpPr/>
            <p:nvPr/>
          </p:nvSpPr>
          <p:spPr>
            <a:xfrm>
              <a:off x="4991100" y="3810000"/>
              <a:ext cx="1962150" cy="614363"/>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35" name="Google Shape;635;p32"/>
            <p:cNvSpPr/>
            <p:nvPr/>
          </p:nvSpPr>
          <p:spPr>
            <a:xfrm>
              <a:off x="5419725" y="3990975"/>
              <a:ext cx="110490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Class Name</a:t>
              </a:r>
              <a:endParaRPr sz="1800">
                <a:solidFill>
                  <a:schemeClr val="dk1"/>
                </a:solidFill>
                <a:latin typeface="Constantia"/>
                <a:ea typeface="Constantia"/>
                <a:cs typeface="Constantia"/>
                <a:sym typeface="Constantia"/>
              </a:endParaRPr>
            </a:p>
          </p:txBody>
        </p:sp>
        <p:sp>
          <p:nvSpPr>
            <p:cNvPr id="636" name="Google Shape;636;p32"/>
            <p:cNvSpPr/>
            <p:nvPr/>
          </p:nvSpPr>
          <p:spPr>
            <a:xfrm>
              <a:off x="2184400" y="3810000"/>
              <a:ext cx="1917700" cy="6477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37" name="Google Shape;637;p32"/>
            <p:cNvSpPr/>
            <p:nvPr/>
          </p:nvSpPr>
          <p:spPr>
            <a:xfrm>
              <a:off x="2476500" y="4051300"/>
              <a:ext cx="1331913"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Process Name</a:t>
              </a:r>
              <a:endParaRPr sz="1800">
                <a:solidFill>
                  <a:schemeClr val="dk1"/>
                </a:solidFill>
                <a:latin typeface="Constantia"/>
                <a:ea typeface="Constantia"/>
                <a:cs typeface="Constantia"/>
                <a:sym typeface="Constantia"/>
              </a:endParaRPr>
            </a:p>
          </p:txBody>
        </p:sp>
        <p:sp>
          <p:nvSpPr>
            <p:cNvPr id="638" name="Google Shape;638;p32"/>
            <p:cNvSpPr/>
            <p:nvPr/>
          </p:nvSpPr>
          <p:spPr>
            <a:xfrm>
              <a:off x="2549525" y="3800475"/>
              <a:ext cx="118745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&lt;&lt;process&gt;&gt;</a:t>
              </a:r>
              <a:endParaRPr sz="1800">
                <a:solidFill>
                  <a:schemeClr val="dk1"/>
                </a:solidFill>
                <a:latin typeface="Constantia"/>
                <a:ea typeface="Constantia"/>
                <a:cs typeface="Constantia"/>
                <a:sym typeface="Constantia"/>
              </a:endParaRPr>
            </a:p>
          </p:txBody>
        </p:sp>
      </p:grpSp>
      <p:grpSp>
        <p:nvGrpSpPr>
          <p:cNvPr id="639" name="Google Shape;639;p32"/>
          <p:cNvGrpSpPr/>
          <p:nvPr/>
        </p:nvGrpSpPr>
        <p:grpSpPr>
          <a:xfrm>
            <a:off x="533400" y="5867400"/>
            <a:ext cx="8313738" cy="669925"/>
            <a:chOff x="460375" y="5476875"/>
            <a:chExt cx="8313738" cy="669925"/>
          </a:xfrm>
        </p:grpSpPr>
        <p:sp>
          <p:nvSpPr>
            <p:cNvPr id="640" name="Google Shape;640;p32"/>
            <p:cNvSpPr/>
            <p:nvPr/>
          </p:nvSpPr>
          <p:spPr>
            <a:xfrm rot="-7033260">
              <a:off x="2460625" y="5678488"/>
              <a:ext cx="134937" cy="236538"/>
            </a:xfrm>
            <a:custGeom>
              <a:rect b="b" l="l" r="r" t="t"/>
              <a:pathLst>
                <a:path extrusionOk="0" h="149" w="85">
                  <a:moveTo>
                    <a:pt x="85" y="0"/>
                  </a:moveTo>
                  <a:lnTo>
                    <a:pt x="85" y="96"/>
                  </a:lnTo>
                  <a:lnTo>
                    <a:pt x="0" y="149"/>
                  </a:lnTo>
                  <a:lnTo>
                    <a:pt x="0" y="53"/>
                  </a:lnTo>
                  <a:lnTo>
                    <a:pt x="85" y="0"/>
                  </a:lnTo>
                  <a:close/>
                </a:path>
              </a:pathLst>
            </a:custGeom>
            <a:solidFill>
              <a:srgbClr val="969696"/>
            </a:solidFill>
            <a:ln cap="flat" cmpd="sng" w="19050">
              <a:solidFill>
                <a:srgbClr val="990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41" name="Google Shape;641;p32"/>
            <p:cNvCxnSpPr/>
            <p:nvPr/>
          </p:nvCxnSpPr>
          <p:spPr>
            <a:xfrm flipH="1" rot="-7033260">
              <a:off x="2805906" y="5520532"/>
              <a:ext cx="287337" cy="565150"/>
            </a:xfrm>
            <a:prstGeom prst="straightConnector1">
              <a:avLst/>
            </a:prstGeom>
            <a:noFill/>
            <a:ln cap="flat" cmpd="sng" w="19050">
              <a:solidFill>
                <a:srgbClr val="990033"/>
              </a:solidFill>
              <a:prstDash val="solid"/>
              <a:round/>
              <a:headEnd len="med" w="med" type="none"/>
              <a:tailEnd len="med" w="med" type="none"/>
            </a:ln>
          </p:spPr>
        </p:cxnSp>
        <p:sp>
          <p:nvSpPr>
            <p:cNvPr id="642" name="Google Shape;642;p32"/>
            <p:cNvSpPr/>
            <p:nvPr/>
          </p:nvSpPr>
          <p:spPr>
            <a:xfrm>
              <a:off x="3276600" y="5486400"/>
              <a:ext cx="2133600" cy="660400"/>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43" name="Google Shape;643;p32"/>
            <p:cNvSpPr/>
            <p:nvPr/>
          </p:nvSpPr>
          <p:spPr>
            <a:xfrm>
              <a:off x="3255963" y="5489575"/>
              <a:ext cx="2205037" cy="488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&lt;&lt;subsystem proxy&gt;&gt;</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Subsystem Name</a:t>
              </a:r>
              <a:endParaRPr sz="1800">
                <a:solidFill>
                  <a:schemeClr val="dk1"/>
                </a:solidFill>
                <a:latin typeface="Constantia"/>
                <a:ea typeface="Constantia"/>
                <a:cs typeface="Constantia"/>
                <a:sym typeface="Constantia"/>
              </a:endParaRPr>
            </a:p>
          </p:txBody>
        </p:sp>
        <p:sp>
          <p:nvSpPr>
            <p:cNvPr id="644" name="Google Shape;644;p32"/>
            <p:cNvSpPr/>
            <p:nvPr/>
          </p:nvSpPr>
          <p:spPr>
            <a:xfrm>
              <a:off x="460375" y="5486400"/>
              <a:ext cx="1917700" cy="6477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45" name="Google Shape;645;p32"/>
            <p:cNvSpPr/>
            <p:nvPr/>
          </p:nvSpPr>
          <p:spPr>
            <a:xfrm>
              <a:off x="752475" y="5727700"/>
              <a:ext cx="1331913"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Process Name</a:t>
              </a:r>
              <a:endParaRPr sz="1800">
                <a:solidFill>
                  <a:schemeClr val="dk1"/>
                </a:solidFill>
                <a:latin typeface="Constantia"/>
                <a:ea typeface="Constantia"/>
                <a:cs typeface="Constantia"/>
                <a:sym typeface="Constantia"/>
              </a:endParaRPr>
            </a:p>
          </p:txBody>
        </p:sp>
        <p:sp>
          <p:nvSpPr>
            <p:cNvPr id="646" name="Google Shape;646;p32"/>
            <p:cNvSpPr/>
            <p:nvPr/>
          </p:nvSpPr>
          <p:spPr>
            <a:xfrm>
              <a:off x="825500" y="5476875"/>
              <a:ext cx="118745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&lt;&lt;process&gt;&gt;</a:t>
              </a:r>
              <a:endParaRPr sz="1800">
                <a:solidFill>
                  <a:schemeClr val="dk1"/>
                </a:solidFill>
                <a:latin typeface="Constantia"/>
                <a:ea typeface="Constantia"/>
                <a:cs typeface="Constantia"/>
                <a:sym typeface="Constantia"/>
              </a:endParaRPr>
            </a:p>
          </p:txBody>
        </p:sp>
        <p:sp>
          <p:nvSpPr>
            <p:cNvPr id="647" name="Google Shape;647;p32"/>
            <p:cNvSpPr txBox="1"/>
            <p:nvPr/>
          </p:nvSpPr>
          <p:spPr>
            <a:xfrm>
              <a:off x="5257800" y="5664200"/>
              <a:ext cx="990600" cy="336550"/>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b="1" lang="en-US" sz="1500">
                  <a:solidFill>
                    <a:schemeClr val="dk1"/>
                  </a:solidFill>
                  <a:latin typeface="Constantia"/>
                  <a:ea typeface="Constantia"/>
                  <a:cs typeface="Constantia"/>
                  <a:sym typeface="Constantia"/>
                </a:rPr>
                <a:t>OR</a:t>
              </a:r>
              <a:endParaRPr/>
            </a:p>
          </p:txBody>
        </p:sp>
        <p:sp>
          <p:nvSpPr>
            <p:cNvPr id="648" name="Google Shape;648;p32"/>
            <p:cNvSpPr/>
            <p:nvPr/>
          </p:nvSpPr>
          <p:spPr>
            <a:xfrm>
              <a:off x="6096000" y="5486400"/>
              <a:ext cx="2678113" cy="657225"/>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49" name="Google Shape;649;p32"/>
            <p:cNvSpPr/>
            <p:nvPr/>
          </p:nvSpPr>
          <p:spPr>
            <a:xfrm>
              <a:off x="6251575" y="5489575"/>
              <a:ext cx="2452688" cy="488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&lt;&lt;interface&gt;&gt;</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Subsystem Interface Name</a:t>
              </a:r>
              <a:endParaRPr sz="1800">
                <a:solidFill>
                  <a:schemeClr val="dk1"/>
                </a:solidFill>
                <a:latin typeface="Constantia"/>
                <a:ea typeface="Constantia"/>
                <a:cs typeface="Constantia"/>
                <a:sym typeface="Constantia"/>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3"/>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Các quan hệ của tiến trình</a:t>
            </a:r>
            <a:endParaRPr sz="4500"/>
          </a:p>
        </p:txBody>
      </p:sp>
      <p:sp>
        <p:nvSpPr>
          <p:cNvPr id="655" name="Google Shape;655;p3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quan hệ tiến trình cần hỗ trợ quan hệ giữa các lớp</a:t>
            </a:r>
            <a:endParaRPr/>
          </a:p>
          <a:p>
            <a:pPr indent="-117475" lvl="0" marL="274320" rtl="0" algn="l">
              <a:spcBef>
                <a:spcPts val="520"/>
              </a:spcBef>
              <a:spcAft>
                <a:spcPts val="0"/>
              </a:spcAft>
              <a:buSzPts val="2470"/>
              <a:buNone/>
            </a:pPr>
            <a:r>
              <a:t/>
            </a:r>
            <a:endParaRPr/>
          </a:p>
        </p:txBody>
      </p:sp>
      <p:sp>
        <p:nvSpPr>
          <p:cNvPr id="656" name="Google Shape;656;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657" name="Google Shape;657;p33"/>
          <p:cNvGrpSpPr/>
          <p:nvPr/>
        </p:nvGrpSpPr>
        <p:grpSpPr>
          <a:xfrm>
            <a:off x="1828800" y="2819400"/>
            <a:ext cx="5473700" cy="2933700"/>
            <a:chOff x="1739900" y="2565400"/>
            <a:chExt cx="5473700" cy="2933700"/>
          </a:xfrm>
        </p:grpSpPr>
        <p:sp>
          <p:nvSpPr>
            <p:cNvPr id="658" name="Google Shape;658;p33"/>
            <p:cNvSpPr/>
            <p:nvPr/>
          </p:nvSpPr>
          <p:spPr>
            <a:xfrm rot="-7033260">
              <a:off x="4425950" y="2846388"/>
              <a:ext cx="134937" cy="236538"/>
            </a:xfrm>
            <a:custGeom>
              <a:rect b="b" l="l" r="r" t="t"/>
              <a:pathLst>
                <a:path extrusionOk="0" h="149" w="85">
                  <a:moveTo>
                    <a:pt x="85" y="0"/>
                  </a:moveTo>
                  <a:lnTo>
                    <a:pt x="85" y="96"/>
                  </a:lnTo>
                  <a:lnTo>
                    <a:pt x="0" y="149"/>
                  </a:lnTo>
                  <a:lnTo>
                    <a:pt x="0" y="53"/>
                  </a:lnTo>
                  <a:lnTo>
                    <a:pt x="85" y="0"/>
                  </a:lnTo>
                  <a:close/>
                </a:path>
              </a:pathLst>
            </a:custGeom>
            <a:solidFill>
              <a:srgbClr val="969696"/>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59" name="Google Shape;659;p33"/>
            <p:cNvCxnSpPr/>
            <p:nvPr/>
          </p:nvCxnSpPr>
          <p:spPr>
            <a:xfrm flipH="1" rot="-7033260">
              <a:off x="4783931" y="2688432"/>
              <a:ext cx="287337" cy="565150"/>
            </a:xfrm>
            <a:prstGeom prst="straightConnector1">
              <a:avLst/>
            </a:prstGeom>
            <a:noFill/>
            <a:ln cap="flat" cmpd="sng" w="12700">
              <a:solidFill>
                <a:schemeClr val="dk1"/>
              </a:solidFill>
              <a:prstDash val="solid"/>
              <a:round/>
              <a:headEnd len="med" w="med" type="none"/>
              <a:tailEnd len="med" w="med" type="none"/>
            </a:ln>
          </p:spPr>
        </p:cxnSp>
        <p:sp>
          <p:nvSpPr>
            <p:cNvPr id="660" name="Google Shape;660;p33"/>
            <p:cNvSpPr/>
            <p:nvPr/>
          </p:nvSpPr>
          <p:spPr>
            <a:xfrm>
              <a:off x="5219700" y="2667000"/>
              <a:ext cx="1962150" cy="60642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61" name="Google Shape;661;p33"/>
            <p:cNvSpPr/>
            <p:nvPr/>
          </p:nvSpPr>
          <p:spPr>
            <a:xfrm>
              <a:off x="5880100" y="2847975"/>
              <a:ext cx="641350" cy="244475"/>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ClassB</a:t>
              </a:r>
              <a:endParaRPr sz="1800">
                <a:solidFill>
                  <a:schemeClr val="dk1"/>
                </a:solidFill>
                <a:latin typeface="Constantia"/>
                <a:ea typeface="Constantia"/>
                <a:cs typeface="Constantia"/>
                <a:sym typeface="Constantia"/>
              </a:endParaRPr>
            </a:p>
          </p:txBody>
        </p:sp>
        <p:sp>
          <p:nvSpPr>
            <p:cNvPr id="662" name="Google Shape;662;p33"/>
            <p:cNvSpPr/>
            <p:nvPr/>
          </p:nvSpPr>
          <p:spPr>
            <a:xfrm>
              <a:off x="2413000" y="2565400"/>
              <a:ext cx="1917700" cy="800100"/>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63" name="Google Shape;663;p33"/>
            <p:cNvSpPr/>
            <p:nvPr/>
          </p:nvSpPr>
          <p:spPr>
            <a:xfrm>
              <a:off x="2908300" y="2832100"/>
              <a:ext cx="925513"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Process Y</a:t>
              </a:r>
              <a:endParaRPr sz="1800">
                <a:solidFill>
                  <a:schemeClr val="dk1"/>
                </a:solidFill>
                <a:latin typeface="Constantia"/>
                <a:ea typeface="Constantia"/>
                <a:cs typeface="Constantia"/>
                <a:sym typeface="Constantia"/>
              </a:endParaRPr>
            </a:p>
          </p:txBody>
        </p:sp>
        <p:sp>
          <p:nvSpPr>
            <p:cNvPr id="664" name="Google Shape;664;p33"/>
            <p:cNvSpPr/>
            <p:nvPr/>
          </p:nvSpPr>
          <p:spPr>
            <a:xfrm>
              <a:off x="2778125" y="2581275"/>
              <a:ext cx="118745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&lt;&lt;process&gt;&gt;</a:t>
              </a:r>
              <a:endParaRPr sz="1800">
                <a:solidFill>
                  <a:schemeClr val="dk1"/>
                </a:solidFill>
                <a:latin typeface="Constantia"/>
                <a:ea typeface="Constantia"/>
                <a:cs typeface="Constantia"/>
                <a:sym typeface="Constantia"/>
              </a:endParaRPr>
            </a:p>
          </p:txBody>
        </p:sp>
        <p:sp>
          <p:nvSpPr>
            <p:cNvPr id="665" name="Google Shape;665;p33"/>
            <p:cNvSpPr/>
            <p:nvPr/>
          </p:nvSpPr>
          <p:spPr>
            <a:xfrm rot="-7033260">
              <a:off x="3752850" y="5018088"/>
              <a:ext cx="134937" cy="236538"/>
            </a:xfrm>
            <a:custGeom>
              <a:rect b="b" l="l" r="r" t="t"/>
              <a:pathLst>
                <a:path extrusionOk="0" h="149" w="85">
                  <a:moveTo>
                    <a:pt x="85" y="0"/>
                  </a:moveTo>
                  <a:lnTo>
                    <a:pt x="85" y="96"/>
                  </a:lnTo>
                  <a:lnTo>
                    <a:pt x="0" y="149"/>
                  </a:lnTo>
                  <a:lnTo>
                    <a:pt x="0" y="53"/>
                  </a:lnTo>
                  <a:lnTo>
                    <a:pt x="85" y="0"/>
                  </a:lnTo>
                  <a:close/>
                </a:path>
              </a:pathLst>
            </a:custGeom>
            <a:solidFill>
              <a:srgbClr val="969696"/>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666" name="Google Shape;666;p33"/>
            <p:cNvCxnSpPr/>
            <p:nvPr/>
          </p:nvCxnSpPr>
          <p:spPr>
            <a:xfrm flipH="1" rot="-7033260">
              <a:off x="4136231" y="4860132"/>
              <a:ext cx="287337" cy="565150"/>
            </a:xfrm>
            <a:prstGeom prst="straightConnector1">
              <a:avLst/>
            </a:prstGeom>
            <a:noFill/>
            <a:ln cap="flat" cmpd="sng" w="12700">
              <a:solidFill>
                <a:schemeClr val="dk1"/>
              </a:solidFill>
              <a:prstDash val="solid"/>
              <a:round/>
              <a:headEnd len="med" w="med" type="none"/>
              <a:tailEnd len="med" w="med" type="none"/>
            </a:ln>
          </p:spPr>
        </p:cxnSp>
        <p:sp>
          <p:nvSpPr>
            <p:cNvPr id="667" name="Google Shape;667;p33"/>
            <p:cNvSpPr/>
            <p:nvPr/>
          </p:nvSpPr>
          <p:spPr>
            <a:xfrm>
              <a:off x="4546600" y="4851400"/>
              <a:ext cx="1962150" cy="60642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68" name="Google Shape;668;p33"/>
            <p:cNvSpPr/>
            <p:nvPr/>
          </p:nvSpPr>
          <p:spPr>
            <a:xfrm>
              <a:off x="5207000" y="5032375"/>
              <a:ext cx="641350" cy="244475"/>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ClassA</a:t>
              </a:r>
              <a:endParaRPr sz="1800">
                <a:solidFill>
                  <a:schemeClr val="dk1"/>
                </a:solidFill>
                <a:latin typeface="Constantia"/>
                <a:ea typeface="Constantia"/>
                <a:cs typeface="Constantia"/>
                <a:sym typeface="Constantia"/>
              </a:endParaRPr>
            </a:p>
          </p:txBody>
        </p:sp>
        <p:sp>
          <p:nvSpPr>
            <p:cNvPr id="669" name="Google Shape;669;p33"/>
            <p:cNvSpPr/>
            <p:nvPr/>
          </p:nvSpPr>
          <p:spPr>
            <a:xfrm>
              <a:off x="1739900" y="4699000"/>
              <a:ext cx="1917700" cy="800100"/>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70" name="Google Shape;670;p33"/>
            <p:cNvSpPr/>
            <p:nvPr/>
          </p:nvSpPr>
          <p:spPr>
            <a:xfrm>
              <a:off x="2263775" y="4978400"/>
              <a:ext cx="868363" cy="244475"/>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ProcessX</a:t>
              </a:r>
              <a:endParaRPr sz="1800">
                <a:solidFill>
                  <a:schemeClr val="dk1"/>
                </a:solidFill>
                <a:latin typeface="Constantia"/>
                <a:ea typeface="Constantia"/>
                <a:cs typeface="Constantia"/>
                <a:sym typeface="Constantia"/>
              </a:endParaRPr>
            </a:p>
          </p:txBody>
        </p:sp>
        <p:sp>
          <p:nvSpPr>
            <p:cNvPr id="671" name="Google Shape;671;p33"/>
            <p:cNvSpPr/>
            <p:nvPr/>
          </p:nvSpPr>
          <p:spPr>
            <a:xfrm>
              <a:off x="2105025" y="4727575"/>
              <a:ext cx="1187450" cy="244475"/>
            </a:xfrm>
            <a:prstGeom prst="rect">
              <a:avLst/>
            </a:prstGeom>
            <a:solidFill>
              <a:srgbClr val="FFFFCC"/>
            </a:solid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&lt;&lt;process&gt;&gt;</a:t>
              </a:r>
              <a:endParaRPr sz="1800">
                <a:solidFill>
                  <a:schemeClr val="dk1"/>
                </a:solidFill>
                <a:latin typeface="Constantia"/>
                <a:ea typeface="Constantia"/>
                <a:cs typeface="Constantia"/>
                <a:sym typeface="Constantia"/>
              </a:endParaRPr>
            </a:p>
          </p:txBody>
        </p:sp>
        <p:cxnSp>
          <p:nvCxnSpPr>
            <p:cNvPr id="672" name="Google Shape;672;p33"/>
            <p:cNvCxnSpPr/>
            <p:nvPr/>
          </p:nvCxnSpPr>
          <p:spPr>
            <a:xfrm flipH="1" rot="10800000">
              <a:off x="5308600" y="3340100"/>
              <a:ext cx="914400" cy="1511300"/>
            </a:xfrm>
            <a:prstGeom prst="straightConnector1">
              <a:avLst/>
            </a:prstGeom>
            <a:noFill/>
            <a:ln cap="flat" cmpd="sng" w="22225">
              <a:solidFill>
                <a:schemeClr val="dk1"/>
              </a:solidFill>
              <a:prstDash val="solid"/>
              <a:round/>
              <a:headEnd len="med" w="med" type="none"/>
              <a:tailEnd len="lg" w="lg" type="stealth"/>
            </a:ln>
          </p:spPr>
        </p:cxnSp>
        <p:sp>
          <p:nvSpPr>
            <p:cNvPr id="673" name="Google Shape;673;p33"/>
            <p:cNvSpPr txBox="1"/>
            <p:nvPr/>
          </p:nvSpPr>
          <p:spPr>
            <a:xfrm>
              <a:off x="6451600" y="3403600"/>
              <a:ext cx="762000" cy="32067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0..*</a:t>
              </a:r>
              <a:endParaRPr/>
            </a:p>
          </p:txBody>
        </p:sp>
        <p:sp>
          <p:nvSpPr>
            <p:cNvPr id="674" name="Google Shape;674;p33"/>
            <p:cNvSpPr txBox="1"/>
            <p:nvPr/>
          </p:nvSpPr>
          <p:spPr>
            <a:xfrm>
              <a:off x="5613400" y="4470400"/>
              <a:ext cx="762000" cy="320675"/>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400">
                  <a:solidFill>
                    <a:schemeClr val="dk1"/>
                  </a:solidFill>
                  <a:latin typeface="Constantia"/>
                  <a:ea typeface="Constantia"/>
                  <a:cs typeface="Constantia"/>
                  <a:sym typeface="Constantia"/>
                </a:rPr>
                <a:t>1</a:t>
              </a:r>
              <a:endParaRPr/>
            </a:p>
          </p:txBody>
        </p:sp>
        <p:cxnSp>
          <p:nvCxnSpPr>
            <p:cNvPr id="675" name="Google Shape;675;p33"/>
            <p:cNvCxnSpPr/>
            <p:nvPr/>
          </p:nvCxnSpPr>
          <p:spPr>
            <a:xfrm flipH="1" rot="10800000">
              <a:off x="2489200" y="3403600"/>
              <a:ext cx="787400" cy="1295400"/>
            </a:xfrm>
            <a:prstGeom prst="straightConnector1">
              <a:avLst/>
            </a:prstGeom>
            <a:noFill/>
            <a:ln cap="flat" cmpd="sng" w="28575">
              <a:solidFill>
                <a:schemeClr val="dk1"/>
              </a:solidFill>
              <a:prstDash val="lgDash"/>
              <a:round/>
              <a:headEnd len="med" w="med" type="none"/>
              <a:tailEnd len="lg" w="lg" type="stealth"/>
            </a:ln>
          </p:spPr>
        </p:cxnSp>
        <p:cxnSp>
          <p:nvCxnSpPr>
            <p:cNvPr id="676" name="Google Shape;676;p33"/>
            <p:cNvCxnSpPr/>
            <p:nvPr/>
          </p:nvCxnSpPr>
          <p:spPr>
            <a:xfrm>
              <a:off x="3111500" y="3937000"/>
              <a:ext cx="2438400" cy="0"/>
            </a:xfrm>
            <a:prstGeom prst="straightConnector1">
              <a:avLst/>
            </a:prstGeom>
            <a:noFill/>
            <a:ln cap="flat" cmpd="sng" w="38100">
              <a:solidFill>
                <a:schemeClr val="hlink"/>
              </a:solidFill>
              <a:prstDash val="solid"/>
              <a:round/>
              <a:headEnd len="med" w="med" type="none"/>
              <a:tailEnd len="med" w="med" type="triangle"/>
            </a:ln>
          </p:spPr>
        </p:cxnSp>
        <p:sp>
          <p:nvSpPr>
            <p:cNvPr id="677" name="Google Shape;677;p33"/>
            <p:cNvSpPr txBox="1"/>
            <p:nvPr/>
          </p:nvSpPr>
          <p:spPr>
            <a:xfrm>
              <a:off x="3721100" y="4013200"/>
              <a:ext cx="1295400" cy="382588"/>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i="1" lang="en-US" sz="1800">
                  <a:solidFill>
                    <a:srgbClr val="00CCFF"/>
                  </a:solidFill>
                  <a:latin typeface="Constantia"/>
                  <a:ea typeface="Constantia"/>
                  <a:cs typeface="Constantia"/>
                  <a:sym typeface="Constantia"/>
                </a:rPr>
                <a:t>supports</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34"/>
          <p:cNvSpPr txBox="1"/>
          <p:nvPr>
            <p:ph type="title"/>
          </p:nvPr>
        </p:nvSpPr>
        <p:spPr>
          <a:xfrm>
            <a:off x="457200" y="704088"/>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40"/>
              <a:buFont typeface="Calibri"/>
              <a:buNone/>
            </a:pPr>
            <a:r>
              <a:rPr lang="en-US" sz="3240"/>
              <a:t>Ví dụ: Các tiến trình của Đăng ký môn học (Register for Course)</a:t>
            </a:r>
            <a:endParaRPr sz="3240"/>
          </a:p>
        </p:txBody>
      </p:sp>
      <p:sp>
        <p:nvSpPr>
          <p:cNvPr id="683" name="Google Shape;683;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684" name="Google Shape;684;p34"/>
          <p:cNvGrpSpPr/>
          <p:nvPr/>
        </p:nvGrpSpPr>
        <p:grpSpPr>
          <a:xfrm>
            <a:off x="381000" y="1676400"/>
            <a:ext cx="7315200" cy="4267200"/>
            <a:chOff x="260350" y="1374775"/>
            <a:chExt cx="8636000" cy="4560888"/>
          </a:xfrm>
        </p:grpSpPr>
        <p:sp>
          <p:nvSpPr>
            <p:cNvPr id="685" name="Google Shape;685;p34"/>
            <p:cNvSpPr/>
            <p:nvPr/>
          </p:nvSpPr>
          <p:spPr>
            <a:xfrm>
              <a:off x="3103563" y="1374775"/>
              <a:ext cx="2292350" cy="641350"/>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6" name="Google Shape;686;p34"/>
            <p:cNvSpPr/>
            <p:nvPr/>
          </p:nvSpPr>
          <p:spPr>
            <a:xfrm>
              <a:off x="3233738" y="1631950"/>
              <a:ext cx="2012950"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CourseRegistrationProcess</a:t>
              </a:r>
              <a:endParaRPr sz="1800">
                <a:solidFill>
                  <a:schemeClr val="dk1"/>
                </a:solidFill>
                <a:latin typeface="Arial"/>
                <a:ea typeface="Arial"/>
                <a:cs typeface="Arial"/>
                <a:sym typeface="Arial"/>
              </a:endParaRPr>
            </a:p>
          </p:txBody>
        </p:sp>
        <p:sp>
          <p:nvSpPr>
            <p:cNvPr id="687" name="Google Shape;687;p34"/>
            <p:cNvSpPr/>
            <p:nvPr/>
          </p:nvSpPr>
          <p:spPr>
            <a:xfrm>
              <a:off x="3748088" y="1425575"/>
              <a:ext cx="976229" cy="20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&lt;&lt;process&gt;&gt;</a:t>
              </a:r>
              <a:endParaRPr sz="1800">
                <a:solidFill>
                  <a:schemeClr val="dk1"/>
                </a:solidFill>
                <a:latin typeface="Arial"/>
                <a:ea typeface="Arial"/>
                <a:cs typeface="Arial"/>
                <a:sym typeface="Arial"/>
              </a:endParaRPr>
            </a:p>
          </p:txBody>
        </p:sp>
        <p:sp>
          <p:nvSpPr>
            <p:cNvPr id="688" name="Google Shape;688;p34"/>
            <p:cNvSpPr/>
            <p:nvPr/>
          </p:nvSpPr>
          <p:spPr>
            <a:xfrm>
              <a:off x="452438" y="1374775"/>
              <a:ext cx="1660525" cy="641350"/>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89" name="Google Shape;689;p34"/>
            <p:cNvSpPr/>
            <p:nvPr/>
          </p:nvSpPr>
          <p:spPr>
            <a:xfrm>
              <a:off x="593725" y="1631950"/>
              <a:ext cx="1377950"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StudentApplication</a:t>
              </a:r>
              <a:endParaRPr sz="1800">
                <a:solidFill>
                  <a:schemeClr val="dk1"/>
                </a:solidFill>
                <a:latin typeface="Arial"/>
                <a:ea typeface="Arial"/>
                <a:cs typeface="Arial"/>
                <a:sym typeface="Arial"/>
              </a:endParaRPr>
            </a:p>
          </p:txBody>
        </p:sp>
        <p:sp>
          <p:nvSpPr>
            <p:cNvPr id="690" name="Google Shape;690;p34"/>
            <p:cNvSpPr/>
            <p:nvPr/>
          </p:nvSpPr>
          <p:spPr>
            <a:xfrm>
              <a:off x="787400" y="1425575"/>
              <a:ext cx="966788"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&lt;&lt;process&gt;&gt;</a:t>
              </a:r>
              <a:endParaRPr sz="1800">
                <a:solidFill>
                  <a:schemeClr val="dk1"/>
                </a:solidFill>
                <a:latin typeface="Arial"/>
                <a:ea typeface="Arial"/>
                <a:cs typeface="Arial"/>
                <a:sym typeface="Arial"/>
              </a:endParaRPr>
            </a:p>
          </p:txBody>
        </p:sp>
        <p:sp>
          <p:nvSpPr>
            <p:cNvPr id="691" name="Google Shape;691;p34"/>
            <p:cNvSpPr/>
            <p:nvPr/>
          </p:nvSpPr>
          <p:spPr>
            <a:xfrm>
              <a:off x="6734175" y="2967038"/>
              <a:ext cx="1879600" cy="73342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92" name="Google Shape;692;p34"/>
            <p:cNvSpPr/>
            <p:nvPr/>
          </p:nvSpPr>
          <p:spPr>
            <a:xfrm>
              <a:off x="6837363" y="3224213"/>
              <a:ext cx="16541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CourseCatalogSystem</a:t>
              </a:r>
              <a:endParaRPr sz="1800">
                <a:solidFill>
                  <a:schemeClr val="dk1"/>
                </a:solidFill>
                <a:latin typeface="Arial"/>
                <a:ea typeface="Arial"/>
                <a:cs typeface="Arial"/>
                <a:sym typeface="Arial"/>
              </a:endParaRPr>
            </a:p>
          </p:txBody>
        </p:sp>
        <p:sp>
          <p:nvSpPr>
            <p:cNvPr id="693" name="Google Shape;693;p34"/>
            <p:cNvSpPr/>
            <p:nvPr/>
          </p:nvSpPr>
          <p:spPr>
            <a:xfrm>
              <a:off x="6824663" y="3443288"/>
              <a:ext cx="1655903"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(from CourseCatalogSystem)</a:t>
              </a:r>
              <a:endParaRPr sz="1800">
                <a:solidFill>
                  <a:schemeClr val="dk1"/>
                </a:solidFill>
                <a:latin typeface="Arial"/>
                <a:ea typeface="Arial"/>
                <a:cs typeface="Arial"/>
                <a:sym typeface="Arial"/>
              </a:endParaRPr>
            </a:p>
          </p:txBody>
        </p:sp>
        <p:sp>
          <p:nvSpPr>
            <p:cNvPr id="694" name="Google Shape;694;p34"/>
            <p:cNvSpPr/>
            <p:nvPr/>
          </p:nvSpPr>
          <p:spPr>
            <a:xfrm>
              <a:off x="6824663" y="3019425"/>
              <a:ext cx="16287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&lt;&lt;subsystem proxy&gt;&gt;</a:t>
              </a:r>
              <a:endParaRPr sz="1800">
                <a:solidFill>
                  <a:schemeClr val="dk1"/>
                </a:solidFill>
                <a:latin typeface="Arial"/>
                <a:ea typeface="Arial"/>
                <a:cs typeface="Arial"/>
                <a:sym typeface="Arial"/>
              </a:endParaRPr>
            </a:p>
          </p:txBody>
        </p:sp>
        <p:sp>
          <p:nvSpPr>
            <p:cNvPr id="695" name="Google Shape;695;p34"/>
            <p:cNvSpPr/>
            <p:nvPr/>
          </p:nvSpPr>
          <p:spPr>
            <a:xfrm>
              <a:off x="260350" y="5203825"/>
              <a:ext cx="2046288" cy="7318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696" name="Google Shape;696;p34"/>
            <p:cNvSpPr/>
            <p:nvPr/>
          </p:nvSpPr>
          <p:spPr>
            <a:xfrm>
              <a:off x="361950" y="5461000"/>
              <a:ext cx="1868488"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RegisterForCoursesForm</a:t>
              </a:r>
              <a:endParaRPr sz="1800">
                <a:solidFill>
                  <a:schemeClr val="dk1"/>
                </a:solidFill>
                <a:latin typeface="Arial"/>
                <a:ea typeface="Arial"/>
                <a:cs typeface="Arial"/>
                <a:sym typeface="Arial"/>
              </a:endParaRPr>
            </a:p>
          </p:txBody>
        </p:sp>
        <p:sp>
          <p:nvSpPr>
            <p:cNvPr id="697" name="Google Shape;697;p34"/>
            <p:cNvSpPr/>
            <p:nvPr/>
          </p:nvSpPr>
          <p:spPr>
            <a:xfrm>
              <a:off x="736600" y="5678488"/>
              <a:ext cx="1049338"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(from Registration)</a:t>
              </a:r>
              <a:endParaRPr sz="1800">
                <a:solidFill>
                  <a:schemeClr val="dk1"/>
                </a:solidFill>
                <a:latin typeface="Arial"/>
                <a:ea typeface="Arial"/>
                <a:cs typeface="Arial"/>
                <a:sym typeface="Arial"/>
              </a:endParaRPr>
            </a:p>
          </p:txBody>
        </p:sp>
        <p:sp>
          <p:nvSpPr>
            <p:cNvPr id="698" name="Google Shape;698;p34"/>
            <p:cNvSpPr/>
            <p:nvPr/>
          </p:nvSpPr>
          <p:spPr>
            <a:xfrm>
              <a:off x="749300" y="5254625"/>
              <a:ext cx="1077913"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&lt;&lt;boundary&gt;&gt;</a:t>
              </a:r>
              <a:endParaRPr sz="1800">
                <a:solidFill>
                  <a:schemeClr val="dk1"/>
                </a:solidFill>
                <a:latin typeface="Arial"/>
                <a:ea typeface="Arial"/>
                <a:cs typeface="Arial"/>
                <a:sym typeface="Arial"/>
              </a:endParaRPr>
            </a:p>
          </p:txBody>
        </p:sp>
        <p:sp>
          <p:nvSpPr>
            <p:cNvPr id="699" name="Google Shape;699;p34"/>
            <p:cNvSpPr/>
            <p:nvPr/>
          </p:nvSpPr>
          <p:spPr>
            <a:xfrm>
              <a:off x="492125" y="3019425"/>
              <a:ext cx="1595438" cy="500063"/>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00" name="Google Shape;700;p34"/>
            <p:cNvSpPr/>
            <p:nvPr/>
          </p:nvSpPr>
          <p:spPr>
            <a:xfrm>
              <a:off x="633413" y="3070225"/>
              <a:ext cx="1328890" cy="20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MainStudentForm</a:t>
              </a:r>
              <a:endParaRPr sz="1800">
                <a:solidFill>
                  <a:schemeClr val="dk1"/>
                </a:solidFill>
                <a:latin typeface="Arial"/>
                <a:ea typeface="Arial"/>
                <a:cs typeface="Arial"/>
                <a:sym typeface="Arial"/>
              </a:endParaRPr>
            </a:p>
          </p:txBody>
        </p:sp>
        <p:sp>
          <p:nvSpPr>
            <p:cNvPr id="701" name="Google Shape;701;p34"/>
            <p:cNvSpPr/>
            <p:nvPr/>
          </p:nvSpPr>
          <p:spPr>
            <a:xfrm>
              <a:off x="736600" y="3289300"/>
              <a:ext cx="1049338"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(from Registration)</a:t>
              </a:r>
              <a:endParaRPr sz="1800">
                <a:solidFill>
                  <a:schemeClr val="dk1"/>
                </a:solidFill>
                <a:latin typeface="Arial"/>
                <a:ea typeface="Arial"/>
                <a:cs typeface="Arial"/>
                <a:sym typeface="Arial"/>
              </a:endParaRPr>
            </a:p>
          </p:txBody>
        </p:sp>
        <p:sp>
          <p:nvSpPr>
            <p:cNvPr id="702" name="Google Shape;702;p34"/>
            <p:cNvSpPr/>
            <p:nvPr/>
          </p:nvSpPr>
          <p:spPr>
            <a:xfrm>
              <a:off x="3349625" y="5203825"/>
              <a:ext cx="1801813" cy="7318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03" name="Google Shape;703;p34"/>
            <p:cNvSpPr/>
            <p:nvPr/>
          </p:nvSpPr>
          <p:spPr>
            <a:xfrm>
              <a:off x="3451225" y="5461000"/>
              <a:ext cx="1600200"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RegistrationController</a:t>
              </a:r>
              <a:endParaRPr sz="1800">
                <a:solidFill>
                  <a:schemeClr val="dk1"/>
                </a:solidFill>
                <a:latin typeface="Arial"/>
                <a:ea typeface="Arial"/>
                <a:cs typeface="Arial"/>
                <a:sym typeface="Arial"/>
              </a:endParaRPr>
            </a:p>
          </p:txBody>
        </p:sp>
        <p:sp>
          <p:nvSpPr>
            <p:cNvPr id="704" name="Google Shape;704;p34"/>
            <p:cNvSpPr/>
            <p:nvPr/>
          </p:nvSpPr>
          <p:spPr>
            <a:xfrm>
              <a:off x="3709988" y="5678488"/>
              <a:ext cx="1059585"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(from Registration)</a:t>
              </a:r>
              <a:endParaRPr sz="1800">
                <a:solidFill>
                  <a:schemeClr val="dk1"/>
                </a:solidFill>
                <a:latin typeface="Arial"/>
                <a:ea typeface="Arial"/>
                <a:cs typeface="Arial"/>
                <a:sym typeface="Arial"/>
              </a:endParaRPr>
            </a:p>
          </p:txBody>
        </p:sp>
        <p:sp>
          <p:nvSpPr>
            <p:cNvPr id="705" name="Google Shape;705;p34"/>
            <p:cNvSpPr/>
            <p:nvPr/>
          </p:nvSpPr>
          <p:spPr>
            <a:xfrm>
              <a:off x="3798888" y="5254625"/>
              <a:ext cx="892873" cy="20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&lt;&lt;control&gt;&gt;</a:t>
              </a:r>
              <a:endParaRPr sz="1800">
                <a:solidFill>
                  <a:schemeClr val="dk1"/>
                </a:solidFill>
                <a:latin typeface="Arial"/>
                <a:ea typeface="Arial"/>
                <a:cs typeface="Arial"/>
                <a:sym typeface="Arial"/>
              </a:endParaRPr>
            </a:p>
          </p:txBody>
        </p:sp>
        <p:sp>
          <p:nvSpPr>
            <p:cNvPr id="706" name="Google Shape;706;p34"/>
            <p:cNvSpPr/>
            <p:nvPr/>
          </p:nvSpPr>
          <p:spPr>
            <a:xfrm>
              <a:off x="6643688" y="5203825"/>
              <a:ext cx="2058987" cy="7318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07" name="Google Shape;707;p34"/>
            <p:cNvSpPr/>
            <p:nvPr/>
          </p:nvSpPr>
          <p:spPr>
            <a:xfrm>
              <a:off x="6824663" y="5461000"/>
              <a:ext cx="1716817" cy="20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ICourseCatalogSystem</a:t>
              </a:r>
              <a:endParaRPr sz="1800">
                <a:solidFill>
                  <a:schemeClr val="dk1"/>
                </a:solidFill>
                <a:latin typeface="Arial"/>
                <a:ea typeface="Arial"/>
                <a:cs typeface="Arial"/>
                <a:sym typeface="Arial"/>
              </a:endParaRPr>
            </a:p>
          </p:txBody>
        </p:sp>
        <p:sp>
          <p:nvSpPr>
            <p:cNvPr id="708" name="Google Shape;708;p34"/>
            <p:cNvSpPr/>
            <p:nvPr/>
          </p:nvSpPr>
          <p:spPr>
            <a:xfrm>
              <a:off x="6683375" y="5678488"/>
              <a:ext cx="1884363"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(from External System Interfaces)</a:t>
              </a:r>
              <a:endParaRPr sz="1800">
                <a:solidFill>
                  <a:schemeClr val="dk1"/>
                </a:solidFill>
                <a:latin typeface="Arial"/>
                <a:ea typeface="Arial"/>
                <a:cs typeface="Arial"/>
                <a:sym typeface="Arial"/>
              </a:endParaRPr>
            </a:p>
          </p:txBody>
        </p:sp>
        <p:sp>
          <p:nvSpPr>
            <p:cNvPr id="709" name="Google Shape;709;p34"/>
            <p:cNvSpPr/>
            <p:nvPr/>
          </p:nvSpPr>
          <p:spPr>
            <a:xfrm>
              <a:off x="7159625" y="5254625"/>
              <a:ext cx="10318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&lt;&lt;Interface&gt;&gt;</a:t>
              </a:r>
              <a:endParaRPr sz="1800">
                <a:solidFill>
                  <a:schemeClr val="dk1"/>
                </a:solidFill>
                <a:latin typeface="Arial"/>
                <a:ea typeface="Arial"/>
                <a:cs typeface="Arial"/>
                <a:sym typeface="Arial"/>
              </a:endParaRPr>
            </a:p>
          </p:txBody>
        </p:sp>
        <p:sp>
          <p:nvSpPr>
            <p:cNvPr id="710" name="Google Shape;710;p34"/>
            <p:cNvSpPr/>
            <p:nvPr/>
          </p:nvSpPr>
          <p:spPr>
            <a:xfrm>
              <a:off x="6451600" y="1374775"/>
              <a:ext cx="2444750" cy="641350"/>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11" name="Google Shape;711;p34"/>
            <p:cNvSpPr/>
            <p:nvPr/>
          </p:nvSpPr>
          <p:spPr>
            <a:xfrm>
              <a:off x="6567488" y="1631950"/>
              <a:ext cx="2207336" cy="2000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CourseCatalogSystemAccess</a:t>
              </a:r>
              <a:endParaRPr sz="1800">
                <a:solidFill>
                  <a:schemeClr val="dk1"/>
                </a:solidFill>
                <a:latin typeface="Arial"/>
                <a:ea typeface="Arial"/>
                <a:cs typeface="Arial"/>
                <a:sym typeface="Arial"/>
              </a:endParaRPr>
            </a:p>
          </p:txBody>
        </p:sp>
        <p:sp>
          <p:nvSpPr>
            <p:cNvPr id="712" name="Google Shape;712;p34"/>
            <p:cNvSpPr/>
            <p:nvPr/>
          </p:nvSpPr>
          <p:spPr>
            <a:xfrm>
              <a:off x="7185025" y="1425575"/>
              <a:ext cx="966788"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&lt;&lt;process&gt;&gt;</a:t>
              </a:r>
              <a:endParaRPr sz="1800">
                <a:solidFill>
                  <a:schemeClr val="dk1"/>
                </a:solidFill>
                <a:latin typeface="Arial"/>
                <a:ea typeface="Arial"/>
                <a:cs typeface="Arial"/>
                <a:sym typeface="Arial"/>
              </a:endParaRPr>
            </a:p>
          </p:txBody>
        </p:sp>
        <p:sp>
          <p:nvSpPr>
            <p:cNvPr id="713" name="Google Shape;713;p34"/>
            <p:cNvSpPr/>
            <p:nvPr/>
          </p:nvSpPr>
          <p:spPr>
            <a:xfrm>
              <a:off x="3992563" y="2081213"/>
              <a:ext cx="920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cxnSp>
          <p:nvCxnSpPr>
            <p:cNvPr id="714" name="Google Shape;714;p34"/>
            <p:cNvCxnSpPr/>
            <p:nvPr/>
          </p:nvCxnSpPr>
          <p:spPr>
            <a:xfrm>
              <a:off x="2112963" y="1695450"/>
              <a:ext cx="990600" cy="1588"/>
            </a:xfrm>
            <a:prstGeom prst="straightConnector1">
              <a:avLst/>
            </a:prstGeom>
            <a:noFill/>
            <a:ln cap="flat" cmpd="sng" w="9525">
              <a:solidFill>
                <a:schemeClr val="dk1"/>
              </a:solidFill>
              <a:prstDash val="lgDash"/>
              <a:round/>
              <a:headEnd len="med" w="med" type="none"/>
              <a:tailEnd len="med" w="med" type="none"/>
            </a:ln>
          </p:spPr>
        </p:cxnSp>
        <p:cxnSp>
          <p:nvCxnSpPr>
            <p:cNvPr id="715" name="Google Shape;715;p34"/>
            <p:cNvCxnSpPr/>
            <p:nvPr/>
          </p:nvCxnSpPr>
          <p:spPr>
            <a:xfrm flipH="1">
              <a:off x="2962275" y="1695450"/>
              <a:ext cx="141288" cy="65088"/>
            </a:xfrm>
            <a:prstGeom prst="straightConnector1">
              <a:avLst/>
            </a:prstGeom>
            <a:noFill/>
            <a:ln cap="flat" cmpd="sng" w="9525">
              <a:solidFill>
                <a:schemeClr val="dk1"/>
              </a:solidFill>
              <a:prstDash val="solid"/>
              <a:round/>
              <a:headEnd len="med" w="med" type="none"/>
              <a:tailEnd len="med" w="med" type="none"/>
            </a:ln>
          </p:spPr>
        </p:cxnSp>
        <p:cxnSp>
          <p:nvCxnSpPr>
            <p:cNvPr id="716" name="Google Shape;716;p34"/>
            <p:cNvCxnSpPr/>
            <p:nvPr/>
          </p:nvCxnSpPr>
          <p:spPr>
            <a:xfrm rot="10800000">
              <a:off x="2962275" y="1631950"/>
              <a:ext cx="141288" cy="63500"/>
            </a:xfrm>
            <a:prstGeom prst="straightConnector1">
              <a:avLst/>
            </a:prstGeom>
            <a:noFill/>
            <a:ln cap="flat" cmpd="sng" w="9525">
              <a:solidFill>
                <a:schemeClr val="dk1"/>
              </a:solidFill>
              <a:prstDash val="solid"/>
              <a:round/>
              <a:headEnd len="med" w="med" type="none"/>
              <a:tailEnd len="med" w="med" type="none"/>
            </a:ln>
          </p:spPr>
        </p:cxnSp>
        <p:sp>
          <p:nvSpPr>
            <p:cNvPr id="717" name="Google Shape;717;p34"/>
            <p:cNvSpPr/>
            <p:nvPr/>
          </p:nvSpPr>
          <p:spPr>
            <a:xfrm>
              <a:off x="1435100" y="2057400"/>
              <a:ext cx="920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18" name="Google Shape;718;p34"/>
            <p:cNvSpPr/>
            <p:nvPr/>
          </p:nvSpPr>
          <p:spPr>
            <a:xfrm>
              <a:off x="7853363" y="2787650"/>
              <a:ext cx="920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19" name="Google Shape;719;p34"/>
            <p:cNvSpPr/>
            <p:nvPr/>
          </p:nvSpPr>
          <p:spPr>
            <a:xfrm>
              <a:off x="2344738" y="5254625"/>
              <a:ext cx="920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20" name="Google Shape;720;p34"/>
            <p:cNvSpPr/>
            <p:nvPr/>
          </p:nvSpPr>
          <p:spPr>
            <a:xfrm>
              <a:off x="941388" y="4818063"/>
              <a:ext cx="27622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0..1</a:t>
              </a:r>
              <a:endParaRPr sz="1800">
                <a:solidFill>
                  <a:schemeClr val="dk1"/>
                </a:solidFill>
                <a:latin typeface="Arial"/>
                <a:ea typeface="Arial"/>
                <a:cs typeface="Arial"/>
                <a:sym typeface="Arial"/>
              </a:endParaRPr>
            </a:p>
          </p:txBody>
        </p:sp>
        <p:sp>
          <p:nvSpPr>
            <p:cNvPr id="721" name="Google Shape;721;p34"/>
            <p:cNvSpPr/>
            <p:nvPr/>
          </p:nvSpPr>
          <p:spPr>
            <a:xfrm>
              <a:off x="1470025" y="2840038"/>
              <a:ext cx="920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22" name="Google Shape;722;p34"/>
            <p:cNvSpPr/>
            <p:nvPr/>
          </p:nvSpPr>
          <p:spPr>
            <a:xfrm>
              <a:off x="1225550" y="2016125"/>
              <a:ext cx="128588" cy="219075"/>
            </a:xfrm>
            <a:custGeom>
              <a:rect b="b" l="l" r="r" t="t"/>
              <a:pathLst>
                <a:path extrusionOk="0" h="138" w="81">
                  <a:moveTo>
                    <a:pt x="40" y="0"/>
                  </a:moveTo>
                  <a:lnTo>
                    <a:pt x="81" y="73"/>
                  </a:lnTo>
                  <a:lnTo>
                    <a:pt x="40" y="138"/>
                  </a:lnTo>
                  <a:lnTo>
                    <a:pt x="0" y="73"/>
                  </a:lnTo>
                  <a:lnTo>
                    <a:pt x="40" y="0"/>
                  </a:lnTo>
                  <a:close/>
                </a:path>
              </a:pathLst>
            </a:custGeom>
            <a:solidFill>
              <a:srgbClr val="9696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3" name="Google Shape;723;p34"/>
            <p:cNvSpPr/>
            <p:nvPr/>
          </p:nvSpPr>
          <p:spPr>
            <a:xfrm>
              <a:off x="1031875" y="3700463"/>
              <a:ext cx="920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24" name="Google Shape;724;p34"/>
            <p:cNvSpPr/>
            <p:nvPr/>
          </p:nvSpPr>
          <p:spPr>
            <a:xfrm>
              <a:off x="1225550" y="3532188"/>
              <a:ext cx="128588" cy="219075"/>
            </a:xfrm>
            <a:custGeom>
              <a:rect b="b" l="l" r="r" t="t"/>
              <a:pathLst>
                <a:path extrusionOk="0" h="138" w="81">
                  <a:moveTo>
                    <a:pt x="40" y="0"/>
                  </a:moveTo>
                  <a:lnTo>
                    <a:pt x="81" y="65"/>
                  </a:lnTo>
                  <a:lnTo>
                    <a:pt x="40" y="138"/>
                  </a:lnTo>
                  <a:lnTo>
                    <a:pt x="0" y="65"/>
                  </a:lnTo>
                  <a:lnTo>
                    <a:pt x="40" y="0"/>
                  </a:lnTo>
                  <a:close/>
                </a:path>
              </a:pathLst>
            </a:custGeom>
            <a:solidFill>
              <a:srgbClr val="9696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5" name="Google Shape;725;p34"/>
            <p:cNvSpPr/>
            <p:nvPr/>
          </p:nvSpPr>
          <p:spPr>
            <a:xfrm>
              <a:off x="3992563" y="5010150"/>
              <a:ext cx="920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26" name="Google Shape;726;p34"/>
            <p:cNvSpPr/>
            <p:nvPr/>
          </p:nvSpPr>
          <p:spPr>
            <a:xfrm>
              <a:off x="4198938" y="2016125"/>
              <a:ext cx="115887" cy="219075"/>
            </a:xfrm>
            <a:custGeom>
              <a:rect b="b" l="l" r="r" t="t"/>
              <a:pathLst>
                <a:path extrusionOk="0" h="138" w="73">
                  <a:moveTo>
                    <a:pt x="32" y="0"/>
                  </a:moveTo>
                  <a:lnTo>
                    <a:pt x="73" y="73"/>
                  </a:lnTo>
                  <a:lnTo>
                    <a:pt x="32" y="138"/>
                  </a:lnTo>
                  <a:lnTo>
                    <a:pt x="0" y="73"/>
                  </a:lnTo>
                  <a:lnTo>
                    <a:pt x="32" y="0"/>
                  </a:lnTo>
                  <a:close/>
                </a:path>
              </a:pathLst>
            </a:custGeom>
            <a:solidFill>
              <a:srgbClr val="9696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27" name="Google Shape;727;p34"/>
            <p:cNvSpPr/>
            <p:nvPr/>
          </p:nvSpPr>
          <p:spPr>
            <a:xfrm>
              <a:off x="3246438" y="5254625"/>
              <a:ext cx="92075"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cxnSp>
          <p:nvCxnSpPr>
            <p:cNvPr id="728" name="Google Shape;728;p34"/>
            <p:cNvCxnSpPr/>
            <p:nvPr/>
          </p:nvCxnSpPr>
          <p:spPr>
            <a:xfrm flipH="1">
              <a:off x="2319338" y="5575300"/>
              <a:ext cx="514350" cy="1588"/>
            </a:xfrm>
            <a:prstGeom prst="straightConnector1">
              <a:avLst/>
            </a:prstGeom>
            <a:noFill/>
            <a:ln cap="flat" cmpd="sng" w="9525">
              <a:solidFill>
                <a:schemeClr val="dk1"/>
              </a:solidFill>
              <a:prstDash val="solid"/>
              <a:round/>
              <a:headEnd len="med" w="med" type="none"/>
              <a:tailEnd len="med" w="med" type="none"/>
            </a:ln>
          </p:spPr>
        </p:cxnSp>
        <p:cxnSp>
          <p:nvCxnSpPr>
            <p:cNvPr id="729" name="Google Shape;729;p34"/>
            <p:cNvCxnSpPr/>
            <p:nvPr/>
          </p:nvCxnSpPr>
          <p:spPr>
            <a:xfrm>
              <a:off x="2833688" y="5575300"/>
              <a:ext cx="515937" cy="1588"/>
            </a:xfrm>
            <a:prstGeom prst="straightConnector1">
              <a:avLst/>
            </a:prstGeom>
            <a:noFill/>
            <a:ln cap="flat" cmpd="sng" w="9525">
              <a:solidFill>
                <a:schemeClr val="dk1"/>
              </a:solidFill>
              <a:prstDash val="solid"/>
              <a:round/>
              <a:headEnd len="med" w="med" type="none"/>
              <a:tailEnd len="med" w="med" type="none"/>
            </a:ln>
          </p:spPr>
        </p:cxnSp>
        <p:cxnSp>
          <p:nvCxnSpPr>
            <p:cNvPr id="730" name="Google Shape;730;p34"/>
            <p:cNvCxnSpPr/>
            <p:nvPr/>
          </p:nvCxnSpPr>
          <p:spPr>
            <a:xfrm flipH="1">
              <a:off x="3206750" y="5575300"/>
              <a:ext cx="142875" cy="65088"/>
            </a:xfrm>
            <a:prstGeom prst="straightConnector1">
              <a:avLst/>
            </a:prstGeom>
            <a:noFill/>
            <a:ln cap="flat" cmpd="sng" w="9525">
              <a:solidFill>
                <a:schemeClr val="dk1"/>
              </a:solidFill>
              <a:prstDash val="solid"/>
              <a:round/>
              <a:headEnd len="med" w="med" type="none"/>
              <a:tailEnd len="med" w="med" type="none"/>
            </a:ln>
          </p:spPr>
        </p:cxnSp>
        <p:cxnSp>
          <p:nvCxnSpPr>
            <p:cNvPr id="731" name="Google Shape;731;p34"/>
            <p:cNvCxnSpPr/>
            <p:nvPr/>
          </p:nvCxnSpPr>
          <p:spPr>
            <a:xfrm rot="10800000">
              <a:off x="3206750" y="5511800"/>
              <a:ext cx="142875" cy="63500"/>
            </a:xfrm>
            <a:prstGeom prst="straightConnector1">
              <a:avLst/>
            </a:prstGeom>
            <a:noFill/>
            <a:ln cap="flat" cmpd="sng" w="9525">
              <a:solidFill>
                <a:schemeClr val="dk1"/>
              </a:solidFill>
              <a:prstDash val="solid"/>
              <a:round/>
              <a:headEnd len="med" w="med" type="none"/>
              <a:tailEnd len="med" w="med" type="none"/>
            </a:ln>
          </p:spPr>
        </p:cxnSp>
        <p:sp>
          <p:nvSpPr>
            <p:cNvPr id="732" name="Google Shape;732;p34"/>
            <p:cNvSpPr/>
            <p:nvPr/>
          </p:nvSpPr>
          <p:spPr>
            <a:xfrm>
              <a:off x="5245100" y="5715000"/>
              <a:ext cx="247650" cy="1984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0..*</a:t>
              </a:r>
              <a:endParaRPr sz="1800">
                <a:solidFill>
                  <a:schemeClr val="dk1"/>
                </a:solidFill>
                <a:latin typeface="Arial"/>
                <a:ea typeface="Arial"/>
                <a:cs typeface="Arial"/>
                <a:sym typeface="Arial"/>
              </a:endParaRPr>
            </a:p>
          </p:txBody>
        </p:sp>
        <p:sp>
          <p:nvSpPr>
            <p:cNvPr id="733" name="Google Shape;733;p34"/>
            <p:cNvSpPr/>
            <p:nvPr/>
          </p:nvSpPr>
          <p:spPr>
            <a:xfrm>
              <a:off x="5356225" y="5294313"/>
              <a:ext cx="1163638"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+courseCatalog</a:t>
              </a:r>
              <a:endParaRPr sz="1800">
                <a:solidFill>
                  <a:schemeClr val="dk1"/>
                </a:solidFill>
                <a:latin typeface="Arial"/>
                <a:ea typeface="Arial"/>
                <a:cs typeface="Arial"/>
                <a:sym typeface="Arial"/>
              </a:endParaRPr>
            </a:p>
          </p:txBody>
        </p:sp>
        <p:sp>
          <p:nvSpPr>
            <p:cNvPr id="734" name="Google Shape;734;p34"/>
            <p:cNvSpPr/>
            <p:nvPr/>
          </p:nvSpPr>
          <p:spPr>
            <a:xfrm>
              <a:off x="6527800" y="5691188"/>
              <a:ext cx="920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cxnSp>
          <p:nvCxnSpPr>
            <p:cNvPr id="735" name="Google Shape;735;p34"/>
            <p:cNvCxnSpPr/>
            <p:nvPr/>
          </p:nvCxnSpPr>
          <p:spPr>
            <a:xfrm flipH="1">
              <a:off x="5151438" y="5575300"/>
              <a:ext cx="746125" cy="1588"/>
            </a:xfrm>
            <a:prstGeom prst="straightConnector1">
              <a:avLst/>
            </a:prstGeom>
            <a:noFill/>
            <a:ln cap="flat" cmpd="sng" w="9525">
              <a:solidFill>
                <a:schemeClr val="dk1"/>
              </a:solidFill>
              <a:prstDash val="solid"/>
              <a:round/>
              <a:headEnd len="med" w="med" type="none"/>
              <a:tailEnd len="med" w="med" type="none"/>
            </a:ln>
          </p:spPr>
        </p:cxnSp>
        <p:cxnSp>
          <p:nvCxnSpPr>
            <p:cNvPr id="736" name="Google Shape;736;p34"/>
            <p:cNvCxnSpPr/>
            <p:nvPr/>
          </p:nvCxnSpPr>
          <p:spPr>
            <a:xfrm>
              <a:off x="5897563" y="5575300"/>
              <a:ext cx="746125" cy="1588"/>
            </a:xfrm>
            <a:prstGeom prst="straightConnector1">
              <a:avLst/>
            </a:prstGeom>
            <a:noFill/>
            <a:ln cap="flat" cmpd="sng" w="9525">
              <a:solidFill>
                <a:schemeClr val="dk1"/>
              </a:solidFill>
              <a:prstDash val="solid"/>
              <a:round/>
              <a:headEnd len="med" w="med" type="none"/>
              <a:tailEnd len="med" w="med" type="none"/>
            </a:ln>
          </p:spPr>
        </p:cxnSp>
        <p:cxnSp>
          <p:nvCxnSpPr>
            <p:cNvPr id="737" name="Google Shape;737;p34"/>
            <p:cNvCxnSpPr/>
            <p:nvPr/>
          </p:nvCxnSpPr>
          <p:spPr>
            <a:xfrm flipH="1">
              <a:off x="6489700" y="5575300"/>
              <a:ext cx="153988" cy="65088"/>
            </a:xfrm>
            <a:prstGeom prst="straightConnector1">
              <a:avLst/>
            </a:prstGeom>
            <a:noFill/>
            <a:ln cap="flat" cmpd="sng" w="9525">
              <a:solidFill>
                <a:schemeClr val="dk1"/>
              </a:solidFill>
              <a:prstDash val="solid"/>
              <a:round/>
              <a:headEnd len="med" w="med" type="none"/>
              <a:tailEnd len="med" w="med" type="none"/>
            </a:ln>
          </p:spPr>
        </p:cxnSp>
        <p:cxnSp>
          <p:nvCxnSpPr>
            <p:cNvPr id="738" name="Google Shape;738;p34"/>
            <p:cNvCxnSpPr/>
            <p:nvPr/>
          </p:nvCxnSpPr>
          <p:spPr>
            <a:xfrm rot="10800000">
              <a:off x="6489700" y="5511800"/>
              <a:ext cx="153988" cy="63500"/>
            </a:xfrm>
            <a:prstGeom prst="straightConnector1">
              <a:avLst/>
            </a:prstGeom>
            <a:noFill/>
            <a:ln cap="flat" cmpd="sng" w="9525">
              <a:solidFill>
                <a:schemeClr val="dk1"/>
              </a:solidFill>
              <a:prstDash val="solid"/>
              <a:round/>
              <a:headEnd len="med" w="med" type="none"/>
              <a:tailEnd len="med" w="med" type="none"/>
            </a:ln>
          </p:spPr>
        </p:cxnSp>
        <p:cxnSp>
          <p:nvCxnSpPr>
            <p:cNvPr id="739" name="Google Shape;739;p34"/>
            <p:cNvCxnSpPr/>
            <p:nvPr/>
          </p:nvCxnSpPr>
          <p:spPr>
            <a:xfrm flipH="1">
              <a:off x="7683500" y="3713163"/>
              <a:ext cx="3175" cy="1239837"/>
            </a:xfrm>
            <a:prstGeom prst="straightConnector1">
              <a:avLst/>
            </a:prstGeom>
            <a:noFill/>
            <a:ln cap="flat" cmpd="sng" w="9525">
              <a:solidFill>
                <a:schemeClr val="dk1"/>
              </a:solidFill>
              <a:prstDash val="dash"/>
              <a:round/>
              <a:headEnd len="med" w="med" type="none"/>
              <a:tailEnd len="med" w="med" type="none"/>
            </a:ln>
          </p:spPr>
        </p:cxnSp>
        <p:sp>
          <p:nvSpPr>
            <p:cNvPr id="740" name="Google Shape;740;p34"/>
            <p:cNvSpPr/>
            <p:nvPr/>
          </p:nvSpPr>
          <p:spPr>
            <a:xfrm>
              <a:off x="7583488" y="4959350"/>
              <a:ext cx="193675" cy="244475"/>
            </a:xfrm>
            <a:custGeom>
              <a:rect b="b" l="l" r="r" t="t"/>
              <a:pathLst>
                <a:path extrusionOk="0" h="154" w="122">
                  <a:moveTo>
                    <a:pt x="65" y="154"/>
                  </a:moveTo>
                  <a:lnTo>
                    <a:pt x="122" y="0"/>
                  </a:lnTo>
                  <a:lnTo>
                    <a:pt x="0" y="0"/>
                  </a:lnTo>
                  <a:lnTo>
                    <a:pt x="65" y="154"/>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41" name="Google Shape;741;p34"/>
            <p:cNvSpPr/>
            <p:nvPr/>
          </p:nvSpPr>
          <p:spPr>
            <a:xfrm>
              <a:off x="7853363" y="2043113"/>
              <a:ext cx="92075" cy="19843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3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42" name="Google Shape;742;p34"/>
            <p:cNvSpPr/>
            <p:nvPr/>
          </p:nvSpPr>
          <p:spPr>
            <a:xfrm>
              <a:off x="7621588" y="2016125"/>
              <a:ext cx="115887" cy="219075"/>
            </a:xfrm>
            <a:custGeom>
              <a:rect b="b" l="l" r="r" t="t"/>
              <a:pathLst>
                <a:path extrusionOk="0" h="138" w="73">
                  <a:moveTo>
                    <a:pt x="41" y="0"/>
                  </a:moveTo>
                  <a:lnTo>
                    <a:pt x="73" y="73"/>
                  </a:lnTo>
                  <a:lnTo>
                    <a:pt x="41" y="138"/>
                  </a:lnTo>
                  <a:lnTo>
                    <a:pt x="0" y="73"/>
                  </a:lnTo>
                  <a:lnTo>
                    <a:pt x="41" y="0"/>
                  </a:lnTo>
                  <a:close/>
                </a:path>
              </a:pathLst>
            </a:custGeom>
            <a:solidFill>
              <a:srgbClr val="9696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743" name="Google Shape;743;p34"/>
            <p:cNvCxnSpPr/>
            <p:nvPr/>
          </p:nvCxnSpPr>
          <p:spPr>
            <a:xfrm>
              <a:off x="5395913" y="1695450"/>
              <a:ext cx="1055687" cy="1588"/>
            </a:xfrm>
            <a:prstGeom prst="straightConnector1">
              <a:avLst/>
            </a:prstGeom>
            <a:noFill/>
            <a:ln cap="flat" cmpd="sng" w="9525">
              <a:solidFill>
                <a:schemeClr val="dk1"/>
              </a:solidFill>
              <a:prstDash val="lgDash"/>
              <a:round/>
              <a:headEnd len="med" w="med" type="none"/>
              <a:tailEnd len="med" w="med" type="none"/>
            </a:ln>
          </p:spPr>
        </p:cxnSp>
        <p:cxnSp>
          <p:nvCxnSpPr>
            <p:cNvPr id="744" name="Google Shape;744;p34"/>
            <p:cNvCxnSpPr/>
            <p:nvPr/>
          </p:nvCxnSpPr>
          <p:spPr>
            <a:xfrm flipH="1">
              <a:off x="6308725" y="1695450"/>
              <a:ext cx="142875" cy="65088"/>
            </a:xfrm>
            <a:prstGeom prst="straightConnector1">
              <a:avLst/>
            </a:prstGeom>
            <a:noFill/>
            <a:ln cap="flat" cmpd="sng" w="9525">
              <a:solidFill>
                <a:schemeClr val="dk1"/>
              </a:solidFill>
              <a:prstDash val="solid"/>
              <a:round/>
              <a:headEnd len="med" w="med" type="none"/>
              <a:tailEnd len="med" w="med" type="none"/>
            </a:ln>
          </p:spPr>
        </p:cxnSp>
        <p:cxnSp>
          <p:nvCxnSpPr>
            <p:cNvPr id="745" name="Google Shape;745;p34"/>
            <p:cNvCxnSpPr/>
            <p:nvPr/>
          </p:nvCxnSpPr>
          <p:spPr>
            <a:xfrm rot="10800000">
              <a:off x="6308725" y="1631950"/>
              <a:ext cx="142875" cy="63500"/>
            </a:xfrm>
            <a:prstGeom prst="straightConnector1">
              <a:avLst/>
            </a:prstGeom>
            <a:noFill/>
            <a:ln cap="flat" cmpd="sng" w="9525">
              <a:solidFill>
                <a:schemeClr val="dk1"/>
              </a:solidFill>
              <a:prstDash val="solid"/>
              <a:round/>
              <a:headEnd len="med" w="med" type="none"/>
              <a:tailEnd len="med" w="med" type="none"/>
            </a:ln>
          </p:spPr>
        </p:cxnSp>
        <p:cxnSp>
          <p:nvCxnSpPr>
            <p:cNvPr id="746" name="Google Shape;746;p34"/>
            <p:cNvCxnSpPr/>
            <p:nvPr/>
          </p:nvCxnSpPr>
          <p:spPr>
            <a:xfrm>
              <a:off x="1282700" y="2209800"/>
              <a:ext cx="0" cy="838200"/>
            </a:xfrm>
            <a:prstGeom prst="straightConnector1">
              <a:avLst/>
            </a:prstGeom>
            <a:noFill/>
            <a:ln cap="flat" cmpd="sng" w="9525">
              <a:solidFill>
                <a:schemeClr val="dk1"/>
              </a:solidFill>
              <a:prstDash val="solid"/>
              <a:round/>
              <a:headEnd len="med" w="med" type="none"/>
              <a:tailEnd len="lg" w="lg" type="stealth"/>
            </a:ln>
          </p:spPr>
        </p:cxnSp>
        <p:cxnSp>
          <p:nvCxnSpPr>
            <p:cNvPr id="747" name="Google Shape;747;p34"/>
            <p:cNvCxnSpPr/>
            <p:nvPr/>
          </p:nvCxnSpPr>
          <p:spPr>
            <a:xfrm>
              <a:off x="4254500" y="2209800"/>
              <a:ext cx="0" cy="2971800"/>
            </a:xfrm>
            <a:prstGeom prst="straightConnector1">
              <a:avLst/>
            </a:prstGeom>
            <a:noFill/>
            <a:ln cap="flat" cmpd="sng" w="9525">
              <a:solidFill>
                <a:schemeClr val="dk1"/>
              </a:solidFill>
              <a:prstDash val="solid"/>
              <a:round/>
              <a:headEnd len="med" w="med" type="none"/>
              <a:tailEnd len="lg" w="lg" type="stealth"/>
            </a:ln>
          </p:spPr>
        </p:cxnSp>
        <p:cxnSp>
          <p:nvCxnSpPr>
            <p:cNvPr id="748" name="Google Shape;748;p34"/>
            <p:cNvCxnSpPr/>
            <p:nvPr/>
          </p:nvCxnSpPr>
          <p:spPr>
            <a:xfrm>
              <a:off x="1282700" y="3733800"/>
              <a:ext cx="0" cy="1447800"/>
            </a:xfrm>
            <a:prstGeom prst="straightConnector1">
              <a:avLst/>
            </a:prstGeom>
            <a:noFill/>
            <a:ln cap="flat" cmpd="sng" w="9525">
              <a:solidFill>
                <a:schemeClr val="dk1"/>
              </a:solidFill>
              <a:prstDash val="solid"/>
              <a:round/>
              <a:headEnd len="med" w="med" type="none"/>
              <a:tailEnd len="lg" w="lg" type="stealth"/>
            </a:ln>
          </p:spPr>
        </p:cxnSp>
        <p:cxnSp>
          <p:nvCxnSpPr>
            <p:cNvPr id="749" name="Google Shape;749;p34"/>
            <p:cNvCxnSpPr/>
            <p:nvPr/>
          </p:nvCxnSpPr>
          <p:spPr>
            <a:xfrm>
              <a:off x="7683500" y="2209800"/>
              <a:ext cx="0" cy="762000"/>
            </a:xfrm>
            <a:prstGeom prst="straightConnector1">
              <a:avLst/>
            </a:prstGeom>
            <a:noFill/>
            <a:ln cap="flat" cmpd="sng" w="9525">
              <a:solidFill>
                <a:schemeClr val="dk1"/>
              </a:solidFill>
              <a:prstDash val="solid"/>
              <a:round/>
              <a:headEnd len="med" w="med" type="none"/>
              <a:tailEnd len="lg" w="lg" type="stealth"/>
            </a:ln>
          </p:spPr>
        </p:cxn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35"/>
          <p:cNvSpPr txBox="1"/>
          <p:nvPr>
            <p:ph type="title"/>
          </p:nvPr>
        </p:nvSpPr>
        <p:spPr>
          <a:xfrm>
            <a:off x="457200" y="704088"/>
            <a:ext cx="8229600" cy="8961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80"/>
              <a:buFont typeface="Calibri"/>
              <a:buNone/>
            </a:pPr>
            <a:r>
              <a:rPr lang="en-US" sz="2880"/>
              <a:t>Ví dụ: Các tiến trình của Đăng ký môn học (Register for Course)(cont.)</a:t>
            </a:r>
            <a:endParaRPr sz="2880"/>
          </a:p>
        </p:txBody>
      </p:sp>
      <p:sp>
        <p:nvSpPr>
          <p:cNvPr id="755" name="Google Shape;755;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756" name="Google Shape;756;p35"/>
          <p:cNvGrpSpPr/>
          <p:nvPr/>
        </p:nvGrpSpPr>
        <p:grpSpPr>
          <a:xfrm>
            <a:off x="457200" y="1752601"/>
            <a:ext cx="8229600" cy="4572000"/>
            <a:chOff x="703263" y="1792288"/>
            <a:chExt cx="7759700" cy="3308350"/>
          </a:xfrm>
        </p:grpSpPr>
        <p:sp>
          <p:nvSpPr>
            <p:cNvPr id="757" name="Google Shape;757;p35"/>
            <p:cNvSpPr/>
            <p:nvPr/>
          </p:nvSpPr>
          <p:spPr>
            <a:xfrm>
              <a:off x="3717925" y="4252913"/>
              <a:ext cx="1487488" cy="768350"/>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58" name="Google Shape;758;p35"/>
            <p:cNvSpPr/>
            <p:nvPr/>
          </p:nvSpPr>
          <p:spPr>
            <a:xfrm>
              <a:off x="3859213" y="4567238"/>
              <a:ext cx="1251946"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CourseCache</a:t>
              </a:r>
              <a:endParaRPr sz="1800">
                <a:solidFill>
                  <a:schemeClr val="dk1"/>
                </a:solidFill>
                <a:latin typeface="Arial"/>
                <a:ea typeface="Arial"/>
                <a:cs typeface="Arial"/>
                <a:sym typeface="Arial"/>
              </a:endParaRPr>
            </a:p>
          </p:txBody>
        </p:sp>
        <p:sp>
          <p:nvSpPr>
            <p:cNvPr id="759" name="Google Shape;759;p35"/>
            <p:cNvSpPr/>
            <p:nvPr/>
          </p:nvSpPr>
          <p:spPr>
            <a:xfrm>
              <a:off x="3937000" y="4316413"/>
              <a:ext cx="1052513"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&lt;&lt;thread&gt;&gt;</a:t>
              </a:r>
              <a:endParaRPr sz="1800">
                <a:solidFill>
                  <a:schemeClr val="dk1"/>
                </a:solidFill>
                <a:latin typeface="Arial"/>
                <a:ea typeface="Arial"/>
                <a:cs typeface="Arial"/>
                <a:sym typeface="Arial"/>
              </a:endParaRPr>
            </a:p>
          </p:txBody>
        </p:sp>
        <p:sp>
          <p:nvSpPr>
            <p:cNvPr id="760" name="Google Shape;760;p35"/>
            <p:cNvSpPr/>
            <p:nvPr/>
          </p:nvSpPr>
          <p:spPr>
            <a:xfrm>
              <a:off x="6553200" y="4191000"/>
              <a:ext cx="1909763" cy="9096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61" name="Google Shape;761;p35"/>
            <p:cNvSpPr/>
            <p:nvPr/>
          </p:nvSpPr>
          <p:spPr>
            <a:xfrm>
              <a:off x="7194550" y="4503738"/>
              <a:ext cx="65405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Course</a:t>
              </a:r>
              <a:endParaRPr sz="1800">
                <a:solidFill>
                  <a:schemeClr val="dk1"/>
                </a:solidFill>
                <a:latin typeface="Arial"/>
                <a:ea typeface="Arial"/>
                <a:cs typeface="Arial"/>
                <a:sym typeface="Arial"/>
              </a:endParaRPr>
            </a:p>
          </p:txBody>
        </p:sp>
        <p:sp>
          <p:nvSpPr>
            <p:cNvPr id="762" name="Google Shape;762;p35"/>
            <p:cNvSpPr/>
            <p:nvPr/>
          </p:nvSpPr>
          <p:spPr>
            <a:xfrm>
              <a:off x="6615113" y="4770438"/>
              <a:ext cx="171797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University Artifacts)</a:t>
              </a:r>
              <a:endParaRPr sz="1800">
                <a:solidFill>
                  <a:schemeClr val="dk1"/>
                </a:solidFill>
                <a:latin typeface="Arial"/>
                <a:ea typeface="Arial"/>
                <a:cs typeface="Arial"/>
                <a:sym typeface="Arial"/>
              </a:endParaRPr>
            </a:p>
          </p:txBody>
        </p:sp>
        <p:sp>
          <p:nvSpPr>
            <p:cNvPr id="763" name="Google Shape;763;p35"/>
            <p:cNvSpPr/>
            <p:nvPr/>
          </p:nvSpPr>
          <p:spPr>
            <a:xfrm>
              <a:off x="7007225" y="4252913"/>
              <a:ext cx="96202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&lt;&lt;entity&gt;&gt;</a:t>
              </a:r>
              <a:endParaRPr sz="1800">
                <a:solidFill>
                  <a:schemeClr val="dk1"/>
                </a:solidFill>
                <a:latin typeface="Arial"/>
                <a:ea typeface="Arial"/>
                <a:cs typeface="Arial"/>
                <a:sym typeface="Arial"/>
              </a:endParaRPr>
            </a:p>
          </p:txBody>
        </p:sp>
        <p:sp>
          <p:nvSpPr>
            <p:cNvPr id="764" name="Google Shape;764;p35"/>
            <p:cNvSpPr/>
            <p:nvPr/>
          </p:nvSpPr>
          <p:spPr>
            <a:xfrm>
              <a:off x="3717925" y="1838325"/>
              <a:ext cx="1503363" cy="784225"/>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65" name="Google Shape;765;p35"/>
            <p:cNvSpPr/>
            <p:nvPr/>
          </p:nvSpPr>
          <p:spPr>
            <a:xfrm>
              <a:off x="3843338" y="2168525"/>
              <a:ext cx="1309687"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OfferingCache</a:t>
              </a:r>
              <a:endParaRPr sz="1800">
                <a:solidFill>
                  <a:schemeClr val="dk1"/>
                </a:solidFill>
                <a:latin typeface="Arial"/>
                <a:ea typeface="Arial"/>
                <a:cs typeface="Arial"/>
                <a:sym typeface="Arial"/>
              </a:endParaRPr>
            </a:p>
          </p:txBody>
        </p:sp>
        <p:sp>
          <p:nvSpPr>
            <p:cNvPr id="766" name="Google Shape;766;p35"/>
            <p:cNvSpPr/>
            <p:nvPr/>
          </p:nvSpPr>
          <p:spPr>
            <a:xfrm>
              <a:off x="3937000" y="1917700"/>
              <a:ext cx="1052513"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&lt;&lt;thread&gt;&gt;</a:t>
              </a:r>
              <a:endParaRPr sz="1800">
                <a:solidFill>
                  <a:schemeClr val="dk1"/>
                </a:solidFill>
                <a:latin typeface="Arial"/>
                <a:ea typeface="Arial"/>
                <a:cs typeface="Arial"/>
                <a:sym typeface="Arial"/>
              </a:endParaRPr>
            </a:p>
          </p:txBody>
        </p:sp>
        <p:sp>
          <p:nvSpPr>
            <p:cNvPr id="767" name="Google Shape;767;p35"/>
            <p:cNvSpPr/>
            <p:nvPr/>
          </p:nvSpPr>
          <p:spPr>
            <a:xfrm>
              <a:off x="6473825" y="1792288"/>
              <a:ext cx="1895475" cy="89376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68" name="Google Shape;768;p35"/>
            <p:cNvSpPr/>
            <p:nvPr/>
          </p:nvSpPr>
          <p:spPr>
            <a:xfrm>
              <a:off x="6772275" y="2105025"/>
              <a:ext cx="137795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CourseOffering</a:t>
              </a:r>
              <a:endParaRPr sz="1800">
                <a:solidFill>
                  <a:schemeClr val="dk1"/>
                </a:solidFill>
                <a:latin typeface="Arial"/>
                <a:ea typeface="Arial"/>
                <a:cs typeface="Arial"/>
                <a:sym typeface="Arial"/>
              </a:endParaRPr>
            </a:p>
          </p:txBody>
        </p:sp>
        <p:sp>
          <p:nvSpPr>
            <p:cNvPr id="769" name="Google Shape;769;p35"/>
            <p:cNvSpPr/>
            <p:nvPr/>
          </p:nvSpPr>
          <p:spPr>
            <a:xfrm>
              <a:off x="6537325" y="2371725"/>
              <a:ext cx="171797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Constantia"/>
                  <a:ea typeface="Constantia"/>
                  <a:cs typeface="Constantia"/>
                  <a:sym typeface="Constantia"/>
                </a:rPr>
                <a:t>(from University Artifacts)</a:t>
              </a:r>
              <a:endParaRPr sz="1800">
                <a:solidFill>
                  <a:schemeClr val="dk1"/>
                </a:solidFill>
                <a:latin typeface="Arial"/>
                <a:ea typeface="Arial"/>
                <a:cs typeface="Arial"/>
                <a:sym typeface="Arial"/>
              </a:endParaRPr>
            </a:p>
          </p:txBody>
        </p:sp>
        <p:sp>
          <p:nvSpPr>
            <p:cNvPr id="770" name="Google Shape;770;p35"/>
            <p:cNvSpPr/>
            <p:nvPr/>
          </p:nvSpPr>
          <p:spPr>
            <a:xfrm>
              <a:off x="6927850" y="1854200"/>
              <a:ext cx="96202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&lt;&lt;entity&gt;&gt;</a:t>
              </a:r>
              <a:endParaRPr sz="1800">
                <a:solidFill>
                  <a:schemeClr val="dk1"/>
                </a:solidFill>
                <a:latin typeface="Arial"/>
                <a:ea typeface="Arial"/>
                <a:cs typeface="Arial"/>
                <a:sym typeface="Arial"/>
              </a:endParaRPr>
            </a:p>
          </p:txBody>
        </p:sp>
        <p:sp>
          <p:nvSpPr>
            <p:cNvPr id="771" name="Google Shape;771;p35"/>
            <p:cNvSpPr/>
            <p:nvPr/>
          </p:nvSpPr>
          <p:spPr>
            <a:xfrm>
              <a:off x="5221288" y="4252913"/>
              <a:ext cx="113814"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72" name="Google Shape;772;p35"/>
            <p:cNvSpPr/>
            <p:nvPr/>
          </p:nvSpPr>
          <p:spPr>
            <a:xfrm>
              <a:off x="6129338" y="4252913"/>
              <a:ext cx="30938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0..*</a:t>
              </a:r>
              <a:endParaRPr sz="1800">
                <a:solidFill>
                  <a:schemeClr val="dk1"/>
                </a:solidFill>
                <a:latin typeface="Arial"/>
                <a:ea typeface="Arial"/>
                <a:cs typeface="Arial"/>
                <a:sym typeface="Arial"/>
              </a:endParaRPr>
            </a:p>
          </p:txBody>
        </p:sp>
        <p:sp>
          <p:nvSpPr>
            <p:cNvPr id="773" name="Google Shape;773;p35"/>
            <p:cNvSpPr/>
            <p:nvPr/>
          </p:nvSpPr>
          <p:spPr>
            <a:xfrm>
              <a:off x="5221288" y="4567238"/>
              <a:ext cx="266700" cy="157162"/>
            </a:xfrm>
            <a:custGeom>
              <a:rect b="b" l="l" r="r" t="t"/>
              <a:pathLst>
                <a:path extrusionOk="0" h="99" w="168">
                  <a:moveTo>
                    <a:pt x="0" y="49"/>
                  </a:moveTo>
                  <a:lnTo>
                    <a:pt x="79" y="99"/>
                  </a:lnTo>
                  <a:lnTo>
                    <a:pt x="168" y="49"/>
                  </a:lnTo>
                  <a:lnTo>
                    <a:pt x="79" y="0"/>
                  </a:lnTo>
                  <a:lnTo>
                    <a:pt x="0" y="49"/>
                  </a:lnTo>
                  <a:close/>
                </a:path>
              </a:pathLst>
            </a:custGeom>
            <a:solidFill>
              <a:srgbClr val="9696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74" name="Google Shape;774;p35"/>
            <p:cNvSpPr/>
            <p:nvPr/>
          </p:nvSpPr>
          <p:spPr>
            <a:xfrm>
              <a:off x="5237163" y="2387600"/>
              <a:ext cx="113814"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75" name="Google Shape;775;p35"/>
            <p:cNvSpPr/>
            <p:nvPr/>
          </p:nvSpPr>
          <p:spPr>
            <a:xfrm>
              <a:off x="6099175" y="2387600"/>
              <a:ext cx="306388"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0..*</a:t>
              </a:r>
              <a:endParaRPr sz="1800">
                <a:solidFill>
                  <a:schemeClr val="dk1"/>
                </a:solidFill>
                <a:latin typeface="Arial"/>
                <a:ea typeface="Arial"/>
                <a:cs typeface="Arial"/>
                <a:sym typeface="Arial"/>
              </a:endParaRPr>
            </a:p>
          </p:txBody>
        </p:sp>
        <p:sp>
          <p:nvSpPr>
            <p:cNvPr id="776" name="Google Shape;776;p35"/>
            <p:cNvSpPr/>
            <p:nvPr/>
          </p:nvSpPr>
          <p:spPr>
            <a:xfrm>
              <a:off x="5221288" y="2168525"/>
              <a:ext cx="282575" cy="141288"/>
            </a:xfrm>
            <a:custGeom>
              <a:rect b="b" l="l" r="r" t="t"/>
              <a:pathLst>
                <a:path extrusionOk="0" h="89" w="178">
                  <a:moveTo>
                    <a:pt x="0" y="49"/>
                  </a:moveTo>
                  <a:lnTo>
                    <a:pt x="89" y="89"/>
                  </a:lnTo>
                  <a:lnTo>
                    <a:pt x="178" y="49"/>
                  </a:lnTo>
                  <a:lnTo>
                    <a:pt x="89" y="0"/>
                  </a:lnTo>
                  <a:lnTo>
                    <a:pt x="0" y="49"/>
                  </a:lnTo>
                  <a:close/>
                </a:path>
              </a:pathLst>
            </a:custGeom>
            <a:solidFill>
              <a:srgbClr val="9696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777" name="Google Shape;777;p35"/>
            <p:cNvCxnSpPr/>
            <p:nvPr/>
          </p:nvCxnSpPr>
          <p:spPr>
            <a:xfrm>
              <a:off x="5464175" y="4646613"/>
              <a:ext cx="1066800" cy="0"/>
            </a:xfrm>
            <a:prstGeom prst="straightConnector1">
              <a:avLst/>
            </a:prstGeom>
            <a:noFill/>
            <a:ln cap="flat" cmpd="sng" w="9525">
              <a:solidFill>
                <a:schemeClr val="dk1"/>
              </a:solidFill>
              <a:prstDash val="solid"/>
              <a:round/>
              <a:headEnd len="med" w="med" type="none"/>
              <a:tailEnd len="lg" w="lg" type="stealth"/>
            </a:ln>
          </p:spPr>
        </p:cxnSp>
        <p:sp>
          <p:nvSpPr>
            <p:cNvPr id="778" name="Google Shape;778;p35"/>
            <p:cNvSpPr/>
            <p:nvPr/>
          </p:nvSpPr>
          <p:spPr>
            <a:xfrm>
              <a:off x="703263" y="3133725"/>
              <a:ext cx="2697162" cy="706438"/>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79" name="Google Shape;779;p35"/>
            <p:cNvSpPr/>
            <p:nvPr/>
          </p:nvSpPr>
          <p:spPr>
            <a:xfrm>
              <a:off x="830263" y="3416300"/>
              <a:ext cx="2524125"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chemeClr val="dk1"/>
                  </a:solidFill>
                  <a:latin typeface="Constantia"/>
                  <a:ea typeface="Constantia"/>
                  <a:cs typeface="Constantia"/>
                  <a:sym typeface="Constantia"/>
                </a:rPr>
                <a:t>CourseCatalogSystemAccess</a:t>
              </a:r>
              <a:endParaRPr sz="1800">
                <a:solidFill>
                  <a:schemeClr val="dk1"/>
                </a:solidFill>
                <a:latin typeface="Arial"/>
                <a:ea typeface="Arial"/>
                <a:cs typeface="Arial"/>
                <a:sym typeface="Arial"/>
              </a:endParaRPr>
            </a:p>
          </p:txBody>
        </p:sp>
        <p:sp>
          <p:nvSpPr>
            <p:cNvPr id="780" name="Google Shape;780;p35"/>
            <p:cNvSpPr/>
            <p:nvPr/>
          </p:nvSpPr>
          <p:spPr>
            <a:xfrm>
              <a:off x="1508125" y="3190875"/>
              <a:ext cx="111283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chemeClr val="dk1"/>
                  </a:solidFill>
                  <a:latin typeface="Constantia"/>
                  <a:ea typeface="Constantia"/>
                  <a:cs typeface="Constantia"/>
                  <a:sym typeface="Constantia"/>
                </a:rPr>
                <a:t>&lt;&lt;process&gt;&gt;</a:t>
              </a:r>
              <a:endParaRPr sz="1800">
                <a:solidFill>
                  <a:schemeClr val="dk1"/>
                </a:solidFill>
                <a:latin typeface="Arial"/>
                <a:ea typeface="Arial"/>
                <a:cs typeface="Arial"/>
                <a:sym typeface="Arial"/>
              </a:endParaRPr>
            </a:p>
          </p:txBody>
        </p:sp>
        <p:sp>
          <p:nvSpPr>
            <p:cNvPr id="781" name="Google Shape;781;p35"/>
            <p:cNvSpPr/>
            <p:nvPr/>
          </p:nvSpPr>
          <p:spPr>
            <a:xfrm>
              <a:off x="3019425" y="4052888"/>
              <a:ext cx="106363"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82" name="Google Shape;782;p35"/>
            <p:cNvSpPr/>
            <p:nvPr/>
          </p:nvSpPr>
          <p:spPr>
            <a:xfrm>
              <a:off x="2781300" y="3840163"/>
              <a:ext cx="212725" cy="112712"/>
            </a:xfrm>
            <a:custGeom>
              <a:rect b="b" l="l" r="r" t="t"/>
              <a:pathLst>
                <a:path extrusionOk="0" h="71" w="134">
                  <a:moveTo>
                    <a:pt x="0" y="0"/>
                  </a:moveTo>
                  <a:lnTo>
                    <a:pt x="89" y="0"/>
                  </a:lnTo>
                  <a:lnTo>
                    <a:pt x="134" y="71"/>
                  </a:lnTo>
                  <a:lnTo>
                    <a:pt x="45" y="71"/>
                  </a:lnTo>
                  <a:lnTo>
                    <a:pt x="0" y="0"/>
                  </a:lnTo>
                  <a:close/>
                </a:path>
              </a:pathLst>
            </a:custGeom>
            <a:solidFill>
              <a:srgbClr val="9696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83" name="Google Shape;783;p35"/>
            <p:cNvSpPr/>
            <p:nvPr/>
          </p:nvSpPr>
          <p:spPr>
            <a:xfrm>
              <a:off x="3810000" y="3962400"/>
              <a:ext cx="106363"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84" name="Google Shape;784;p35"/>
            <p:cNvSpPr/>
            <p:nvPr/>
          </p:nvSpPr>
          <p:spPr>
            <a:xfrm>
              <a:off x="3273425" y="2779713"/>
              <a:ext cx="106363"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sp>
          <p:nvSpPr>
            <p:cNvPr id="785" name="Google Shape;785;p35"/>
            <p:cNvSpPr/>
            <p:nvPr/>
          </p:nvSpPr>
          <p:spPr>
            <a:xfrm>
              <a:off x="3392488" y="3035300"/>
              <a:ext cx="239712" cy="114300"/>
            </a:xfrm>
            <a:custGeom>
              <a:rect b="b" l="l" r="r" t="t"/>
              <a:pathLst>
                <a:path extrusionOk="0" h="72" w="151">
                  <a:moveTo>
                    <a:pt x="0" y="54"/>
                  </a:moveTo>
                  <a:lnTo>
                    <a:pt x="89" y="72"/>
                  </a:lnTo>
                  <a:lnTo>
                    <a:pt x="151" y="18"/>
                  </a:lnTo>
                  <a:lnTo>
                    <a:pt x="62" y="0"/>
                  </a:lnTo>
                  <a:lnTo>
                    <a:pt x="0" y="54"/>
                  </a:lnTo>
                  <a:close/>
                </a:path>
              </a:pathLst>
            </a:custGeom>
            <a:solidFill>
              <a:srgbClr val="9696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786" name="Google Shape;786;p35"/>
            <p:cNvSpPr/>
            <p:nvPr/>
          </p:nvSpPr>
          <p:spPr>
            <a:xfrm>
              <a:off x="4648200" y="2743200"/>
              <a:ext cx="106363"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500">
                  <a:solidFill>
                    <a:schemeClr val="dk1"/>
                  </a:solidFill>
                  <a:latin typeface="Constantia"/>
                  <a:ea typeface="Constantia"/>
                  <a:cs typeface="Constantia"/>
                  <a:sym typeface="Constantia"/>
                </a:rPr>
                <a:t>1</a:t>
              </a:r>
              <a:endParaRPr sz="1800">
                <a:solidFill>
                  <a:schemeClr val="dk1"/>
                </a:solidFill>
                <a:latin typeface="Arial"/>
                <a:ea typeface="Arial"/>
                <a:cs typeface="Arial"/>
                <a:sym typeface="Arial"/>
              </a:endParaRPr>
            </a:p>
          </p:txBody>
        </p:sp>
        <p:cxnSp>
          <p:nvCxnSpPr>
            <p:cNvPr id="787" name="Google Shape;787;p35"/>
            <p:cNvCxnSpPr/>
            <p:nvPr/>
          </p:nvCxnSpPr>
          <p:spPr>
            <a:xfrm>
              <a:off x="2971800" y="3937000"/>
              <a:ext cx="736600" cy="330200"/>
            </a:xfrm>
            <a:prstGeom prst="straightConnector1">
              <a:avLst/>
            </a:prstGeom>
            <a:noFill/>
            <a:ln cap="flat" cmpd="sng" w="9525">
              <a:solidFill>
                <a:schemeClr val="dk1"/>
              </a:solidFill>
              <a:prstDash val="solid"/>
              <a:round/>
              <a:headEnd len="med" w="med" type="none"/>
              <a:tailEnd len="lg" w="lg" type="stealth"/>
            </a:ln>
          </p:spPr>
        </p:cxnSp>
        <p:cxnSp>
          <p:nvCxnSpPr>
            <p:cNvPr id="788" name="Google Shape;788;p35"/>
            <p:cNvCxnSpPr/>
            <p:nvPr/>
          </p:nvCxnSpPr>
          <p:spPr>
            <a:xfrm flipH="1" rot="10800000">
              <a:off x="3632200" y="2673350"/>
              <a:ext cx="1079500" cy="381000"/>
            </a:xfrm>
            <a:prstGeom prst="straightConnector1">
              <a:avLst/>
            </a:prstGeom>
            <a:noFill/>
            <a:ln cap="flat" cmpd="sng" w="9525">
              <a:solidFill>
                <a:schemeClr val="dk1"/>
              </a:solidFill>
              <a:prstDash val="solid"/>
              <a:round/>
              <a:headEnd len="med" w="med" type="none"/>
              <a:tailEnd len="lg" w="lg" type="stealth"/>
            </a:ln>
          </p:spPr>
        </p:cxnSp>
        <p:cxnSp>
          <p:nvCxnSpPr>
            <p:cNvPr id="789" name="Google Shape;789;p35"/>
            <p:cNvCxnSpPr/>
            <p:nvPr/>
          </p:nvCxnSpPr>
          <p:spPr>
            <a:xfrm>
              <a:off x="5487988" y="2252663"/>
              <a:ext cx="947737" cy="0"/>
            </a:xfrm>
            <a:prstGeom prst="straightConnector1">
              <a:avLst/>
            </a:prstGeom>
            <a:noFill/>
            <a:ln cap="flat" cmpd="sng" w="9525">
              <a:solidFill>
                <a:schemeClr val="dk1"/>
              </a:solidFill>
              <a:prstDash val="solid"/>
              <a:round/>
              <a:headEnd len="med" w="med" type="none"/>
              <a:tailEnd len="lg" w="lg" type="stealth"/>
            </a:ln>
          </p:spPr>
        </p:cxn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36"/>
          <p:cNvSpPr txBox="1"/>
          <p:nvPr>
            <p:ph type="title"/>
          </p:nvPr>
        </p:nvSpPr>
        <p:spPr>
          <a:xfrm>
            <a:off x="2895600" y="2438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The End.</a:t>
            </a:r>
            <a:endParaRPr/>
          </a:p>
        </p:txBody>
      </p:sp>
      <p:sp>
        <p:nvSpPr>
          <p:cNvPr id="795" name="Google Shape;795;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2017-11-13T20:26:15Z</dcterms:created>
  <dc:creator>ThuGiang</dc:creator>
</cp:coreProperties>
</file>