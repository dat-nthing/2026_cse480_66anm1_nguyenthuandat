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9144000"/>
  <p:notesSz cx="6858000" cy="9144000"/>
  <p:embeddedFontLst>
    <p:embeddedFont>
      <p:font typeface="Constantia"/>
      <p:regular r:id="rId45"/>
      <p:bold r:id="rId46"/>
      <p:italic r:id="rId47"/>
      <p:boldItalic r:id="rId48"/>
    </p:embeddedFont>
    <p:embeddedFont>
      <p:font typeface="Noto Sans Symbols"/>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1" roundtripDataSignature="AMtx7mi3vkK4SoqKqRamKDJ1L1nSy92M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Constantia-bold.fntdata"/><Relationship Id="rId45" Type="http://schemas.openxmlformats.org/officeDocument/2006/relationships/font" Target="fonts/Constanti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Constantia-boldItalic.fntdata"/><Relationship Id="rId47" Type="http://schemas.openxmlformats.org/officeDocument/2006/relationships/font" Target="fonts/Constantia-italic.fntdata"/><Relationship Id="rId49" Type="http://schemas.openxmlformats.org/officeDocument/2006/relationships/font" Target="fonts/NotoSansSymbol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NotoSansSymbols-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249" name="Google Shape;249;p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250" name="Google Shape;250;p4: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sz="1000">
                <a:latin typeface="Arial"/>
                <a:ea typeface="Arial"/>
                <a:cs typeface="Arial"/>
                <a:sym typeface="Arial"/>
              </a:rPr>
              <a:t>Use-Case Design</a:t>
            </a:r>
            <a:r>
              <a:rPr lang="en-US" sz="1000">
                <a:latin typeface="Arial"/>
                <a:ea typeface="Arial"/>
                <a:cs typeface="Arial"/>
                <a:sym typeface="Arial"/>
              </a:rPr>
              <a:t> is performed by the designer, once per use case.</a:t>
            </a:r>
            <a:endParaRPr/>
          </a:p>
          <a:p>
            <a:pPr indent="0" lvl="0" marL="0" rtl="0" algn="l">
              <a:spcBef>
                <a:spcPts val="0"/>
              </a:spcBef>
              <a:spcAft>
                <a:spcPts val="0"/>
              </a:spcAft>
              <a:buNone/>
            </a:pPr>
            <a:r>
              <a:rPr b="1" lang="en-US" sz="1000">
                <a:latin typeface="Arial"/>
                <a:ea typeface="Arial"/>
                <a:cs typeface="Arial"/>
                <a:sym typeface="Arial"/>
              </a:rPr>
              <a:t>Purpose:</a:t>
            </a:r>
            <a:endParaRPr sz="1000">
              <a:latin typeface="Arial"/>
              <a:ea typeface="Arial"/>
              <a:cs typeface="Arial"/>
              <a:sym typeface="Arial"/>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To refine use-case realizations in terms of interactions.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To refine requirements on the operations of design classes.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To refine requirements on the operations of design subsystems and/or their interfaces.</a:t>
            </a:r>
            <a:endParaRPr/>
          </a:p>
          <a:p>
            <a:pPr indent="0" lvl="0" marL="0" rtl="0" algn="l">
              <a:spcBef>
                <a:spcPts val="0"/>
              </a:spcBef>
              <a:spcAft>
                <a:spcPts val="0"/>
              </a:spcAft>
              <a:buNone/>
            </a:pPr>
            <a:r>
              <a:rPr b="1" lang="en-US" sz="1000">
                <a:latin typeface="Arial"/>
                <a:ea typeface="Arial"/>
                <a:cs typeface="Arial"/>
                <a:sym typeface="Arial"/>
              </a:rPr>
              <a:t>Input Artifacts:</a:t>
            </a:r>
            <a:endParaRPr sz="1000">
              <a:latin typeface="Arial"/>
              <a:ea typeface="Arial"/>
              <a:cs typeface="Arial"/>
              <a:sym typeface="Arial"/>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Supplementary Specifications </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Use cases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Use-case realizations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Design classes </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Design subsystems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Interfaces</a:t>
            </a:r>
            <a:endParaRPr/>
          </a:p>
          <a:p>
            <a:pPr indent="0" lvl="0" marL="0" rtl="0" algn="l">
              <a:spcBef>
                <a:spcPts val="0"/>
              </a:spcBef>
              <a:spcAft>
                <a:spcPts val="0"/>
              </a:spcAft>
              <a:buNone/>
            </a:pPr>
            <a:r>
              <a:rPr b="1" lang="en-US" sz="1000">
                <a:latin typeface="Arial"/>
                <a:ea typeface="Arial"/>
                <a:cs typeface="Arial"/>
                <a:sym typeface="Arial"/>
              </a:rPr>
              <a:t>Resulting Artifacts:</a:t>
            </a:r>
            <a:endParaRPr sz="1000">
              <a:latin typeface="Arial"/>
              <a:ea typeface="Arial"/>
              <a:cs typeface="Arial"/>
              <a:sym typeface="Arial"/>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Use-case realizations, described with class diagrams, interaction diagrams, and flow of events refined.</a:t>
            </a:r>
            <a:endParaRPr/>
          </a:p>
        </p:txBody>
      </p:sp>
      <p:sp>
        <p:nvSpPr>
          <p:cNvPr id="252" name="Google Shape;252;p4:notes"/>
          <p:cNvSpPr txBox="1"/>
          <p:nvPr/>
        </p:nvSpPr>
        <p:spPr>
          <a:xfrm>
            <a:off x="607125" y="1261132"/>
            <a:ext cx="1920364" cy="7168542"/>
          </a:xfrm>
          <a:prstGeom prst="rect">
            <a:avLst/>
          </a:prstGeom>
          <a:noFill/>
          <a:ln>
            <a:noFill/>
          </a:ln>
        </p:spPr>
        <p:txBody>
          <a:bodyPr anchorCtr="0" anchor="t" bIns="56250" lIns="112525" spcFirstLastPara="1" rIns="112525" wrap="square" tIns="5625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It is important to note that there are different designers (or design teams) on a project, each with a different focus.  Use-case designers are concerned with the design of the use-case realizations for a particular use case, coordinating with the necessary architects, subsystem designers, and class designers.</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The use-case designer concentrates on the interactions between subsystems and “free” classes (those not contained in a subsystem) classes. He or she can defer responsibility for what happens inside the subsystems to the subsystem designer(s). That’s the beauty of encapsulation</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Be careful with the discussion of project team organization, because you don’t want the discussion to turn into a discussion of OO project management concerns.  Refer the students to the OOPM course for more details on team organization.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5: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335" name="Google Shape;335;p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336" name="Google Shape;336;p5: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325">
                <a:latin typeface="Arial"/>
                <a:ea typeface="Arial"/>
                <a:cs typeface="Arial"/>
                <a:sym typeface="Arial"/>
              </a:rPr>
              <a:t>----------------------------------------------------------------------------------</a:t>
            </a:r>
            <a:endParaRPr/>
          </a:p>
          <a:p>
            <a:pPr indent="0" lvl="0" marL="0" rtl="0" algn="l">
              <a:lnSpc>
                <a:spcPct val="80000"/>
              </a:lnSpc>
              <a:spcBef>
                <a:spcPts val="0"/>
              </a:spcBef>
              <a:spcAft>
                <a:spcPts val="0"/>
              </a:spcAft>
              <a:buNone/>
            </a:pPr>
            <a:r>
              <a:rPr lang="en-US" sz="325">
                <a:latin typeface="Arial"/>
                <a:ea typeface="Arial"/>
                <a:cs typeface="Arial"/>
                <a:sym typeface="Arial"/>
              </a:rPr>
              <a:t>The above slide shows the major steps of the </a:t>
            </a:r>
            <a:r>
              <a:rPr b="1" lang="en-US" sz="325">
                <a:latin typeface="Arial"/>
                <a:ea typeface="Arial"/>
                <a:cs typeface="Arial"/>
                <a:sym typeface="Arial"/>
              </a:rPr>
              <a:t>Use-Case Design</a:t>
            </a:r>
            <a:r>
              <a:rPr lang="en-US" sz="325">
                <a:latin typeface="Arial"/>
                <a:ea typeface="Arial"/>
                <a:cs typeface="Arial"/>
                <a:sym typeface="Arial"/>
              </a:rPr>
              <a:t> activity.</a:t>
            </a:r>
            <a:endParaRPr/>
          </a:p>
          <a:p>
            <a:pPr indent="0" lvl="0" marL="0" rtl="0" algn="l">
              <a:lnSpc>
                <a:spcPct val="80000"/>
              </a:lnSpc>
              <a:spcBef>
                <a:spcPts val="0"/>
              </a:spcBef>
              <a:spcAft>
                <a:spcPts val="0"/>
              </a:spcAft>
              <a:buNone/>
            </a:pPr>
            <a:r>
              <a:rPr lang="en-US" sz="325">
                <a:latin typeface="Arial"/>
                <a:ea typeface="Arial"/>
                <a:cs typeface="Arial"/>
                <a:sym typeface="Arial"/>
              </a:rPr>
              <a:t>Use-case realizations evolve from interactions among analysis classes to interactions among design elements (for example, design classes and subsystems).  </a:t>
            </a:r>
            <a:endParaRPr/>
          </a:p>
          <a:p>
            <a:pPr indent="0" lvl="0" marL="0" rtl="0" algn="l">
              <a:lnSpc>
                <a:spcPct val="80000"/>
              </a:lnSpc>
              <a:spcBef>
                <a:spcPts val="0"/>
              </a:spcBef>
              <a:spcAft>
                <a:spcPts val="0"/>
              </a:spcAft>
              <a:buNone/>
            </a:pPr>
            <a:r>
              <a:rPr lang="en-US" sz="325">
                <a:latin typeface="Arial"/>
                <a:ea typeface="Arial"/>
                <a:cs typeface="Arial"/>
                <a:sym typeface="Arial"/>
              </a:rPr>
              <a:t>The purpose of </a:t>
            </a:r>
            <a:r>
              <a:rPr b="1" lang="en-US" sz="325">
                <a:latin typeface="Arial"/>
                <a:ea typeface="Arial"/>
                <a:cs typeface="Arial"/>
                <a:sym typeface="Arial"/>
              </a:rPr>
              <a:t>Use-Case Design</a:t>
            </a:r>
            <a:r>
              <a:rPr lang="en-US" sz="325">
                <a:latin typeface="Arial"/>
                <a:ea typeface="Arial"/>
                <a:cs typeface="Arial"/>
                <a:sym typeface="Arial"/>
              </a:rPr>
              <a:t> is to make sure these are consistent and make sense.  During </a:t>
            </a:r>
            <a:r>
              <a:rPr b="1" lang="en-US" sz="325">
                <a:latin typeface="Arial"/>
                <a:ea typeface="Arial"/>
                <a:cs typeface="Arial"/>
                <a:sym typeface="Arial"/>
              </a:rPr>
              <a:t>Use-Case Design</a:t>
            </a:r>
            <a:r>
              <a:rPr lang="en-US" sz="325">
                <a:latin typeface="Arial"/>
                <a:ea typeface="Arial"/>
                <a:cs typeface="Arial"/>
                <a:sym typeface="Arial"/>
              </a:rPr>
              <a:t>, the focus is on the use case, and this includes crossing subsystem boundaries. The use-case designer needs to make sure the use case is implemented completely and consistently across the subsystems.</a:t>
            </a:r>
            <a:endParaRPr/>
          </a:p>
          <a:p>
            <a:pPr indent="0" lvl="0" marL="0" rtl="0" algn="l">
              <a:lnSpc>
                <a:spcPct val="80000"/>
              </a:lnSpc>
              <a:spcBef>
                <a:spcPts val="0"/>
              </a:spcBef>
              <a:spcAft>
                <a:spcPts val="0"/>
              </a:spcAft>
              <a:buNone/>
            </a:pPr>
            <a:r>
              <a:rPr lang="en-US" sz="325">
                <a:latin typeface="Arial"/>
                <a:ea typeface="Arial"/>
                <a:cs typeface="Arial"/>
                <a:sym typeface="Arial"/>
              </a:rPr>
              <a:t>Anything done from the use-case perspective is part of </a:t>
            </a:r>
            <a:r>
              <a:rPr b="1" lang="en-US" sz="325">
                <a:latin typeface="Arial"/>
                <a:ea typeface="Arial"/>
                <a:cs typeface="Arial"/>
                <a:sym typeface="Arial"/>
              </a:rPr>
              <a:t>Use-Case Design</a:t>
            </a:r>
            <a:r>
              <a:rPr lang="en-US" sz="325">
                <a:latin typeface="Arial"/>
                <a:ea typeface="Arial"/>
                <a:cs typeface="Arial"/>
                <a:sym typeface="Arial"/>
              </a:rPr>
              <a:t>.</a:t>
            </a:r>
            <a:endParaRPr/>
          </a:p>
          <a:p>
            <a:pPr indent="0" lvl="0" marL="0" rtl="0" algn="l">
              <a:lnSpc>
                <a:spcPct val="80000"/>
              </a:lnSpc>
              <a:spcBef>
                <a:spcPts val="0"/>
              </a:spcBef>
              <a:spcAft>
                <a:spcPts val="0"/>
              </a:spcAft>
              <a:buNone/>
            </a:pPr>
            <a:r>
              <a:rPr lang="en-US" sz="325">
                <a:latin typeface="Arial"/>
                <a:ea typeface="Arial"/>
                <a:cs typeface="Arial"/>
                <a:sym typeface="Arial"/>
              </a:rPr>
              <a:t>This module will address each of these steps listed on the slide.</a:t>
            </a:r>
            <a:endParaRPr/>
          </a:p>
          <a:p>
            <a:pPr indent="0" lvl="0" marL="0" rtl="0" algn="l">
              <a:lnSpc>
                <a:spcPct val="80000"/>
              </a:lnSpc>
              <a:spcBef>
                <a:spcPts val="0"/>
              </a:spcBef>
              <a:spcAft>
                <a:spcPts val="0"/>
              </a:spcAft>
              <a:buNone/>
            </a:pPr>
            <a:r>
              <a:rPr lang="en-US" sz="325">
                <a:latin typeface="Arial"/>
                <a:ea typeface="Arial"/>
                <a:cs typeface="Arial"/>
                <a:sym typeface="Arial"/>
              </a:rPr>
              <a:t>----------------------------------------------------------------------------------</a:t>
            </a:r>
            <a:endParaRPr/>
          </a:p>
          <a:p>
            <a:pPr indent="0" lvl="0" marL="0" rtl="0" algn="l">
              <a:lnSpc>
                <a:spcPct val="80000"/>
              </a:lnSpc>
              <a:spcBef>
                <a:spcPts val="0"/>
              </a:spcBef>
              <a:spcAft>
                <a:spcPts val="0"/>
              </a:spcAft>
              <a:buNone/>
            </a:pPr>
            <a:r>
              <a:rPr b="1" lang="en-US" sz="422"/>
              <a:t>5.5. Thiết kế ca sử dụng</a:t>
            </a:r>
            <a:endParaRPr b="1" sz="422"/>
          </a:p>
          <a:p>
            <a:pPr indent="0" lvl="0" marL="0" rtl="0" algn="l">
              <a:lnSpc>
                <a:spcPct val="80000"/>
              </a:lnSpc>
              <a:spcBef>
                <a:spcPts val="0"/>
              </a:spcBef>
              <a:spcAft>
                <a:spcPts val="0"/>
              </a:spcAft>
              <a:buNone/>
            </a:pPr>
            <a:r>
              <a:rPr lang="en-US" sz="422"/>
              <a:t>Trong hoạt động Thiết kế ca sử dụng (</a:t>
            </a:r>
            <a:r>
              <a:rPr i="1" lang="en-US" sz="422"/>
              <a:t>Use-Case Design</a:t>
            </a:r>
            <a:r>
              <a:rPr lang="en-US" sz="422"/>
              <a:t>), chúng ta tập trung vào hoạt động làm thế nào mỗi ca sử dụng được cài đặt và chắc chắn có sự đồng nhất từ đầu đến cuối. Chúng ta cũng cần kiểm chứng các thông tin ko bị mất mát trong quá trình phân tích, thiết kế và cài đặt. </a:t>
            </a:r>
            <a:endParaRPr/>
          </a:p>
          <a:p>
            <a:pPr indent="0" lvl="0" marL="0" rtl="0" algn="l">
              <a:lnSpc>
                <a:spcPct val="80000"/>
              </a:lnSpc>
              <a:spcBef>
                <a:spcPts val="0"/>
              </a:spcBef>
              <a:spcAft>
                <a:spcPts val="0"/>
              </a:spcAft>
              <a:buNone/>
            </a:pPr>
            <a:r>
              <a:rPr lang="en-US" sz="422"/>
              <a:t>Thiết kế ca sử dụng là nơi các phần tử thiết kế (các lớp phân tích và các hệ thống con) gặp được các cơ chế thiết kế. Hiện thực hoá ca sử dụng được khởi tạo trong Phân tích ca sử dụng, được làm mịn đến các phần tử thiết kế, sử dụng các mẫu tương tác định nghĩa cho cơ chế kiến trúc.</a:t>
            </a:r>
            <a:endParaRPr/>
          </a:p>
          <a:p>
            <a:pPr indent="0" lvl="0" marL="0" rtl="0" algn="l">
              <a:lnSpc>
                <a:spcPct val="80000"/>
              </a:lnSpc>
              <a:spcBef>
                <a:spcPts val="0"/>
              </a:spcBef>
              <a:spcAft>
                <a:spcPts val="0"/>
              </a:spcAft>
              <a:buNone/>
            </a:pPr>
            <a:r>
              <a:rPr lang="en-US" sz="422"/>
              <a:t>Mục đích của thiết kế ca sử dụng là để làm mịn hiện thực hoá ca sử dụng và các yêu cầu lien quan đến thao tác của các lớp và hệ thống con. Các chế tác đầu vào của hoạt động này bao gồm mô hình phân tích, các đặc tả bổ sung, các lớp thiết kế, hệ thống con,… và kết quả của hoạt động này là mô hình thiết kế với các ca sử dụng đã hiện thực hoá ở mức thiết kế.</a:t>
            </a:r>
            <a:endParaRPr/>
          </a:p>
          <a:p>
            <a:pPr indent="0" lvl="0" marL="0" rtl="0" algn="l">
              <a:lnSpc>
                <a:spcPct val="80000"/>
              </a:lnSpc>
              <a:spcBef>
                <a:spcPts val="0"/>
              </a:spcBef>
              <a:spcAft>
                <a:spcPts val="0"/>
              </a:spcAft>
              <a:buNone/>
            </a:pPr>
            <a:r>
              <a:rPr b="1" lang="en-US" sz="422"/>
              <a:t>5.5.1. Mô tả sự tương tác giữa các đối tượng thiết kế</a:t>
            </a:r>
            <a:endParaRPr b="1" sz="422"/>
          </a:p>
          <a:p>
            <a:pPr indent="0" lvl="0" marL="0" rtl="0" algn="l">
              <a:lnSpc>
                <a:spcPct val="80000"/>
              </a:lnSpc>
              <a:spcBef>
                <a:spcPts val="0"/>
              </a:spcBef>
              <a:spcAft>
                <a:spcPts val="0"/>
              </a:spcAft>
              <a:buNone/>
            </a:pPr>
            <a:r>
              <a:rPr lang="en-US" sz="422"/>
              <a:t>Mỗi hiện thực hoá của ca sử dụng cần được làm mịn để mô tả sự tương tác giữa các đối tượng tham gia. Quy trình thực hiện của nó có thể được mô tả như sau:</a:t>
            </a:r>
            <a:endParaRPr/>
          </a:p>
          <a:p>
            <a:pPr indent="0" lvl="0" marL="0" rtl="0" algn="l">
              <a:lnSpc>
                <a:spcPct val="80000"/>
              </a:lnSpc>
              <a:spcBef>
                <a:spcPts val="0"/>
              </a:spcBef>
              <a:spcAft>
                <a:spcPts val="0"/>
              </a:spcAft>
              <a:buNone/>
            </a:pPr>
            <a:r>
              <a:rPr lang="en-US" sz="422"/>
              <a:t>Xác định đối tượng tham gia trong luồng các sự kiện của ca sử dụng. Các đối tượng có thể là các thể hiệncủa các lớp thiết kế và các hệ thống con, hoặc chúng cũng có thể là các thể hiện của các tác nhân tham gia tương tác với ca sủ dụng.</a:t>
            </a:r>
            <a:endParaRPr/>
          </a:p>
          <a:p>
            <a:pPr indent="0" lvl="0" marL="0" rtl="0" algn="l">
              <a:lnSpc>
                <a:spcPct val="80000"/>
              </a:lnSpc>
              <a:spcBef>
                <a:spcPts val="0"/>
              </a:spcBef>
              <a:spcAft>
                <a:spcPts val="0"/>
              </a:spcAft>
              <a:buNone/>
            </a:pPr>
            <a:r>
              <a:rPr lang="en-US" sz="422"/>
              <a:t>Biểu diễn mỗi đối tượng tham gia trong 1 biểu đồ tương tác. Các hệ thống con được biểu diễn bởi các thể hiện của giao diện hệ thống con.</a:t>
            </a:r>
            <a:endParaRPr/>
          </a:p>
          <a:p>
            <a:pPr indent="0" lvl="0" marL="0" rtl="0" algn="l">
              <a:lnSpc>
                <a:spcPct val="80000"/>
              </a:lnSpc>
              <a:spcBef>
                <a:spcPts val="0"/>
              </a:spcBef>
              <a:spcAft>
                <a:spcPts val="0"/>
              </a:spcAft>
              <a:buNone/>
            </a:pPr>
            <a:r>
              <a:rPr lang="en-US" sz="422"/>
              <a:t>Minh hoạ việc gửi thông điẹp giữa các đối tượng sử dụng các hình mũi tên. Tên của các thông điệp nên đặt theo tên của thao tác được gọi. Với thông điệp đến các lớp thiết kế, các thao tác chính là các thao tác của lớp, với thông điệp đến các hệ thống con, các thao tác của các giao diện. </a:t>
            </a:r>
            <a:endParaRPr/>
          </a:p>
          <a:p>
            <a:pPr indent="0" lvl="0" marL="0" rtl="0" algn="l">
              <a:lnSpc>
                <a:spcPct val="80000"/>
              </a:lnSpc>
              <a:spcBef>
                <a:spcPts val="0"/>
              </a:spcBef>
              <a:spcAft>
                <a:spcPts val="0"/>
              </a:spcAft>
              <a:buNone/>
            </a:pPr>
            <a:r>
              <a:rPr lang="en-US" sz="422"/>
              <a:t>Mô tả những gì đối tượng thực hiện khi nó nhận một thông điệp.</a:t>
            </a:r>
            <a:endParaRPr/>
          </a:p>
          <a:p>
            <a:pPr indent="0" lvl="0" marL="0" rtl="0" algn="l">
              <a:lnSpc>
                <a:spcPct val="80000"/>
              </a:lnSpc>
              <a:spcBef>
                <a:spcPts val="0"/>
              </a:spcBef>
              <a:spcAft>
                <a:spcPts val="0"/>
              </a:spcAft>
              <a:buNone/>
            </a:pPr>
            <a:r>
              <a:rPr lang="en-US" sz="422"/>
              <a:t>Với sự thực thi của mỗi ca sử dụng, chúng ta minh hoạ quan hệ giữa các lớp bằng 1 hoặc nhiều biểu đồ lớp.</a:t>
            </a:r>
            <a:endParaRPr/>
          </a:p>
          <a:p>
            <a:pPr indent="0" lvl="0" marL="0" rtl="0" algn="l">
              <a:lnSpc>
                <a:spcPct val="80000"/>
              </a:lnSpc>
              <a:spcBef>
                <a:spcPts val="0"/>
              </a:spcBef>
              <a:spcAft>
                <a:spcPts val="0"/>
              </a:spcAft>
              <a:buNone/>
            </a:pPr>
            <a:r>
              <a:rPr lang="en-US" sz="422"/>
              <a:t>Trong phần </a:t>
            </a:r>
            <a:r>
              <a:rPr i="1" lang="en-US" sz="422"/>
              <a:t>Xác định các phần tử thiết kế</a:t>
            </a:r>
            <a:r>
              <a:rPr lang="en-US" sz="422"/>
              <a:t> (mục 5.1), chúng ta đã xác định kiến trúc của hệ thống Đăng ký lớp môn học. Hệ thống cho phép tương tác với các hệ thống ngoài là </a:t>
            </a:r>
            <a:r>
              <a:rPr i="1" lang="en-US" sz="422"/>
              <a:t>Billing System</a:t>
            </a:r>
            <a:r>
              <a:rPr lang="en-US" sz="422"/>
              <a:t> và </a:t>
            </a:r>
            <a:r>
              <a:rPr i="1" lang="en-US" sz="422"/>
              <a:t>CourseCatalogSystem</a:t>
            </a:r>
            <a:r>
              <a:rPr lang="en-US" sz="422"/>
              <a:t>. Các hệ thống này là các lớp phân tích trong giai đoạn phân tích hệ thống. Ở giai đoạn thiết kế, các lớp này được xác định là các hệ thống con. Hình 5.4 đã biểu diễn các hệ thống con này cũng như các giao diện của nó.</a:t>
            </a:r>
            <a:endParaRPr/>
          </a:p>
          <a:p>
            <a:pPr indent="0" lvl="0" marL="0" rtl="0" algn="l">
              <a:lnSpc>
                <a:spcPct val="80000"/>
              </a:lnSpc>
              <a:spcBef>
                <a:spcPts val="0"/>
              </a:spcBef>
              <a:spcAft>
                <a:spcPts val="0"/>
              </a:spcAft>
              <a:buNone/>
            </a:pPr>
            <a:r>
              <a:rPr lang="en-US" sz="422"/>
              <a:t>Hệ thống con </a:t>
            </a:r>
            <a:r>
              <a:rPr i="1" lang="en-US" sz="422"/>
              <a:t>BillingSystem</a:t>
            </a:r>
            <a:r>
              <a:rPr lang="en-US" sz="422"/>
              <a:t> cung cấp một giao diện để tương tác với bên ngoài , hệ thống này dung để nộp hoá đơn khi sự đăng ký hoàn thành và sinh viên đã được đăng ký môn học. </a:t>
            </a:r>
            <a:endParaRPr/>
          </a:p>
          <a:p>
            <a:pPr indent="0" lvl="0" marL="0" rtl="0" algn="l">
              <a:lnSpc>
                <a:spcPct val="80000"/>
              </a:lnSpc>
              <a:spcBef>
                <a:spcPts val="0"/>
              </a:spcBef>
              <a:spcAft>
                <a:spcPts val="0"/>
              </a:spcAft>
              <a:buNone/>
            </a:pPr>
            <a:r>
              <a:rPr lang="en-US" sz="422"/>
              <a:t>Hệ thống con </a:t>
            </a:r>
            <a:r>
              <a:rPr i="1" lang="en-US" sz="422"/>
              <a:t>CourseCatalogSystem</a:t>
            </a:r>
            <a:r>
              <a:rPr lang="en-US" sz="422"/>
              <a:t> lien quan đến hệ thống cung cấp danh sách môn học. Hệ thống này cung cấp tất cả các môn học có trong trường, các môn học đưa ra để lựa chọn. Các lớp phân tích khác ánh xạ trực tiếp  sang các lớp thiết kế trong mô hình thiết kế.</a:t>
            </a:r>
            <a:endParaRPr/>
          </a:p>
          <a:p>
            <a:pPr indent="0" lvl="0" marL="0" rtl="0" algn="l">
              <a:lnSpc>
                <a:spcPct val="80000"/>
              </a:lnSpc>
              <a:spcBef>
                <a:spcPts val="0"/>
              </a:spcBef>
              <a:spcAft>
                <a:spcPts val="0"/>
              </a:spcAft>
              <a:buNone/>
            </a:pPr>
            <a:r>
              <a:rPr b="1" lang="en-US" sz="422"/>
              <a:t>5.5.2. Đơn giản hoá biểu đồ tuần tự sử dụng hệ thống con</a:t>
            </a:r>
            <a:endParaRPr/>
          </a:p>
          <a:p>
            <a:pPr indent="0" lvl="0" marL="0" rtl="0" algn="l">
              <a:lnSpc>
                <a:spcPct val="80000"/>
              </a:lnSpc>
              <a:spcBef>
                <a:spcPts val="0"/>
              </a:spcBef>
              <a:spcAft>
                <a:spcPts val="0"/>
              </a:spcAft>
              <a:buNone/>
            </a:pPr>
            <a:r>
              <a:rPr lang="en-US" sz="422"/>
              <a:t>Khi một ca sử dụng được thực hiện, luồng các sự kiện thường được mô tả bởi các đối tượng thực hiện, đó là sự tương tác giữa các đối tượng thiết kế. Để đơn giản hoá các biểu đồ và định nghĩa các hành vi có thể sử dụng lại, chúng ta cần đóng gói các luồng con của các sự kiện vào trong hệ thống con. Với các hệ thống con, các biểu đồ tương tác có thể minh hoạ cho sự tương tác bên trong, cũng chính là các yêu cầu hành vi của nó. Các biểu đồ này được phát triển ở giai đoạn Thiết kế hệ thống con.</a:t>
            </a:r>
            <a:endParaRPr/>
          </a:p>
          <a:p>
            <a:pPr indent="0" lvl="0" marL="0" rtl="0" algn="l">
              <a:lnSpc>
                <a:spcPct val="80000"/>
              </a:lnSpc>
              <a:spcBef>
                <a:spcPts val="0"/>
              </a:spcBef>
              <a:spcAft>
                <a:spcPts val="0"/>
              </a:spcAft>
              <a:buNone/>
            </a:pPr>
            <a:r>
              <a:rPr lang="en-US" sz="422"/>
              <a:t>Trong biểu diễn các biểu đồ tương tác, các giao diện dùng để thay thế các hệ thống con. Các thông điệp trong hệ thống con vì vậy được các mô hình gửi đến các giao diện hệ thống con.</a:t>
            </a:r>
            <a:endParaRPr/>
          </a:p>
          <a:p>
            <a:pPr indent="0" lvl="0" marL="0" rtl="0" algn="l">
              <a:lnSpc>
                <a:spcPct val="80000"/>
              </a:lnSpc>
              <a:spcBef>
                <a:spcPts val="0"/>
              </a:spcBef>
              <a:spcAft>
                <a:spcPts val="0"/>
              </a:spcAft>
              <a:buNone/>
            </a:pPr>
            <a:r>
              <a:rPr lang="en-US" sz="422"/>
              <a:t>Với phương pháp này, khi mô tả sự tương tác, vào các dịch vụ mà ko phải sự cài đặt dịch vụ trong các  phần thiết kế. Vấn đề này là một phần trong “Thiết kế theo hợp đồng” (“</a:t>
            </a:r>
            <a:r>
              <a:rPr i="1" lang="en-US" sz="422"/>
              <a:t>Design by Contract</a:t>
            </a:r>
            <a:r>
              <a:rPr lang="en-US" sz="422"/>
              <a:t>”), một phương pháp phát triển phần mềm một cách chặt chẽ sử dụng cơ chế trừu tượng và đóng gói. </a:t>
            </a:r>
            <a:endParaRPr/>
          </a:p>
          <a:p>
            <a:pPr indent="0" lvl="0" marL="0" rtl="0" algn="l">
              <a:lnSpc>
                <a:spcPct val="80000"/>
              </a:lnSpc>
              <a:spcBef>
                <a:spcPts val="0"/>
              </a:spcBef>
              <a:spcAft>
                <a:spcPts val="0"/>
              </a:spcAft>
              <a:buNone/>
            </a:pPr>
            <a:r>
              <a:rPr lang="en-US" sz="422"/>
              <a:t>Việc đóng gói sự tương tác các hệ thống con trong mô hình hoá toàn bộ hệ thống có những ưu điểm như sau:</a:t>
            </a:r>
            <a:endParaRPr/>
          </a:p>
          <a:p>
            <a:pPr indent="0" lvl="0" marL="0" rtl="0" algn="l">
              <a:lnSpc>
                <a:spcPct val="80000"/>
              </a:lnSpc>
              <a:spcBef>
                <a:spcPts val="0"/>
              </a:spcBef>
              <a:spcAft>
                <a:spcPts val="0"/>
              </a:spcAft>
              <a:buNone/>
            </a:pPr>
            <a:r>
              <a:rPr lang="en-US" sz="422"/>
              <a:t>Hiện thực hoá (realization) ca sử dụng trở nên ít nhầm lẫn, đặc biệt với thiết kế bên trong của các hệ thống phức tạp.</a:t>
            </a:r>
            <a:endParaRPr/>
          </a:p>
          <a:p>
            <a:pPr indent="0" lvl="0" marL="0" rtl="0" algn="l">
              <a:lnSpc>
                <a:spcPct val="80000"/>
              </a:lnSpc>
              <a:spcBef>
                <a:spcPts val="0"/>
              </a:spcBef>
              <a:spcAft>
                <a:spcPts val="0"/>
              </a:spcAft>
              <a:buNone/>
            </a:pPr>
            <a:r>
              <a:rPr lang="en-US" sz="422"/>
              <a:t>Hiện thực hoá ca sử dụng có thể được tạo ra trước các thiết kế bên trong của các hệ thống con. Điều này được sử dụng để đảm bảo rằng các chức năng của ca sử dụng không mất đi trong việc chuyển từ Phân tích ca sử dụng và xác định các phần tử thiết kế (các hệ thống con và lớp thiết kế).</a:t>
            </a:r>
            <a:endParaRPr/>
          </a:p>
          <a:p>
            <a:pPr indent="0" lvl="0" marL="0" rtl="0" algn="l">
              <a:lnSpc>
                <a:spcPct val="80000"/>
              </a:lnSpc>
              <a:spcBef>
                <a:spcPts val="0"/>
              </a:spcBef>
              <a:spcAft>
                <a:spcPts val="0"/>
              </a:spcAft>
              <a:buNone/>
            </a:pPr>
            <a:r>
              <a:rPr lang="en-US" sz="422"/>
              <a:t>Hiện thực hoá ca sử dụng trở nên dễ dàng thay đổi, đặc biệt nếu hệ thống con cần thay thế cho hệ thống con khác.</a:t>
            </a:r>
            <a:endParaRPr/>
          </a:p>
          <a:p>
            <a:pPr indent="0" lvl="0" marL="0" rtl="0" algn="l">
              <a:lnSpc>
                <a:spcPct val="80000"/>
              </a:lnSpc>
              <a:spcBef>
                <a:spcPts val="0"/>
              </a:spcBef>
              <a:spcAft>
                <a:spcPts val="0"/>
              </a:spcAft>
              <a:buNone/>
            </a:pPr>
            <a:r>
              <a:rPr b="1" lang="en-US" sz="422"/>
              <a:t>5.5.3. Mô tả các hành vi liên quan dữ liệu bền vững</a:t>
            </a:r>
            <a:endParaRPr b="1" sz="422"/>
          </a:p>
          <a:p>
            <a:pPr indent="0" lvl="0" marL="0" rtl="0" algn="l">
              <a:lnSpc>
                <a:spcPct val="80000"/>
              </a:lnSpc>
              <a:spcBef>
                <a:spcPts val="0"/>
              </a:spcBef>
              <a:spcAft>
                <a:spcPts val="0"/>
              </a:spcAft>
              <a:buNone/>
            </a:pPr>
            <a:r>
              <a:rPr lang="en-US" sz="422"/>
              <a:t>Trong thực tế, thỉnh thoảng ứng dụng cần kiểm soát các khía cạnh khác nhau của dữ liệu bền vững của đối tượng. Các khía cạch này bao gồm:</a:t>
            </a:r>
            <a:endParaRPr/>
          </a:p>
          <a:p>
            <a:pPr indent="0" lvl="0" marL="0" rtl="0" algn="l">
              <a:lnSpc>
                <a:spcPct val="80000"/>
              </a:lnSpc>
              <a:spcBef>
                <a:spcPts val="0"/>
              </a:spcBef>
              <a:spcAft>
                <a:spcPts val="0"/>
              </a:spcAft>
              <a:buNone/>
            </a:pPr>
            <a:r>
              <a:rPr lang="en-US" sz="422"/>
              <a:t>Khi xác định làm thế nào các luồng giao dịch được quản lý.</a:t>
            </a:r>
            <a:endParaRPr/>
          </a:p>
          <a:p>
            <a:pPr indent="0" lvl="0" marL="0" rtl="0" algn="l">
              <a:lnSpc>
                <a:spcPct val="80000"/>
              </a:lnSpc>
              <a:spcBef>
                <a:spcPts val="0"/>
              </a:spcBef>
              <a:spcAft>
                <a:spcPts val="0"/>
              </a:spcAft>
              <a:buNone/>
            </a:pPr>
            <a:r>
              <a:rPr lang="en-US" sz="422"/>
              <a:t>Khi các đối tượng bền vững được viết ra – hoặc lúc ban đầu khi đối tượng bền vững hoặc thời gian sau khi đối tượng được cập nhật.</a:t>
            </a:r>
            <a:endParaRPr/>
          </a:p>
          <a:p>
            <a:pPr indent="0" lvl="0" marL="0" rtl="0" algn="l">
              <a:lnSpc>
                <a:spcPct val="80000"/>
              </a:lnSpc>
              <a:spcBef>
                <a:spcPts val="0"/>
              </a:spcBef>
              <a:spcAft>
                <a:spcPts val="0"/>
              </a:spcAft>
              <a:buNone/>
            </a:pPr>
            <a:r>
              <a:rPr lang="en-US" sz="422"/>
              <a:t>Khi các đối tượng bền vững được đọc. Việc truy tìm các đối tượng từ kho đối tượng lưu trữ là việc cần thiết trước khi ứng dụng có thể gửi thông điệp đến đối tượng. Chúng ta cần gửi một thông điệp đến đối tượng. Chúng ta cần gửi một thông điệp đến một đối tượng để truy vấn dữ liệu, sinh các đối tượng,…</a:t>
            </a:r>
            <a:endParaRPr/>
          </a:p>
          <a:p>
            <a:pPr indent="0" lvl="0" marL="0" rtl="0" algn="l">
              <a:lnSpc>
                <a:spcPct val="80000"/>
              </a:lnSpc>
              <a:spcBef>
                <a:spcPts val="0"/>
              </a:spcBef>
              <a:spcAft>
                <a:spcPts val="0"/>
              </a:spcAft>
              <a:buNone/>
            </a:pPr>
            <a:r>
              <a:rPr lang="en-US" sz="422"/>
              <a:t>Khi các đối tượng bền vững bị xoá. Không giống các đối tượng tạm thời (</a:t>
            </a:r>
            <a:r>
              <a:rPr i="1" lang="en-US" sz="422"/>
              <a:t>transient objects</a:t>
            </a:r>
            <a:r>
              <a:rPr lang="en-US" sz="422"/>
              <a:t>), nó sẽ biến mất khi tiến trình tạo ra nó mất đi, các đối tượng bền vững tồn tại cho đến khi nó thực sự được xoá. Do đó, việc xoá các đối tượng khi không cần cần dùng đến là rất quan trọng. Tuy nhiên, rất khó xác định đối tượng nào là không còn sủ dụng.</a:t>
            </a:r>
            <a:endParaRPr/>
          </a:p>
          <a:p>
            <a:pPr indent="0" lvl="0" marL="0" rtl="0" algn="l">
              <a:lnSpc>
                <a:spcPct val="80000"/>
              </a:lnSpc>
              <a:spcBef>
                <a:spcPts val="0"/>
              </a:spcBef>
              <a:spcAft>
                <a:spcPts val="0"/>
              </a:spcAft>
              <a:buNone/>
            </a:pPr>
            <a:r>
              <a:rPr lang="en-US" sz="422"/>
              <a:t>Trước khi nói đến mô hình hoá các hành vi liên quan đến sự lưu trữ, chúng ta cần định nghĩa sự giao dịch. Sự giao dịch định nghĩa một tập các thao tác nguyên tử: tất cả hoặc không có thao tác nào thực hiện. Trong ngữ cảnh lưu trữ, một sự giao dịch (</a:t>
            </a:r>
            <a:r>
              <a:rPr i="1" lang="en-US" sz="422"/>
              <a:t>tracsaction</a:t>
            </a:r>
            <a:r>
              <a:rPr lang="en-US" sz="422"/>
              <a:t>) định nghĩa một tập các thay đổi của đối tượng. Sự giao dịch cung cấp một tập các thay đổi của các đối tượng. Sự giao dịch cung cấp 1 sự nhất quán, đảm bảo tập các đối tượng chuyển từ trạng thái này sang trạng thái khác một cách thống nhất. Nếu tất cả thao tác đặc tả trong một sự giao dịch không thể thực hiện (thường do lỗi xảy ra), sự giao dịch sẽ bị bỏ qua và sự thay đổi xảy ra trong giao dịch được giữ nguyên.</a:t>
            </a:r>
            <a:endParaRPr/>
          </a:p>
          <a:p>
            <a:pPr indent="0" lvl="0" marL="0" rtl="0" algn="l">
              <a:lnSpc>
                <a:spcPct val="80000"/>
              </a:lnSpc>
              <a:spcBef>
                <a:spcPts val="0"/>
              </a:spcBef>
              <a:spcAft>
                <a:spcPts val="0"/>
              </a:spcAft>
              <a:buNone/>
            </a:pPr>
            <a:r>
              <a:rPr lang="en-US" sz="422"/>
              <a:t>	Các lỗi điều kiện được đoán trước thường biểu diễn các luồng ngoại lệ trong các ca sủ dụng. Trong các tình huống khác, các lỗi điều kiện xuất hiện vì một số vấn đề xảy ra trong hệ thống. Các lỗi điều kiện cần phải mô tả rõ trong khi đặc tả sự tương tác.</a:t>
            </a:r>
            <a:endParaRPr/>
          </a:p>
          <a:p>
            <a:pPr indent="0" lvl="0" marL="0" rtl="0" algn="l">
              <a:lnSpc>
                <a:spcPct val="80000"/>
              </a:lnSpc>
              <a:spcBef>
                <a:spcPts val="0"/>
              </a:spcBef>
              <a:spcAft>
                <a:spcPts val="0"/>
              </a:spcAft>
              <a:buNone/>
            </a:pPr>
            <a:r>
              <a:rPr b="1" lang="en-US" sz="422"/>
              <a:t>5.5.4. Làm mịn sự mô tả luồng các sự kiện</a:t>
            </a:r>
            <a:endParaRPr b="1" sz="422"/>
          </a:p>
          <a:p>
            <a:pPr indent="0" lvl="0" marL="0" rtl="0" algn="l">
              <a:lnSpc>
                <a:spcPct val="80000"/>
              </a:lnSpc>
              <a:spcBef>
                <a:spcPts val="0"/>
              </a:spcBef>
              <a:spcAft>
                <a:spcPts val="0"/>
              </a:spcAft>
              <a:buNone/>
            </a:pPr>
            <a:r>
              <a:rPr lang="en-US" sz="422"/>
              <a:t>Trong các trường hợp mà luồng các sự kiện chưa rõ hoàn toàn khi mô tả các thông điệp được gửi giữa các đối tượng, chúng ta cần mô tả them các thông tin cho các biểu đồ tương tác.</a:t>
            </a:r>
            <a:endParaRPr/>
          </a:p>
          <a:p>
            <a:pPr indent="0" lvl="0" marL="0" rtl="0" algn="l">
              <a:lnSpc>
                <a:spcPct val="80000"/>
              </a:lnSpc>
              <a:spcBef>
                <a:spcPts val="0"/>
              </a:spcBef>
              <a:spcAft>
                <a:spcPts val="0"/>
              </a:spcAft>
              <a:buNone/>
            </a:pPr>
            <a:r>
              <a:rPr lang="en-US" sz="422"/>
              <a:t>Các bước này thực hiện nhờ có các ký hiệu về thời gian, các chú giải về điều kiện hành vi hoặc sự minh bạch các thao tác hành vi để người đọc dễ dàng hiểu được.</a:t>
            </a:r>
            <a:endParaRPr/>
          </a:p>
          <a:p>
            <a:pPr indent="0" lvl="0" marL="0" rtl="0" algn="l">
              <a:lnSpc>
                <a:spcPct val="80000"/>
              </a:lnSpc>
              <a:spcBef>
                <a:spcPts val="0"/>
              </a:spcBef>
              <a:spcAft>
                <a:spcPts val="0"/>
              </a:spcAft>
              <a:buNone/>
            </a:pPr>
            <a:r>
              <a:rPr lang="en-US" sz="422"/>
              <a:t>Thông thường tên của các thao tác không thể hiện được đầy đủ những gì thao tác thực hiện. Các chú thích đi kèm làm rõ hơn các biểu đồ tương tác, ngoài ra nó có thể dùng để biêu diễn them các luồng điều khiển như các quyết định, vòng lặp, rẽ nhánh.</a:t>
            </a:r>
            <a:endParaRPr/>
          </a:p>
          <a:p>
            <a:pPr indent="0" lvl="0" marL="0" rtl="0" algn="l">
              <a:lnSpc>
                <a:spcPct val="80000"/>
              </a:lnSpc>
              <a:spcBef>
                <a:spcPts val="0"/>
              </a:spcBef>
              <a:spcAft>
                <a:spcPts val="0"/>
              </a:spcAft>
              <a:buNone/>
            </a:pPr>
            <a:r>
              <a:rPr b="1" lang="en-US" sz="422"/>
              <a:t>5.5.5. Thống nhất các lớp và các hệ thống con</a:t>
            </a:r>
            <a:endParaRPr/>
          </a:p>
          <a:p>
            <a:pPr indent="0" lvl="0" marL="0" rtl="0" algn="l">
              <a:lnSpc>
                <a:spcPct val="80000"/>
              </a:lnSpc>
              <a:spcBef>
                <a:spcPts val="0"/>
              </a:spcBef>
              <a:spcAft>
                <a:spcPts val="0"/>
              </a:spcAft>
              <a:buNone/>
            </a:pPr>
            <a:r>
              <a:rPr lang="en-US" sz="422"/>
              <a:t>Đến thời điểm này, chúng ta đã hiểu rõ hơn về các phần tử thiết kế, các trách nhiểm của chúng ta và sự hợp tác cần có để hỗ trợ các chức năng mô tả trong các ca sử dụng. Chúng ta cần nhìn lại để chắc chắn rằng công việc đã hoàn thiện và thống nhất trước khi chuyển sang các hoạt động thiết kế chi tiết hệ thống con và thiết kế lớp.</a:t>
            </a:r>
            <a:endParaRPr/>
          </a:p>
          <a:p>
            <a:pPr indent="0" lvl="0" marL="0" rtl="0" algn="l">
              <a:lnSpc>
                <a:spcPct val="80000"/>
              </a:lnSpc>
              <a:spcBef>
                <a:spcPts val="0"/>
              </a:spcBef>
              <a:spcAft>
                <a:spcPts val="0"/>
              </a:spcAft>
              <a:buNone/>
            </a:pPr>
            <a:r>
              <a:rPr lang="en-US" sz="422"/>
              <a:t>Mục đích của việc thống nhất các lớp và các hệ thống con là để đảm bảo các phần tử thiết kế thể hiện một khái niệm chính xác, không trùng lặp về trách nhiệm, đảm bảo tính đồng nhất và nhất quán trong mô hình.</a:t>
            </a:r>
            <a:endParaRPr/>
          </a:p>
          <a:p>
            <a:pPr indent="0" lvl="0" marL="0" rtl="0" algn="l">
              <a:lnSpc>
                <a:spcPct val="80000"/>
              </a:lnSpc>
              <a:spcBef>
                <a:spcPts val="0"/>
              </a:spcBef>
              <a:spcAft>
                <a:spcPts val="0"/>
              </a:spcAft>
              <a:buNone/>
            </a:pPr>
            <a:r>
              <a:rPr lang="en-US" sz="422"/>
              <a:t>Các vấn đề cần xem xét khi chúng ta thực hiện việc thống nhất các lớp và các hệthống con:</a:t>
            </a:r>
            <a:endParaRPr/>
          </a:p>
          <a:p>
            <a:pPr indent="0" lvl="0" marL="0" rtl="0" algn="l">
              <a:lnSpc>
                <a:spcPct val="80000"/>
              </a:lnSpc>
              <a:spcBef>
                <a:spcPts val="0"/>
              </a:spcBef>
              <a:spcAft>
                <a:spcPts val="0"/>
              </a:spcAft>
              <a:buNone/>
            </a:pPr>
            <a:r>
              <a:rPr lang="en-US" sz="422"/>
              <a:t>Tên của các phần tử mô hình cần mô tả chức năng của nó, tránh các tên tương tự và đồng nghĩa bởi vì nó có khả năng gây khó khăn trong việc phân biệt các phần tử.</a:t>
            </a:r>
            <a:endParaRPr/>
          </a:p>
          <a:p>
            <a:pPr indent="0" lvl="0" marL="0" rtl="0" algn="l">
              <a:lnSpc>
                <a:spcPct val="80000"/>
              </a:lnSpc>
              <a:spcBef>
                <a:spcPts val="0"/>
              </a:spcBef>
              <a:spcAft>
                <a:spcPts val="0"/>
              </a:spcAft>
              <a:buNone/>
            </a:pPr>
            <a:r>
              <a:rPr lang="en-US" sz="422"/>
              <a:t>Kết hợp các phần tử mô hình định nghĩa các hành vi tương tự nhau.</a:t>
            </a:r>
            <a:endParaRPr/>
          </a:p>
          <a:p>
            <a:pPr indent="0" lvl="0" marL="0" rtl="0" algn="l">
              <a:lnSpc>
                <a:spcPct val="80000"/>
              </a:lnSpc>
              <a:spcBef>
                <a:spcPts val="0"/>
              </a:spcBef>
              <a:spcAft>
                <a:spcPts val="0"/>
              </a:spcAft>
              <a:buNone/>
            </a:pPr>
            <a:r>
              <a:rPr lang="en-US" sz="422"/>
              <a:t>Kêt hợp các lớp thể hiện có cùng khái niệm hoặc có cùng thuộc tính, thậm chí nếu các hành vi của chúng được định nghĩa khác nhau.</a:t>
            </a:r>
            <a:endParaRPr/>
          </a:p>
          <a:p>
            <a:pPr indent="0" lvl="0" marL="0" rtl="0" algn="l">
              <a:lnSpc>
                <a:spcPct val="80000"/>
              </a:lnSpc>
              <a:spcBef>
                <a:spcPts val="0"/>
              </a:spcBef>
              <a:spcAft>
                <a:spcPts val="0"/>
              </a:spcAft>
              <a:buNone/>
            </a:pPr>
            <a:r>
              <a:rPr lang="en-US" sz="422"/>
              <a:t>Sử dụng quan hệ kế thừa cho các phần tử mô hình trừu tượng, làm cho mô hình trở nên chắc chắn.</a:t>
            </a:r>
            <a:endParaRPr/>
          </a:p>
          <a:p>
            <a:pPr indent="0" lvl="0" marL="0" rtl="0" algn="l">
              <a:lnSpc>
                <a:spcPct val="80000"/>
              </a:lnSpc>
              <a:spcBef>
                <a:spcPts val="0"/>
              </a:spcBef>
              <a:spcAft>
                <a:spcPts val="0"/>
              </a:spcAft>
              <a:buNone/>
            </a:pPr>
            <a:r>
              <a:rPr lang="en-US" sz="422"/>
              <a:t>Khi cập nhật một phần tử mô hình, cũng cần cập nhật hiện thực hoá ca sử dụng bị ảnh hưởng.</a:t>
            </a:r>
            <a:endParaRPr/>
          </a:p>
          <a:p>
            <a:pPr indent="0" lvl="0" marL="0" rtl="0" algn="l">
              <a:lnSpc>
                <a:spcPct val="80000"/>
              </a:lnSpc>
              <a:spcBef>
                <a:spcPts val="0"/>
              </a:spcBef>
              <a:spcAft>
                <a:spcPts val="0"/>
              </a:spcAft>
              <a:buNone/>
            </a:pPr>
            <a:r>
              <a:t/>
            </a:r>
            <a:endParaRPr sz="325">
              <a:latin typeface="Arial"/>
              <a:ea typeface="Arial"/>
              <a:cs typeface="Arial"/>
              <a:sym typeface="Arial"/>
            </a:endParaRPr>
          </a:p>
        </p:txBody>
      </p:sp>
      <p:sp>
        <p:nvSpPr>
          <p:cNvPr id="338" name="Google Shape;338;p5:notes"/>
          <p:cNvSpPr txBox="1"/>
          <p:nvPr/>
        </p:nvSpPr>
        <p:spPr>
          <a:xfrm>
            <a:off x="607126" y="1264451"/>
            <a:ext cx="1930263" cy="7168542"/>
          </a:xfrm>
          <a:prstGeom prst="rect">
            <a:avLst/>
          </a:prstGeom>
          <a:noFill/>
          <a:ln>
            <a:noFill/>
          </a:ln>
        </p:spPr>
        <p:txBody>
          <a:bodyPr anchorCtr="0" anchor="t" bIns="56250" lIns="112525" spcFirstLastPara="1" rIns="112525" wrap="square" tIns="5625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In Use-Case Design, we basically do two things to the use-case realizations originally developed during Use-Case Analysis: </a:t>
            </a:r>
            <a:endParaRPr/>
          </a:p>
          <a:p>
            <a:pPr indent="-114300" lvl="1" marL="178754"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Replace analysis classes with their corresponding design elements (for example, use subsystem interfaces, where applicable).</a:t>
            </a:r>
            <a:endParaRPr/>
          </a:p>
          <a:p>
            <a:pPr indent="-114300" lvl="1" marL="178754"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Incorporate any applicable architectural mechanisms, using the sample interaction and class diagrams provided by the architects.  </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346" name="Google Shape;346;p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347" name="Google Shape;347;p6: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850">
                <a:latin typeface="Arial"/>
                <a:ea typeface="Arial"/>
                <a:cs typeface="Arial"/>
                <a:sym typeface="Arial"/>
              </a:rPr>
              <a:t>In this step, describe the use-case flow of events in terms of the Design Model (that is, interactions between design classes and/or subsystems). This involves replacing analysis classes with the design elements that they were refined into during Identify Design Elements, as well as incorporating any applicable architectural mechanisms.</a:t>
            </a:r>
            <a:endParaRPr/>
          </a:p>
          <a:p>
            <a:pPr indent="0" lvl="0" marL="0" rtl="0" algn="l">
              <a:lnSpc>
                <a:spcPct val="80000"/>
              </a:lnSpc>
              <a:spcBef>
                <a:spcPts val="0"/>
              </a:spcBef>
              <a:spcAft>
                <a:spcPts val="0"/>
              </a:spcAft>
              <a:buNone/>
            </a:pPr>
            <a:r>
              <a:rPr lang="en-US" sz="850">
                <a:latin typeface="Arial"/>
                <a:ea typeface="Arial"/>
                <a:cs typeface="Arial"/>
                <a:sym typeface="Arial"/>
              </a:rPr>
              <a:t>----------------------------------------------------------------------------------------------------------</a:t>
            </a:r>
            <a:endParaRPr/>
          </a:p>
          <a:p>
            <a:pPr indent="0" lvl="0" marL="0" rtl="0" algn="l">
              <a:lnSpc>
                <a:spcPct val="80000"/>
              </a:lnSpc>
              <a:spcBef>
                <a:spcPts val="0"/>
              </a:spcBef>
              <a:spcAft>
                <a:spcPts val="0"/>
              </a:spcAft>
              <a:buNone/>
            </a:pPr>
            <a:r>
              <a:rPr b="1" lang="en-US" sz="1105"/>
              <a:t>5.5.1. Mô tả sự tương tác giữa các đối tượng thiết kế</a:t>
            </a:r>
            <a:endParaRPr b="1" sz="1105"/>
          </a:p>
          <a:p>
            <a:pPr indent="0" lvl="0" marL="0" rtl="0" algn="l">
              <a:lnSpc>
                <a:spcPct val="80000"/>
              </a:lnSpc>
              <a:spcBef>
                <a:spcPts val="0"/>
              </a:spcBef>
              <a:spcAft>
                <a:spcPts val="0"/>
              </a:spcAft>
              <a:buNone/>
            </a:pPr>
            <a:r>
              <a:rPr lang="en-US" sz="1105"/>
              <a:t>Mỗi hiện thực hoá của ca sử dụng cần được làm mịn để mô tả sự tương tác giữa các đối tượng tham gia. Quy trình thực hiện của nó có thể được mô tả như sau:</a:t>
            </a:r>
            <a:endParaRPr/>
          </a:p>
          <a:p>
            <a:pPr indent="0" lvl="0" marL="0" rtl="0" algn="l">
              <a:lnSpc>
                <a:spcPct val="80000"/>
              </a:lnSpc>
              <a:spcBef>
                <a:spcPts val="0"/>
              </a:spcBef>
              <a:spcAft>
                <a:spcPts val="0"/>
              </a:spcAft>
              <a:buNone/>
            </a:pPr>
            <a:r>
              <a:rPr lang="en-US" sz="1105"/>
              <a:t>Xác định đối tượng tham gia trong luồng các sự kiện của ca sử dụng. Các đối tượng có thể là các thể hiệncủa các lớp thiết kế và các hệ thống con, hoặc chúng cũng có thể là các thể hiện của các tác nhân tham gia tương tác với ca sủ dụng.</a:t>
            </a:r>
            <a:endParaRPr/>
          </a:p>
          <a:p>
            <a:pPr indent="0" lvl="0" marL="0" rtl="0" algn="l">
              <a:lnSpc>
                <a:spcPct val="80000"/>
              </a:lnSpc>
              <a:spcBef>
                <a:spcPts val="0"/>
              </a:spcBef>
              <a:spcAft>
                <a:spcPts val="0"/>
              </a:spcAft>
              <a:buNone/>
            </a:pPr>
            <a:r>
              <a:rPr lang="en-US" sz="1105"/>
              <a:t>Biểu diễn mỗi đối tượng tham gia trong 1 biểu đồ tương tác. Các hệ thống con được biểu diễn bởi các thể hiện của giao diện hệ thống con.</a:t>
            </a:r>
            <a:endParaRPr/>
          </a:p>
          <a:p>
            <a:pPr indent="0" lvl="0" marL="0" rtl="0" algn="l">
              <a:lnSpc>
                <a:spcPct val="80000"/>
              </a:lnSpc>
              <a:spcBef>
                <a:spcPts val="0"/>
              </a:spcBef>
              <a:spcAft>
                <a:spcPts val="0"/>
              </a:spcAft>
              <a:buNone/>
            </a:pPr>
            <a:r>
              <a:rPr lang="en-US" sz="1105"/>
              <a:t>Minh hoạ việc gửi thông điẹp giữa các đối tượng sử dụng các hình mũi tên. Tên của các thông điệp nên đặt theo tên của thao tác được gọi. Với thông điệp đến các lớp thiết kế, các thao tác chính là các thao tác của lớp, với thông điệp đến các hệ thống con, các thao tác của các giao diện. </a:t>
            </a:r>
            <a:endParaRPr/>
          </a:p>
          <a:p>
            <a:pPr indent="0" lvl="0" marL="0" rtl="0" algn="l">
              <a:lnSpc>
                <a:spcPct val="80000"/>
              </a:lnSpc>
              <a:spcBef>
                <a:spcPts val="0"/>
              </a:spcBef>
              <a:spcAft>
                <a:spcPts val="0"/>
              </a:spcAft>
              <a:buNone/>
            </a:pPr>
            <a:r>
              <a:rPr lang="en-US" sz="1105"/>
              <a:t>Mô tả những gì đối tượng thực hiện khi nó nhận một thông điệp.</a:t>
            </a:r>
            <a:endParaRPr/>
          </a:p>
          <a:p>
            <a:pPr indent="0" lvl="0" marL="0" rtl="0" algn="l">
              <a:lnSpc>
                <a:spcPct val="80000"/>
              </a:lnSpc>
              <a:spcBef>
                <a:spcPts val="0"/>
              </a:spcBef>
              <a:spcAft>
                <a:spcPts val="0"/>
              </a:spcAft>
              <a:buNone/>
            </a:pPr>
            <a:r>
              <a:rPr lang="en-US" sz="1105"/>
              <a:t>Với sự thực thi của mỗi ca sử dụng, chúng ta minh hoạ quan hệ giữa các lớp bằng 1 hoặc nhiều biểu đồ lớp.</a:t>
            </a:r>
            <a:endParaRPr/>
          </a:p>
          <a:p>
            <a:pPr indent="0" lvl="0" marL="0" rtl="0" algn="l">
              <a:lnSpc>
                <a:spcPct val="80000"/>
              </a:lnSpc>
              <a:spcBef>
                <a:spcPts val="0"/>
              </a:spcBef>
              <a:spcAft>
                <a:spcPts val="0"/>
              </a:spcAft>
              <a:buNone/>
            </a:pPr>
            <a:r>
              <a:rPr lang="en-US" sz="1105"/>
              <a:t>Trong phần </a:t>
            </a:r>
            <a:r>
              <a:rPr i="1" lang="en-US" sz="1105"/>
              <a:t>Xác định các phần tử thiết kế</a:t>
            </a:r>
            <a:r>
              <a:rPr lang="en-US" sz="1105"/>
              <a:t> (mục 5.1), chúng ta đã xác định kiến trúc của hệ thống Đăng ký lớp môn học. Hệ thống cho phép tương tác với các hệ thống ngoài là </a:t>
            </a:r>
            <a:r>
              <a:rPr i="1" lang="en-US" sz="1105"/>
              <a:t>Billing System</a:t>
            </a:r>
            <a:r>
              <a:rPr lang="en-US" sz="1105"/>
              <a:t> và </a:t>
            </a:r>
            <a:r>
              <a:rPr i="1" lang="en-US" sz="1105"/>
              <a:t>CourseCatalogSystem</a:t>
            </a:r>
            <a:r>
              <a:rPr lang="en-US" sz="1105"/>
              <a:t>. Các hệ thống này là các lớp phân tích trong giai đoạn phân tích hệ thống. Ở giai đoạn thiết kế, các lớp này được xác định là các hệ thống con. Hình 5.4 đã biểu diễn các hệ thống con này cũng như các giao diện của nó.</a:t>
            </a:r>
            <a:endParaRPr/>
          </a:p>
          <a:p>
            <a:pPr indent="0" lvl="0" marL="0" rtl="0" algn="l">
              <a:lnSpc>
                <a:spcPct val="80000"/>
              </a:lnSpc>
              <a:spcBef>
                <a:spcPts val="0"/>
              </a:spcBef>
              <a:spcAft>
                <a:spcPts val="0"/>
              </a:spcAft>
              <a:buNone/>
            </a:pPr>
            <a:r>
              <a:rPr lang="en-US" sz="1105"/>
              <a:t>Hệ thống con </a:t>
            </a:r>
            <a:r>
              <a:rPr i="1" lang="en-US" sz="1105"/>
              <a:t>BillingSystem</a:t>
            </a:r>
            <a:r>
              <a:rPr lang="en-US" sz="1105"/>
              <a:t> cung cấp một giao diện để tương tác với bên ngoài , hệ thống này dung để nộp hoá đơn khi sự đăng ký hoàn thành và sinh viên đã được đăng ký môn học. </a:t>
            </a:r>
            <a:endParaRPr/>
          </a:p>
          <a:p>
            <a:pPr indent="0" lvl="0" marL="0" rtl="0" algn="l">
              <a:lnSpc>
                <a:spcPct val="80000"/>
              </a:lnSpc>
              <a:spcBef>
                <a:spcPts val="0"/>
              </a:spcBef>
              <a:spcAft>
                <a:spcPts val="0"/>
              </a:spcAft>
              <a:buNone/>
            </a:pPr>
            <a:r>
              <a:rPr lang="en-US" sz="1105"/>
              <a:t>Hệ thống con </a:t>
            </a:r>
            <a:r>
              <a:rPr i="1" lang="en-US" sz="1105"/>
              <a:t>CourseCatalogSystem</a:t>
            </a:r>
            <a:r>
              <a:rPr lang="en-US" sz="1105"/>
              <a:t> lien quan đến hệ thống cung cấp danh sách môn học. Hệ thống này cung cấp tất cả các môn học có trong trường, các môn học đưa ra để lựa chọn. Các lớp phân tích khác ánh xạ trực tiếp  sang các lớp thiết kế trong mô hình thiết kế.</a:t>
            </a:r>
            <a:endParaRPr/>
          </a:p>
          <a:p>
            <a:pPr indent="0" lvl="0" marL="0" rtl="0" algn="l">
              <a:lnSpc>
                <a:spcPct val="80000"/>
              </a:lnSpc>
              <a:spcBef>
                <a:spcPts val="0"/>
              </a:spcBef>
              <a:spcAft>
                <a:spcPts val="0"/>
              </a:spcAft>
              <a:buNone/>
            </a:pPr>
            <a:r>
              <a:t/>
            </a:r>
            <a:endParaRPr sz="850">
              <a:latin typeface="Arial"/>
              <a:ea typeface="Arial"/>
              <a:cs typeface="Arial"/>
              <a:sym typeface="Arial"/>
            </a:endParaRPr>
          </a:p>
          <a:p>
            <a:pPr indent="0" lvl="0" marL="0" rtl="0" algn="l">
              <a:lnSpc>
                <a:spcPct val="80000"/>
              </a:lnSpc>
              <a:spcBef>
                <a:spcPts val="0"/>
              </a:spcBef>
              <a:spcAft>
                <a:spcPts val="0"/>
              </a:spcAft>
              <a:buNone/>
            </a:pPr>
            <a:r>
              <a:t/>
            </a:r>
            <a:endParaRPr sz="85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7: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355" name="Google Shape;355;p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356" name="Google Shape;356;p7:notes"/>
          <p:cNvSpPr txBox="1"/>
          <p:nvPr/>
        </p:nvSpPr>
        <p:spPr>
          <a:xfrm>
            <a:off x="607126" y="1261133"/>
            <a:ext cx="1930263" cy="711820"/>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For details on how to model use-case realizations in Rose, see the Instructor Notes for this slide in the Use-Case Analysis module.</a:t>
            </a:r>
            <a:endParaRPr sz="1800">
              <a:solidFill>
                <a:schemeClr val="dk1"/>
              </a:solidFill>
              <a:latin typeface="Arial"/>
              <a:ea typeface="Arial"/>
              <a:cs typeface="Arial"/>
              <a:sym typeface="Arial"/>
            </a:endParaRPr>
          </a:p>
        </p:txBody>
      </p:sp>
      <p:sp>
        <p:nvSpPr>
          <p:cNvPr id="357" name="Google Shape;357;p7: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58" name="Google Shape;358;p7: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Before discussing the steps of the </a:t>
            </a:r>
            <a:r>
              <a:rPr b="1" lang="en-US" sz="1000">
                <a:latin typeface="Arial"/>
                <a:ea typeface="Arial"/>
                <a:cs typeface="Arial"/>
                <a:sym typeface="Arial"/>
              </a:rPr>
              <a:t>Use-Case Design</a:t>
            </a:r>
            <a:r>
              <a:rPr lang="en-US" sz="1000">
                <a:latin typeface="Arial"/>
                <a:ea typeface="Arial"/>
                <a:cs typeface="Arial"/>
                <a:sym typeface="Arial"/>
              </a:rPr>
              <a:t> activity, it is important to review what a use-case realization is, since refining a use-case realization is the focus of the activity.</a:t>
            </a:r>
            <a:endParaRPr/>
          </a:p>
          <a:p>
            <a:pPr indent="0" lvl="0" marL="0" rtl="0" algn="l">
              <a:spcBef>
                <a:spcPts val="0"/>
              </a:spcBef>
              <a:spcAft>
                <a:spcPts val="0"/>
              </a:spcAft>
              <a:buNone/>
            </a:pPr>
            <a:r>
              <a:rPr lang="en-US" sz="1000">
                <a:latin typeface="Arial"/>
                <a:ea typeface="Arial"/>
                <a:cs typeface="Arial"/>
                <a:sym typeface="Arial"/>
              </a:rPr>
              <a:t>Use-case realizations were first introduced in the Analysis and Design Overview module. The initial development of use-case realizations was discussed in the Use-Case Analysis module. The above diagram is included here as a review. For details on the use-case realization, refer to that module.</a:t>
            </a:r>
            <a:endParaRPr/>
          </a:p>
          <a:p>
            <a:pPr indent="0" lvl="0" marL="0" rtl="0" algn="l">
              <a:spcBef>
                <a:spcPts val="0"/>
              </a:spcBef>
              <a:spcAft>
                <a:spcPts val="0"/>
              </a:spcAft>
              <a:buNone/>
            </a:pPr>
            <a:r>
              <a:rPr lang="en-US" sz="1000">
                <a:latin typeface="Arial"/>
                <a:ea typeface="Arial"/>
                <a:cs typeface="Arial"/>
                <a:sym typeface="Arial"/>
              </a:rPr>
              <a:t>As stated in that module, a designer is responsible for the integrity of the use-case realization. He or she must coordinate with the designers responsible for the design elements (that is, classes and subsystems) and the relationships employed in the use-case realization.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8: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470" name="Google Shape;470;p8: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471" name="Google Shape;471;p8:notes"/>
          <p:cNvSpPr txBox="1"/>
          <p:nvPr/>
        </p:nvSpPr>
        <p:spPr>
          <a:xfrm>
            <a:off x="607126" y="1261133"/>
            <a:ext cx="1971508" cy="1327373"/>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Now that we are back in the designer activities, this is an opportunity to remind the students where we left off in Use-Case Analysis. Instead of working with the Analysis classes, we will be working with the design elements that were identified by the architect in the Identify Design Elements activity.</a:t>
            </a:r>
            <a:endParaRPr/>
          </a:p>
        </p:txBody>
      </p:sp>
      <p:sp>
        <p:nvSpPr>
          <p:cNvPr id="472" name="Google Shape;472;p8: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73" name="Google Shape;473;p8: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Before moving forward in </a:t>
            </a:r>
            <a:r>
              <a:rPr b="1" lang="en-US" sz="1000">
                <a:latin typeface="Arial"/>
                <a:ea typeface="Arial"/>
                <a:cs typeface="Arial"/>
                <a:sym typeface="Arial"/>
              </a:rPr>
              <a:t>Use-Case Design,</a:t>
            </a:r>
            <a:r>
              <a:rPr lang="en-US" sz="1000">
                <a:latin typeface="Arial"/>
                <a:ea typeface="Arial"/>
                <a:cs typeface="Arial"/>
                <a:sym typeface="Arial"/>
              </a:rPr>
              <a:t> it is important that you revisit what happened to the analysis classes that were identified in Use-Case Analysis.  These analysis classes were mapped to design elements that were identified by the architect during the Identify Design Elements activity.  You will be incorporating these design elements into your models in </a:t>
            </a:r>
            <a:r>
              <a:rPr b="1" lang="en-US" sz="1000">
                <a:latin typeface="Arial"/>
                <a:ea typeface="Arial"/>
                <a:cs typeface="Arial"/>
                <a:sym typeface="Arial"/>
              </a:rPr>
              <a:t>Use-Case Design</a:t>
            </a:r>
            <a:r>
              <a:rPr i="1" lang="en-US" sz="1000">
                <a:latin typeface="Arial"/>
                <a:ea typeface="Arial"/>
                <a:cs typeface="Arial"/>
                <a:sym typeface="Arial"/>
              </a:rPr>
              <a:t>.</a:t>
            </a:r>
            <a:endParaRPr/>
          </a:p>
          <a:p>
            <a:pPr indent="0" lvl="0" marL="0" rtl="0" algn="l">
              <a:spcBef>
                <a:spcPts val="0"/>
              </a:spcBef>
              <a:spcAft>
                <a:spcPts val="0"/>
              </a:spcAft>
              <a:buNone/>
            </a:pPr>
            <a:r>
              <a:rPr lang="en-US" sz="1000">
                <a:latin typeface="Arial"/>
                <a:ea typeface="Arial"/>
                <a:cs typeface="Arial"/>
                <a:sym typeface="Arial"/>
              </a:rPr>
              <a:t>Identify Design Elements is where the analysis classes identified during Use-Case Analysis are refined into design elements (for example, classes or subsystems). Analysis classes primarily handle functional requirements and model objects from the "problem" domain; design elements handle nonfunctional requirements and model objects from the "solution" domain. </a:t>
            </a:r>
            <a:endParaRPr/>
          </a:p>
          <a:p>
            <a:pPr indent="0" lvl="0" marL="0" rtl="0" algn="l">
              <a:spcBef>
                <a:spcPts val="0"/>
              </a:spcBef>
              <a:spcAft>
                <a:spcPts val="0"/>
              </a:spcAft>
              <a:buNone/>
            </a:pPr>
            <a:r>
              <a:rPr lang="en-US" sz="1000">
                <a:latin typeface="Arial"/>
                <a:ea typeface="Arial"/>
                <a:cs typeface="Arial"/>
                <a:sym typeface="Arial"/>
              </a:rPr>
              <a:t>It is in Identify Design Elements that you decide which analysis "classes" are really classes, which are subsystems (that must be further decomposed), and which are existing components and do not need to be “designed” at all. </a:t>
            </a:r>
            <a:endParaRPr/>
          </a:p>
          <a:p>
            <a:pPr indent="0" lvl="0" marL="0" rtl="0" algn="l">
              <a:spcBef>
                <a:spcPts val="0"/>
              </a:spcBef>
              <a:spcAft>
                <a:spcPts val="0"/>
              </a:spcAft>
              <a:buNone/>
            </a:pPr>
            <a:r>
              <a:rPr lang="en-US" sz="1000">
                <a:latin typeface="Arial"/>
                <a:ea typeface="Arial"/>
                <a:cs typeface="Arial"/>
                <a:sym typeface="Arial"/>
              </a:rPr>
              <a:t>Once the design classes and subsystems have been created, each must be given a name and a short description. The responsibilities of the original analysis classes should be transferred to the newly created subsystems.  In addition, the identified design mechanisms should be linked to design elements.</a:t>
            </a:r>
            <a:endParaRPr/>
          </a:p>
          <a:p>
            <a:pPr indent="0" lvl="0" marL="0" rtl="0" algn="l">
              <a:spcBef>
                <a:spcPts val="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9: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568" name="Google Shape;568;p9: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569" name="Google Shape;569;p9:notes"/>
          <p:cNvSpPr txBox="1"/>
          <p:nvPr/>
        </p:nvSpPr>
        <p:spPr>
          <a:xfrm>
            <a:off x="607126" y="1261133"/>
            <a:ext cx="1877469" cy="3481809"/>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You are essentially taking the use-case realization diagrams developed in Use-Case Analysis and redrawing them, using the design elements that the analysis classes were refined into, making sure that the responsibility allocation is still accurate.</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Collaboration or sequence diagrams may be used to model these interactions. RUP recommends that sequence diagrams be used during design. </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In the early stages of design, some operations might not be defined, so you might have to leave this information out and give the message a temporary name; such messages are said to be "unassigned." Later, when you have found the participating objects' operations, you should update the interaction diagram by ”mapping" the messages to these operations.</a:t>
            </a:r>
            <a:endParaRPr/>
          </a:p>
        </p:txBody>
      </p:sp>
      <p:sp>
        <p:nvSpPr>
          <p:cNvPr id="570" name="Google Shape;570;p9: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71" name="Google Shape;571;p9: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Each use-case realization should be refined to describe the interactions between participating design objects as follows: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Identify each object that participates in the use-case flow of events.  These objects can be instances of design classes and subsystems, or they can be instances of actors that the participating objects interact with.</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Represent each participating object in an interaction diagram.  Subsystems can be represented by instances of the subsystem’s interface(s).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Illustrate the message-sending between objects by creating messages (arrows) between the objects. The name of a message should be the name of the operation invoked by it.  For messages going to design classes, the operation is a class operation.  For messages going to subsystems, the operation is an interface operation.</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Describe what an object does when it receives a message. This is done by attaching a script or note to the corresponding message. When the person responsible for an object's class assigns and defines its operations, these notes or scripts will provide a basis for that work.</a:t>
            </a:r>
            <a:endParaRPr/>
          </a:p>
          <a:p>
            <a:pPr indent="0" lvl="0" marL="0" rtl="0" algn="l">
              <a:spcBef>
                <a:spcPts val="0"/>
              </a:spcBef>
              <a:spcAft>
                <a:spcPts val="0"/>
              </a:spcAft>
              <a:buNone/>
            </a:pPr>
            <a:r>
              <a:rPr lang="en-US" sz="1000">
                <a:latin typeface="Arial"/>
                <a:ea typeface="Arial"/>
                <a:cs typeface="Arial"/>
                <a:sym typeface="Arial"/>
              </a:rPr>
              <a:t>For each use-case realization, illustrate the class relationships that support the collaborations modeled in the interaction diagrams by creating one or more class diagrams.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10: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630" name="Google Shape;630;p1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631" name="Google Shape;631;p10: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32" name="Google Shape;632;p10: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Look at the interaction diagrams.</a:t>
            </a:r>
            <a:endParaRPr/>
          </a:p>
          <a:p>
            <a:pPr indent="0" lvl="0" marL="0" rtl="0" algn="l">
              <a:spcBef>
                <a:spcPts val="0"/>
              </a:spcBef>
              <a:spcAft>
                <a:spcPts val="0"/>
              </a:spcAft>
              <a:buNone/>
            </a:pPr>
            <a:r>
              <a:rPr lang="en-US" sz="1000">
                <a:latin typeface="Arial"/>
                <a:ea typeface="Arial"/>
                <a:cs typeface="Arial"/>
                <a:sym typeface="Arial"/>
              </a:rPr>
              <a:t>For each class that has been refined into a subsystem, replace the class with the associated subsystem interface. Any interactions that describe </a:t>
            </a:r>
            <a:r>
              <a:rPr i="1" lang="en-US" sz="1000">
                <a:latin typeface="Arial"/>
                <a:ea typeface="Arial"/>
                <a:cs typeface="Arial"/>
                <a:sym typeface="Arial"/>
              </a:rPr>
              <a:t>how</a:t>
            </a:r>
            <a:r>
              <a:rPr lang="en-US" sz="1000">
                <a:latin typeface="Arial"/>
                <a:ea typeface="Arial"/>
                <a:cs typeface="Arial"/>
                <a:sym typeface="Arial"/>
              </a:rPr>
              <a:t> the subsystem should implement the service should be deferred until subsystem design.</a:t>
            </a:r>
            <a:endParaRPr/>
          </a:p>
          <a:p>
            <a:pPr indent="0" lvl="0" marL="0" rtl="0" algn="l">
              <a:spcBef>
                <a:spcPts val="0"/>
              </a:spcBef>
              <a:spcAft>
                <a:spcPts val="0"/>
              </a:spcAft>
              <a:buNone/>
            </a:pPr>
            <a:r>
              <a:rPr lang="en-US" sz="1000">
                <a:latin typeface="Arial"/>
                <a:ea typeface="Arial"/>
                <a:cs typeface="Arial"/>
                <a:sym typeface="Arial"/>
              </a:rPr>
              <a:t>Incrementally incorporate any applicable architectural mechanisms, using the patterns of behavior defined for them during the architectural activities.This may include the introduction of new design elements and messages.</a:t>
            </a:r>
            <a:endParaRPr/>
          </a:p>
          <a:p>
            <a:pPr indent="0" lvl="0" marL="0" rtl="0" algn="l">
              <a:spcBef>
                <a:spcPts val="0"/>
              </a:spcBef>
              <a:spcAft>
                <a:spcPts val="0"/>
              </a:spcAft>
              <a:buNone/>
            </a:pPr>
            <a:r>
              <a:rPr lang="en-US" sz="1000">
                <a:latin typeface="Arial"/>
                <a:ea typeface="Arial"/>
                <a:cs typeface="Arial"/>
                <a:sym typeface="Arial"/>
              </a:rPr>
              <a:t>Any updates need to be reflected in both the static and dynamic parts of the use-case realization (that is, the interaction diagrams and the VOPC class diagram).</a:t>
            </a:r>
            <a:endParaRPr/>
          </a:p>
        </p:txBody>
      </p:sp>
      <p:sp>
        <p:nvSpPr>
          <p:cNvPr id="633" name="Google Shape;633;p10:notes"/>
          <p:cNvSpPr txBox="1"/>
          <p:nvPr/>
        </p:nvSpPr>
        <p:spPr>
          <a:xfrm>
            <a:off x="607126" y="1261132"/>
            <a:ext cx="1930263" cy="883089"/>
          </a:xfrm>
          <a:prstGeom prst="rect">
            <a:avLst/>
          </a:prstGeom>
          <a:noFill/>
          <a:ln>
            <a:noFill/>
          </a:ln>
        </p:spPr>
        <p:txBody>
          <a:bodyPr anchorCtr="0" anchor="t" bIns="56250" lIns="112525" spcFirstLastPara="1" rIns="112525" wrap="square" tIns="562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Note: On the presented slide, the items that were added and utilized as part of incorporating the subsystem interface are shown in yellow, but this does not show up in the black-and-white manuals.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1: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691" name="Google Shape;691;p1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692" name="Google Shape;692;p11: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3" name="Google Shape;69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You have two choices for representing the subsystems: </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You can use the interfaces realized by the subsystem. This is the better choice in cases where any model element that realizes the same interface can be used in place of the interface. If you choose to show interfaces on the sequence diagram, be aware that you will want to ensure that no messages are sent from the interface to other objects. The reason for this is that interfaces completely encapsulate the internal realization of their operations. Therefore, you cannot be certain that all model elements that realize the interface will in fact actually be designed the same way. So on sequence diagrams, no messages should be shown being sent from interfaces. </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You can use a proxy class (which is discussed in the Subsystem Design Module) to represent the subsystem on sequence diagrams. This proxy class is contained within the subsystem and is used to represent the subsystem in diagrams that do not support the direct use of packages and subsystems as behavioral elements. The proxy class should be used in cases where a specific subsystem responds to a message. Messages can be sent from the subsystem proxy to other objects. </a:t>
            </a:r>
            <a:endParaRPr/>
          </a:p>
          <a:p>
            <a:pPr indent="0" lvl="0" marL="0" rtl="0" algn="l">
              <a:spcBef>
                <a:spcPts val="0"/>
              </a:spcBef>
              <a:spcAft>
                <a:spcPts val="0"/>
              </a:spcAft>
              <a:buNone/>
            </a:pPr>
            <a:r>
              <a:rPr lang="en-US" sz="1000">
                <a:latin typeface="Arial"/>
                <a:ea typeface="Arial"/>
                <a:cs typeface="Arial"/>
                <a:sym typeface="Arial"/>
              </a:rPr>
              <a:t>For this class, you will use interfaces to represent subsystems in the design.</a:t>
            </a:r>
            <a:endParaRPr/>
          </a:p>
        </p:txBody>
      </p:sp>
      <p:sp>
        <p:nvSpPr>
          <p:cNvPr id="694" name="Google Shape;694;p11:notes"/>
          <p:cNvSpPr txBox="1"/>
          <p:nvPr/>
        </p:nvSpPr>
        <p:spPr>
          <a:xfrm>
            <a:off x="607125" y="1264451"/>
            <a:ext cx="1920364" cy="7168542"/>
          </a:xfrm>
          <a:prstGeom prst="rect">
            <a:avLst/>
          </a:prstGeom>
          <a:noFill/>
          <a:ln>
            <a:noFill/>
          </a:ln>
        </p:spPr>
        <p:txBody>
          <a:bodyPr anchorCtr="0" anchor="t" bIns="56250" lIns="112525" spcFirstLastPara="1" rIns="112525" wrap="square" tIns="5625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There are two ways that the student can represent a subsystem on a sequence diagram; with an interface or a subsystem proxy.  Use the proxy only if you know what subsystem is going to be be used to realize the behavior.</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The first message on the slide is invalid because it comes from an interface.  The second message is valid because it comes from a proxy class.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12: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701" name="Google Shape;701;p12: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702" name="Google Shape;702;p12: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03" name="Google Shape;703;p12: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The above slide shows part of the Register for Courses use-case realization developed during Use-Case Analysis.</a:t>
            </a:r>
            <a:endParaRPr/>
          </a:p>
          <a:p>
            <a:pPr indent="0" lvl="0" marL="0" rtl="0" algn="l">
              <a:spcBef>
                <a:spcPts val="0"/>
              </a:spcBef>
              <a:spcAft>
                <a:spcPts val="0"/>
              </a:spcAft>
              <a:buNone/>
            </a:pPr>
            <a:r>
              <a:rPr lang="en-US" sz="1000">
                <a:latin typeface="Arial"/>
                <a:ea typeface="Arial"/>
                <a:cs typeface="Arial"/>
                <a:sym typeface="Arial"/>
              </a:rPr>
              <a:t>You know from Identify Design Elements that a CourseCatalogSystem subsystem has been defined to encapsulate access to the external legacy CourseCatalogSystem.  Thus, you need to refine this interaction diagram and replace the original CourseCatalogSystem boundary class with the associated subsystem interface, ICourseCatalogSystem.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1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792" name="Google Shape;792;p1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793" name="Google Shape;793;p13:notes"/>
          <p:cNvSpPr txBox="1"/>
          <p:nvPr/>
        </p:nvSpPr>
        <p:spPr>
          <a:xfrm>
            <a:off x="607126" y="1261132"/>
            <a:ext cx="1917064" cy="2652804"/>
          </a:xfrm>
          <a:prstGeom prst="rect">
            <a:avLst/>
          </a:prstGeom>
          <a:noFill/>
          <a:ln>
            <a:noFill/>
          </a:ln>
        </p:spPr>
        <p:txBody>
          <a:bodyPr anchorCtr="0" anchor="t" bIns="56250" lIns="112525" spcFirstLastPara="1" rIns="112525" wrap="square" tIns="562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Emphasize to the students that you will not be covering the incorporation of the security mechanism; however, the details can be found in the Additional Information Appendix. </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If you choose to present the security mechanism, the slides found in the Additional Information Appendix, Security Mechanism section, second part, should be inserted after this slide. </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Note: On the presented slide, the italicized text is also yellow, but this does not show up in the black-and-white manuals. </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This module will discuss incorporating the distribution and persistence mechanisms. </a:t>
            </a:r>
            <a:endParaRPr/>
          </a:p>
        </p:txBody>
      </p:sp>
      <p:sp>
        <p:nvSpPr>
          <p:cNvPr id="794" name="Google Shape;794;p13: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95" name="Google Shape;795;p13: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During Use-Case Analysis, applicable mechanisms for each identified analysis class were documented.  This information, along with the information on what analysis classes became what design elements, allows the applicable mechanisms for a design element to be identified.</a:t>
            </a:r>
            <a:endParaRPr/>
          </a:p>
          <a:p>
            <a:pPr indent="0" lvl="0" marL="0" rtl="0" algn="l">
              <a:spcBef>
                <a:spcPts val="0"/>
              </a:spcBef>
              <a:spcAft>
                <a:spcPts val="0"/>
              </a:spcAft>
              <a:buNone/>
            </a:pPr>
            <a:r>
              <a:rPr lang="en-US" sz="1000">
                <a:latin typeface="Arial"/>
                <a:ea typeface="Arial"/>
                <a:cs typeface="Arial"/>
                <a:sym typeface="Arial"/>
              </a:rPr>
              <a:t>Since we have been concentrating on course registration, the above table contains only the classes for the Register for Courses use-case realization that have analysis mechanisms assigned to them.  </a:t>
            </a:r>
            <a:endParaRPr/>
          </a:p>
          <a:p>
            <a:pPr indent="0" lvl="0" marL="0" rtl="0" algn="l">
              <a:spcBef>
                <a:spcPts val="0"/>
              </a:spcBef>
              <a:spcAft>
                <a:spcPts val="0"/>
              </a:spcAft>
              <a:buNone/>
            </a:pPr>
            <a:r>
              <a:rPr lang="en-US" sz="1000">
                <a:latin typeface="Arial"/>
                <a:ea typeface="Arial"/>
                <a:cs typeface="Arial"/>
                <a:sym typeface="Arial"/>
              </a:rPr>
              <a:t>The details of incorporating the security mechanism are provided in the Additional Information Appendix in the Security Mechanism section.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823" name="Google Shape;823;p1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824" name="Google Shape;824;p14:notes"/>
          <p:cNvSpPr txBox="1"/>
          <p:nvPr/>
        </p:nvSpPr>
        <p:spPr>
          <a:xfrm>
            <a:off x="607125" y="1261132"/>
            <a:ext cx="1869221" cy="575312"/>
          </a:xfrm>
          <a:prstGeom prst="rect">
            <a:avLst/>
          </a:prstGeom>
          <a:noFill/>
          <a:ln>
            <a:noFill/>
          </a:ln>
        </p:spPr>
        <p:txBody>
          <a:bodyPr anchorCtr="0" anchor="t" bIns="56250" lIns="112525" spcFirstLastPara="1" rIns="112525" wrap="square" tIns="562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distribution mechanism was last discussed in the Describe Distribution module.</a:t>
            </a:r>
            <a:endParaRPr/>
          </a:p>
        </p:txBody>
      </p:sp>
      <p:sp>
        <p:nvSpPr>
          <p:cNvPr id="825" name="Google Shape;825;p14: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826" name="Google Shape;826;p14: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We started the discussion of the distribution mechanism in the Describe Distribution module.  Now we will see how to incorporate this mechanism into the use-case realizations.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5: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853" name="Google Shape;853;p1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854" name="Google Shape;854;p15:notes"/>
          <p:cNvSpPr txBox="1"/>
          <p:nvPr/>
        </p:nvSpPr>
        <p:spPr>
          <a:xfrm>
            <a:off x="607125" y="1261132"/>
            <a:ext cx="1887368" cy="1267809"/>
          </a:xfrm>
          <a:prstGeom prst="rect">
            <a:avLst/>
          </a:prstGeom>
          <a:noFill/>
          <a:ln>
            <a:noFill/>
          </a:ln>
        </p:spPr>
        <p:txBody>
          <a:bodyPr anchorCtr="0" anchor="t" bIns="56250" lIns="112525" spcFirstLastPara="1" rIns="112525" wrap="square" tIns="562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This slide summarizes the steps that must be taken to incorporate the distribution mechanism.</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Note: On the presented slide, the italicized text is also blue, but this does not show up in the black-and-white manuals.</a:t>
            </a:r>
            <a:endParaRPr/>
          </a:p>
        </p:txBody>
      </p:sp>
      <p:sp>
        <p:nvSpPr>
          <p:cNvPr id="855" name="Google Shape;855;p15: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856" name="Google Shape;856;p15: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Any class whose instances will be passed between the client and the server needs to realize the Serializable interface.</a:t>
            </a:r>
            <a:br>
              <a:rPr lang="en-US" sz="1000">
                <a:latin typeface="Arial"/>
                <a:ea typeface="Arial"/>
                <a:cs typeface="Arial"/>
                <a:sym typeface="Arial"/>
              </a:rPr>
            </a:br>
            <a:r>
              <a:rPr lang="en-US" sz="1000">
                <a:latin typeface="Arial"/>
                <a:ea typeface="Arial"/>
                <a:cs typeface="Arial"/>
                <a:sym typeface="Arial"/>
              </a:rPr>
              <a:t>For the Course Registration System, most of the data passed is of one of the core data types.  The core data types were allocated to the Business Services layer of the architecture (specifically, the University Artifacts package) in Identify Design Elements.  Thus, a dependency exists from the Business Services layer to the Middleware layer so the core data classes can access to Remote interface.  Now we will define the realization relationships from the classes to be passed and the Serializable interface.</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The developer must run the compiled distributed class through the rmic compiler provide by Sun to generate the stubs and skeletons for all classes that realize the Remote interface.  These classes handle the communication that must occur to support distribution (see the previous slide). Once a class is run through RMIC, you can access it as if it were a local class; the client does not know the difference.  This is really implementation, which is out of the scope of this course.</a:t>
            </a:r>
            <a:endParaRPr/>
          </a:p>
          <a:p>
            <a:pPr indent="0" lvl="0" marL="0" rtl="0" algn="l">
              <a:spcBef>
                <a:spcPts val="0"/>
              </a:spcBef>
              <a:spcAft>
                <a:spcPts val="0"/>
              </a:spcAft>
              <a:buNone/>
            </a:pPr>
            <a:r>
              <a:rPr lang="en-US" sz="1000">
                <a:latin typeface="Arial"/>
                <a:ea typeface="Arial"/>
                <a:cs typeface="Arial"/>
                <a:sym typeface="Arial"/>
              </a:rPr>
              <a:t>The remaining steps are discussed on the next slide.</a:t>
            </a:r>
            <a:endParaRPr/>
          </a:p>
          <a:p>
            <a:pPr indent="0" lvl="0" marL="0" rtl="0" algn="l">
              <a:spcBef>
                <a:spcPts val="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1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866" name="Google Shape;866;p1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867" name="Google Shape;867;p16:notes"/>
          <p:cNvSpPr txBox="1"/>
          <p:nvPr/>
        </p:nvSpPr>
        <p:spPr>
          <a:xfrm>
            <a:off x="607125" y="1261132"/>
            <a:ext cx="1907165" cy="1113921"/>
          </a:xfrm>
          <a:prstGeom prst="rect">
            <a:avLst/>
          </a:prstGeom>
          <a:noFill/>
          <a:ln>
            <a:noFill/>
          </a:ln>
        </p:spPr>
        <p:txBody>
          <a:bodyPr anchorCtr="0" anchor="t" bIns="56250" lIns="112525" spcFirstLastPara="1" rIns="112525" wrap="square" tIns="562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This slide summarizes the steps that must be taken to incorporate the distribution mechanism.</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Note: On the presented slide, the italicized text is also blue, but this does not show up in the black-and-white manuals.</a:t>
            </a:r>
            <a:endParaRPr/>
          </a:p>
        </p:txBody>
      </p:sp>
      <p:sp>
        <p:nvSpPr>
          <p:cNvPr id="868" name="Google Shape;868;p16: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869" name="Google Shape;869;p16: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Clients of distributed classes will need to lookup the location of the remote object using the Naming service. The look up returns a reference to the distributed class interface. </a:t>
            </a:r>
            <a:endParaRPr/>
          </a:p>
          <a:p>
            <a:pPr indent="0" lvl="0" marL="0" rtl="0" algn="l">
              <a:spcBef>
                <a:spcPts val="0"/>
              </a:spcBef>
              <a:spcAft>
                <a:spcPts val="0"/>
              </a:spcAft>
              <a:buNone/>
            </a:pPr>
            <a:r>
              <a:rPr lang="en-US" sz="1000">
                <a:latin typeface="Arial"/>
                <a:ea typeface="Arial"/>
                <a:cs typeface="Arial"/>
                <a:sym typeface="Arial"/>
              </a:rPr>
              <a:t>Now we will define the dependency relationships from the distributed class clients and the Naming Service. You will also develop interaction diagrams that model the distribution functionality.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0" name="Google Shape;88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300">
                <a:latin typeface="Arial"/>
                <a:ea typeface="Arial"/>
                <a:cs typeface="Arial"/>
                <a:sym typeface="Arial"/>
              </a:rPr>
              <a:t>When a use case is realized, the flow of events is usually described in terms of the executing objects, that is, as interactions between design objects. To simplify diagrams and to identify reusable behavior, there might be a need to encapsulate a subflow of events within a subsystem. When this is done, large subsections of the interaction diagram are replaced with a single message to the subsystem. Within the subsystem, a separate interaction diagram might illustrate the internal interactions within the subsystem that provide the required behavior. These subsystem interaction diagrams are developed during Subsystem Design</a:t>
            </a:r>
            <a:r>
              <a:rPr i="1" lang="en-US" sz="1300">
                <a:latin typeface="Arial"/>
                <a:ea typeface="Arial"/>
                <a:cs typeface="Arial"/>
                <a:sym typeface="Arial"/>
              </a:rPr>
              <a:t>.</a:t>
            </a:r>
            <a:endParaRPr/>
          </a:p>
          <a:p>
            <a:pPr indent="0" lvl="0" marL="0" rtl="0" algn="l">
              <a:spcBef>
                <a:spcPts val="0"/>
              </a:spcBef>
              <a:spcAft>
                <a:spcPts val="0"/>
              </a:spcAft>
              <a:buNone/>
            </a:pPr>
            <a:r>
              <a:rPr lang="en-US" sz="1300">
                <a:latin typeface="Arial"/>
                <a:ea typeface="Arial"/>
                <a:cs typeface="Arial"/>
                <a:sym typeface="Arial"/>
              </a:rPr>
              <a:t>At first glance, this step may appear similar to the previous one, Describe Interactions among Design Objects.  However, they differ in perspective.  In the case of Describe Interactions among Design Objects, the common subflows are identified outside-in. (Common collaborations have already been encapsulated within the subsystems identified in Identify Design Elements.)  In the case of Simplify Interaction Diagrams Using Subsystems, the common subflows are discovered inside-out — after modeling the flows of events using design elements, you recognize common subflows.  This step is optional if common subflows are not discovered.</a:t>
            </a:r>
            <a:endParaRPr/>
          </a:p>
          <a:p>
            <a:pPr indent="0" lvl="0" marL="0" rtl="0" algn="l">
              <a:spcBef>
                <a:spcPts val="0"/>
              </a:spcBef>
              <a:spcAft>
                <a:spcPts val="0"/>
              </a:spcAft>
              <a:buNone/>
            </a:pPr>
            <a:r>
              <a:t/>
            </a:r>
            <a:endParaRPr sz="1300">
              <a:latin typeface="Arial"/>
              <a:ea typeface="Arial"/>
              <a:cs typeface="Arial"/>
              <a:sym typeface="Arial"/>
            </a:endParaRPr>
          </a:p>
          <a:p>
            <a:pPr indent="0" lvl="0" marL="0" rtl="0" algn="l">
              <a:spcBef>
                <a:spcPts val="0"/>
              </a:spcBef>
              <a:spcAft>
                <a:spcPts val="0"/>
              </a:spcAft>
              <a:buNone/>
            </a:pPr>
            <a:r>
              <a:t/>
            </a:r>
            <a:endParaRPr/>
          </a:p>
        </p:txBody>
      </p:sp>
      <p:sp>
        <p:nvSpPr>
          <p:cNvPr id="881" name="Google Shape;881;p17: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882" name="Google Shape;882;p1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18: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889" name="Google Shape;889;p18: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890" name="Google Shape;890;p18:notes"/>
          <p:cNvSpPr/>
          <p:nvPr>
            <p:ph idx="3" type="sldImg"/>
          </p:nvPr>
        </p:nvSpPr>
        <p:spPr>
          <a:xfrm>
            <a:off x="2657475" y="876300"/>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891" name="Google Shape;891;p18: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775">
                <a:latin typeface="Arial"/>
                <a:ea typeface="Arial"/>
                <a:cs typeface="Arial"/>
                <a:sym typeface="Arial"/>
              </a:rPr>
              <a:t>A use-case realization can be described, if necessary, at several levels in the subsystem hierarchy. </a:t>
            </a:r>
            <a:endParaRPr/>
          </a:p>
          <a:p>
            <a:pPr indent="0" lvl="0" marL="0" rtl="0" algn="l">
              <a:lnSpc>
                <a:spcPct val="80000"/>
              </a:lnSpc>
              <a:spcBef>
                <a:spcPts val="0"/>
              </a:spcBef>
              <a:spcAft>
                <a:spcPts val="0"/>
              </a:spcAft>
              <a:buNone/>
            </a:pPr>
            <a:r>
              <a:rPr lang="en-US" sz="775">
                <a:latin typeface="Arial"/>
                <a:ea typeface="Arial"/>
                <a:cs typeface="Arial"/>
                <a:sym typeface="Arial"/>
              </a:rPr>
              <a:t>In the above example, the lifelines in the middle diagram represent subsystems; the interactions in the circles represent the internal interaction of subsystem members in response to the message.</a:t>
            </a:r>
            <a:endParaRPr/>
          </a:p>
          <a:p>
            <a:pPr indent="0" lvl="0" marL="0" rtl="0" algn="l">
              <a:lnSpc>
                <a:spcPct val="80000"/>
              </a:lnSpc>
              <a:spcBef>
                <a:spcPts val="0"/>
              </a:spcBef>
              <a:spcAft>
                <a:spcPts val="0"/>
              </a:spcAft>
              <a:buNone/>
            </a:pPr>
            <a:r>
              <a:rPr lang="en-US" sz="775">
                <a:latin typeface="Arial"/>
                <a:ea typeface="Arial"/>
                <a:cs typeface="Arial"/>
                <a:sym typeface="Arial"/>
              </a:rPr>
              <a:t>This approach raises the level of abstraction of the use-case realization flows of events.</a:t>
            </a:r>
            <a:endParaRPr/>
          </a:p>
          <a:p>
            <a:pPr indent="0" lvl="0" marL="0" rtl="0" algn="l">
              <a:lnSpc>
                <a:spcPct val="80000"/>
              </a:lnSpc>
              <a:spcBef>
                <a:spcPts val="0"/>
              </a:spcBef>
              <a:spcAft>
                <a:spcPts val="0"/>
              </a:spcAft>
              <a:buNone/>
            </a:pPr>
            <a:r>
              <a:rPr lang="en-US" sz="775">
                <a:latin typeface="Arial"/>
                <a:ea typeface="Arial"/>
                <a:cs typeface="Arial"/>
                <a:sym typeface="Arial"/>
              </a:rPr>
              <a:t>The advantages of this approach are described on the next three slides.</a:t>
            </a:r>
            <a:endParaRPr/>
          </a:p>
          <a:p>
            <a:pPr indent="0" lvl="0" marL="0" rtl="0" algn="l">
              <a:lnSpc>
                <a:spcPct val="80000"/>
              </a:lnSpc>
              <a:spcBef>
                <a:spcPts val="0"/>
              </a:spcBef>
              <a:spcAft>
                <a:spcPts val="0"/>
              </a:spcAft>
              <a:buNone/>
            </a:pPr>
            <a:r>
              <a:rPr lang="en-US" sz="775">
                <a:latin typeface="Arial"/>
                <a:ea typeface="Arial"/>
                <a:cs typeface="Arial"/>
                <a:sym typeface="Arial"/>
              </a:rPr>
              <a:t>-----------------------------------------------------------------------------------------------------------</a:t>
            </a:r>
            <a:endParaRPr/>
          </a:p>
          <a:p>
            <a:pPr indent="0" lvl="0" marL="0" rtl="0" algn="l">
              <a:lnSpc>
                <a:spcPct val="80000"/>
              </a:lnSpc>
              <a:spcBef>
                <a:spcPts val="0"/>
              </a:spcBef>
              <a:spcAft>
                <a:spcPts val="0"/>
              </a:spcAft>
              <a:buNone/>
            </a:pPr>
            <a:r>
              <a:rPr lang="en-US" sz="1007"/>
              <a:t>Khi một ca sử dụng được thực hiện, luồng các sự kiện thường được mô tả bởi các đối tượng thực hiện, đó là sự tương tác giữa các đối tượng thiết kế. Để đơn giản hoá các biểu đồ và định nghĩa các hành vi có thể sử dụng lại, chúng ta cần đóng gói các luồng con của các sự kiện vào trong hệ thống con. Với các hệ thống con, các biểu đồ tương tác có thể minh hoạ cho sự tương tác bên trong, cũng chính là các yêu cầu hành vi của nó. Các biểu đồ này được phát triển ở giai đoạn Thiết kế hệ thống con.</a:t>
            </a:r>
            <a:endParaRPr/>
          </a:p>
          <a:p>
            <a:pPr indent="0" lvl="0" marL="0" rtl="0" algn="l">
              <a:lnSpc>
                <a:spcPct val="80000"/>
              </a:lnSpc>
              <a:spcBef>
                <a:spcPts val="0"/>
              </a:spcBef>
              <a:spcAft>
                <a:spcPts val="0"/>
              </a:spcAft>
              <a:buNone/>
            </a:pPr>
            <a:r>
              <a:rPr lang="en-US" sz="1007"/>
              <a:t>Trong biểu diễn các biểu đồ tương tác, các giao diện dùng để thay thế các hệ thống con. Các thông điệp trong hệ thống con vì vậy được các mô hình gửi đến các giao diện hệ thống con.</a:t>
            </a:r>
            <a:endParaRPr/>
          </a:p>
          <a:p>
            <a:pPr indent="0" lvl="0" marL="0" rtl="0" algn="l">
              <a:lnSpc>
                <a:spcPct val="80000"/>
              </a:lnSpc>
              <a:spcBef>
                <a:spcPts val="0"/>
              </a:spcBef>
              <a:spcAft>
                <a:spcPts val="0"/>
              </a:spcAft>
              <a:buNone/>
            </a:pPr>
            <a:r>
              <a:rPr lang="en-US" sz="1007"/>
              <a:t>Với phương pháp này, khi mô tả sự tương tác, vào các dịch vụ mà ko phải sự cài đặt dịch vụ trong các  phần thiết kế. Vấn đề này là một phần trong “Thiết kế theo hợp đồng” (“</a:t>
            </a:r>
            <a:r>
              <a:rPr i="1" lang="en-US" sz="1007"/>
              <a:t>Design by Contract</a:t>
            </a:r>
            <a:r>
              <a:rPr lang="en-US" sz="1007"/>
              <a:t>”), một phương pháp phát triển phần mềm một cách chặt chẽ sử dụng cơ chế trừu tượng và đóng gói. </a:t>
            </a:r>
            <a:endParaRPr/>
          </a:p>
          <a:p>
            <a:pPr indent="0" lvl="0" marL="0" rtl="0" algn="l">
              <a:lnSpc>
                <a:spcPct val="80000"/>
              </a:lnSpc>
              <a:spcBef>
                <a:spcPts val="0"/>
              </a:spcBef>
              <a:spcAft>
                <a:spcPts val="0"/>
              </a:spcAft>
              <a:buNone/>
            </a:pPr>
            <a:r>
              <a:rPr lang="en-US" sz="1007"/>
              <a:t>Việc đóng gói sự tương tác các hệ thống con trong mô hình hoá toàn bộ hệ thống có những ưu điểm như sau:</a:t>
            </a:r>
            <a:endParaRPr/>
          </a:p>
          <a:p>
            <a:pPr indent="0" lvl="0" marL="0" rtl="0" algn="l">
              <a:lnSpc>
                <a:spcPct val="80000"/>
              </a:lnSpc>
              <a:spcBef>
                <a:spcPts val="0"/>
              </a:spcBef>
              <a:spcAft>
                <a:spcPts val="0"/>
              </a:spcAft>
              <a:buNone/>
            </a:pPr>
            <a:r>
              <a:rPr lang="en-US" sz="1007"/>
              <a:t>Hiện thực hoá (realization) ca sử dụng trở nên ít nhầm lẫn, đặc biệt với thiết kế bên trong của các hệ thống phức tạp.</a:t>
            </a:r>
            <a:endParaRPr/>
          </a:p>
          <a:p>
            <a:pPr indent="0" lvl="0" marL="0" rtl="0" algn="l">
              <a:lnSpc>
                <a:spcPct val="80000"/>
              </a:lnSpc>
              <a:spcBef>
                <a:spcPts val="0"/>
              </a:spcBef>
              <a:spcAft>
                <a:spcPts val="0"/>
              </a:spcAft>
              <a:buNone/>
            </a:pPr>
            <a:r>
              <a:rPr lang="en-US" sz="1007"/>
              <a:t>Hiện thực hoá ca sử dụng có thể được tạo ra trước các thiết kế bên trong của các hệ thống con. Điều này được sử dụng để đảm bảo rằng các chức năng của ca sử dụng không mất đi trong việc chuyển từ Phân tích ca sử dụng và xác định các phần tử thiết kế (các hệ thống con và lớp thiết kế).</a:t>
            </a:r>
            <a:endParaRPr/>
          </a:p>
          <a:p>
            <a:pPr indent="0" lvl="0" marL="0" rtl="0" algn="l">
              <a:lnSpc>
                <a:spcPct val="80000"/>
              </a:lnSpc>
              <a:spcBef>
                <a:spcPts val="0"/>
              </a:spcBef>
              <a:spcAft>
                <a:spcPts val="0"/>
              </a:spcAft>
              <a:buNone/>
            </a:pPr>
            <a:r>
              <a:rPr lang="en-US" sz="1007"/>
              <a:t>Hiện thực hoá ca sử dụng trở nên dễ dàng thay đổi, đặc biệt nếu hệ thống con cần thay thế cho hệ thống con khác.</a:t>
            </a:r>
            <a:endParaRPr/>
          </a:p>
          <a:p>
            <a:pPr indent="0" lvl="0" marL="0" rtl="0" algn="l">
              <a:lnSpc>
                <a:spcPct val="80000"/>
              </a:lnSpc>
              <a:spcBef>
                <a:spcPts val="0"/>
              </a:spcBef>
              <a:spcAft>
                <a:spcPts val="0"/>
              </a:spcAft>
              <a:buNone/>
            </a:pPr>
            <a:r>
              <a:t/>
            </a:r>
            <a:endParaRPr sz="775">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9: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933" name="Google Shape;933;p19: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934" name="Google Shape;934;p19:notes"/>
          <p:cNvSpPr txBox="1"/>
          <p:nvPr/>
        </p:nvSpPr>
        <p:spPr>
          <a:xfrm>
            <a:off x="607125" y="1257814"/>
            <a:ext cx="1882419" cy="4712915"/>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This slide lists those instances when subsequences of messages (a.k.a. subflows) within interaction diagrams should be encapsulated within a subsystem.</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Sometimes you see repeated patterns of interaction in these early use-case realizations that give birth to new subsystems and some revisions in the use-case realizations.  It is important for the architect to look within and across subsystems for common behavior (common collaboration) within the subsystems, pulling it out where possible.  This is a reuse scavenging activity that falls under the Identify Design Elements umbrella.</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The subflow encapsulated within the subsystem becomes a behavior of that subsystem and should be defined in an interface that the subsystem realizes.  Existing dependencies need to be adjusted to support the new or refined interface.  Adjustment or refinement of subsystem interfaces and dependencies is an Identify Design Elements activity that should be performed by the architect.  The modeling of the collaborations within a subsystem is a Subsystem Design activity that should be performed by the subsystem Designer.</a:t>
            </a:r>
            <a:endParaRPr/>
          </a:p>
        </p:txBody>
      </p:sp>
      <p:sp>
        <p:nvSpPr>
          <p:cNvPr id="935" name="Google Shape;935;p19: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936" name="Google Shape;936;p19: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Encapsulate a subflow within a subsystem when it:</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Occurs repeatedly in different use-case realizations: Similar messages are sent to similar objects, providing the same end result.  The word “similar” is used because some design work may be needed to make the behavior reusable.</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Occurs in only one use-case realization but it is expected to be performed repeatedly in future iterations, or in similar systems in the future. The behavior may make a good reusable component.</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Occurs in only one use-case realization but is complex and easily encapsulated, needs to be the responsibility of one person or a team, and provides a well-defined result. In these kinds of situations, the complex behavior usually requires special technical knowledge, or special domain knowledge. As a result, it is wellsuited to encapsulation within a subsystem.</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Is encapsulated within a component in the Implementation Model.  In this case, a subsystem is the appropriate representation for the component within the Design Model.</a:t>
            </a:r>
            <a:endParaRPr/>
          </a:p>
          <a:p>
            <a:pPr indent="0" lvl="0" marL="0" rtl="0" algn="l">
              <a:spcBef>
                <a:spcPts val="0"/>
              </a:spcBef>
              <a:spcAft>
                <a:spcPts val="0"/>
              </a:spcAft>
              <a:buNone/>
            </a:pPr>
            <a:r>
              <a:rPr lang="en-US" sz="1000">
                <a:latin typeface="Arial"/>
                <a:ea typeface="Arial"/>
                <a:cs typeface="Arial"/>
                <a:sym typeface="Arial"/>
              </a:rPr>
              <a:t>Make sure that what you are abstracting is worth abstracting.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20: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949" name="Google Shape;949;p2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950" name="Google Shape;950;p20: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951" name="Google Shape;951;p20: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To achieve true substitutability of subsystems that realize the same interface, only their interfaces can be visible in the interaction diagrams; otherwise all diagrams will need to be changed whenever a subsystem is substituted for another.</a:t>
            </a:r>
            <a:endParaRPr/>
          </a:p>
          <a:p>
            <a:pPr indent="0" lvl="0" marL="0" rtl="0" algn="l">
              <a:spcBef>
                <a:spcPts val="0"/>
              </a:spcBef>
              <a:spcAft>
                <a:spcPts val="0"/>
              </a:spcAft>
              <a:buNone/>
            </a:pPr>
            <a:r>
              <a:rPr lang="en-US" sz="1000">
                <a:latin typeface="Arial"/>
                <a:ea typeface="Arial"/>
                <a:cs typeface="Arial"/>
                <a:sym typeface="Arial"/>
              </a:rPr>
              <a:t>On an interaction diagram, sending a message to an interface lifeline means that any subsystem that realizes the interface can be substituted for the interface in the diagram. </a:t>
            </a:r>
            <a:endParaRPr/>
          </a:p>
          <a:p>
            <a:pPr indent="0" lvl="0" marL="0" rtl="0" algn="l">
              <a:spcBef>
                <a:spcPts val="0"/>
              </a:spcBef>
              <a:spcAft>
                <a:spcPts val="0"/>
              </a:spcAft>
              <a:buNone/>
            </a:pPr>
            <a:r>
              <a:rPr lang="en-US" sz="1000">
                <a:latin typeface="Arial"/>
                <a:ea typeface="Arial"/>
                <a:cs typeface="Arial"/>
                <a:sym typeface="Arial"/>
              </a:rPr>
              <a:t>In many cases, the interface lifeline does not have messages going out from it, since different subsystems realizing the interface may send different messages.  However, if you want to describe what messages should be sent (or are allowed to be sent) from any subsystem realizing the interface, such messages can originate from the interface lifeline.</a:t>
            </a:r>
            <a:endParaRPr/>
          </a:p>
          <a:p>
            <a:pPr indent="0" lvl="0" marL="0" rtl="0" algn="l">
              <a:spcBef>
                <a:spcPts val="0"/>
              </a:spcBef>
              <a:spcAft>
                <a:spcPts val="0"/>
              </a:spcAft>
              <a:buNone/>
            </a:pPr>
            <a:r>
              <a:rPr lang="en-US" sz="1000">
                <a:latin typeface="Arial"/>
                <a:ea typeface="Arial"/>
                <a:cs typeface="Arial"/>
                <a:sym typeface="Arial"/>
              </a:rPr>
              <a:t>With this approach, when describing the interactions, the focus remains on the services, not on how the services are implemented within the design elements. This is known as “Design by Contract” and is one of the core tenets of robust software development using abstraction and encapsulation mechanisms.</a:t>
            </a:r>
            <a:endParaRPr/>
          </a:p>
          <a:p>
            <a:pPr indent="0" lvl="0" marL="0" rtl="0" algn="l">
              <a:spcBef>
                <a:spcPts val="0"/>
              </a:spcBef>
              <a:spcAft>
                <a:spcPts val="0"/>
              </a:spcAft>
              <a:buNone/>
            </a:pPr>
            <a:r>
              <a:rPr lang="en-US" sz="1000">
                <a:latin typeface="Arial"/>
                <a:ea typeface="Arial"/>
                <a:cs typeface="Arial"/>
                <a:sym typeface="Arial"/>
              </a:rPr>
              <a:t>Describing how the services are implemented is the focus of Subsystem Design for the design subsystems and Class Design for the design classes.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21: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991" name="Google Shape;991;p2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992" name="Google Shape;992;p21:notes"/>
          <p:cNvSpPr txBox="1"/>
          <p:nvPr/>
        </p:nvSpPr>
        <p:spPr>
          <a:xfrm>
            <a:off x="607125" y="1261133"/>
            <a:ext cx="1913765" cy="404044"/>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Parallel subsystem development is discussed in more detail on the next slide.</a:t>
            </a:r>
            <a:endParaRPr/>
          </a:p>
        </p:txBody>
      </p:sp>
      <p:sp>
        <p:nvSpPr>
          <p:cNvPr id="993" name="Google Shape;993;p21: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994" name="Google Shape;994;p21: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The advantages of encapsulating subsystem interactions over modeling the entire system at once are:</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Use-case realizations become less cluttered, especially if the internal design of some subsystems is complex.</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Use-case realizations can be created before the internal designs of subsystems are created.  This can be used to make sure that use-case functionality has not been “lost” between the allocation of use-case responsibility in Use-Case Analysis and the identification of design elements (subsystems and design classes) in Identify Design Elements, and before Subsystem Design is performed.</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Use-case realizations become more generic and easier to change, especially if a subsystem needs to be substituted for another subsystem.  </a:t>
            </a:r>
            <a:endParaRPr/>
          </a:p>
          <a:p>
            <a:pPr indent="0" lvl="0" marL="0" rtl="0" algn="l">
              <a:spcBef>
                <a:spcPts val="0"/>
              </a:spcBef>
              <a:spcAft>
                <a:spcPts val="0"/>
              </a:spcAft>
              <a:buNone/>
            </a:pPr>
            <a:r>
              <a:rPr lang="en-US" sz="1000">
                <a:latin typeface="Arial"/>
                <a:ea typeface="Arial"/>
                <a:cs typeface="Arial"/>
                <a:sym typeface="Arial"/>
              </a:rPr>
              <a:t>Encapsulating subsystem interactions raises the level of abstraction of the use-case realization flows of events.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22: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001" name="Google Shape;1001;p22: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002" name="Google Shape;1002;p22: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003" name="Google Shape;1003;p22: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In some cases, it is appropriate to develop a subsystem more or less independently and in parallel with the development of other subsystems. To achieve this, we must first find subsystem dependencies by identifying the interfaces between them. </a:t>
            </a:r>
            <a:endParaRPr/>
          </a:p>
          <a:p>
            <a:pPr indent="0" lvl="0" marL="0" rtl="0" algn="l">
              <a:spcBef>
                <a:spcPts val="0"/>
              </a:spcBef>
              <a:spcAft>
                <a:spcPts val="0"/>
              </a:spcAft>
              <a:buNone/>
            </a:pPr>
            <a:r>
              <a:rPr lang="en-US" sz="1000">
                <a:latin typeface="Arial"/>
                <a:ea typeface="Arial"/>
                <a:cs typeface="Arial"/>
                <a:sym typeface="Arial"/>
              </a:rPr>
              <a:t>This work can be done as follows: </a:t>
            </a:r>
            <a:endParaRPr/>
          </a:p>
          <a:p>
            <a:pPr indent="-119169" lvl="1" marL="238338" rtl="0" algn="l">
              <a:spcBef>
                <a:spcPts val="0"/>
              </a:spcBef>
              <a:spcAft>
                <a:spcPts val="0"/>
              </a:spcAft>
              <a:buClr>
                <a:schemeClr val="dk1"/>
              </a:buClr>
              <a:buSzPts val="1000"/>
              <a:buFont typeface="Arial"/>
              <a:buAutoNum type="arabicPeriod"/>
            </a:pPr>
            <a:r>
              <a:rPr lang="en-US" sz="1000">
                <a:latin typeface="Arial"/>
                <a:ea typeface="Arial"/>
                <a:cs typeface="Arial"/>
                <a:sym typeface="Arial"/>
              </a:rPr>
              <a:t>Concentrate on the requirements that affect the interfaces between the subsystems. </a:t>
            </a:r>
            <a:endParaRPr/>
          </a:p>
          <a:p>
            <a:pPr indent="-119169" lvl="1" marL="238338" rtl="0" algn="l">
              <a:spcBef>
                <a:spcPts val="0"/>
              </a:spcBef>
              <a:spcAft>
                <a:spcPts val="0"/>
              </a:spcAft>
              <a:buClr>
                <a:schemeClr val="dk1"/>
              </a:buClr>
              <a:buSzPts val="1000"/>
              <a:buFont typeface="Arial"/>
              <a:buAutoNum type="arabicPeriod"/>
            </a:pPr>
            <a:r>
              <a:rPr lang="en-US" sz="1000">
                <a:latin typeface="Arial"/>
                <a:ea typeface="Arial"/>
                <a:cs typeface="Arial"/>
                <a:sym typeface="Arial"/>
              </a:rPr>
              <a:t>Make outlines of the required interfaces, showing the messages that are going to pass over the subsystem borders. </a:t>
            </a:r>
            <a:endParaRPr/>
          </a:p>
          <a:p>
            <a:pPr indent="-119169" lvl="1" marL="238338" rtl="0" algn="l">
              <a:spcBef>
                <a:spcPts val="0"/>
              </a:spcBef>
              <a:spcAft>
                <a:spcPts val="0"/>
              </a:spcAft>
              <a:buClr>
                <a:schemeClr val="dk1"/>
              </a:buClr>
              <a:buSzPts val="1000"/>
              <a:buFont typeface="Arial"/>
              <a:buAutoNum type="arabicPeriod"/>
            </a:pPr>
            <a:r>
              <a:rPr lang="en-US" sz="1000">
                <a:latin typeface="Arial"/>
                <a:ea typeface="Arial"/>
                <a:cs typeface="Arial"/>
                <a:sym typeface="Arial"/>
              </a:rPr>
              <a:t>Draw interaction diagrams in terms of subsystem interfaces for each use case. </a:t>
            </a:r>
            <a:endParaRPr/>
          </a:p>
          <a:p>
            <a:pPr indent="-119169" lvl="1" marL="238338" rtl="0" algn="l">
              <a:spcBef>
                <a:spcPts val="0"/>
              </a:spcBef>
              <a:spcAft>
                <a:spcPts val="0"/>
              </a:spcAft>
              <a:buClr>
                <a:schemeClr val="dk1"/>
              </a:buClr>
              <a:buSzPts val="1000"/>
              <a:buFont typeface="Arial"/>
              <a:buAutoNum type="arabicPeriod"/>
            </a:pPr>
            <a:r>
              <a:rPr lang="en-US" sz="1000">
                <a:latin typeface="Arial"/>
                <a:ea typeface="Arial"/>
                <a:cs typeface="Arial"/>
                <a:sym typeface="Arial"/>
              </a:rPr>
              <a:t>Refine the interfaces needed to provide messages. </a:t>
            </a:r>
            <a:endParaRPr/>
          </a:p>
          <a:p>
            <a:pPr indent="-119169" lvl="1" marL="238338" rtl="0" algn="l">
              <a:spcBef>
                <a:spcPts val="0"/>
              </a:spcBef>
              <a:spcAft>
                <a:spcPts val="0"/>
              </a:spcAft>
              <a:buClr>
                <a:schemeClr val="dk1"/>
              </a:buClr>
              <a:buSzPts val="1000"/>
              <a:buFont typeface="Arial"/>
              <a:buAutoNum type="arabicPeriod"/>
            </a:pPr>
            <a:r>
              <a:rPr lang="en-US" sz="1000">
                <a:latin typeface="Arial"/>
                <a:ea typeface="Arial"/>
                <a:cs typeface="Arial"/>
                <a:sym typeface="Arial"/>
              </a:rPr>
              <a:t>Develop each subsystem in parallel using the interfaces as synchronization instruments between development teams. </a:t>
            </a:r>
            <a:endParaRPr/>
          </a:p>
          <a:p>
            <a:pPr indent="0" lvl="0" marL="0" rtl="0" algn="l">
              <a:spcBef>
                <a:spcPts val="0"/>
              </a:spcBef>
              <a:spcAft>
                <a:spcPts val="0"/>
              </a:spcAft>
              <a:buNone/>
            </a:pPr>
            <a:r>
              <a:rPr lang="en-US" sz="1000">
                <a:latin typeface="Arial"/>
                <a:ea typeface="Arial"/>
                <a:cs typeface="Arial"/>
                <a:sym typeface="Arial"/>
              </a:rPr>
              <a:t>You can also choose whether to arrange the interaction diagrams in terms of subsystems or in terms of their interfaces only. In some projects, it might even be necessary to implement the classes providing the interfaces before you continue with the rest of the modeling.</a:t>
            </a:r>
            <a:endParaRPr/>
          </a:p>
          <a:p>
            <a:pPr indent="0" lvl="0" marL="0" rtl="0" algn="l">
              <a:spcBef>
                <a:spcPts val="0"/>
              </a:spcBef>
              <a:spcAft>
                <a:spcPts val="0"/>
              </a:spcAft>
              <a:buNone/>
            </a:pPr>
            <a:r>
              <a:rPr lang="en-US" sz="1000">
                <a:latin typeface="Arial"/>
                <a:ea typeface="Arial"/>
                <a:cs typeface="Arial"/>
                <a:sym typeface="Arial"/>
              </a:rPr>
              <a:t>The detailed design of the subsystem “internals” is done during Subsystem Design.  The interfaces are what ensure compatibility between the Use-Case Design and the Subsystem Design.</a:t>
            </a:r>
            <a:endParaRPr/>
          </a:p>
        </p:txBody>
      </p:sp>
      <p:sp>
        <p:nvSpPr>
          <p:cNvPr id="1004" name="Google Shape;1004;p22:notes"/>
          <p:cNvSpPr txBox="1"/>
          <p:nvPr/>
        </p:nvSpPr>
        <p:spPr>
          <a:xfrm>
            <a:off x="607126" y="1257814"/>
            <a:ext cx="1910465" cy="2327647"/>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This is critical information. It really describes parallel software development, which is enabled via the establishment of a well-defined and stable architecture.</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Note: This discussion holds true for packages if you substitute “public classes” for “interfaces.”  That being said, anytime you find yourself wanting to define packages with some public classes and mostly implementation classes, you may want to consider using a subsystem instead — to employ a more robust modeling technique (no dependencies on anything inside subsystem).</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2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012" name="Google Shape;1012;p2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013" name="Google Shape;1013;p23: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4" name="Google Shape;101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You will now take a closer look at the incorporation of the persistency mechanism.</a:t>
            </a:r>
            <a:endParaRPr/>
          </a:p>
          <a:p>
            <a:pPr indent="0" lvl="0" marL="0" rtl="0" algn="l">
              <a:spcBef>
                <a:spcPts val="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2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021" name="Google Shape;1021;p2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022" name="Google Shape;1022;p24:notes"/>
          <p:cNvSpPr txBox="1"/>
          <p:nvPr/>
        </p:nvSpPr>
        <p:spPr>
          <a:xfrm>
            <a:off x="607126" y="1261133"/>
            <a:ext cx="1910465" cy="4251251"/>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Remind the students that we’re not trying to teach them how to design the persistency mechanism, but that we want them to merely be able to produce designs that can effectively </a:t>
            </a:r>
            <a:r>
              <a:rPr i="1" lang="en-US" sz="1800">
                <a:solidFill>
                  <a:schemeClr val="dk1"/>
                </a:solidFill>
                <a:latin typeface="Arial"/>
                <a:ea typeface="Arial"/>
                <a:cs typeface="Arial"/>
                <a:sym typeface="Arial"/>
              </a:rPr>
              <a:t>use</a:t>
            </a:r>
            <a:r>
              <a:rPr lang="en-US" sz="1800">
                <a:solidFill>
                  <a:schemeClr val="dk1"/>
                </a:solidFill>
                <a:latin typeface="Arial"/>
                <a:ea typeface="Arial"/>
                <a:cs typeface="Arial"/>
                <a:sym typeface="Arial"/>
              </a:rPr>
              <a:t> the persistency mechanism defined by the architect in Identify Design Mechanisms.</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In some cases, there may not be a visual model (or the visual model would add little value, since most of it is handled by implementation mechanisms).  In these cases, annotation of existing interaction diagrams with notes and scripts can be used to describe where the mechanisms come into play.</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In this activity, the abstract patterns of persistent behavior (examples of which were provided in Identify Design Mechanisms) get realized in terms of the actual design classes in the system. The examples on the slides demonstrate how implementation mechanisms (specifically, the persistence mechanisms) drive design activities and why it’s so important to establish such infrastructure early in the software lifecycle.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3" name="Google Shape;1023;p24: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024" name="Google Shape;1024;p24: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625">
                <a:latin typeface="Arial"/>
                <a:ea typeface="Arial"/>
                <a:cs typeface="Arial"/>
                <a:sym typeface="Arial"/>
              </a:rPr>
              <a:t>In practice, there may be times when the application needs to control various aspects of persistence. These include:</a:t>
            </a:r>
            <a:endParaRPr/>
          </a:p>
          <a:p>
            <a:pPr indent="-119169" lvl="1" marL="238338" rtl="0" algn="l">
              <a:lnSpc>
                <a:spcPct val="80000"/>
              </a:lnSpc>
              <a:spcBef>
                <a:spcPts val="0"/>
              </a:spcBef>
              <a:spcAft>
                <a:spcPts val="0"/>
              </a:spcAft>
              <a:buClr>
                <a:schemeClr val="dk1"/>
              </a:buClr>
              <a:buSzPts val="625"/>
              <a:buFont typeface="Arial"/>
              <a:buChar char="•"/>
            </a:pPr>
            <a:r>
              <a:rPr lang="en-US" sz="625">
                <a:latin typeface="Arial"/>
                <a:ea typeface="Arial"/>
                <a:cs typeface="Arial"/>
                <a:sym typeface="Arial"/>
              </a:rPr>
              <a:t>When determining how transactions are managed.</a:t>
            </a:r>
            <a:endParaRPr/>
          </a:p>
          <a:p>
            <a:pPr indent="-119169" lvl="1" marL="238338" rtl="0" algn="l">
              <a:lnSpc>
                <a:spcPct val="80000"/>
              </a:lnSpc>
              <a:spcBef>
                <a:spcPts val="0"/>
              </a:spcBef>
              <a:spcAft>
                <a:spcPts val="0"/>
              </a:spcAft>
              <a:buClr>
                <a:schemeClr val="dk1"/>
              </a:buClr>
              <a:buSzPts val="625"/>
              <a:buFont typeface="Arial"/>
              <a:buChar char="•"/>
            </a:pPr>
            <a:r>
              <a:rPr lang="en-US" sz="625">
                <a:latin typeface="Arial"/>
                <a:ea typeface="Arial"/>
                <a:cs typeface="Arial"/>
                <a:sym typeface="Arial"/>
              </a:rPr>
              <a:t>When persistent objects are written — either the initial time when the object is written to the persistent object store or the subsequent times when the object is updated. </a:t>
            </a:r>
            <a:endParaRPr/>
          </a:p>
          <a:p>
            <a:pPr indent="-119169" lvl="1" marL="238338" rtl="0" algn="l">
              <a:lnSpc>
                <a:spcPct val="80000"/>
              </a:lnSpc>
              <a:spcBef>
                <a:spcPts val="0"/>
              </a:spcBef>
              <a:spcAft>
                <a:spcPts val="0"/>
              </a:spcAft>
              <a:buClr>
                <a:schemeClr val="dk1"/>
              </a:buClr>
              <a:buSzPts val="625"/>
              <a:buFont typeface="Arial"/>
              <a:buChar char="•"/>
            </a:pPr>
            <a:r>
              <a:rPr lang="en-US" sz="625">
                <a:latin typeface="Arial"/>
                <a:ea typeface="Arial"/>
                <a:cs typeface="Arial"/>
                <a:sym typeface="Arial"/>
              </a:rPr>
              <a:t>When persistent objects are read.  Retrieval of objects from the persistent object store is necessary before the application can send messages to that object.  You need to send a message to an object that knows how to query the database, retrieve the correct objects, and instantiate them.</a:t>
            </a:r>
            <a:endParaRPr/>
          </a:p>
          <a:p>
            <a:pPr indent="-119169" lvl="1" marL="238338" rtl="0" algn="l">
              <a:lnSpc>
                <a:spcPct val="80000"/>
              </a:lnSpc>
              <a:spcBef>
                <a:spcPts val="0"/>
              </a:spcBef>
              <a:spcAft>
                <a:spcPts val="0"/>
              </a:spcAft>
              <a:buClr>
                <a:schemeClr val="dk1"/>
              </a:buClr>
              <a:buSzPts val="625"/>
              <a:buFont typeface="Arial"/>
              <a:buChar char="•"/>
            </a:pPr>
            <a:r>
              <a:rPr lang="en-US" sz="625">
                <a:latin typeface="Arial"/>
                <a:ea typeface="Arial"/>
                <a:cs typeface="Arial"/>
                <a:sym typeface="Arial"/>
              </a:rPr>
              <a:t>When persistent objects are deleted. Unlike transient objects, which simply disappear when the process that created them dies, persistent objects exist until they are explicitly deleted. So, it is important to delete the object when it is no longer being used. However, this is hard to determine.  Just because one application is done with an object does not mean that all applications, present and future, are done. And, because objects can and do have associations that even they do not know about, it is not always easy to figure out if it is okay to delete an object. The persistence framework may also provide support for this. </a:t>
            </a:r>
            <a:endParaRPr/>
          </a:p>
          <a:p>
            <a:pPr indent="0" lvl="0" marL="0" rtl="0" algn="l">
              <a:lnSpc>
                <a:spcPct val="80000"/>
              </a:lnSpc>
              <a:spcBef>
                <a:spcPts val="0"/>
              </a:spcBef>
              <a:spcAft>
                <a:spcPts val="0"/>
              </a:spcAft>
              <a:buNone/>
            </a:pPr>
            <a:r>
              <a:rPr lang="en-US" sz="625">
                <a:latin typeface="Arial"/>
                <a:ea typeface="Arial"/>
                <a:cs typeface="Arial"/>
                <a:sym typeface="Arial"/>
              </a:rPr>
              <a:t>We will look at each one of these situations on the next two slides.</a:t>
            </a:r>
            <a:endParaRPr/>
          </a:p>
          <a:p>
            <a:pPr indent="0" lvl="0" marL="0" rtl="0" algn="l">
              <a:lnSpc>
                <a:spcPct val="80000"/>
              </a:lnSpc>
              <a:spcBef>
                <a:spcPts val="0"/>
              </a:spcBef>
              <a:spcAft>
                <a:spcPts val="0"/>
              </a:spcAft>
              <a:buNone/>
            </a:pPr>
            <a:r>
              <a:rPr lang="en-US" sz="625">
                <a:latin typeface="Arial"/>
                <a:ea typeface="Arial"/>
                <a:cs typeface="Arial"/>
                <a:sym typeface="Arial"/>
              </a:rPr>
              <a:t>-----------------------------------------------------------------------------------------------------------</a:t>
            </a:r>
            <a:endParaRPr/>
          </a:p>
          <a:p>
            <a:pPr indent="0" lvl="0" marL="0" rtl="0" algn="l">
              <a:lnSpc>
                <a:spcPct val="80000"/>
              </a:lnSpc>
              <a:spcBef>
                <a:spcPts val="0"/>
              </a:spcBef>
              <a:spcAft>
                <a:spcPts val="0"/>
              </a:spcAft>
              <a:buNone/>
            </a:pPr>
            <a:r>
              <a:rPr b="1" lang="en-US" sz="812"/>
              <a:t>5.5.3. Mô tả các hành vi liên quan dữ liệu bền vững</a:t>
            </a:r>
            <a:endParaRPr b="1" sz="812"/>
          </a:p>
          <a:p>
            <a:pPr indent="0" lvl="0" marL="0" rtl="0" algn="l">
              <a:lnSpc>
                <a:spcPct val="80000"/>
              </a:lnSpc>
              <a:spcBef>
                <a:spcPts val="0"/>
              </a:spcBef>
              <a:spcAft>
                <a:spcPts val="0"/>
              </a:spcAft>
              <a:buNone/>
            </a:pPr>
            <a:r>
              <a:rPr lang="en-US" sz="812"/>
              <a:t>Trong thực tế, thỉnh thoảng ứng dụng cần kiểm soát các khía cạnh khác nhau của dữ liệu bền vững của đối tượng. Các khía cạch này bao gồm:</a:t>
            </a:r>
            <a:endParaRPr/>
          </a:p>
          <a:p>
            <a:pPr indent="0" lvl="0" marL="0" rtl="0" algn="l">
              <a:lnSpc>
                <a:spcPct val="80000"/>
              </a:lnSpc>
              <a:spcBef>
                <a:spcPts val="0"/>
              </a:spcBef>
              <a:spcAft>
                <a:spcPts val="0"/>
              </a:spcAft>
              <a:buNone/>
            </a:pPr>
            <a:r>
              <a:rPr lang="en-US" sz="812"/>
              <a:t>Khi xác định làm thế nào các luồng giao dịch được quản lý.</a:t>
            </a:r>
            <a:endParaRPr/>
          </a:p>
          <a:p>
            <a:pPr indent="0" lvl="0" marL="0" rtl="0" algn="l">
              <a:lnSpc>
                <a:spcPct val="80000"/>
              </a:lnSpc>
              <a:spcBef>
                <a:spcPts val="0"/>
              </a:spcBef>
              <a:spcAft>
                <a:spcPts val="0"/>
              </a:spcAft>
              <a:buNone/>
            </a:pPr>
            <a:r>
              <a:rPr lang="en-US" sz="812"/>
              <a:t>Khi các đối tượng bền vững được viết ra – hoặc lúc ban đầu khi đối tượng bền vững hoặc thời gian sau khi đối tượng được cập nhật.</a:t>
            </a:r>
            <a:endParaRPr/>
          </a:p>
          <a:p>
            <a:pPr indent="0" lvl="0" marL="0" rtl="0" algn="l">
              <a:lnSpc>
                <a:spcPct val="80000"/>
              </a:lnSpc>
              <a:spcBef>
                <a:spcPts val="0"/>
              </a:spcBef>
              <a:spcAft>
                <a:spcPts val="0"/>
              </a:spcAft>
              <a:buNone/>
            </a:pPr>
            <a:r>
              <a:rPr lang="en-US" sz="812"/>
              <a:t>Khi các đối tượng bền vững được đọc. Việc truy tìm các đối tượng từ kho đối tượng lưu trữ là việc cần thiết trước khi ứng dụng có thể gửi thông điệp đến đối tượng. Chúng ta cần gửi một thông điệp đến đối tượng. Chúng ta cần gửi một thông điệp đến một đối tượng để truy vấn dữ liệu, sinh các đối tượng,…</a:t>
            </a:r>
            <a:endParaRPr/>
          </a:p>
          <a:p>
            <a:pPr indent="0" lvl="0" marL="0" rtl="0" algn="l">
              <a:lnSpc>
                <a:spcPct val="80000"/>
              </a:lnSpc>
              <a:spcBef>
                <a:spcPts val="0"/>
              </a:spcBef>
              <a:spcAft>
                <a:spcPts val="0"/>
              </a:spcAft>
              <a:buNone/>
            </a:pPr>
            <a:r>
              <a:rPr lang="en-US" sz="812"/>
              <a:t>Khi các đối tượng bền vững bị xoá. Không giống các đối tượng tạm thời (</a:t>
            </a:r>
            <a:r>
              <a:rPr i="1" lang="en-US" sz="812"/>
              <a:t>transient objects</a:t>
            </a:r>
            <a:r>
              <a:rPr lang="en-US" sz="812"/>
              <a:t>), nó sẽ biến mất khi tiến trình tạo ra nó mất đi, các đối tượng bền vững tồn tại cho đến khi nó thực sự được xoá. Do đó, việc xoá các đối tượng khi không cần cần dùng đến là rất quan trọng. Tuy nhiên, rất khó xác định đối tượng nào là không còn sủ dụng.</a:t>
            </a:r>
            <a:endParaRPr/>
          </a:p>
          <a:p>
            <a:pPr indent="0" lvl="0" marL="0" rtl="0" algn="l">
              <a:lnSpc>
                <a:spcPct val="80000"/>
              </a:lnSpc>
              <a:spcBef>
                <a:spcPts val="0"/>
              </a:spcBef>
              <a:spcAft>
                <a:spcPts val="0"/>
              </a:spcAft>
              <a:buNone/>
            </a:pPr>
            <a:r>
              <a:rPr lang="en-US" sz="812"/>
              <a:t>Trước khi nói đến mô hình hoá các hành vi liên quan đến sự lưu trữ, chúng ta cần định nghĩa sự giao dịch. Sự giao dịch định nghĩa một tập các thao tác nguyên tử: tất cả hoặc không có thao tác nào thực hiện. Trong ngữ cảnh lưu trữ, một sự giao dịch (</a:t>
            </a:r>
            <a:r>
              <a:rPr i="1" lang="en-US" sz="812"/>
              <a:t>tracsaction</a:t>
            </a:r>
            <a:r>
              <a:rPr lang="en-US" sz="812"/>
              <a:t>) định nghĩa một tập các thay đổi của đối tượng. Sự giao dịch cung cấp một tập các thay đổi của các đối tượng. Sự giao dịch cung cấp 1 sự nhất quán, đảm bảo tập các đối tượng chuyển từ trạng thái này sang trạng thái khác một cách thống nhất. Nếu tất cả thao tác đặc tả trong một sự giao dịch không thể thực hiện (thường do lỗi xảy ra), sự giao dịch sẽ bị bỏ qua và sự thay đổi xảy ra trong giao dịch được giữ nguyên.</a:t>
            </a:r>
            <a:endParaRPr/>
          </a:p>
          <a:p>
            <a:pPr indent="0" lvl="0" marL="0" rtl="0" algn="l">
              <a:lnSpc>
                <a:spcPct val="80000"/>
              </a:lnSpc>
              <a:spcBef>
                <a:spcPts val="0"/>
              </a:spcBef>
              <a:spcAft>
                <a:spcPts val="0"/>
              </a:spcAft>
              <a:buNone/>
            </a:pPr>
            <a:r>
              <a:rPr lang="en-US" sz="812"/>
              <a:t>	Các lỗi điều kiện được đoán trước thường biểu diễn các luồng ngoại lệ trong các ca sủ dụng. Trong các tình huống khác, các lỗi điều kiện xuất hiện vì một số vấn đề xảy ra trong hệ thống. Các lỗi điều kiện cần phải mô tả rõ trong khi đặc tả sự tương tác.</a:t>
            </a:r>
            <a:endParaRPr/>
          </a:p>
          <a:p>
            <a:pPr indent="0" lvl="0" marL="0" rtl="0" algn="l">
              <a:lnSpc>
                <a:spcPct val="80000"/>
              </a:lnSpc>
              <a:spcBef>
                <a:spcPts val="0"/>
              </a:spcBef>
              <a:spcAft>
                <a:spcPts val="0"/>
              </a:spcAft>
              <a:buNone/>
            </a:pPr>
            <a:r>
              <a:t/>
            </a:r>
            <a:endParaRPr sz="625">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3" name="Google Shape;107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300">
                <a:latin typeface="Arial"/>
                <a:ea typeface="Arial"/>
                <a:cs typeface="Arial"/>
                <a:sym typeface="Arial"/>
              </a:rPr>
              <a:t>Before we discuss the modeling of the persistence-related behavior, we need to define what transactions are.  Transactions define a set of operation invocations that are atomic: They are either all performed, or none of them are performed. In the context of persistence, a transaction defines a set of changes to a set of objects that are either all performed or none are performed. Transactions provide consistency, ensuring that sets of objects move from one consistent state to another. If all operations specified in a transaction cannot be performed (usually because an error occurred), the transaction is aborted, and all changes made during the transaction are reversed. </a:t>
            </a:r>
            <a:endParaRPr/>
          </a:p>
          <a:p>
            <a:pPr indent="0" lvl="0" marL="0" rtl="0" algn="l">
              <a:lnSpc>
                <a:spcPct val="90000"/>
              </a:lnSpc>
              <a:spcBef>
                <a:spcPts val="0"/>
              </a:spcBef>
              <a:spcAft>
                <a:spcPts val="0"/>
              </a:spcAft>
              <a:buNone/>
            </a:pPr>
            <a:r>
              <a:rPr lang="en-US" sz="1300">
                <a:latin typeface="Arial"/>
                <a:ea typeface="Arial"/>
                <a:cs typeface="Arial"/>
                <a:sym typeface="Arial"/>
              </a:rPr>
              <a:t>Anticipated error conditions often represent exceptional flows of events in use cases. In other situations, error conditions occur because of some failure in the system. Error conditions should be documented in interactions. Simple errors and exceptions can be shown in the interaction where they occur; complex errors and exceptions might require their own interactions. Failure modes of specific objects can be shown on statecharts. Conditional flow of control handling of these failure modes can be shown in the interaction in which the error or exception occurs.</a:t>
            </a:r>
            <a:endParaRPr/>
          </a:p>
          <a:p>
            <a:pPr indent="0" lvl="0" marL="0" rtl="0" algn="l">
              <a:lnSpc>
                <a:spcPct val="90000"/>
              </a:lnSpc>
              <a:spcBef>
                <a:spcPts val="0"/>
              </a:spcBef>
              <a:spcAft>
                <a:spcPts val="0"/>
              </a:spcAft>
              <a:buNone/>
            </a:pPr>
            <a:r>
              <a:rPr lang="en-US" sz="1300">
                <a:latin typeface="Arial"/>
                <a:ea typeface="Arial"/>
                <a:cs typeface="Arial"/>
                <a:sym typeface="Arial"/>
              </a:rPr>
              <a:t>Transactions can be represented either textually using scripts or via explicit messages.  The examples provided on the next slide demonstrate the use of separate messages.</a:t>
            </a:r>
            <a:endParaRPr/>
          </a:p>
          <a:p>
            <a:pPr indent="0" lvl="0" marL="0" rtl="0" algn="l">
              <a:lnSpc>
                <a:spcPct val="90000"/>
              </a:lnSpc>
              <a:spcBef>
                <a:spcPts val="0"/>
              </a:spcBef>
              <a:spcAft>
                <a:spcPts val="0"/>
              </a:spcAft>
              <a:buNone/>
            </a:pPr>
            <a:r>
              <a:t/>
            </a:r>
            <a:endParaRPr sz="1300">
              <a:latin typeface="Arial"/>
              <a:ea typeface="Arial"/>
              <a:cs typeface="Arial"/>
              <a:sym typeface="Arial"/>
            </a:endParaRPr>
          </a:p>
          <a:p>
            <a:pPr indent="0" lvl="0" marL="0" rtl="0" algn="l">
              <a:lnSpc>
                <a:spcPct val="90000"/>
              </a:lnSpc>
              <a:spcBef>
                <a:spcPts val="0"/>
              </a:spcBef>
              <a:spcAft>
                <a:spcPts val="0"/>
              </a:spcAft>
              <a:buNone/>
            </a:pPr>
            <a:r>
              <a:t/>
            </a:r>
            <a:endParaRPr/>
          </a:p>
        </p:txBody>
      </p:sp>
      <p:sp>
        <p:nvSpPr>
          <p:cNvPr id="1074" name="Google Shape;1074;p25: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075" name="Google Shape;1075;p2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2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083" name="Google Shape;1083;p2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084" name="Google Shape;1084;p26:notes"/>
          <p:cNvSpPr txBox="1"/>
          <p:nvPr/>
        </p:nvSpPr>
        <p:spPr>
          <a:xfrm>
            <a:off x="607125" y="1261133"/>
            <a:ext cx="1915415" cy="2498915"/>
          </a:xfrm>
          <a:prstGeom prst="rect">
            <a:avLst/>
          </a:prstGeom>
          <a:noFill/>
          <a:ln>
            <a:noFill/>
          </a:ln>
        </p:spPr>
        <p:txBody>
          <a:bodyPr anchorCtr="0" anchor="t" bIns="56250" lIns="112525" spcFirstLastPara="1" rIns="112525" wrap="square" tIns="562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Emphasize to the students that you will not be covering the incorporation of the ObjectStore mechanism; however, the details can be found in the Additional Information Appendix. </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If you choose to present the ObjectStore mechanism, the slides found in the Additional Information Appendix, ObjectStore Mechanism section, second part, should be inserted after this slide. </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Note: On the presented slide, the italicized text is also blue, but this does not show up in the black-and-white manuals.</a:t>
            </a:r>
            <a:endParaRPr/>
          </a:p>
          <a:p>
            <a:pPr indent="0" lvl="0" marL="0" marR="0" rtl="0" algn="l">
              <a:spcBef>
                <a:spcPts val="900"/>
              </a:spcBef>
              <a:spcAft>
                <a:spcPts val="0"/>
              </a:spcAft>
              <a:buNone/>
            </a:pPr>
            <a:r>
              <a:t/>
            </a:r>
            <a:endParaRPr sz="1800">
              <a:solidFill>
                <a:schemeClr val="dk1"/>
              </a:solidFill>
              <a:latin typeface="Arial"/>
              <a:ea typeface="Arial"/>
              <a:cs typeface="Arial"/>
              <a:sym typeface="Arial"/>
            </a:endParaRPr>
          </a:p>
        </p:txBody>
      </p:sp>
      <p:sp>
        <p:nvSpPr>
          <p:cNvPr id="1085" name="Google Shape;1085;p26: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086" name="Google Shape;1086;p26: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During Use-Case Analysis, applicable mechanisms for each identified analysis class were documented.  This information, along with the information on what analysis classes became what design elements, allows the applicable mechanisms for a design element to be identified.</a:t>
            </a:r>
            <a:endParaRPr/>
          </a:p>
          <a:p>
            <a:pPr indent="0" lvl="0" marL="0" rtl="0" algn="l">
              <a:spcBef>
                <a:spcPts val="0"/>
              </a:spcBef>
              <a:spcAft>
                <a:spcPts val="0"/>
              </a:spcAft>
              <a:buNone/>
            </a:pPr>
            <a:r>
              <a:rPr lang="en-US" sz="1000">
                <a:latin typeface="Arial"/>
                <a:ea typeface="Arial"/>
                <a:cs typeface="Arial"/>
                <a:sym typeface="Arial"/>
              </a:rPr>
              <a:t>In our example, we have been concentrating on course registration.  Thus, the above table contains only the classes for the Register for Courses use-case realization that have analysis mechanisms assigned to them.  </a:t>
            </a:r>
            <a:endParaRPr/>
          </a:p>
          <a:p>
            <a:pPr indent="0" lvl="0" marL="0" rtl="0" algn="l">
              <a:spcBef>
                <a:spcPts val="0"/>
              </a:spcBef>
              <a:spcAft>
                <a:spcPts val="0"/>
              </a:spcAft>
              <a:buNone/>
            </a:pPr>
            <a:r>
              <a:rPr lang="en-US" sz="1000">
                <a:latin typeface="Arial"/>
                <a:ea typeface="Arial"/>
                <a:cs typeface="Arial"/>
                <a:sym typeface="Arial"/>
              </a:rPr>
              <a:t>The legacy interface mechanism distinguishes the type of persistency.  Remember, legacy data is stored in an RDBMS.  The RDMBS JDBC mechanism is described in the Identify Design Mechanisms module. </a:t>
            </a:r>
            <a:endParaRPr/>
          </a:p>
          <a:p>
            <a:pPr indent="0" lvl="0" marL="0" rtl="0" algn="l">
              <a:spcBef>
                <a:spcPts val="0"/>
              </a:spcBef>
              <a:spcAft>
                <a:spcPts val="0"/>
              </a:spcAft>
              <a:buNone/>
            </a:pPr>
            <a:r>
              <a:rPr lang="en-US" sz="1000">
                <a:latin typeface="Arial"/>
                <a:ea typeface="Arial"/>
                <a:cs typeface="Arial"/>
                <a:sym typeface="Arial"/>
              </a:rPr>
              <a:t>The details of incorporating the ObjectStore mechanism are provided in the Additional Information Appendix in the ObjectStore Mechanism section. </a:t>
            </a:r>
            <a:endParaRPr/>
          </a:p>
          <a:p>
            <a:pPr indent="0" lvl="0" marL="0" rtl="0" algn="l">
              <a:spcBef>
                <a:spcPts val="0"/>
              </a:spcBef>
              <a:spcAft>
                <a:spcPts val="0"/>
              </a:spcAft>
              <a:buNone/>
            </a:pPr>
            <a:r>
              <a:rPr lang="en-US" sz="1000">
                <a:latin typeface="Arial"/>
                <a:ea typeface="Arial"/>
                <a:cs typeface="Arial"/>
                <a:sym typeface="Arial"/>
              </a:rPr>
              <a:t>RDBMS persistency is deferred to Subsystem Design since access to the legacy systems has been encapsulated within a subsystem.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27: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117" name="Google Shape;1117;p2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118" name="Google Shape;1118;p27: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9" name="Google Shape;111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In this step you refine the flow of events originally outlined in Use-Case Analysis as needed to clarify the developed interaction diagrams.</a:t>
            </a:r>
            <a:endParaRPr/>
          </a:p>
          <a:p>
            <a:pPr indent="0" lvl="0" marL="0" rtl="0" algn="l">
              <a:spcBef>
                <a:spcPts val="0"/>
              </a:spcBef>
              <a:spcAft>
                <a:spcPts val="0"/>
              </a:spcAft>
              <a:buNone/>
            </a:pPr>
            <a:r>
              <a:rPr lang="en-US" sz="1000">
                <a:latin typeface="Arial"/>
                <a:ea typeface="Arial"/>
                <a:cs typeface="Arial"/>
                <a:sym typeface="Arial"/>
              </a:rPr>
              <a:t>This will make it easier for external observers to read the diagrams.</a:t>
            </a:r>
            <a:endParaRPr/>
          </a:p>
          <a:p>
            <a:pPr indent="0" lvl="0" marL="0" rtl="0" algn="l">
              <a:spcBef>
                <a:spcPts val="0"/>
              </a:spcBef>
              <a:spcAft>
                <a:spcPts val="0"/>
              </a:spcAft>
              <a:buNone/>
            </a:pPr>
            <a:r>
              <a:t/>
            </a:r>
            <a:endParaRPr sz="1000">
              <a:latin typeface="Arial"/>
              <a:ea typeface="Arial"/>
              <a:cs typeface="Arial"/>
              <a:sym typeface="Arial"/>
            </a:endParaRPr>
          </a:p>
          <a:p>
            <a:pPr indent="0" lvl="0" marL="0" rtl="0" algn="l">
              <a:spcBef>
                <a:spcPts val="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28: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126" name="Google Shape;1126;p28: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127" name="Google Shape;1127;p28:notes"/>
          <p:cNvSpPr txBox="1"/>
          <p:nvPr/>
        </p:nvSpPr>
        <p:spPr>
          <a:xfrm>
            <a:off x="607126" y="1257814"/>
            <a:ext cx="1918714" cy="2250703"/>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When fleshing out the details of how a use case is going to be implemented in the system, you may have discovered additional details or may have made some adjustments to the original use-case flow of events.  If such changes are important to the external user or the customer, the original use case should be updated.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Note: The original use case should not be updated to include design details, that is what the Design Model is for. (The clarification of design details is also an important purpose of the expanded descriptions being developed in this step.)</a:t>
            </a:r>
            <a:endParaRPr/>
          </a:p>
        </p:txBody>
      </p:sp>
      <p:sp>
        <p:nvSpPr>
          <p:cNvPr id="1128" name="Google Shape;1128;p28: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129" name="Google Shape;1129;p28: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In those cases where the flow of events is not fully clear from just examining the messages sent between participating objects, you might need to add additional descriptions to the interaction diagrams.  </a:t>
            </a:r>
            <a:endParaRPr/>
          </a:p>
          <a:p>
            <a:pPr indent="0" lvl="0" marL="0" rtl="0" algn="l">
              <a:spcBef>
                <a:spcPts val="0"/>
              </a:spcBef>
              <a:spcAft>
                <a:spcPts val="0"/>
              </a:spcAft>
              <a:buNone/>
            </a:pPr>
            <a:r>
              <a:rPr lang="en-US" sz="1000">
                <a:latin typeface="Arial"/>
                <a:ea typeface="Arial"/>
                <a:cs typeface="Arial"/>
                <a:sym typeface="Arial"/>
              </a:rPr>
              <a:t>These steps are taken in cases where timing annotations, notes on conditional behavior, or clarification of operation behavior is needed to make it easier for external observers to read the diagrams.  </a:t>
            </a:r>
            <a:endParaRPr/>
          </a:p>
          <a:p>
            <a:pPr indent="0" lvl="0" marL="0" rtl="0" algn="l">
              <a:spcBef>
                <a:spcPts val="0"/>
              </a:spcBef>
              <a:spcAft>
                <a:spcPts val="0"/>
              </a:spcAft>
              <a:buNone/>
            </a:pPr>
            <a:r>
              <a:rPr lang="en-US" sz="1000">
                <a:latin typeface="Arial"/>
                <a:ea typeface="Arial"/>
                <a:cs typeface="Arial"/>
                <a:sym typeface="Arial"/>
              </a:rPr>
              <a:t>Often, the name of the operation is not sufficient to understand why the operation is being performed.  Textual notes or scripts in the margin of the diagram might be needed to clarify the interaction diagram.  Textual notes and scripts might also be needed to represent control flow such as decision steps, looping, and branching.  In addition, textual tags might be needed to correlate extension points in the use case with specific locations in interaction diagrams.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29: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168" name="Google Shape;1168;p29: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169" name="Google Shape;1169;p29: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0" name="Google Shape;1170;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At this point, you have a pretty good understanding of the design elements, their responsibilities, and the collaborations required to support the functionality described in the use cases. Now you must review your work to make sure that it is as complete and as consistent as possible before moving on to the detailed design activities of Subsystem and Class Design.</a:t>
            </a:r>
            <a:endParaRPr/>
          </a:p>
          <a:p>
            <a:pPr indent="0" lvl="0" marL="0" rtl="0" algn="l">
              <a:spcBef>
                <a:spcPts val="0"/>
              </a:spcBef>
              <a:spcAft>
                <a:spcPts val="0"/>
              </a:spcAft>
              <a:buNone/>
            </a:pPr>
            <a:r>
              <a:rPr lang="en-US" sz="1000">
                <a:latin typeface="Arial"/>
                <a:ea typeface="Arial"/>
                <a:cs typeface="Arial"/>
                <a:sym typeface="Arial"/>
              </a:rPr>
              <a:t>The purpose of Unify Classes and Subsystems is to ensure that each design element represents a single well-defined concept, with non-overlapping responsibilities. It is important to unify the identified classes and subsystems to ensure homogeneity and consistency in the model.</a:t>
            </a:r>
            <a:endParaRPr/>
          </a:p>
          <a:p>
            <a:pPr indent="0" lvl="0" marL="0" rtl="0" algn="l">
              <a:spcBef>
                <a:spcPts val="0"/>
              </a:spcBef>
              <a:spcAft>
                <a:spcPts val="0"/>
              </a:spcAft>
              <a:buNone/>
            </a:pPr>
            <a:r>
              <a:rPr lang="en-US" sz="1000">
                <a:latin typeface="Arial"/>
                <a:ea typeface="Arial"/>
                <a:cs typeface="Arial"/>
                <a:sym typeface="Arial"/>
              </a:rPr>
              <a:t>The next slide describes some of the considerations that a designer for a particular use case is concerned with (for example, consistency among collaborating design elements, and between the use-case flows of events and the Design Model). This is where you make sure that everything hangs together and fix it if does not.</a:t>
            </a:r>
            <a:endParaRPr/>
          </a:p>
          <a:p>
            <a:pPr indent="0" lvl="0" marL="0" rtl="0" algn="l">
              <a:spcBef>
                <a:spcPts val="0"/>
              </a:spcBef>
              <a:spcAft>
                <a:spcPts val="0"/>
              </a:spcAft>
              <a:buNone/>
            </a:pPr>
            <a:r>
              <a:t/>
            </a:r>
            <a:endParaRPr sz="1000">
              <a:latin typeface="Arial"/>
              <a:ea typeface="Arial"/>
              <a:cs typeface="Arial"/>
              <a:sym typeface="Arial"/>
            </a:endParaRPr>
          </a:p>
        </p:txBody>
      </p:sp>
      <p:sp>
        <p:nvSpPr>
          <p:cNvPr id="1171" name="Google Shape;1171;p29:notes"/>
          <p:cNvSpPr txBox="1"/>
          <p:nvPr/>
        </p:nvSpPr>
        <p:spPr>
          <a:xfrm>
            <a:off x="607125" y="1264451"/>
            <a:ext cx="1920364" cy="7168542"/>
          </a:xfrm>
          <a:prstGeom prst="rect">
            <a:avLst/>
          </a:prstGeom>
          <a:noFill/>
          <a:ln>
            <a:noFill/>
          </a:ln>
        </p:spPr>
        <p:txBody>
          <a:bodyPr anchorCtr="0" anchor="t" bIns="56250" lIns="112525" spcFirstLastPara="1" rIns="112525" wrap="square" tIns="5625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This step is the counterpart to the Unify Analysis Classes step in Use-Case Analysis.</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Mention to the students that it may be tempting to skip this step (like skipping testing ;-)), but this is where they get a chance to check their work before a more formal walkthrough and evaluation.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p30: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179" name="Google Shape;1179;p3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180" name="Google Shape;1180;p30:notes"/>
          <p:cNvSpPr txBox="1"/>
          <p:nvPr/>
        </p:nvSpPr>
        <p:spPr>
          <a:xfrm>
            <a:off x="607125" y="1261133"/>
            <a:ext cx="1953360" cy="1173485"/>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In this step, we homogenize and blend the classes and responsibilities discovered for the different use cases.   Homogenization provides a synchronization of the Use-Case Design efforts for each of the use cases before we move into the more detailed design activities.</a:t>
            </a:r>
            <a:endParaRPr/>
          </a:p>
        </p:txBody>
      </p:sp>
      <p:sp>
        <p:nvSpPr>
          <p:cNvPr id="1181" name="Google Shape;1181;p30: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182" name="Google Shape;1182;p30: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Points to consider: </a:t>
            </a:r>
            <a:endParaRPr/>
          </a:p>
          <a:p>
            <a:pPr indent="-63500" lvl="1" marL="178754" rtl="0" algn="l">
              <a:spcBef>
                <a:spcPts val="0"/>
              </a:spcBef>
              <a:spcAft>
                <a:spcPts val="0"/>
              </a:spcAft>
              <a:buClr>
                <a:schemeClr val="dk1"/>
              </a:buClr>
              <a:buSzPts val="1000"/>
              <a:buFont typeface="Arial"/>
              <a:buChar char="•"/>
            </a:pPr>
            <a:r>
              <a:rPr lang="en-US" sz="1000">
                <a:latin typeface="Arial"/>
                <a:ea typeface="Arial"/>
                <a:cs typeface="Arial"/>
                <a:sym typeface="Arial"/>
              </a:rPr>
              <a:t>Names of model elements should describe their function.  Avoid similar names and synonyms, because they make it difficult to distinguish between model elements. </a:t>
            </a:r>
            <a:endParaRPr/>
          </a:p>
          <a:p>
            <a:pPr indent="-63500" lvl="1" marL="178754" rtl="0" algn="l">
              <a:spcBef>
                <a:spcPts val="0"/>
              </a:spcBef>
              <a:spcAft>
                <a:spcPts val="0"/>
              </a:spcAft>
              <a:buClr>
                <a:schemeClr val="dk1"/>
              </a:buClr>
              <a:buSzPts val="1000"/>
              <a:buFont typeface="Arial"/>
              <a:buChar char="•"/>
            </a:pPr>
            <a:r>
              <a:rPr lang="en-US" sz="1000">
                <a:latin typeface="Arial"/>
                <a:ea typeface="Arial"/>
                <a:cs typeface="Arial"/>
                <a:sym typeface="Arial"/>
              </a:rPr>
              <a:t>Merge model elements that define similar behaviors or that represent the same phenomenon.</a:t>
            </a:r>
            <a:endParaRPr/>
          </a:p>
          <a:p>
            <a:pPr indent="-63500" lvl="1" marL="178754" rtl="0" algn="l">
              <a:spcBef>
                <a:spcPts val="0"/>
              </a:spcBef>
              <a:spcAft>
                <a:spcPts val="0"/>
              </a:spcAft>
              <a:buClr>
                <a:schemeClr val="dk1"/>
              </a:buClr>
              <a:buSzPts val="1000"/>
              <a:buFont typeface="Arial"/>
              <a:buChar char="•"/>
            </a:pPr>
            <a:r>
              <a:rPr lang="en-US" sz="1000">
                <a:latin typeface="Arial"/>
                <a:ea typeface="Arial"/>
                <a:cs typeface="Arial"/>
                <a:sym typeface="Arial"/>
              </a:rPr>
              <a:t>Merge classes that represent the same concept or have the same attributes, even if their defined behaviors are different. </a:t>
            </a:r>
            <a:endParaRPr/>
          </a:p>
          <a:p>
            <a:pPr indent="-63500" lvl="1" marL="178754" rtl="0" algn="l">
              <a:spcBef>
                <a:spcPts val="0"/>
              </a:spcBef>
              <a:spcAft>
                <a:spcPts val="0"/>
              </a:spcAft>
              <a:buClr>
                <a:schemeClr val="dk1"/>
              </a:buClr>
              <a:buSzPts val="1000"/>
              <a:buFont typeface="Arial"/>
              <a:buChar char="•"/>
            </a:pPr>
            <a:r>
              <a:rPr lang="en-US" sz="1000">
                <a:latin typeface="Arial"/>
                <a:ea typeface="Arial"/>
                <a:cs typeface="Arial"/>
                <a:sym typeface="Arial"/>
              </a:rPr>
              <a:t>Use inheritance to abstract model elements, which tends to make the model more robust.</a:t>
            </a:r>
            <a:endParaRPr/>
          </a:p>
          <a:p>
            <a:pPr indent="-63500" lvl="1" marL="178754" rtl="0" algn="l">
              <a:spcBef>
                <a:spcPts val="0"/>
              </a:spcBef>
              <a:spcAft>
                <a:spcPts val="0"/>
              </a:spcAft>
              <a:buClr>
                <a:schemeClr val="dk1"/>
              </a:buClr>
              <a:buSzPts val="1000"/>
              <a:buFont typeface="Arial"/>
              <a:buChar char="•"/>
            </a:pPr>
            <a:r>
              <a:rPr lang="en-US" sz="1000">
                <a:latin typeface="Arial"/>
                <a:ea typeface="Arial"/>
                <a:cs typeface="Arial"/>
                <a:sym typeface="Arial"/>
              </a:rPr>
              <a:t>When updating a model element, also update the affected use-case realizations.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p31: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304" name="Google Shape;1304;p3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305" name="Google Shape;1305;p31: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6" name="Google Shape;130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The Design Model as a whole must be reviewed to detect glaring problems with layering and responsibility partitioning. The purpose of reviewing the model as a whole is to detect large-scale problems that a more detailed review would miss.</a:t>
            </a:r>
            <a:endParaRPr/>
          </a:p>
          <a:p>
            <a:pPr indent="0" lvl="0" marL="0" rtl="0" algn="l">
              <a:spcBef>
                <a:spcPts val="0"/>
              </a:spcBef>
              <a:spcAft>
                <a:spcPts val="0"/>
              </a:spcAft>
              <a:buNone/>
            </a:pPr>
            <a:r>
              <a:rPr lang="en-US" sz="1000">
                <a:latin typeface="Arial"/>
                <a:ea typeface="Arial"/>
                <a:cs typeface="Arial"/>
                <a:sym typeface="Arial"/>
              </a:rPr>
              <a:t>We want to ensure that the overall structure for the Design Model is well-formed, as well as detect large-scale quality problems that might not be visible by looking at lower-level elements.</a:t>
            </a:r>
            <a:endParaRPr/>
          </a:p>
          <a:p>
            <a:pPr indent="0" lvl="0" marL="0" rtl="0" algn="l">
              <a:spcBef>
                <a:spcPts val="0"/>
              </a:spcBef>
              <a:spcAft>
                <a:spcPts val="0"/>
              </a:spcAft>
              <a:buNone/>
            </a:pPr>
            <a:r>
              <a:rPr lang="en-US" sz="1000">
                <a:latin typeface="Arial"/>
                <a:ea typeface="Arial"/>
                <a:cs typeface="Arial"/>
                <a:sym typeface="Arial"/>
              </a:rPr>
              <a:t>The above checkpoints are important, because new packages/subsystems might be created when common subflows are identified.</a:t>
            </a:r>
            <a:endParaRPr/>
          </a:p>
          <a:p>
            <a:pPr indent="0" lvl="0" marL="0" rtl="0" algn="l">
              <a:spcBef>
                <a:spcPts val="0"/>
              </a:spcBef>
              <a:spcAft>
                <a:spcPts val="0"/>
              </a:spcAft>
              <a:buNone/>
            </a:pPr>
            <a:r>
              <a:rPr lang="en-US" sz="1000">
                <a:latin typeface="Arial"/>
                <a:ea typeface="Arial"/>
                <a:cs typeface="Arial"/>
                <a:sym typeface="Arial"/>
              </a:rPr>
              <a:t>Five packages and 1,000 classes is probably a sign that something is wrong.</a:t>
            </a:r>
            <a:endParaRPr/>
          </a:p>
          <a:p>
            <a:pPr indent="0" lvl="0" marL="0" rtl="0" algn="l">
              <a:spcBef>
                <a:spcPts val="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32: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314" name="Google Shape;1314;p32: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315" name="Google Shape;1315;p32: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6" name="Google Shape;1316;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Once the structure of the Design Model is reviewed, the behavior of the model needs to be scrutinized. First, make sure that there are no missing behaviors by checking to see that all scenarios for the current iteration have been completely covered by use-case realizations. All of the behaviors in the relevant use-case subflow must be described in the completed use-case realizations. </a:t>
            </a:r>
            <a:endParaRPr/>
          </a:p>
          <a:p>
            <a:pPr indent="0" lvl="0" marL="0" rtl="0" algn="l">
              <a:spcBef>
                <a:spcPts val="0"/>
              </a:spcBef>
              <a:spcAft>
                <a:spcPts val="0"/>
              </a:spcAft>
              <a:buNone/>
            </a:pPr>
            <a:r>
              <a:rPr lang="en-US" sz="1000">
                <a:latin typeface="Arial"/>
                <a:ea typeface="Arial"/>
                <a:cs typeface="Arial"/>
                <a:sym typeface="Arial"/>
              </a:rPr>
              <a:t>Next, make sure the behavior of the use-case realization is correctly distributed between model elements in the realizations. Make sure the operations are used correctly, that all parameters are passed, and that return values are of the correct type.</a:t>
            </a:r>
            <a:endParaRPr/>
          </a:p>
          <a:p>
            <a:pPr indent="0" lvl="0" marL="0" rtl="0" algn="l">
              <a:spcBef>
                <a:spcPts val="0"/>
              </a:spcBef>
              <a:spcAft>
                <a:spcPts val="0"/>
              </a:spcAft>
              <a:buNone/>
            </a:pPr>
            <a:r>
              <a:rPr lang="en-US" sz="1000">
                <a:latin typeface="Arial"/>
                <a:ea typeface="Arial"/>
                <a:cs typeface="Arial"/>
                <a:sym typeface="Arial"/>
              </a:rPr>
              <a:t>We want to ensure that the behavior of the system (as expressed in use-case realizations) matches the required behavior of the system (as expressed in use cases). Is it complete?  We also want to ensure that the behavior is allocated appropriately among model elements, that is, is it correct?</a:t>
            </a:r>
            <a:endParaRPr/>
          </a:p>
          <a:p>
            <a:pPr indent="0" lvl="0" marL="0" rtl="0" algn="l">
              <a:spcBef>
                <a:spcPts val="0"/>
              </a:spcBef>
              <a:spcAft>
                <a:spcPts val="0"/>
              </a:spcAft>
              <a:buNone/>
            </a:pPr>
            <a:r>
              <a:rPr lang="en-US" sz="1000">
                <a:latin typeface="Arial"/>
                <a:ea typeface="Arial"/>
                <a:cs typeface="Arial"/>
                <a:sym typeface="Arial"/>
              </a:rPr>
              <a:t>Participating objects must be present to perform all the behaviors of the corresponding use case.</a:t>
            </a:r>
            <a:endParaRPr/>
          </a:p>
          <a:p>
            <a:pPr indent="0" lvl="0" marL="0" rtl="0" algn="l">
              <a:spcBef>
                <a:spcPts val="0"/>
              </a:spcBef>
              <a:spcAft>
                <a:spcPts val="0"/>
              </a:spcAft>
              <a:buNone/>
            </a:pPr>
            <a:r>
              <a:rPr lang="en-US" sz="1000">
                <a:latin typeface="Arial"/>
                <a:ea typeface="Arial"/>
                <a:cs typeface="Arial"/>
                <a:sym typeface="Arial"/>
              </a:rPr>
              <a:t>You need to make sure that the flow of events description clarifies how the diagrams are related to each other.</a:t>
            </a:r>
            <a:endParaRPr/>
          </a:p>
          <a:p>
            <a:pPr indent="0" lvl="0" marL="0" rtl="0" algn="l">
              <a:spcBef>
                <a:spcPts val="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p3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324" name="Google Shape;1324;p3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325" name="Google Shape;1325;p33: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6" name="Google Shape;1326;p33:notes"/>
          <p:cNvSpPr txBox="1"/>
          <p:nvPr/>
        </p:nvSpPr>
        <p:spPr>
          <a:xfrm>
            <a:off x="607125" y="1264451"/>
            <a:ext cx="1900566" cy="7168542"/>
          </a:xfrm>
          <a:prstGeom prst="rect">
            <a:avLst/>
          </a:prstGeom>
          <a:noFill/>
          <a:ln>
            <a:noFill/>
          </a:ln>
        </p:spPr>
        <p:txBody>
          <a:bodyPr anchorCtr="0" anchor="t" bIns="56250" lIns="112525" spcFirstLastPara="1" rIns="112525" wrap="square" tIns="5625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following page numbers will help you find the answers to the review questions: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Question 1: pp. 3-4</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Question 2: pp. 25-29</a:t>
            </a:r>
            <a:endParaRPr/>
          </a:p>
        </p:txBody>
      </p:sp>
      <p:sp>
        <p:nvSpPr>
          <p:cNvPr id="1327" name="Google Shape;1327;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3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335" name="Google Shape;1335;p3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336" name="Google Shape;1336;p34:notes"/>
          <p:cNvSpPr txBox="1"/>
          <p:nvPr/>
        </p:nvSpPr>
        <p:spPr>
          <a:xfrm>
            <a:off x="607126" y="1261133"/>
            <a:ext cx="1931913" cy="3097089"/>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Have the use-case teams complete the design for their assigned use case.</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You can consider using the same teams as in Use-Case Analysis or have the use-case teams develop the design for a use case that another team did the analysis for.  This approach tests the class’ ability to apply concepts to someone else’s work (sometimes a very effective technique for teaching an important skill).</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Have the students incorporate the architectural mechanisms.</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Have the students incorporate distribution mechanism.  As an option, you can have the students incorporate the Security or OODBMS persistency mechanism that is described in the Additional Information Appendix.</a:t>
            </a:r>
            <a:endParaRPr/>
          </a:p>
        </p:txBody>
      </p:sp>
      <p:sp>
        <p:nvSpPr>
          <p:cNvPr id="1337" name="Google Shape;1337;p34: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338" name="Google Shape;1338;p34: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The goal of this exercise is to refine the use-case realizations developed in Use-Case Analysis to incorporate the design classes and subsystems, as well as to (optionally) incorporate the patterns of use for the architectural mechanisms (persistency, security, and distribution). This exercise can also include the incorporation of the implementation mechanism. </a:t>
            </a:r>
            <a:endParaRPr/>
          </a:p>
          <a:p>
            <a:pPr indent="0" lvl="0" marL="0" rtl="0" algn="l">
              <a:spcBef>
                <a:spcPts val="0"/>
              </a:spcBef>
              <a:spcAft>
                <a:spcPts val="0"/>
              </a:spcAft>
              <a:buNone/>
            </a:pPr>
            <a:r>
              <a:rPr lang="en-US" sz="1000">
                <a:latin typeface="Arial"/>
                <a:ea typeface="Arial"/>
                <a:cs typeface="Arial"/>
                <a:sym typeface="Arial"/>
              </a:rPr>
              <a:t>References to the givens listed on this slide:</a:t>
            </a:r>
            <a:endParaRPr/>
          </a:p>
          <a:p>
            <a:pPr indent="-119169" lvl="1" marL="238338" rtl="0" algn="l">
              <a:spcBef>
                <a:spcPts val="0"/>
              </a:spcBef>
              <a:spcAft>
                <a:spcPts val="0"/>
              </a:spcAft>
              <a:buClr>
                <a:schemeClr val="dk1"/>
              </a:buClr>
              <a:buSzPts val="1000"/>
              <a:buFont typeface="Arial"/>
              <a:buChar char="•"/>
            </a:pPr>
            <a:r>
              <a:rPr b="1" lang="en-US" sz="1000">
                <a:latin typeface="Arial"/>
                <a:ea typeface="Arial"/>
                <a:cs typeface="Arial"/>
                <a:sym typeface="Arial"/>
              </a:rPr>
              <a:t>Use-case realizations:</a:t>
            </a:r>
            <a:r>
              <a:rPr lang="en-US" sz="1000">
                <a:latin typeface="Arial"/>
                <a:ea typeface="Arial"/>
                <a:cs typeface="Arial"/>
                <a:sym typeface="Arial"/>
              </a:rPr>
              <a:t> Payroll Exercise Solution, Use-Case Analysis section</a:t>
            </a:r>
            <a:endParaRPr/>
          </a:p>
          <a:p>
            <a:pPr indent="-119169" lvl="1" marL="238338" rtl="0" algn="l">
              <a:spcBef>
                <a:spcPts val="0"/>
              </a:spcBef>
              <a:spcAft>
                <a:spcPts val="0"/>
              </a:spcAft>
              <a:buClr>
                <a:schemeClr val="dk1"/>
              </a:buClr>
              <a:buSzPts val="1000"/>
              <a:buFont typeface="Arial"/>
              <a:buChar char="•"/>
            </a:pPr>
            <a:r>
              <a:rPr b="1" lang="en-US" sz="1000">
                <a:latin typeface="Arial"/>
                <a:ea typeface="Arial"/>
                <a:cs typeface="Arial"/>
                <a:sym typeface="Arial"/>
              </a:rPr>
              <a:t>Analysis-class-to-design-element map:</a:t>
            </a:r>
            <a:r>
              <a:rPr lang="en-US" sz="1000">
                <a:latin typeface="Arial"/>
                <a:ea typeface="Arial"/>
                <a:cs typeface="Arial"/>
                <a:sym typeface="Arial"/>
              </a:rPr>
              <a:t> Payroll Exercise Solution, Identify Design Elements section</a:t>
            </a:r>
            <a:endParaRPr/>
          </a:p>
          <a:p>
            <a:pPr indent="0" lvl="0" marL="0" rtl="0" algn="l">
              <a:spcBef>
                <a:spcPts val="0"/>
              </a:spcBef>
              <a:spcAft>
                <a:spcPts val="0"/>
              </a:spcAft>
              <a:buNone/>
            </a:pPr>
            <a:r>
              <a:rPr lang="en-US" sz="1000">
                <a:latin typeface="Arial"/>
                <a:ea typeface="Arial"/>
                <a:cs typeface="Arial"/>
                <a:sym typeface="Arial"/>
              </a:rPr>
              <a:t>The following are not needed if no mechanisms are being applied:</a:t>
            </a:r>
            <a:endParaRPr/>
          </a:p>
          <a:p>
            <a:pPr indent="-119169" lvl="1" marL="238338" rtl="0" algn="l">
              <a:spcBef>
                <a:spcPts val="0"/>
              </a:spcBef>
              <a:spcAft>
                <a:spcPts val="0"/>
              </a:spcAft>
              <a:buClr>
                <a:schemeClr val="dk1"/>
              </a:buClr>
              <a:buSzPts val="1000"/>
              <a:buFont typeface="Arial"/>
              <a:buChar char="•"/>
            </a:pPr>
            <a:r>
              <a:rPr b="1" lang="en-US" sz="1000">
                <a:latin typeface="Arial"/>
                <a:ea typeface="Arial"/>
                <a:cs typeface="Arial"/>
                <a:sym typeface="Arial"/>
              </a:rPr>
              <a:t>Analysis-class to analysis mechanism map:</a:t>
            </a:r>
            <a:r>
              <a:rPr lang="en-US" sz="1000">
                <a:latin typeface="Arial"/>
                <a:ea typeface="Arial"/>
                <a:cs typeface="Arial"/>
                <a:sym typeface="Arial"/>
              </a:rPr>
              <a:t> Payroll Exercise Solution, Use-Case Analysis</a:t>
            </a:r>
            <a:endParaRPr i="1" sz="1000">
              <a:latin typeface="Arial"/>
              <a:ea typeface="Arial"/>
              <a:cs typeface="Arial"/>
              <a:sym typeface="Arial"/>
            </a:endParaRPr>
          </a:p>
          <a:p>
            <a:pPr indent="-119169" lvl="1" marL="238338" rtl="0" algn="l">
              <a:spcBef>
                <a:spcPts val="0"/>
              </a:spcBef>
              <a:spcAft>
                <a:spcPts val="0"/>
              </a:spcAft>
              <a:buClr>
                <a:schemeClr val="dk1"/>
              </a:buClr>
              <a:buSzPts val="1000"/>
              <a:buFont typeface="Arial"/>
              <a:buChar char="•"/>
            </a:pPr>
            <a:r>
              <a:rPr b="1" lang="en-US" sz="1000">
                <a:latin typeface="Arial"/>
                <a:ea typeface="Arial"/>
                <a:cs typeface="Arial"/>
                <a:sym typeface="Arial"/>
              </a:rPr>
              <a:t>Analysis-to-design-mechanism map:</a:t>
            </a:r>
            <a:r>
              <a:rPr lang="en-US" sz="1000">
                <a:latin typeface="Arial"/>
                <a:ea typeface="Arial"/>
                <a:cs typeface="Arial"/>
                <a:sym typeface="Arial"/>
              </a:rPr>
              <a:t> Payroll Architecture Handbook, Architectural Mechanisms section</a:t>
            </a:r>
            <a:endParaRPr/>
          </a:p>
          <a:p>
            <a:pPr indent="-119169" lvl="1" marL="238338" rtl="0" algn="l">
              <a:spcBef>
                <a:spcPts val="0"/>
              </a:spcBef>
              <a:spcAft>
                <a:spcPts val="0"/>
              </a:spcAft>
              <a:buClr>
                <a:schemeClr val="dk1"/>
              </a:buClr>
              <a:buSzPts val="1000"/>
              <a:buFont typeface="Arial"/>
              <a:buChar char="•"/>
            </a:pPr>
            <a:r>
              <a:rPr b="1" lang="en-US" sz="1000">
                <a:latin typeface="Arial"/>
                <a:ea typeface="Arial"/>
                <a:cs typeface="Arial"/>
                <a:sym typeface="Arial"/>
              </a:rPr>
              <a:t>The patterns of use for the architectural mechanisms:</a:t>
            </a:r>
            <a:br>
              <a:rPr lang="en-US" sz="1000">
                <a:latin typeface="Arial"/>
                <a:ea typeface="Arial"/>
                <a:cs typeface="Arial"/>
                <a:sym typeface="Arial"/>
              </a:rPr>
            </a:br>
            <a:r>
              <a:rPr lang="en-US" sz="1000">
                <a:latin typeface="Arial"/>
                <a:ea typeface="Arial"/>
                <a:cs typeface="Arial"/>
                <a:sym typeface="Arial"/>
              </a:rPr>
              <a:t>Payroll Architecture Handbook, Architectural Mechanisms: Implementation Mechanisms section.</a:t>
            </a:r>
            <a:endParaRPr/>
          </a:p>
          <a:p>
            <a:pPr indent="0" lvl="0" marL="0" rtl="0" algn="l">
              <a:spcBef>
                <a:spcPts val="0"/>
              </a:spcBef>
              <a:spcAft>
                <a:spcPts val="0"/>
              </a:spcAft>
              <a:buNone/>
            </a:pPr>
            <a:r>
              <a:rPr lang="en-US" sz="1000">
                <a:latin typeface="Arial"/>
                <a:ea typeface="Arial"/>
                <a:cs typeface="Arial"/>
                <a:sym typeface="Arial"/>
              </a:rPr>
              <a:t>Additional information on the incorporation of the ObjectStore OODBMS persistency mechanism for the Payroll System is provided in the Payroll Architectural Handbook, Logical View: Architectural Design section.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p35: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347" name="Google Shape;1347;p3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348" name="Google Shape;1348;p35:notes"/>
          <p:cNvSpPr txBox="1"/>
          <p:nvPr/>
        </p:nvSpPr>
        <p:spPr>
          <a:xfrm>
            <a:off x="325010" y="1352400"/>
            <a:ext cx="2032550" cy="255545"/>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9" name="Google Shape;1349;p35: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350" name="Google Shape;1350;p35: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You can determine which design elements have replaced the original analysis classes by referring back to the analysis-class-to-design-element map defined in the Identify Design Elements module.</a:t>
            </a:r>
            <a:endParaRPr/>
          </a:p>
          <a:p>
            <a:pPr indent="0" lvl="0" marL="0" rtl="0" algn="l">
              <a:spcBef>
                <a:spcPts val="0"/>
              </a:spcBef>
              <a:spcAft>
                <a:spcPts val="0"/>
              </a:spcAft>
              <a:buNone/>
            </a:pPr>
            <a:r>
              <a:rPr lang="en-US" sz="1000">
                <a:latin typeface="Arial"/>
                <a:ea typeface="Arial"/>
                <a:cs typeface="Arial"/>
                <a:sym typeface="Arial"/>
              </a:rPr>
              <a:t>You can determine which architectural mechanisms affect the use-case realization, by looking at the:</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Analysis-class-to-analysis-mechanism map</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Analysis-class-to-design-element map </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Analysis-to-design-to-implementation-mechanism map</a:t>
            </a:r>
            <a:endParaRPr/>
          </a:p>
          <a:p>
            <a:pPr indent="0" lvl="0" marL="0" rtl="0" algn="l">
              <a:spcBef>
                <a:spcPts val="0"/>
              </a:spcBef>
              <a:spcAft>
                <a:spcPts val="0"/>
              </a:spcAft>
              <a:buNone/>
            </a:pPr>
            <a:r>
              <a:rPr lang="en-US" sz="1000">
                <a:latin typeface="Arial"/>
                <a:ea typeface="Arial"/>
                <a:cs typeface="Arial"/>
                <a:sym typeface="Arial"/>
              </a:rPr>
              <a:t>Using this information, you can determine which architectural mechanisms affect the design elements involved in the use-case realization.</a:t>
            </a:r>
            <a:endParaRPr/>
          </a:p>
          <a:p>
            <a:pPr indent="0" lvl="0" marL="0" rtl="0" algn="l">
              <a:spcBef>
                <a:spcPts val="0"/>
              </a:spcBef>
              <a:spcAft>
                <a:spcPts val="0"/>
              </a:spcAft>
              <a:buNone/>
            </a:pPr>
            <a:r>
              <a:rPr lang="en-US" sz="1000">
                <a:latin typeface="Arial"/>
                <a:ea typeface="Arial"/>
                <a:cs typeface="Arial"/>
                <a:sym typeface="Arial"/>
              </a:rPr>
              <a:t>Based on what design elements have replaced the analysis classes and what architectural mechanisms must be incorporated, the analysis use-case realizations will need to be refined, including both the interaction diagrams and the VOPCs.  As use-case responsibilities were allocated among analysis classes in Use-Case Analysis, use-case responsibilities must now be reallocated among the defined design elements.</a:t>
            </a:r>
            <a:endParaRPr/>
          </a:p>
          <a:p>
            <a:pPr indent="0" lvl="0" marL="0" rtl="0" algn="l">
              <a:spcBef>
                <a:spcPts val="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3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359" name="Google Shape;1359;p3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
        <p:nvSpPr>
          <p:cNvPr id="1360" name="Google Shape;1360;p36:notes"/>
          <p:cNvSpPr txBox="1"/>
          <p:nvPr/>
        </p:nvSpPr>
        <p:spPr>
          <a:xfrm>
            <a:off x="607126" y="1261133"/>
            <a:ext cx="1903866" cy="5482357"/>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exercise solution is in the Payroll Exercise Solution Appendix, Use-Case Design, Exercise: Use-Case Design.  See the table of contents for the page numbers. The Payroll solution includes the following:</a:t>
            </a:r>
            <a:endParaRPr/>
          </a:p>
          <a:p>
            <a:pPr indent="-114300" lvl="0" marL="0" marR="0" rtl="0" algn="l">
              <a:spcBef>
                <a:spcPts val="900"/>
              </a:spcBef>
              <a:spcAft>
                <a:spcPts val="0"/>
              </a:spcAft>
              <a:buClr>
                <a:schemeClr val="dk1"/>
              </a:buClr>
              <a:buSzPts val="1800"/>
              <a:buFont typeface="Arial"/>
              <a:buChar char="•"/>
            </a:pPr>
            <a:r>
              <a:rPr b="1" lang="en-US" sz="1800">
                <a:solidFill>
                  <a:schemeClr val="dk1"/>
                </a:solidFill>
                <a:latin typeface="Arial"/>
                <a:ea typeface="Arial"/>
                <a:cs typeface="Arial"/>
                <a:sym typeface="Arial"/>
              </a:rPr>
              <a:t>Login use-case realization</a:t>
            </a:r>
            <a:r>
              <a:rPr lang="en-US" sz="1800">
                <a:solidFill>
                  <a:schemeClr val="dk1"/>
                </a:solidFill>
                <a:latin typeface="Arial"/>
                <a:ea typeface="Arial"/>
                <a:cs typeface="Arial"/>
                <a:sym typeface="Arial"/>
              </a:rPr>
              <a:t>: Incorporates the Security mechanism (secure user setup).</a:t>
            </a:r>
            <a:endParaRPr/>
          </a:p>
          <a:p>
            <a:pPr indent="-114300" lvl="0" marL="0" marR="0" rtl="0" algn="l">
              <a:spcBef>
                <a:spcPts val="900"/>
              </a:spcBef>
              <a:spcAft>
                <a:spcPts val="0"/>
              </a:spcAft>
              <a:buClr>
                <a:schemeClr val="dk1"/>
              </a:buClr>
              <a:buSzPts val="1800"/>
              <a:buFont typeface="Arial"/>
              <a:buChar char="•"/>
            </a:pPr>
            <a:r>
              <a:rPr b="1" lang="en-US" sz="1800">
                <a:solidFill>
                  <a:schemeClr val="dk1"/>
                </a:solidFill>
                <a:latin typeface="Arial"/>
                <a:ea typeface="Arial"/>
                <a:cs typeface="Arial"/>
                <a:sym typeface="Arial"/>
              </a:rPr>
              <a:t>Maintain Timecard use-case realization:</a:t>
            </a:r>
            <a:r>
              <a:rPr lang="en-US" sz="1800">
                <a:solidFill>
                  <a:schemeClr val="dk1"/>
                </a:solidFill>
                <a:latin typeface="Arial"/>
                <a:ea typeface="Arial"/>
                <a:cs typeface="Arial"/>
                <a:sym typeface="Arial"/>
              </a:rPr>
              <a:t> Incorporates a subsystem interface (IProjectManagement), the persistency (OODBMS update), security (secure user propagation, secure data access), and distribution (distributed TimecardController) mechanisms.</a:t>
            </a:r>
            <a:endParaRPr/>
          </a:p>
          <a:p>
            <a:pPr indent="-114300" lvl="0" marL="0" marR="0" rtl="0" algn="l">
              <a:spcBef>
                <a:spcPts val="900"/>
              </a:spcBef>
              <a:spcAft>
                <a:spcPts val="0"/>
              </a:spcAft>
              <a:buClr>
                <a:schemeClr val="dk1"/>
              </a:buClr>
              <a:buSzPts val="1800"/>
              <a:buFont typeface="Arial"/>
              <a:buChar char="•"/>
            </a:pPr>
            <a:r>
              <a:rPr b="1" lang="en-US" sz="1800">
                <a:solidFill>
                  <a:schemeClr val="dk1"/>
                </a:solidFill>
                <a:latin typeface="Arial"/>
                <a:ea typeface="Arial"/>
                <a:cs typeface="Arial"/>
                <a:sym typeface="Arial"/>
              </a:rPr>
              <a:t>Run Payroll use-case realization:</a:t>
            </a:r>
            <a:r>
              <a:rPr lang="en-US" sz="1800">
                <a:solidFill>
                  <a:schemeClr val="dk1"/>
                </a:solidFill>
                <a:latin typeface="Arial"/>
                <a:ea typeface="Arial"/>
                <a:cs typeface="Arial"/>
                <a:sym typeface="Arial"/>
              </a:rPr>
              <a:t> Incorporates a subsystem interface (IBankSystem) and the persistency (OODBMS read) and distribution (distributed PayrollController) mechanisms.</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It does not include the security mechanism because the PayrollController is meant to be "all-knowing" and thus has open access to all secure data.</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Note: There are separate use-case realizations that describe the incorporation of the different mechanisms, as well as use-case realizations that include everything, so you can pick and choose, depending on what mechanisms you covered in this module.</a:t>
            </a:r>
            <a:endParaRPr/>
          </a:p>
        </p:txBody>
      </p:sp>
      <p:sp>
        <p:nvSpPr>
          <p:cNvPr id="1361" name="Google Shape;1361;p36: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362" name="Google Shape;1362;p36: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The produced interaction diagrams might be collaboration or sequence diagrams, but they should show the necessary collaborations.  The VOPC class diagrams should reflect the relationships needed to support the collaborations.</a:t>
            </a:r>
            <a:endParaRPr/>
          </a:p>
          <a:p>
            <a:pPr indent="0" lvl="0" marL="0" rtl="0" algn="l">
              <a:spcBef>
                <a:spcPts val="0"/>
              </a:spcBef>
              <a:spcAft>
                <a:spcPts val="0"/>
              </a:spcAft>
              <a:buNone/>
            </a:pPr>
            <a:r>
              <a:rPr lang="en-US" sz="1000">
                <a:latin typeface="Arial"/>
                <a:ea typeface="Arial"/>
                <a:cs typeface="Arial"/>
                <a:sym typeface="Arial"/>
              </a:rPr>
              <a:t>Design elements can be either design classes or subsystems.</a:t>
            </a:r>
            <a:endParaRPr/>
          </a:p>
          <a:p>
            <a:pPr indent="0" lvl="0" marL="0" rtl="0" algn="l">
              <a:spcBef>
                <a:spcPts val="0"/>
              </a:spcBef>
              <a:spcAft>
                <a:spcPts val="0"/>
              </a:spcAft>
              <a:buNone/>
            </a:pPr>
            <a:r>
              <a:rPr lang="en-US" sz="1000">
                <a:latin typeface="Arial"/>
                <a:ea typeface="Arial"/>
                <a:cs typeface="Arial"/>
                <a:sym typeface="Arial"/>
              </a:rPr>
              <a:t>Where the interactions involve subsystems, the interaction diagram should only “go to” the subsystem interface and not “step within” the subsystem.  The interactions within the subsystem will be developed in the Subsystem Design module.  </a:t>
            </a:r>
            <a:endParaRPr/>
          </a:p>
          <a:p>
            <a:pPr indent="0" lvl="0" marL="0" rtl="0" algn="l">
              <a:spcBef>
                <a:spcPts val="0"/>
              </a:spcBef>
              <a:spcAft>
                <a:spcPts val="0"/>
              </a:spcAft>
              <a:buNone/>
            </a:pPr>
            <a:r>
              <a:rPr lang="en-US" sz="1000">
                <a:latin typeface="Arial"/>
                <a:ea typeface="Arial"/>
                <a:cs typeface="Arial"/>
                <a:sym typeface="Arial"/>
              </a:rPr>
              <a:t>Where necessary, include notes and scripts to clarify the use-case flow of events.</a:t>
            </a:r>
            <a:endParaRPr/>
          </a:p>
          <a:p>
            <a:pPr indent="0" lvl="0" marL="0" rtl="0" algn="l">
              <a:spcBef>
                <a:spcPts val="0"/>
              </a:spcBef>
              <a:spcAft>
                <a:spcPts val="0"/>
              </a:spcAft>
              <a:buNone/>
            </a:pPr>
            <a:r>
              <a:rPr lang="en-US" sz="1000">
                <a:latin typeface="Arial"/>
                <a:ea typeface="Arial"/>
                <a:cs typeface="Arial"/>
                <a:sym typeface="Arial"/>
              </a:rPr>
              <a:t>Refer to the following slides: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Use-case realization interaction diagram: 11-14</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Use-case realization VOPC: 11-15</a:t>
            </a:r>
            <a:endParaRPr/>
          </a:p>
          <a:p>
            <a:pPr indent="0" lvl="0" marL="0" rtl="0" algn="l">
              <a:spcBef>
                <a:spcPts val="0"/>
              </a:spcBef>
              <a:spcAft>
                <a:spcPts val="0"/>
              </a:spcAft>
              <a:buClr>
                <a:schemeClr val="dk1"/>
              </a:buClr>
              <a:buSzPts val="1000"/>
              <a:buFont typeface="Calibri"/>
              <a:buNone/>
            </a:pPr>
            <a:r>
              <a:t/>
            </a:r>
            <a:endParaRPr sz="1000">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1" name="Google Shape;137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After completing a model, it is important to step back and review your work. Some helpful questions are the following:</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Have all the main and subflows for this iteration been handled?</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Has all behavior been distributed among the participating design elements?  This includes design classes and interfaces.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Has behavior been distributed to the right design elements?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Are there any messages coming from the interface?  Remember, messages should not come from an interface, since the behavior is realized by the subsystem.</a:t>
            </a:r>
            <a:endParaRPr/>
          </a:p>
          <a:p>
            <a:pPr indent="0" lvl="0" marL="0" rtl="0" algn="l">
              <a:spcBef>
                <a:spcPts val="0"/>
              </a:spcBef>
              <a:spcAft>
                <a:spcPts val="0"/>
              </a:spcAft>
              <a:buNone/>
            </a:pPr>
            <a:r>
              <a:t/>
            </a:r>
            <a:endParaRPr/>
          </a:p>
        </p:txBody>
      </p:sp>
      <p:sp>
        <p:nvSpPr>
          <p:cNvPr id="1372" name="Google Shape;1372;p37: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1373" name="Google Shape;1373;p3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11 - Use-Case Design</a:t>
            </a:r>
            <a:endParaRPr>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1" name="Google Shape;138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42"/>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2"/>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4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4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4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44"/>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4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8" name="Shape 48"/>
        <p:cNvGrpSpPr/>
        <p:nvPr/>
      </p:nvGrpSpPr>
      <p:grpSpPr>
        <a:xfrm>
          <a:off x="0" y="0"/>
          <a:ext cx="0" cy="0"/>
          <a:chOff x="0" y="0"/>
          <a:chExt cx="0" cy="0"/>
        </a:xfrm>
      </p:grpSpPr>
      <p:sp>
        <p:nvSpPr>
          <p:cNvPr id="49" name="Google Shape;49;p4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41"/>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51" name="Google Shape;51;p4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54" name="Shape 54"/>
        <p:cNvGrpSpPr/>
        <p:nvPr/>
      </p:nvGrpSpPr>
      <p:grpSpPr>
        <a:xfrm>
          <a:off x="0" y="0"/>
          <a:ext cx="0" cy="0"/>
          <a:chOff x="0" y="0"/>
          <a:chExt cx="0" cy="0"/>
        </a:xfrm>
      </p:grpSpPr>
      <p:sp>
        <p:nvSpPr>
          <p:cNvPr id="55" name="Google Shape;55;p45"/>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5"/>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7" name="Google Shape;57;p4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4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6"/>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3" name="Google Shape;63;p46"/>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4" name="Google Shape;64;p4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4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47"/>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0" name="Google Shape;70;p47"/>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1" name="Google Shape;71;p47"/>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2" name="Google Shape;72;p47"/>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3" name="Google Shape;73;p4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4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49"/>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9"/>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49"/>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4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50"/>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50"/>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50"/>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50"/>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5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0"/>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50"/>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6" name="Google Shape;96;p50"/>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50"/>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5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51"/>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5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52"/>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52"/>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5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40"/>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40"/>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4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4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4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4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40"/>
          <p:cNvGrpSpPr/>
          <p:nvPr/>
        </p:nvGrpSpPr>
        <p:grpSpPr>
          <a:xfrm>
            <a:off x="-29294" y="-16113"/>
            <a:ext cx="9198255" cy="1086266"/>
            <a:chOff x="-29322" y="-1971"/>
            <a:chExt cx="9198255" cy="1086266"/>
          </a:xfrm>
        </p:grpSpPr>
        <p:sp>
          <p:nvSpPr>
            <p:cNvPr id="18" name="Google Shape;18;p40"/>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40"/>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39"/>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39"/>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3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3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3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3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39"/>
          <p:cNvGrpSpPr/>
          <p:nvPr/>
        </p:nvGrpSpPr>
        <p:grpSpPr>
          <a:xfrm>
            <a:off x="-29294" y="-16113"/>
            <a:ext cx="9198255" cy="1086266"/>
            <a:chOff x="-29322" y="-1971"/>
            <a:chExt cx="9198255" cy="1086266"/>
          </a:xfrm>
        </p:grpSpPr>
        <p:sp>
          <p:nvSpPr>
            <p:cNvPr id="35" name="Google Shape;35;p39"/>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39"/>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amnv@tlu.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Phân tích Thiết kế HTTT</a:t>
            </a:r>
            <a:endParaRPr/>
          </a:p>
        </p:txBody>
      </p:sp>
      <p:sp>
        <p:nvSpPr>
          <p:cNvPr id="115" name="Google Shape;115;p1"/>
          <p:cNvSpPr txBox="1"/>
          <p:nvPr>
            <p:ph idx="1" type="subTitle"/>
          </p:nvPr>
        </p:nvSpPr>
        <p:spPr>
          <a:xfrm>
            <a:off x="533400" y="4191000"/>
            <a:ext cx="7854696" cy="19050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Ths. Nguyễn Văn Nam</a:t>
            </a:r>
            <a:endParaRPr/>
          </a:p>
          <a:p>
            <a:pPr indent="0" lvl="0" marL="0" marR="45720" rtl="0" algn="r">
              <a:spcBef>
                <a:spcPts val="520"/>
              </a:spcBef>
              <a:spcAft>
                <a:spcPts val="0"/>
              </a:spcAft>
              <a:buSzPts val="2470"/>
              <a:buNone/>
            </a:pPr>
            <a:r>
              <a:rPr lang="en-US"/>
              <a:t>Email: </a:t>
            </a:r>
            <a:r>
              <a:rPr lang="en-US" u="sng">
                <a:solidFill>
                  <a:schemeClr val="hlink"/>
                </a:solidFill>
                <a:hlinkClick r:id="rId3"/>
              </a:rPr>
              <a:t>namnv@tlu.edu.vn</a:t>
            </a:r>
            <a:endParaRPr/>
          </a:p>
          <a:p>
            <a:pPr indent="0" lvl="0" marL="0" marR="45720" rtl="0" algn="r">
              <a:spcBef>
                <a:spcPts val="520"/>
              </a:spcBef>
              <a:spcAft>
                <a:spcPts val="0"/>
              </a:spcAft>
              <a:buSzPts val="2470"/>
              <a:buNone/>
            </a:pPr>
            <a:r>
              <a:rPr lang="en-US"/>
              <a:t>Website: namvannguyen.blogspot.com</a:t>
            </a:r>
            <a:endParaRPr/>
          </a:p>
          <a:p>
            <a:pPr indent="0" lvl="0" marL="0" marR="45720" rtl="0" algn="r">
              <a:spcBef>
                <a:spcPts val="520"/>
              </a:spcBef>
              <a:spcAft>
                <a:spcPts val="0"/>
              </a:spcAft>
              <a:buSzPts val="2470"/>
              <a:buNone/>
            </a:pPr>
            <a:r>
              <a:t/>
            </a:r>
            <a:endParaRPr/>
          </a:p>
        </p:txBody>
      </p:sp>
      <p:sp>
        <p:nvSpPr>
          <p:cNvPr id="116" name="Google Shape;1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1"/>
          <p:cNvSpPr txBox="1"/>
          <p:nvPr/>
        </p:nvSpPr>
        <p:spPr>
          <a:xfrm>
            <a:off x="609600" y="3200400"/>
            <a:ext cx="7854696" cy="9144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Clr>
                <a:schemeClr val="accent3"/>
              </a:buClr>
              <a:buSzPts val="3040"/>
              <a:buFont typeface="Noto Sans Symbols"/>
              <a:buNone/>
            </a:pPr>
            <a:r>
              <a:rPr b="0" i="0" lang="en-US" sz="3200" u="none" cap="none" strike="noStrike">
                <a:solidFill>
                  <a:schemeClr val="lt1"/>
                </a:solidFill>
                <a:latin typeface="Constantia"/>
                <a:ea typeface="Constantia"/>
                <a:cs typeface="Constantia"/>
                <a:sym typeface="Constantia"/>
              </a:rPr>
              <a:t>Thiết kế </a:t>
            </a:r>
            <a:r>
              <a:rPr lang="en-US" sz="3200">
                <a:solidFill>
                  <a:schemeClr val="lt1"/>
                </a:solidFill>
                <a:latin typeface="Constantia"/>
                <a:ea typeface="Constantia"/>
                <a:cs typeface="Constantia"/>
                <a:sym typeface="Constantia"/>
              </a:rPr>
              <a:t>Use Case</a:t>
            </a:r>
            <a:endParaRPr b="0" i="0" sz="32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Mục tiêu</a:t>
            </a:r>
            <a:endParaRPr/>
          </a:p>
        </p:txBody>
      </p:sp>
      <p:sp>
        <p:nvSpPr>
          <p:cNvPr id="123" name="Google Shape;123;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24" name="Google Shape;124;p2"/>
          <p:cNvSpPr txBox="1"/>
          <p:nvPr>
            <p:ph idx="1" type="body"/>
          </p:nvPr>
        </p:nvSpPr>
        <p:spPr>
          <a:xfrm>
            <a:off x="457200" y="2195512"/>
            <a:ext cx="8229600" cy="45259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Xác định mục đích của thiết kế ca sử dụng và vị trí của nó trong vòng đời phát triển phần mềm</a:t>
            </a:r>
            <a:endParaRPr/>
          </a:p>
          <a:p>
            <a:pPr indent="-274320" lvl="0" marL="274320" rtl="0" algn="l">
              <a:spcBef>
                <a:spcPts val="520"/>
              </a:spcBef>
              <a:spcAft>
                <a:spcPts val="0"/>
              </a:spcAft>
              <a:buSzPts val="2470"/>
              <a:buChar char="⚫"/>
            </a:pPr>
            <a:r>
              <a:rPr lang="en-US"/>
              <a:t>Kiểm chứng tính nhất quán trong thực thi ca sử dụng</a:t>
            </a:r>
            <a:endParaRPr/>
          </a:p>
          <a:p>
            <a:pPr indent="-274320" lvl="0" marL="274320" rtl="0" algn="l">
              <a:spcBef>
                <a:spcPts val="520"/>
              </a:spcBef>
              <a:spcAft>
                <a:spcPts val="0"/>
              </a:spcAft>
              <a:buSzPts val="2470"/>
              <a:buChar char="⚫"/>
            </a:pPr>
            <a:r>
              <a:rPr lang="en-US"/>
              <a:t>Làm mịn hiện thực hóa ca sử dụng từ những phân tích ca sử dụng sử dụng Các phần tử mô hình thiết kế</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30" name="Google Shape;130;p3"/>
          <p:cNvSpPr txBox="1"/>
          <p:nvPr/>
        </p:nvSpPr>
        <p:spPr>
          <a:xfrm>
            <a:off x="592677" y="143109"/>
            <a:ext cx="8229600" cy="1143000"/>
          </a:xfrm>
          <a:prstGeom prst="rect">
            <a:avLst/>
          </a:prstGeom>
          <a:noFill/>
          <a:ln>
            <a:noFill/>
          </a:ln>
        </p:spPr>
        <p:txBody>
          <a:bodyPr anchorCtr="0" anchor="b" bIns="0" lIns="0" spcFirstLastPara="1" rIns="0" wrap="square" tIns="45700">
            <a:normAutofit/>
          </a:bodyPr>
          <a:lstStyle/>
          <a:p>
            <a:pPr indent="0" lvl="0" marL="0" marR="0" rtl="0" algn="l">
              <a:spcBef>
                <a:spcPts val="0"/>
              </a:spcBef>
              <a:spcAft>
                <a:spcPts val="0"/>
              </a:spcAft>
              <a:buClr>
                <a:schemeClr val="dk2"/>
              </a:buClr>
              <a:buSzPts val="5000"/>
              <a:buFont typeface="Calibri"/>
              <a:buNone/>
            </a:pPr>
            <a:r>
              <a:rPr b="0" lang="en-US" sz="5000">
                <a:solidFill>
                  <a:schemeClr val="dk2"/>
                </a:solidFill>
                <a:latin typeface="Calibri"/>
                <a:ea typeface="Calibri"/>
                <a:cs typeface="Calibri"/>
                <a:sym typeface="Calibri"/>
              </a:rPr>
              <a:t>Ngữ cảnh thiết kế ca sử dụng</a:t>
            </a:r>
            <a:endParaRPr b="0" sz="5000">
              <a:solidFill>
                <a:schemeClr val="dk2"/>
              </a:solidFill>
              <a:latin typeface="Calibri"/>
              <a:ea typeface="Calibri"/>
              <a:cs typeface="Calibri"/>
              <a:sym typeface="Calibri"/>
            </a:endParaRPr>
          </a:p>
        </p:txBody>
      </p:sp>
      <p:sp>
        <p:nvSpPr>
          <p:cNvPr id="131" name="Google Shape;131;p3"/>
          <p:cNvSpPr txBox="1"/>
          <p:nvPr/>
        </p:nvSpPr>
        <p:spPr>
          <a:xfrm>
            <a:off x="914400" y="2897039"/>
            <a:ext cx="1369671" cy="416781"/>
          </a:xfrm>
          <a:prstGeom prst="rect">
            <a:avLst/>
          </a:prstGeom>
          <a:noFill/>
          <a:ln>
            <a:noFill/>
          </a:ln>
        </p:spPr>
        <p:txBody>
          <a:bodyPr anchorCtr="0" anchor="t" bIns="53975" lIns="107950" spcFirstLastPara="1" rIns="107950" wrap="square" tIns="53975">
            <a:spAutoFit/>
          </a:bodyPr>
          <a:lstStyle/>
          <a:p>
            <a:pPr indent="0" lvl="0" marL="0" marR="0" rtl="0" algn="r">
              <a:spcBef>
                <a:spcPts val="0"/>
              </a:spcBef>
              <a:spcAft>
                <a:spcPts val="0"/>
              </a:spcAft>
              <a:buNone/>
            </a:pPr>
            <a:r>
              <a:rPr lang="en-US" sz="2000">
                <a:solidFill>
                  <a:schemeClr val="dk1"/>
                </a:solidFill>
                <a:latin typeface="Constantia"/>
                <a:ea typeface="Constantia"/>
                <a:cs typeface="Constantia"/>
                <a:sym typeface="Constantia"/>
              </a:rPr>
              <a:t>Analysis</a:t>
            </a:r>
            <a:endParaRPr/>
          </a:p>
        </p:txBody>
      </p:sp>
      <p:grpSp>
        <p:nvGrpSpPr>
          <p:cNvPr id="132" name="Google Shape;132;p3"/>
          <p:cNvGrpSpPr/>
          <p:nvPr/>
        </p:nvGrpSpPr>
        <p:grpSpPr>
          <a:xfrm>
            <a:off x="2565400" y="1523999"/>
            <a:ext cx="3606800" cy="5323121"/>
            <a:chOff x="2565400" y="973526"/>
            <a:chExt cx="4013200" cy="5575300"/>
          </a:xfrm>
        </p:grpSpPr>
        <p:sp>
          <p:nvSpPr>
            <p:cNvPr id="133" name="Google Shape;133;p3"/>
            <p:cNvSpPr/>
            <p:nvPr/>
          </p:nvSpPr>
          <p:spPr>
            <a:xfrm>
              <a:off x="2565400" y="973526"/>
              <a:ext cx="4013200" cy="55753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4" name="Google Shape;134;p3"/>
            <p:cNvSpPr/>
            <p:nvPr/>
          </p:nvSpPr>
          <p:spPr>
            <a:xfrm>
              <a:off x="4330684" y="1076716"/>
              <a:ext cx="182880" cy="182880"/>
            </a:xfrm>
            <a:prstGeom prst="ellipse">
              <a:avLst/>
            </a:prstGeom>
            <a:solidFill>
              <a:schemeClr val="dk1"/>
            </a:solidFill>
            <a:ln cap="flat" cmpd="sng" w="12700">
              <a:solidFill>
                <a:schemeClr val="accen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35" name="Google Shape;135;p3"/>
            <p:cNvGrpSpPr/>
            <p:nvPr/>
          </p:nvGrpSpPr>
          <p:grpSpPr>
            <a:xfrm>
              <a:off x="3525838" y="1884751"/>
              <a:ext cx="479425" cy="314325"/>
              <a:chOff x="2263" y="970"/>
              <a:chExt cx="288" cy="189"/>
            </a:xfrm>
          </p:grpSpPr>
          <p:sp>
            <p:nvSpPr>
              <p:cNvPr id="136" name="Google Shape;136;p3"/>
              <p:cNvSpPr/>
              <p:nvPr/>
            </p:nvSpPr>
            <p:spPr>
              <a:xfrm>
                <a:off x="2263" y="970"/>
                <a:ext cx="288" cy="189"/>
              </a:xfrm>
              <a:prstGeom prst="roundRect">
                <a:avLst>
                  <a:gd fmla="val 16667" name="adj"/>
                </a:avLst>
              </a:prstGeom>
              <a:solidFill>
                <a:srgbClr val="8ECC8E"/>
              </a:solidFill>
              <a:ln cap="flat" cmpd="sng" w="9525">
                <a:solidFill>
                  <a:schemeClr val="dk1"/>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37" name="Google Shape;137;p3"/>
              <p:cNvGrpSpPr/>
              <p:nvPr/>
            </p:nvGrpSpPr>
            <p:grpSpPr>
              <a:xfrm>
                <a:off x="2300" y="996"/>
                <a:ext cx="86" cy="128"/>
                <a:chOff x="2853" y="1773"/>
                <a:chExt cx="161" cy="237"/>
              </a:xfrm>
            </p:grpSpPr>
            <p:sp>
              <p:nvSpPr>
                <p:cNvPr id="138" name="Google Shape;138;p3"/>
                <p:cNvSpPr/>
                <p:nvPr/>
              </p:nvSpPr>
              <p:spPr>
                <a:xfrm>
                  <a:off x="2853" y="1880"/>
                  <a:ext cx="161" cy="130"/>
                </a:xfrm>
                <a:prstGeom prst="parallelogram">
                  <a:avLst>
                    <a:gd fmla="val 30962" name="adj"/>
                  </a:avLst>
                </a:prstGeom>
                <a:solidFill>
                  <a:srgbClr val="FFCC99"/>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9" name="Google Shape;139;p3"/>
                <p:cNvSpPr/>
                <p:nvPr/>
              </p:nvSpPr>
              <p:spPr>
                <a:xfrm>
                  <a:off x="2915" y="1773"/>
                  <a:ext cx="87" cy="87"/>
                </a:xfrm>
                <a:prstGeom prst="ellipse">
                  <a:avLst/>
                </a:prstGeom>
                <a:solidFill>
                  <a:srgbClr val="FFCC99"/>
                </a:solidFill>
                <a:ln cap="flat" cmpd="sng" w="952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40" name="Google Shape;140;p3"/>
              <p:cNvGrpSpPr/>
              <p:nvPr/>
            </p:nvGrpSpPr>
            <p:grpSpPr>
              <a:xfrm>
                <a:off x="2373" y="985"/>
                <a:ext cx="65" cy="93"/>
                <a:chOff x="3387" y="1863"/>
                <a:chExt cx="122" cy="174"/>
              </a:xfrm>
            </p:grpSpPr>
            <p:sp>
              <p:nvSpPr>
                <p:cNvPr id="141" name="Google Shape;141;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dk1"/>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42" name="Google Shape;142;p3"/>
                <p:cNvCxnSpPr/>
                <p:nvPr/>
              </p:nvCxnSpPr>
              <p:spPr>
                <a:xfrm>
                  <a:off x="3468" y="1863"/>
                  <a:ext cx="0" cy="41"/>
                </a:xfrm>
                <a:prstGeom prst="straightConnector1">
                  <a:avLst/>
                </a:prstGeom>
                <a:noFill/>
                <a:ln cap="flat" cmpd="sng" w="9525">
                  <a:solidFill>
                    <a:schemeClr val="dk1"/>
                  </a:solidFill>
                  <a:prstDash val="solid"/>
                  <a:round/>
                  <a:headEnd len="med" w="med" type="none"/>
                  <a:tailEnd len="med" w="med" type="none"/>
                </a:ln>
              </p:spPr>
            </p:cxnSp>
            <p:cxnSp>
              <p:nvCxnSpPr>
                <p:cNvPr id="143" name="Google Shape;143;p3"/>
                <p:cNvCxnSpPr/>
                <p:nvPr/>
              </p:nvCxnSpPr>
              <p:spPr>
                <a:xfrm rot="10800000">
                  <a:off x="3466" y="1904"/>
                  <a:ext cx="41" cy="0"/>
                </a:xfrm>
                <a:prstGeom prst="straightConnector1">
                  <a:avLst/>
                </a:prstGeom>
                <a:noFill/>
                <a:ln cap="flat" cmpd="sng" w="9525">
                  <a:solidFill>
                    <a:schemeClr val="dk1"/>
                  </a:solidFill>
                  <a:prstDash val="solid"/>
                  <a:round/>
                  <a:headEnd len="med" w="med" type="none"/>
                  <a:tailEnd len="med" w="med" type="none"/>
                </a:ln>
              </p:spPr>
            </p:cxnSp>
          </p:grpSp>
          <p:sp>
            <p:nvSpPr>
              <p:cNvPr id="144" name="Google Shape;144;p3"/>
              <p:cNvSpPr/>
              <p:nvPr/>
            </p:nvSpPr>
            <p:spPr>
              <a:xfrm>
                <a:off x="2400" y="1055"/>
                <a:ext cx="129" cy="74"/>
              </a:xfrm>
              <a:prstGeom prst="homePlate">
                <a:avLst>
                  <a:gd fmla="val 51571" name="adj"/>
                </a:avLst>
              </a:prstGeom>
              <a:solidFill>
                <a:srgbClr val="FFFFCC"/>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45" name="Google Shape;145;p3"/>
            <p:cNvGrpSpPr/>
            <p:nvPr/>
          </p:nvGrpSpPr>
          <p:grpSpPr>
            <a:xfrm>
              <a:off x="5140325" y="1884751"/>
              <a:ext cx="479425" cy="314325"/>
              <a:chOff x="2263" y="970"/>
              <a:chExt cx="288" cy="189"/>
            </a:xfrm>
          </p:grpSpPr>
          <p:sp>
            <p:nvSpPr>
              <p:cNvPr id="146" name="Google Shape;146;p3"/>
              <p:cNvSpPr/>
              <p:nvPr/>
            </p:nvSpPr>
            <p:spPr>
              <a:xfrm>
                <a:off x="2263" y="970"/>
                <a:ext cx="288" cy="189"/>
              </a:xfrm>
              <a:prstGeom prst="roundRect">
                <a:avLst>
                  <a:gd fmla="val 16667" name="adj"/>
                </a:avLst>
              </a:prstGeom>
              <a:solidFill>
                <a:srgbClr val="8ECC8E"/>
              </a:solidFill>
              <a:ln cap="flat" cmpd="sng" w="9525">
                <a:solidFill>
                  <a:schemeClr val="dk1"/>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47" name="Google Shape;147;p3"/>
              <p:cNvGrpSpPr/>
              <p:nvPr/>
            </p:nvGrpSpPr>
            <p:grpSpPr>
              <a:xfrm>
                <a:off x="2300" y="996"/>
                <a:ext cx="86" cy="128"/>
                <a:chOff x="2853" y="1773"/>
                <a:chExt cx="161" cy="237"/>
              </a:xfrm>
            </p:grpSpPr>
            <p:sp>
              <p:nvSpPr>
                <p:cNvPr id="148" name="Google Shape;148;p3"/>
                <p:cNvSpPr/>
                <p:nvPr/>
              </p:nvSpPr>
              <p:spPr>
                <a:xfrm>
                  <a:off x="2853" y="1880"/>
                  <a:ext cx="161" cy="130"/>
                </a:xfrm>
                <a:prstGeom prst="parallelogram">
                  <a:avLst>
                    <a:gd fmla="val 30962" name="adj"/>
                  </a:avLst>
                </a:prstGeom>
                <a:solidFill>
                  <a:srgbClr val="FFCC99"/>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9" name="Google Shape;149;p3"/>
                <p:cNvSpPr/>
                <p:nvPr/>
              </p:nvSpPr>
              <p:spPr>
                <a:xfrm>
                  <a:off x="2915" y="1773"/>
                  <a:ext cx="87" cy="87"/>
                </a:xfrm>
                <a:prstGeom prst="ellipse">
                  <a:avLst/>
                </a:prstGeom>
                <a:solidFill>
                  <a:srgbClr val="FFCC99"/>
                </a:solidFill>
                <a:ln cap="flat" cmpd="sng" w="952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50" name="Google Shape;150;p3"/>
              <p:cNvGrpSpPr/>
              <p:nvPr/>
            </p:nvGrpSpPr>
            <p:grpSpPr>
              <a:xfrm>
                <a:off x="2373" y="985"/>
                <a:ext cx="65" cy="93"/>
                <a:chOff x="3387" y="1863"/>
                <a:chExt cx="122" cy="174"/>
              </a:xfrm>
            </p:grpSpPr>
            <p:sp>
              <p:nvSpPr>
                <p:cNvPr id="151" name="Google Shape;151;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dk1"/>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52" name="Google Shape;152;p3"/>
                <p:cNvCxnSpPr/>
                <p:nvPr/>
              </p:nvCxnSpPr>
              <p:spPr>
                <a:xfrm>
                  <a:off x="3468" y="1863"/>
                  <a:ext cx="0" cy="41"/>
                </a:xfrm>
                <a:prstGeom prst="straightConnector1">
                  <a:avLst/>
                </a:prstGeom>
                <a:noFill/>
                <a:ln cap="flat" cmpd="sng" w="9525">
                  <a:solidFill>
                    <a:schemeClr val="dk1"/>
                  </a:solidFill>
                  <a:prstDash val="solid"/>
                  <a:round/>
                  <a:headEnd len="med" w="med" type="none"/>
                  <a:tailEnd len="med" w="med" type="none"/>
                </a:ln>
              </p:spPr>
            </p:cxnSp>
            <p:cxnSp>
              <p:nvCxnSpPr>
                <p:cNvPr id="153" name="Google Shape;153;p3"/>
                <p:cNvCxnSpPr/>
                <p:nvPr/>
              </p:nvCxnSpPr>
              <p:spPr>
                <a:xfrm rot="10800000">
                  <a:off x="3466" y="1904"/>
                  <a:ext cx="41" cy="0"/>
                </a:xfrm>
                <a:prstGeom prst="straightConnector1">
                  <a:avLst/>
                </a:prstGeom>
                <a:noFill/>
                <a:ln cap="flat" cmpd="sng" w="9525">
                  <a:solidFill>
                    <a:schemeClr val="dk1"/>
                  </a:solidFill>
                  <a:prstDash val="solid"/>
                  <a:round/>
                  <a:headEnd len="med" w="med" type="none"/>
                  <a:tailEnd len="med" w="med" type="none"/>
                </a:ln>
              </p:spPr>
            </p:cxnSp>
          </p:grpSp>
          <p:sp>
            <p:nvSpPr>
              <p:cNvPr id="154" name="Google Shape;154;p3"/>
              <p:cNvSpPr/>
              <p:nvPr/>
            </p:nvSpPr>
            <p:spPr>
              <a:xfrm>
                <a:off x="2400" y="1055"/>
                <a:ext cx="129" cy="74"/>
              </a:xfrm>
              <a:prstGeom prst="homePlate">
                <a:avLst>
                  <a:gd fmla="val 51571" name="adj"/>
                </a:avLst>
              </a:prstGeom>
              <a:solidFill>
                <a:srgbClr val="FFFFCC"/>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55" name="Google Shape;155;p3"/>
            <p:cNvGrpSpPr/>
            <p:nvPr/>
          </p:nvGrpSpPr>
          <p:grpSpPr>
            <a:xfrm>
              <a:off x="4716463" y="3284926"/>
              <a:ext cx="479425" cy="314325"/>
              <a:chOff x="2263" y="970"/>
              <a:chExt cx="288" cy="189"/>
            </a:xfrm>
          </p:grpSpPr>
          <p:sp>
            <p:nvSpPr>
              <p:cNvPr id="156" name="Google Shape;156;p3"/>
              <p:cNvSpPr/>
              <p:nvPr/>
            </p:nvSpPr>
            <p:spPr>
              <a:xfrm>
                <a:off x="2263" y="970"/>
                <a:ext cx="288" cy="189"/>
              </a:xfrm>
              <a:prstGeom prst="roundRect">
                <a:avLst>
                  <a:gd fmla="val 16667" name="adj"/>
                </a:avLst>
              </a:prstGeom>
              <a:solidFill>
                <a:srgbClr val="8ECC8E"/>
              </a:solidFill>
              <a:ln cap="flat" cmpd="sng" w="9525">
                <a:solidFill>
                  <a:schemeClr val="dk1"/>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57" name="Google Shape;157;p3"/>
              <p:cNvGrpSpPr/>
              <p:nvPr/>
            </p:nvGrpSpPr>
            <p:grpSpPr>
              <a:xfrm>
                <a:off x="2300" y="996"/>
                <a:ext cx="86" cy="128"/>
                <a:chOff x="2853" y="1773"/>
                <a:chExt cx="161" cy="237"/>
              </a:xfrm>
            </p:grpSpPr>
            <p:sp>
              <p:nvSpPr>
                <p:cNvPr id="158" name="Google Shape;158;p3"/>
                <p:cNvSpPr/>
                <p:nvPr/>
              </p:nvSpPr>
              <p:spPr>
                <a:xfrm>
                  <a:off x="2853" y="1880"/>
                  <a:ext cx="161" cy="130"/>
                </a:xfrm>
                <a:prstGeom prst="parallelogram">
                  <a:avLst>
                    <a:gd fmla="val 30962" name="adj"/>
                  </a:avLst>
                </a:prstGeom>
                <a:solidFill>
                  <a:srgbClr val="FFCC99"/>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9" name="Google Shape;159;p3"/>
                <p:cNvSpPr/>
                <p:nvPr/>
              </p:nvSpPr>
              <p:spPr>
                <a:xfrm>
                  <a:off x="2915" y="1773"/>
                  <a:ext cx="87" cy="87"/>
                </a:xfrm>
                <a:prstGeom prst="ellipse">
                  <a:avLst/>
                </a:prstGeom>
                <a:solidFill>
                  <a:srgbClr val="FFCC99"/>
                </a:solidFill>
                <a:ln cap="flat" cmpd="sng" w="952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60" name="Google Shape;160;p3"/>
              <p:cNvGrpSpPr/>
              <p:nvPr/>
            </p:nvGrpSpPr>
            <p:grpSpPr>
              <a:xfrm>
                <a:off x="2373" y="985"/>
                <a:ext cx="65" cy="93"/>
                <a:chOff x="3387" y="1863"/>
                <a:chExt cx="122" cy="174"/>
              </a:xfrm>
            </p:grpSpPr>
            <p:sp>
              <p:nvSpPr>
                <p:cNvPr id="161" name="Google Shape;161;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dk1"/>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62" name="Google Shape;162;p3"/>
                <p:cNvCxnSpPr/>
                <p:nvPr/>
              </p:nvCxnSpPr>
              <p:spPr>
                <a:xfrm>
                  <a:off x="3468" y="1863"/>
                  <a:ext cx="0" cy="41"/>
                </a:xfrm>
                <a:prstGeom prst="straightConnector1">
                  <a:avLst/>
                </a:prstGeom>
                <a:noFill/>
                <a:ln cap="flat" cmpd="sng" w="9525">
                  <a:solidFill>
                    <a:schemeClr val="dk1"/>
                  </a:solidFill>
                  <a:prstDash val="solid"/>
                  <a:round/>
                  <a:headEnd len="med" w="med" type="none"/>
                  <a:tailEnd len="med" w="med" type="none"/>
                </a:ln>
              </p:spPr>
            </p:cxnSp>
            <p:cxnSp>
              <p:nvCxnSpPr>
                <p:cNvPr id="163" name="Google Shape;163;p3"/>
                <p:cNvCxnSpPr/>
                <p:nvPr/>
              </p:nvCxnSpPr>
              <p:spPr>
                <a:xfrm rot="10800000">
                  <a:off x="3466" y="1904"/>
                  <a:ext cx="41" cy="0"/>
                </a:xfrm>
                <a:prstGeom prst="straightConnector1">
                  <a:avLst/>
                </a:prstGeom>
                <a:noFill/>
                <a:ln cap="flat" cmpd="sng" w="9525">
                  <a:solidFill>
                    <a:schemeClr val="dk1"/>
                  </a:solidFill>
                  <a:prstDash val="solid"/>
                  <a:round/>
                  <a:headEnd len="med" w="med" type="none"/>
                  <a:tailEnd len="med" w="med" type="none"/>
                </a:ln>
              </p:spPr>
            </p:cxnSp>
          </p:grpSp>
          <p:sp>
            <p:nvSpPr>
              <p:cNvPr id="164" name="Google Shape;164;p3"/>
              <p:cNvSpPr/>
              <p:nvPr/>
            </p:nvSpPr>
            <p:spPr>
              <a:xfrm>
                <a:off x="2400" y="1055"/>
                <a:ext cx="129" cy="74"/>
              </a:xfrm>
              <a:prstGeom prst="homePlate">
                <a:avLst>
                  <a:gd fmla="val 51571" name="adj"/>
                </a:avLst>
              </a:prstGeom>
              <a:solidFill>
                <a:srgbClr val="FFFFCC"/>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65" name="Google Shape;165;p3"/>
            <p:cNvGrpSpPr/>
            <p:nvPr/>
          </p:nvGrpSpPr>
          <p:grpSpPr>
            <a:xfrm>
              <a:off x="3192463" y="4099314"/>
              <a:ext cx="479425" cy="314325"/>
              <a:chOff x="2263" y="970"/>
              <a:chExt cx="288" cy="189"/>
            </a:xfrm>
          </p:grpSpPr>
          <p:sp>
            <p:nvSpPr>
              <p:cNvPr id="166" name="Google Shape;166;p3"/>
              <p:cNvSpPr/>
              <p:nvPr/>
            </p:nvSpPr>
            <p:spPr>
              <a:xfrm>
                <a:off x="2263" y="970"/>
                <a:ext cx="288" cy="189"/>
              </a:xfrm>
              <a:prstGeom prst="roundRect">
                <a:avLst>
                  <a:gd fmla="val 16667" name="adj"/>
                </a:avLst>
              </a:prstGeom>
              <a:solidFill>
                <a:srgbClr val="8ECC8E"/>
              </a:solidFill>
              <a:ln cap="flat" cmpd="sng" w="9525">
                <a:solidFill>
                  <a:schemeClr val="dk1"/>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67" name="Google Shape;167;p3"/>
              <p:cNvGrpSpPr/>
              <p:nvPr/>
            </p:nvGrpSpPr>
            <p:grpSpPr>
              <a:xfrm>
                <a:off x="2300" y="996"/>
                <a:ext cx="86" cy="128"/>
                <a:chOff x="2853" y="1773"/>
                <a:chExt cx="161" cy="237"/>
              </a:xfrm>
            </p:grpSpPr>
            <p:sp>
              <p:nvSpPr>
                <p:cNvPr id="168" name="Google Shape;168;p3"/>
                <p:cNvSpPr/>
                <p:nvPr/>
              </p:nvSpPr>
              <p:spPr>
                <a:xfrm>
                  <a:off x="2853" y="1880"/>
                  <a:ext cx="161" cy="130"/>
                </a:xfrm>
                <a:prstGeom prst="parallelogram">
                  <a:avLst>
                    <a:gd fmla="val 30962" name="adj"/>
                  </a:avLst>
                </a:prstGeom>
                <a:solidFill>
                  <a:srgbClr val="FFCC99"/>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69" name="Google Shape;169;p3"/>
                <p:cNvSpPr/>
                <p:nvPr/>
              </p:nvSpPr>
              <p:spPr>
                <a:xfrm>
                  <a:off x="2915" y="1773"/>
                  <a:ext cx="87" cy="87"/>
                </a:xfrm>
                <a:prstGeom prst="ellipse">
                  <a:avLst/>
                </a:prstGeom>
                <a:solidFill>
                  <a:srgbClr val="FFCC99"/>
                </a:solidFill>
                <a:ln cap="flat" cmpd="sng" w="952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70" name="Google Shape;170;p3"/>
              <p:cNvGrpSpPr/>
              <p:nvPr/>
            </p:nvGrpSpPr>
            <p:grpSpPr>
              <a:xfrm>
                <a:off x="2373" y="985"/>
                <a:ext cx="65" cy="93"/>
                <a:chOff x="3387" y="1863"/>
                <a:chExt cx="122" cy="174"/>
              </a:xfrm>
            </p:grpSpPr>
            <p:sp>
              <p:nvSpPr>
                <p:cNvPr id="171" name="Google Shape;171;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dk1"/>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72" name="Google Shape;172;p3"/>
                <p:cNvCxnSpPr/>
                <p:nvPr/>
              </p:nvCxnSpPr>
              <p:spPr>
                <a:xfrm>
                  <a:off x="3468" y="1863"/>
                  <a:ext cx="0" cy="41"/>
                </a:xfrm>
                <a:prstGeom prst="straightConnector1">
                  <a:avLst/>
                </a:prstGeom>
                <a:noFill/>
                <a:ln cap="flat" cmpd="sng" w="9525">
                  <a:solidFill>
                    <a:schemeClr val="dk1"/>
                  </a:solidFill>
                  <a:prstDash val="solid"/>
                  <a:round/>
                  <a:headEnd len="med" w="med" type="none"/>
                  <a:tailEnd len="med" w="med" type="none"/>
                </a:ln>
              </p:spPr>
            </p:cxnSp>
            <p:cxnSp>
              <p:nvCxnSpPr>
                <p:cNvPr id="173" name="Google Shape;173;p3"/>
                <p:cNvCxnSpPr/>
                <p:nvPr/>
              </p:nvCxnSpPr>
              <p:spPr>
                <a:xfrm rot="10800000">
                  <a:off x="3466" y="1904"/>
                  <a:ext cx="41" cy="0"/>
                </a:xfrm>
                <a:prstGeom prst="straightConnector1">
                  <a:avLst/>
                </a:prstGeom>
                <a:noFill/>
                <a:ln cap="flat" cmpd="sng" w="9525">
                  <a:solidFill>
                    <a:schemeClr val="dk1"/>
                  </a:solidFill>
                  <a:prstDash val="solid"/>
                  <a:round/>
                  <a:headEnd len="med" w="med" type="none"/>
                  <a:tailEnd len="med" w="med" type="none"/>
                </a:ln>
              </p:spPr>
            </p:cxnSp>
          </p:grpSp>
          <p:sp>
            <p:nvSpPr>
              <p:cNvPr id="174" name="Google Shape;174;p3"/>
              <p:cNvSpPr/>
              <p:nvPr/>
            </p:nvSpPr>
            <p:spPr>
              <a:xfrm>
                <a:off x="2400" y="1055"/>
                <a:ext cx="129" cy="74"/>
              </a:xfrm>
              <a:prstGeom prst="homePlate">
                <a:avLst>
                  <a:gd fmla="val 51571" name="adj"/>
                </a:avLst>
              </a:prstGeom>
              <a:solidFill>
                <a:srgbClr val="FFFFCC"/>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75" name="Google Shape;175;p3"/>
            <p:cNvGrpSpPr/>
            <p:nvPr/>
          </p:nvGrpSpPr>
          <p:grpSpPr>
            <a:xfrm>
              <a:off x="4083050" y="4632714"/>
              <a:ext cx="479425" cy="314325"/>
              <a:chOff x="2263" y="970"/>
              <a:chExt cx="288" cy="189"/>
            </a:xfrm>
          </p:grpSpPr>
          <p:sp>
            <p:nvSpPr>
              <p:cNvPr id="176" name="Google Shape;176;p3"/>
              <p:cNvSpPr/>
              <p:nvPr/>
            </p:nvSpPr>
            <p:spPr>
              <a:xfrm>
                <a:off x="2263" y="970"/>
                <a:ext cx="288" cy="189"/>
              </a:xfrm>
              <a:prstGeom prst="roundRect">
                <a:avLst>
                  <a:gd fmla="val 16667" name="adj"/>
                </a:avLst>
              </a:prstGeom>
              <a:solidFill>
                <a:srgbClr val="8ECC8E"/>
              </a:solidFill>
              <a:ln cap="flat" cmpd="sng" w="9525">
                <a:solidFill>
                  <a:schemeClr val="dk1"/>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77" name="Google Shape;177;p3"/>
              <p:cNvGrpSpPr/>
              <p:nvPr/>
            </p:nvGrpSpPr>
            <p:grpSpPr>
              <a:xfrm>
                <a:off x="2300" y="996"/>
                <a:ext cx="86" cy="128"/>
                <a:chOff x="2853" y="1773"/>
                <a:chExt cx="161" cy="237"/>
              </a:xfrm>
            </p:grpSpPr>
            <p:sp>
              <p:nvSpPr>
                <p:cNvPr id="178" name="Google Shape;178;p3"/>
                <p:cNvSpPr/>
                <p:nvPr/>
              </p:nvSpPr>
              <p:spPr>
                <a:xfrm>
                  <a:off x="2853" y="1880"/>
                  <a:ext cx="161" cy="130"/>
                </a:xfrm>
                <a:prstGeom prst="parallelogram">
                  <a:avLst>
                    <a:gd fmla="val 30962" name="adj"/>
                  </a:avLst>
                </a:prstGeom>
                <a:solidFill>
                  <a:srgbClr val="FFCC99"/>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79" name="Google Shape;179;p3"/>
                <p:cNvSpPr/>
                <p:nvPr/>
              </p:nvSpPr>
              <p:spPr>
                <a:xfrm>
                  <a:off x="2915" y="1773"/>
                  <a:ext cx="87" cy="87"/>
                </a:xfrm>
                <a:prstGeom prst="ellipse">
                  <a:avLst/>
                </a:prstGeom>
                <a:solidFill>
                  <a:srgbClr val="FFCC99"/>
                </a:solidFill>
                <a:ln cap="flat" cmpd="sng" w="952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80" name="Google Shape;180;p3"/>
              <p:cNvGrpSpPr/>
              <p:nvPr/>
            </p:nvGrpSpPr>
            <p:grpSpPr>
              <a:xfrm>
                <a:off x="2373" y="985"/>
                <a:ext cx="65" cy="93"/>
                <a:chOff x="3387" y="1863"/>
                <a:chExt cx="122" cy="174"/>
              </a:xfrm>
            </p:grpSpPr>
            <p:sp>
              <p:nvSpPr>
                <p:cNvPr id="181" name="Google Shape;181;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dk1"/>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82" name="Google Shape;182;p3"/>
                <p:cNvCxnSpPr/>
                <p:nvPr/>
              </p:nvCxnSpPr>
              <p:spPr>
                <a:xfrm>
                  <a:off x="3468" y="1863"/>
                  <a:ext cx="0" cy="41"/>
                </a:xfrm>
                <a:prstGeom prst="straightConnector1">
                  <a:avLst/>
                </a:prstGeom>
                <a:noFill/>
                <a:ln cap="flat" cmpd="sng" w="9525">
                  <a:solidFill>
                    <a:schemeClr val="dk1"/>
                  </a:solidFill>
                  <a:prstDash val="solid"/>
                  <a:round/>
                  <a:headEnd len="med" w="med" type="none"/>
                  <a:tailEnd len="med" w="med" type="none"/>
                </a:ln>
              </p:spPr>
            </p:cxnSp>
            <p:cxnSp>
              <p:nvCxnSpPr>
                <p:cNvPr id="183" name="Google Shape;183;p3"/>
                <p:cNvCxnSpPr/>
                <p:nvPr/>
              </p:nvCxnSpPr>
              <p:spPr>
                <a:xfrm rot="10800000">
                  <a:off x="3466" y="1904"/>
                  <a:ext cx="41" cy="0"/>
                </a:xfrm>
                <a:prstGeom prst="straightConnector1">
                  <a:avLst/>
                </a:prstGeom>
                <a:noFill/>
                <a:ln cap="flat" cmpd="sng" w="9525">
                  <a:solidFill>
                    <a:schemeClr val="dk1"/>
                  </a:solidFill>
                  <a:prstDash val="solid"/>
                  <a:round/>
                  <a:headEnd len="med" w="med" type="none"/>
                  <a:tailEnd len="med" w="med" type="none"/>
                </a:ln>
              </p:spPr>
            </p:cxnSp>
          </p:grpSp>
          <p:sp>
            <p:nvSpPr>
              <p:cNvPr id="184" name="Google Shape;184;p3"/>
              <p:cNvSpPr/>
              <p:nvPr/>
            </p:nvSpPr>
            <p:spPr>
              <a:xfrm>
                <a:off x="2400" y="1055"/>
                <a:ext cx="129" cy="74"/>
              </a:xfrm>
              <a:prstGeom prst="homePlate">
                <a:avLst>
                  <a:gd fmla="val 51571" name="adj"/>
                </a:avLst>
              </a:prstGeom>
              <a:solidFill>
                <a:srgbClr val="FFFFCC"/>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85" name="Google Shape;185;p3"/>
            <p:cNvGrpSpPr/>
            <p:nvPr/>
          </p:nvGrpSpPr>
          <p:grpSpPr>
            <a:xfrm>
              <a:off x="5368925" y="4632714"/>
              <a:ext cx="479425" cy="314325"/>
              <a:chOff x="2263" y="970"/>
              <a:chExt cx="288" cy="189"/>
            </a:xfrm>
          </p:grpSpPr>
          <p:sp>
            <p:nvSpPr>
              <p:cNvPr id="186" name="Google Shape;186;p3"/>
              <p:cNvSpPr/>
              <p:nvPr/>
            </p:nvSpPr>
            <p:spPr>
              <a:xfrm>
                <a:off x="2263" y="970"/>
                <a:ext cx="288" cy="189"/>
              </a:xfrm>
              <a:prstGeom prst="roundRect">
                <a:avLst>
                  <a:gd fmla="val 16667" name="adj"/>
                </a:avLst>
              </a:prstGeom>
              <a:solidFill>
                <a:srgbClr val="8ECC8E"/>
              </a:solidFill>
              <a:ln cap="flat" cmpd="sng" w="9525">
                <a:solidFill>
                  <a:schemeClr val="dk1"/>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87" name="Google Shape;187;p3"/>
              <p:cNvGrpSpPr/>
              <p:nvPr/>
            </p:nvGrpSpPr>
            <p:grpSpPr>
              <a:xfrm>
                <a:off x="2300" y="996"/>
                <a:ext cx="86" cy="128"/>
                <a:chOff x="2853" y="1773"/>
                <a:chExt cx="161" cy="237"/>
              </a:xfrm>
            </p:grpSpPr>
            <p:sp>
              <p:nvSpPr>
                <p:cNvPr id="188" name="Google Shape;188;p3"/>
                <p:cNvSpPr/>
                <p:nvPr/>
              </p:nvSpPr>
              <p:spPr>
                <a:xfrm>
                  <a:off x="2853" y="1880"/>
                  <a:ext cx="161" cy="130"/>
                </a:xfrm>
                <a:prstGeom prst="parallelogram">
                  <a:avLst>
                    <a:gd fmla="val 30962" name="adj"/>
                  </a:avLst>
                </a:prstGeom>
                <a:solidFill>
                  <a:srgbClr val="FFCC99"/>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89" name="Google Shape;189;p3"/>
                <p:cNvSpPr/>
                <p:nvPr/>
              </p:nvSpPr>
              <p:spPr>
                <a:xfrm>
                  <a:off x="2915" y="1773"/>
                  <a:ext cx="87" cy="87"/>
                </a:xfrm>
                <a:prstGeom prst="ellipse">
                  <a:avLst/>
                </a:prstGeom>
                <a:solidFill>
                  <a:srgbClr val="FFCC99"/>
                </a:solidFill>
                <a:ln cap="flat" cmpd="sng" w="952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90" name="Google Shape;190;p3"/>
              <p:cNvGrpSpPr/>
              <p:nvPr/>
            </p:nvGrpSpPr>
            <p:grpSpPr>
              <a:xfrm>
                <a:off x="2373" y="985"/>
                <a:ext cx="65" cy="93"/>
                <a:chOff x="3387" y="1863"/>
                <a:chExt cx="122" cy="174"/>
              </a:xfrm>
            </p:grpSpPr>
            <p:sp>
              <p:nvSpPr>
                <p:cNvPr id="191" name="Google Shape;191;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dk1"/>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92" name="Google Shape;192;p3"/>
                <p:cNvCxnSpPr/>
                <p:nvPr/>
              </p:nvCxnSpPr>
              <p:spPr>
                <a:xfrm>
                  <a:off x="3468" y="1863"/>
                  <a:ext cx="0" cy="41"/>
                </a:xfrm>
                <a:prstGeom prst="straightConnector1">
                  <a:avLst/>
                </a:prstGeom>
                <a:noFill/>
                <a:ln cap="flat" cmpd="sng" w="9525">
                  <a:solidFill>
                    <a:schemeClr val="dk1"/>
                  </a:solidFill>
                  <a:prstDash val="solid"/>
                  <a:round/>
                  <a:headEnd len="med" w="med" type="none"/>
                  <a:tailEnd len="med" w="med" type="none"/>
                </a:ln>
              </p:spPr>
            </p:cxnSp>
            <p:cxnSp>
              <p:nvCxnSpPr>
                <p:cNvPr id="193" name="Google Shape;193;p3"/>
                <p:cNvCxnSpPr/>
                <p:nvPr/>
              </p:nvCxnSpPr>
              <p:spPr>
                <a:xfrm rot="10800000">
                  <a:off x="3466" y="1904"/>
                  <a:ext cx="41" cy="0"/>
                </a:xfrm>
                <a:prstGeom prst="straightConnector1">
                  <a:avLst/>
                </a:prstGeom>
                <a:noFill/>
                <a:ln cap="flat" cmpd="sng" w="9525">
                  <a:solidFill>
                    <a:schemeClr val="dk1"/>
                  </a:solidFill>
                  <a:prstDash val="solid"/>
                  <a:round/>
                  <a:headEnd len="med" w="med" type="none"/>
                  <a:tailEnd len="med" w="med" type="none"/>
                </a:ln>
              </p:spPr>
            </p:cxnSp>
          </p:grpSp>
          <p:sp>
            <p:nvSpPr>
              <p:cNvPr id="194" name="Google Shape;194;p3"/>
              <p:cNvSpPr/>
              <p:nvPr/>
            </p:nvSpPr>
            <p:spPr>
              <a:xfrm>
                <a:off x="2400" y="1055"/>
                <a:ext cx="129" cy="74"/>
              </a:xfrm>
              <a:prstGeom prst="homePlate">
                <a:avLst>
                  <a:gd fmla="val 51571" name="adj"/>
                </a:avLst>
              </a:prstGeom>
              <a:solidFill>
                <a:srgbClr val="FFFFCC"/>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195" name="Google Shape;195;p3"/>
            <p:cNvSpPr txBox="1"/>
            <p:nvPr/>
          </p:nvSpPr>
          <p:spPr>
            <a:xfrm>
              <a:off x="3116263" y="1144976"/>
              <a:ext cx="1117600" cy="440185"/>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800">
                  <a:solidFill>
                    <a:schemeClr val="dk1"/>
                  </a:solidFill>
                  <a:latin typeface="Constantia"/>
                  <a:ea typeface="Constantia"/>
                  <a:cs typeface="Constantia"/>
                  <a:sym typeface="Constantia"/>
                </a:rPr>
                <a:t>[Early</a:t>
              </a:r>
              <a:endParaRPr/>
            </a:p>
            <a:p>
              <a:pPr indent="0" lvl="0" marL="0" marR="0" rtl="0" algn="ctr">
                <a:lnSpc>
                  <a:spcPct val="35000"/>
                </a:lnSpc>
                <a:spcBef>
                  <a:spcPts val="900"/>
                </a:spcBef>
                <a:spcAft>
                  <a:spcPts val="0"/>
                </a:spcAft>
                <a:buNone/>
              </a:pPr>
              <a:r>
                <a:rPr lang="en-US" sz="1800">
                  <a:solidFill>
                    <a:schemeClr val="dk1"/>
                  </a:solidFill>
                  <a:latin typeface="Constantia"/>
                  <a:ea typeface="Constantia"/>
                  <a:cs typeface="Constantia"/>
                  <a:sym typeface="Constantia"/>
                </a:rPr>
                <a:t>Elaboration</a:t>
              </a:r>
              <a:endParaRPr/>
            </a:p>
            <a:p>
              <a:pPr indent="0" lvl="0" marL="0" marR="0" rtl="0" algn="ctr">
                <a:lnSpc>
                  <a:spcPct val="35000"/>
                </a:lnSpc>
                <a:spcBef>
                  <a:spcPts val="900"/>
                </a:spcBef>
                <a:spcAft>
                  <a:spcPts val="0"/>
                </a:spcAft>
                <a:buNone/>
              </a:pPr>
              <a:r>
                <a:rPr lang="en-US" sz="1800">
                  <a:solidFill>
                    <a:schemeClr val="dk1"/>
                  </a:solidFill>
                  <a:latin typeface="Constantia"/>
                  <a:ea typeface="Constantia"/>
                  <a:cs typeface="Constantia"/>
                  <a:sym typeface="Constantia"/>
                </a:rPr>
                <a:t>  Iteration]</a:t>
              </a:r>
              <a:endParaRPr/>
            </a:p>
          </p:txBody>
        </p:sp>
        <p:sp>
          <p:nvSpPr>
            <p:cNvPr id="196" name="Google Shape;196;p3"/>
            <p:cNvSpPr txBox="1"/>
            <p:nvPr/>
          </p:nvSpPr>
          <p:spPr>
            <a:xfrm>
              <a:off x="4579938" y="1292614"/>
              <a:ext cx="1433513" cy="309380"/>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800">
                  <a:solidFill>
                    <a:schemeClr val="dk1"/>
                  </a:solidFill>
                  <a:latin typeface="Constantia"/>
                  <a:ea typeface="Constantia"/>
                  <a:cs typeface="Constantia"/>
                  <a:sym typeface="Constantia"/>
                </a:rPr>
                <a:t>[Inception</a:t>
              </a:r>
              <a:endParaRPr/>
            </a:p>
            <a:p>
              <a:pPr indent="0" lvl="0" marL="0" marR="0" rtl="0" algn="ctr">
                <a:lnSpc>
                  <a:spcPct val="35000"/>
                </a:lnSpc>
                <a:spcBef>
                  <a:spcPts val="900"/>
                </a:spcBef>
                <a:spcAft>
                  <a:spcPts val="0"/>
                </a:spcAft>
                <a:buNone/>
              </a:pPr>
              <a:r>
                <a:rPr lang="en-US" sz="1800">
                  <a:solidFill>
                    <a:schemeClr val="dk1"/>
                  </a:solidFill>
                  <a:latin typeface="Constantia"/>
                  <a:ea typeface="Constantia"/>
                  <a:cs typeface="Constantia"/>
                  <a:sym typeface="Constantia"/>
                </a:rPr>
                <a:t>  Iteration (Optional)]</a:t>
              </a:r>
              <a:endParaRPr/>
            </a:p>
          </p:txBody>
        </p:sp>
        <p:sp>
          <p:nvSpPr>
            <p:cNvPr id="197" name="Google Shape;197;p3"/>
            <p:cNvSpPr txBox="1"/>
            <p:nvPr/>
          </p:nvSpPr>
          <p:spPr>
            <a:xfrm>
              <a:off x="3055938" y="2260989"/>
              <a:ext cx="1433513" cy="309380"/>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800">
                  <a:solidFill>
                    <a:schemeClr val="dk1"/>
                  </a:solidFill>
                  <a:latin typeface="Constantia"/>
                  <a:ea typeface="Constantia"/>
                  <a:cs typeface="Constantia"/>
                  <a:sym typeface="Constantia"/>
                </a:rPr>
                <a:t>Define a Candidate</a:t>
              </a:r>
              <a:endParaRPr/>
            </a:p>
            <a:p>
              <a:pPr indent="0" lvl="0" marL="0" marR="0" rtl="0" algn="ctr">
                <a:lnSpc>
                  <a:spcPct val="35000"/>
                </a:lnSpc>
                <a:spcBef>
                  <a:spcPts val="900"/>
                </a:spcBef>
                <a:spcAft>
                  <a:spcPts val="0"/>
                </a:spcAft>
                <a:buNone/>
              </a:pPr>
              <a:r>
                <a:rPr lang="en-US" sz="1800">
                  <a:solidFill>
                    <a:schemeClr val="dk1"/>
                  </a:solidFill>
                  <a:latin typeface="Constantia"/>
                  <a:ea typeface="Constantia"/>
                  <a:cs typeface="Constantia"/>
                  <a:sym typeface="Constantia"/>
                </a:rPr>
                <a:t>Architecture</a:t>
              </a:r>
              <a:endParaRPr/>
            </a:p>
          </p:txBody>
        </p:sp>
        <p:sp>
          <p:nvSpPr>
            <p:cNvPr id="198" name="Google Shape;198;p3"/>
            <p:cNvSpPr txBox="1"/>
            <p:nvPr/>
          </p:nvSpPr>
          <p:spPr>
            <a:xfrm>
              <a:off x="4818063" y="2259401"/>
              <a:ext cx="1117600" cy="440185"/>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800">
                  <a:solidFill>
                    <a:schemeClr val="dk1"/>
                  </a:solidFill>
                  <a:latin typeface="Constantia"/>
                  <a:ea typeface="Constantia"/>
                  <a:cs typeface="Constantia"/>
                  <a:sym typeface="Constantia"/>
                </a:rPr>
                <a:t>Perform</a:t>
              </a:r>
              <a:endParaRPr/>
            </a:p>
            <a:p>
              <a:pPr indent="0" lvl="0" marL="0" marR="0" rtl="0" algn="ctr">
                <a:lnSpc>
                  <a:spcPct val="35000"/>
                </a:lnSpc>
                <a:spcBef>
                  <a:spcPts val="900"/>
                </a:spcBef>
                <a:spcAft>
                  <a:spcPts val="0"/>
                </a:spcAft>
                <a:buNone/>
              </a:pPr>
              <a:r>
                <a:rPr lang="en-US" sz="1800">
                  <a:solidFill>
                    <a:schemeClr val="dk1"/>
                  </a:solidFill>
                  <a:latin typeface="Constantia"/>
                  <a:ea typeface="Constantia"/>
                  <a:cs typeface="Constantia"/>
                  <a:sym typeface="Constantia"/>
                </a:rPr>
                <a:t>Architectural</a:t>
              </a:r>
              <a:endParaRPr/>
            </a:p>
            <a:p>
              <a:pPr indent="0" lvl="0" marL="0" marR="0" rtl="0" algn="ctr">
                <a:lnSpc>
                  <a:spcPct val="35000"/>
                </a:lnSpc>
                <a:spcBef>
                  <a:spcPts val="900"/>
                </a:spcBef>
                <a:spcAft>
                  <a:spcPts val="0"/>
                </a:spcAft>
                <a:buNone/>
              </a:pPr>
              <a:r>
                <a:rPr lang="en-US" sz="1800">
                  <a:solidFill>
                    <a:schemeClr val="dk1"/>
                  </a:solidFill>
                  <a:latin typeface="Constantia"/>
                  <a:ea typeface="Constantia"/>
                  <a:cs typeface="Constantia"/>
                  <a:sym typeface="Constantia"/>
                </a:rPr>
                <a:t>Synthesis</a:t>
              </a:r>
              <a:endParaRPr/>
            </a:p>
          </p:txBody>
        </p:sp>
        <p:sp>
          <p:nvSpPr>
            <p:cNvPr id="199" name="Google Shape;199;p3"/>
            <p:cNvSpPr txBox="1"/>
            <p:nvPr/>
          </p:nvSpPr>
          <p:spPr>
            <a:xfrm>
              <a:off x="4357688" y="3659576"/>
              <a:ext cx="1209675" cy="178575"/>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800">
                  <a:solidFill>
                    <a:schemeClr val="dk1"/>
                  </a:solidFill>
                  <a:latin typeface="Constantia"/>
                  <a:ea typeface="Constantia"/>
                  <a:cs typeface="Constantia"/>
                  <a:sym typeface="Constantia"/>
                </a:rPr>
                <a:t>Analyze Behavior</a:t>
              </a:r>
              <a:endParaRPr/>
            </a:p>
          </p:txBody>
        </p:sp>
        <p:sp>
          <p:nvSpPr>
            <p:cNvPr id="200" name="Google Shape;200;p3"/>
            <p:cNvSpPr txBox="1"/>
            <p:nvPr/>
          </p:nvSpPr>
          <p:spPr>
            <a:xfrm>
              <a:off x="2984500" y="4473964"/>
              <a:ext cx="904875" cy="309380"/>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800">
                  <a:solidFill>
                    <a:schemeClr val="dk1"/>
                  </a:solidFill>
                  <a:latin typeface="Constantia"/>
                  <a:ea typeface="Constantia"/>
                  <a:cs typeface="Constantia"/>
                  <a:sym typeface="Constantia"/>
                </a:rPr>
                <a:t>Refine the</a:t>
              </a:r>
              <a:endParaRPr/>
            </a:p>
            <a:p>
              <a:pPr indent="0" lvl="0" marL="0" marR="0" rtl="0" algn="ctr">
                <a:lnSpc>
                  <a:spcPct val="35000"/>
                </a:lnSpc>
                <a:spcBef>
                  <a:spcPts val="900"/>
                </a:spcBef>
                <a:spcAft>
                  <a:spcPts val="0"/>
                </a:spcAft>
                <a:buNone/>
              </a:pPr>
              <a:r>
                <a:rPr lang="en-US" sz="1800">
                  <a:solidFill>
                    <a:schemeClr val="dk1"/>
                  </a:solidFill>
                  <a:latin typeface="Constantia"/>
                  <a:ea typeface="Constantia"/>
                  <a:cs typeface="Constantia"/>
                  <a:sym typeface="Constantia"/>
                </a:rPr>
                <a:t>Architecture</a:t>
              </a:r>
              <a:endParaRPr/>
            </a:p>
          </p:txBody>
        </p:sp>
        <p:sp>
          <p:nvSpPr>
            <p:cNvPr id="201" name="Google Shape;201;p3"/>
            <p:cNvSpPr txBox="1"/>
            <p:nvPr/>
          </p:nvSpPr>
          <p:spPr>
            <a:xfrm>
              <a:off x="3848100" y="5008951"/>
              <a:ext cx="949325" cy="309380"/>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800">
                  <a:solidFill>
                    <a:schemeClr val="dk1"/>
                  </a:solidFill>
                  <a:latin typeface="Constantia"/>
                  <a:ea typeface="Constantia"/>
                  <a:cs typeface="Constantia"/>
                  <a:sym typeface="Constantia"/>
                </a:rPr>
                <a:t>Define</a:t>
              </a:r>
              <a:endParaRPr/>
            </a:p>
            <a:p>
              <a:pPr indent="0" lvl="0" marL="0" marR="0" rtl="0" algn="ctr">
                <a:lnSpc>
                  <a:spcPct val="35000"/>
                </a:lnSpc>
                <a:spcBef>
                  <a:spcPts val="900"/>
                </a:spcBef>
                <a:spcAft>
                  <a:spcPts val="0"/>
                </a:spcAft>
                <a:buNone/>
              </a:pPr>
              <a:r>
                <a:rPr lang="en-US" sz="1800">
                  <a:solidFill>
                    <a:schemeClr val="dk1"/>
                  </a:solidFill>
                  <a:latin typeface="Constantia"/>
                  <a:ea typeface="Constantia"/>
                  <a:cs typeface="Constantia"/>
                  <a:sym typeface="Constantia"/>
                </a:rPr>
                <a:t>Components</a:t>
              </a:r>
              <a:endParaRPr/>
            </a:p>
          </p:txBody>
        </p:sp>
        <p:sp>
          <p:nvSpPr>
            <p:cNvPr id="202" name="Google Shape;202;p3"/>
            <p:cNvSpPr txBox="1"/>
            <p:nvPr/>
          </p:nvSpPr>
          <p:spPr>
            <a:xfrm>
              <a:off x="5143500" y="5008951"/>
              <a:ext cx="949325" cy="309380"/>
            </a:xfrm>
            <a:prstGeom prst="rect">
              <a:avLst/>
            </a:prstGeom>
            <a:noFill/>
            <a:ln>
              <a:noFill/>
            </a:ln>
          </p:spPr>
          <p:txBody>
            <a:bodyPr anchorCtr="0" anchor="t" bIns="53975" lIns="107950" spcFirstLastPara="1" rIns="107950" wrap="square" tIns="53975">
              <a:spAutoFit/>
            </a:bodyPr>
            <a:lstStyle/>
            <a:p>
              <a:pPr indent="0" lvl="0" marL="0" marR="0" rtl="0" algn="ctr">
                <a:lnSpc>
                  <a:spcPct val="35000"/>
                </a:lnSpc>
                <a:spcBef>
                  <a:spcPts val="0"/>
                </a:spcBef>
                <a:spcAft>
                  <a:spcPts val="0"/>
                </a:spcAft>
                <a:buNone/>
              </a:pPr>
              <a:r>
                <a:rPr lang="en-US" sz="1800">
                  <a:solidFill>
                    <a:schemeClr val="dk1"/>
                  </a:solidFill>
                  <a:latin typeface="Constantia"/>
                  <a:ea typeface="Constantia"/>
                  <a:cs typeface="Constantia"/>
                  <a:sym typeface="Constantia"/>
                </a:rPr>
                <a:t>Design the</a:t>
              </a:r>
              <a:endParaRPr/>
            </a:p>
            <a:p>
              <a:pPr indent="0" lvl="0" marL="0" marR="0" rtl="0" algn="ctr">
                <a:lnSpc>
                  <a:spcPct val="35000"/>
                </a:lnSpc>
                <a:spcBef>
                  <a:spcPts val="900"/>
                </a:spcBef>
                <a:spcAft>
                  <a:spcPts val="0"/>
                </a:spcAft>
                <a:buNone/>
              </a:pPr>
              <a:r>
                <a:rPr lang="en-US" sz="1800">
                  <a:solidFill>
                    <a:schemeClr val="dk1"/>
                  </a:solidFill>
                  <a:latin typeface="Constantia"/>
                  <a:ea typeface="Constantia"/>
                  <a:cs typeface="Constantia"/>
                  <a:sym typeface="Constantia"/>
                </a:rPr>
                <a:t>Database</a:t>
              </a:r>
              <a:endParaRPr/>
            </a:p>
          </p:txBody>
        </p:sp>
        <p:sp>
          <p:nvSpPr>
            <p:cNvPr id="203" name="Google Shape;203;p3"/>
            <p:cNvSpPr txBox="1"/>
            <p:nvPr/>
          </p:nvSpPr>
          <p:spPr>
            <a:xfrm>
              <a:off x="5546725" y="4267589"/>
              <a:ext cx="774700" cy="161925"/>
            </a:xfrm>
            <a:prstGeom prst="rect">
              <a:avLst/>
            </a:prstGeom>
            <a:noFill/>
            <a:ln>
              <a:noFill/>
            </a:ln>
          </p:spPr>
          <p:txBody>
            <a:bodyPr anchorCtr="0" anchor="t" bIns="53975" lIns="107950" spcFirstLastPara="1" rIns="107950" wrap="square" tIns="53975">
              <a:spAutoFit/>
            </a:bodyPr>
            <a:lstStyle/>
            <a:p>
              <a:pPr indent="0" lvl="0" marL="0" marR="0" rtl="0" algn="l">
                <a:lnSpc>
                  <a:spcPct val="35000"/>
                </a:lnSpc>
                <a:spcBef>
                  <a:spcPts val="0"/>
                </a:spcBef>
                <a:spcAft>
                  <a:spcPts val="0"/>
                </a:spcAft>
                <a:buNone/>
              </a:pPr>
              <a:r>
                <a:rPr lang="en-US" sz="1800">
                  <a:solidFill>
                    <a:schemeClr val="lt2"/>
                  </a:solidFill>
                  <a:latin typeface="Constantia"/>
                  <a:ea typeface="Constantia"/>
                  <a:cs typeface="Constantia"/>
                  <a:sym typeface="Constantia"/>
                </a:rPr>
                <a:t>(Optional)</a:t>
              </a:r>
              <a:endParaRPr/>
            </a:p>
          </p:txBody>
        </p:sp>
        <p:cxnSp>
          <p:nvCxnSpPr>
            <p:cNvPr id="204" name="Google Shape;204;p3"/>
            <p:cNvCxnSpPr/>
            <p:nvPr/>
          </p:nvCxnSpPr>
          <p:spPr>
            <a:xfrm>
              <a:off x="4421188" y="1260864"/>
              <a:ext cx="0" cy="204788"/>
            </a:xfrm>
            <a:prstGeom prst="straightConnector1">
              <a:avLst/>
            </a:prstGeom>
            <a:noFill/>
            <a:ln cap="flat" cmpd="sng" w="9525">
              <a:solidFill>
                <a:schemeClr val="dk1"/>
              </a:solidFill>
              <a:prstDash val="solid"/>
              <a:round/>
              <a:headEnd len="med" w="med" type="none"/>
              <a:tailEnd len="med" w="med" type="stealth"/>
            </a:ln>
          </p:spPr>
        </p:cxnSp>
        <p:sp>
          <p:nvSpPr>
            <p:cNvPr id="205" name="Google Shape;205;p3"/>
            <p:cNvSpPr/>
            <p:nvPr/>
          </p:nvSpPr>
          <p:spPr>
            <a:xfrm>
              <a:off x="3756025" y="1584714"/>
              <a:ext cx="447675" cy="279400"/>
            </a:xfrm>
            <a:custGeom>
              <a:rect b="b" l="l" r="r" t="t"/>
              <a:pathLst>
                <a:path extrusionOk="0" h="109" w="282">
                  <a:moveTo>
                    <a:pt x="282" y="0"/>
                  </a:moveTo>
                  <a:lnTo>
                    <a:pt x="0" y="0"/>
                  </a:lnTo>
                  <a:lnTo>
                    <a:pt x="0" y="109"/>
                  </a:lnTo>
                </a:path>
              </a:pathLst>
            </a:custGeom>
            <a:noFill/>
            <a:ln cap="flat" cmpd="sng" w="9525">
              <a:solidFill>
                <a:schemeClr val="dk1"/>
              </a:solidFill>
              <a:prstDash val="solid"/>
              <a:round/>
              <a:headEnd len="sm" w="sm"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06" name="Google Shape;206;p3"/>
            <p:cNvSpPr/>
            <p:nvPr/>
          </p:nvSpPr>
          <p:spPr>
            <a:xfrm>
              <a:off x="4597400" y="1587889"/>
              <a:ext cx="782638" cy="280988"/>
            </a:xfrm>
            <a:custGeom>
              <a:rect b="b" l="l" r="r" t="t"/>
              <a:pathLst>
                <a:path extrusionOk="0" h="177" w="493">
                  <a:moveTo>
                    <a:pt x="0" y="0"/>
                  </a:moveTo>
                  <a:lnTo>
                    <a:pt x="493" y="0"/>
                  </a:lnTo>
                  <a:lnTo>
                    <a:pt x="493" y="177"/>
                  </a:lnTo>
                </a:path>
              </a:pathLst>
            </a:custGeom>
            <a:noFill/>
            <a:ln cap="flat" cmpd="sng" w="9525">
              <a:solidFill>
                <a:schemeClr val="dk1"/>
              </a:solidFill>
              <a:prstDash val="solid"/>
              <a:round/>
              <a:headEnd len="sm" w="sm"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07" name="Google Shape;207;p3"/>
            <p:cNvSpPr/>
            <p:nvPr/>
          </p:nvSpPr>
          <p:spPr>
            <a:xfrm>
              <a:off x="4203700" y="1473589"/>
              <a:ext cx="431800" cy="196850"/>
            </a:xfrm>
            <a:custGeom>
              <a:rect b="b" l="l" r="r" t="t"/>
              <a:pathLst>
                <a:path extrusionOk="0" h="240" w="528">
                  <a:moveTo>
                    <a:pt x="0" y="136"/>
                  </a:moveTo>
                  <a:lnTo>
                    <a:pt x="264" y="0"/>
                  </a:lnTo>
                  <a:lnTo>
                    <a:pt x="528" y="136"/>
                  </a:lnTo>
                  <a:lnTo>
                    <a:pt x="264" y="240"/>
                  </a:lnTo>
                  <a:lnTo>
                    <a:pt x="0" y="136"/>
                  </a:lnTo>
                  <a:close/>
                </a:path>
              </a:pathLst>
            </a:custGeom>
            <a:solidFill>
              <a:srgbClr val="FFCC99"/>
            </a:solidFill>
            <a:ln cap="flat" cmpd="sng" w="9525">
              <a:solidFill>
                <a:schemeClr val="dk1"/>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08" name="Google Shape;208;p3"/>
            <p:cNvSpPr/>
            <p:nvPr/>
          </p:nvSpPr>
          <p:spPr>
            <a:xfrm>
              <a:off x="3749675" y="2532451"/>
              <a:ext cx="444500" cy="114300"/>
            </a:xfrm>
            <a:custGeom>
              <a:rect b="b" l="l" r="r" t="t"/>
              <a:pathLst>
                <a:path extrusionOk="0" h="99" w="274">
                  <a:moveTo>
                    <a:pt x="1" y="0"/>
                  </a:moveTo>
                  <a:lnTo>
                    <a:pt x="0" y="99"/>
                  </a:lnTo>
                  <a:lnTo>
                    <a:pt x="274" y="99"/>
                  </a:lnTo>
                </a:path>
              </a:pathLst>
            </a:custGeom>
            <a:noFill/>
            <a:ln cap="flat" cmpd="sng" w="9525">
              <a:solidFill>
                <a:schemeClr val="dk1"/>
              </a:solidFill>
              <a:prstDash val="solid"/>
              <a:round/>
              <a:headEnd len="sm" w="sm"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09" name="Google Shape;209;p3"/>
            <p:cNvCxnSpPr/>
            <p:nvPr/>
          </p:nvCxnSpPr>
          <p:spPr>
            <a:xfrm>
              <a:off x="5392738" y="2641989"/>
              <a:ext cx="0" cy="228600"/>
            </a:xfrm>
            <a:prstGeom prst="straightConnector1">
              <a:avLst/>
            </a:prstGeom>
            <a:noFill/>
            <a:ln cap="flat" cmpd="sng" w="9525">
              <a:solidFill>
                <a:schemeClr val="dk1"/>
              </a:solidFill>
              <a:prstDash val="solid"/>
              <a:round/>
              <a:headEnd len="med" w="med" type="none"/>
              <a:tailEnd len="med" w="med" type="stealth"/>
            </a:ln>
          </p:spPr>
        </p:cxnSp>
        <p:cxnSp>
          <p:nvCxnSpPr>
            <p:cNvPr id="210" name="Google Shape;210;p3"/>
            <p:cNvCxnSpPr/>
            <p:nvPr/>
          </p:nvCxnSpPr>
          <p:spPr>
            <a:xfrm>
              <a:off x="4421188" y="1675201"/>
              <a:ext cx="0" cy="852488"/>
            </a:xfrm>
            <a:prstGeom prst="straightConnector1">
              <a:avLst/>
            </a:prstGeom>
            <a:noFill/>
            <a:ln cap="flat" cmpd="sng" w="9525">
              <a:solidFill>
                <a:schemeClr val="dk1"/>
              </a:solidFill>
              <a:prstDash val="solid"/>
              <a:round/>
              <a:headEnd len="med" w="med" type="none"/>
              <a:tailEnd len="med" w="med" type="stealth"/>
            </a:ln>
          </p:spPr>
        </p:cxnSp>
        <p:cxnSp>
          <p:nvCxnSpPr>
            <p:cNvPr id="211" name="Google Shape;211;p3"/>
            <p:cNvCxnSpPr/>
            <p:nvPr/>
          </p:nvCxnSpPr>
          <p:spPr>
            <a:xfrm>
              <a:off x="4421188" y="2737239"/>
              <a:ext cx="0" cy="204788"/>
            </a:xfrm>
            <a:prstGeom prst="straightConnector1">
              <a:avLst/>
            </a:prstGeom>
            <a:noFill/>
            <a:ln cap="flat" cmpd="sng" w="9525">
              <a:solidFill>
                <a:schemeClr val="dk1"/>
              </a:solidFill>
              <a:prstDash val="solid"/>
              <a:round/>
              <a:headEnd len="med" w="med" type="none"/>
              <a:tailEnd len="med" w="med" type="stealth"/>
            </a:ln>
          </p:spPr>
        </p:cxnSp>
        <p:sp>
          <p:nvSpPr>
            <p:cNvPr id="212" name="Google Shape;212;p3"/>
            <p:cNvSpPr/>
            <p:nvPr/>
          </p:nvSpPr>
          <p:spPr>
            <a:xfrm>
              <a:off x="4203700" y="2534039"/>
              <a:ext cx="431800" cy="196850"/>
            </a:xfrm>
            <a:custGeom>
              <a:rect b="b" l="l" r="r" t="t"/>
              <a:pathLst>
                <a:path extrusionOk="0" h="240" w="528">
                  <a:moveTo>
                    <a:pt x="0" y="136"/>
                  </a:moveTo>
                  <a:lnTo>
                    <a:pt x="264" y="0"/>
                  </a:lnTo>
                  <a:lnTo>
                    <a:pt x="528" y="136"/>
                  </a:lnTo>
                  <a:lnTo>
                    <a:pt x="264" y="240"/>
                  </a:lnTo>
                  <a:lnTo>
                    <a:pt x="0" y="136"/>
                  </a:lnTo>
                  <a:close/>
                </a:path>
              </a:pathLst>
            </a:custGeom>
            <a:solidFill>
              <a:srgbClr val="FFCC99"/>
            </a:solidFill>
            <a:ln cap="flat" cmpd="sng" w="9525">
              <a:solidFill>
                <a:schemeClr val="dk1"/>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13" name="Google Shape;213;p3"/>
            <p:cNvCxnSpPr/>
            <p:nvPr/>
          </p:nvCxnSpPr>
          <p:spPr>
            <a:xfrm>
              <a:off x="4954588" y="2989651"/>
              <a:ext cx="0" cy="280988"/>
            </a:xfrm>
            <a:prstGeom prst="straightConnector1">
              <a:avLst/>
            </a:prstGeom>
            <a:noFill/>
            <a:ln cap="flat" cmpd="sng" w="9525">
              <a:solidFill>
                <a:schemeClr val="dk1"/>
              </a:solidFill>
              <a:prstDash val="solid"/>
              <a:round/>
              <a:headEnd len="med" w="med" type="none"/>
              <a:tailEnd len="med" w="med" type="stealth"/>
            </a:ln>
          </p:spPr>
        </p:cxnSp>
        <p:cxnSp>
          <p:nvCxnSpPr>
            <p:cNvPr id="214" name="Google Shape;214;p3"/>
            <p:cNvCxnSpPr/>
            <p:nvPr/>
          </p:nvCxnSpPr>
          <p:spPr>
            <a:xfrm>
              <a:off x="4954588" y="3794514"/>
              <a:ext cx="0" cy="361950"/>
            </a:xfrm>
            <a:prstGeom prst="straightConnector1">
              <a:avLst/>
            </a:prstGeom>
            <a:noFill/>
            <a:ln cap="flat" cmpd="sng" w="9525">
              <a:solidFill>
                <a:schemeClr val="dk1"/>
              </a:solidFill>
              <a:prstDash val="solid"/>
              <a:round/>
              <a:headEnd len="med" w="med" type="none"/>
              <a:tailEnd len="med" w="med" type="stealth"/>
            </a:ln>
          </p:spPr>
        </p:cxnSp>
        <p:cxnSp>
          <p:nvCxnSpPr>
            <p:cNvPr id="215" name="Google Shape;215;p3"/>
            <p:cNvCxnSpPr/>
            <p:nvPr/>
          </p:nvCxnSpPr>
          <p:spPr>
            <a:xfrm>
              <a:off x="5602288" y="4218376"/>
              <a:ext cx="0" cy="404813"/>
            </a:xfrm>
            <a:prstGeom prst="straightConnector1">
              <a:avLst/>
            </a:prstGeom>
            <a:noFill/>
            <a:ln cap="flat" cmpd="sng" w="9525">
              <a:solidFill>
                <a:schemeClr val="dk1"/>
              </a:solidFill>
              <a:prstDash val="solid"/>
              <a:round/>
              <a:headEnd len="med" w="med" type="none"/>
              <a:tailEnd len="med" w="med" type="stealth"/>
            </a:ln>
          </p:spPr>
        </p:cxnSp>
        <p:cxnSp>
          <p:nvCxnSpPr>
            <p:cNvPr id="216" name="Google Shape;216;p3"/>
            <p:cNvCxnSpPr/>
            <p:nvPr/>
          </p:nvCxnSpPr>
          <p:spPr>
            <a:xfrm>
              <a:off x="4306888" y="4218376"/>
              <a:ext cx="0" cy="404813"/>
            </a:xfrm>
            <a:prstGeom prst="straightConnector1">
              <a:avLst/>
            </a:prstGeom>
            <a:noFill/>
            <a:ln cap="flat" cmpd="sng" w="9525">
              <a:solidFill>
                <a:schemeClr val="dk1"/>
              </a:solidFill>
              <a:prstDash val="solid"/>
              <a:round/>
              <a:headEnd len="med" w="med" type="none"/>
              <a:tailEnd len="med" w="med" type="stealth"/>
            </a:ln>
          </p:spPr>
        </p:cxnSp>
        <p:sp>
          <p:nvSpPr>
            <p:cNvPr id="217" name="Google Shape;217;p3"/>
            <p:cNvSpPr/>
            <p:nvPr/>
          </p:nvSpPr>
          <p:spPr>
            <a:xfrm>
              <a:off x="3425825" y="2999176"/>
              <a:ext cx="495300" cy="1090613"/>
            </a:xfrm>
            <a:custGeom>
              <a:rect b="b" l="l" r="r" t="t"/>
              <a:pathLst>
                <a:path extrusionOk="0" h="507" w="312">
                  <a:moveTo>
                    <a:pt x="312" y="0"/>
                  </a:moveTo>
                  <a:lnTo>
                    <a:pt x="312" y="240"/>
                  </a:lnTo>
                  <a:lnTo>
                    <a:pt x="0" y="240"/>
                  </a:lnTo>
                  <a:lnTo>
                    <a:pt x="0" y="507"/>
                  </a:lnTo>
                </a:path>
              </a:pathLst>
            </a:custGeom>
            <a:noFill/>
            <a:ln cap="flat" cmpd="sng" w="9525">
              <a:solidFill>
                <a:schemeClr val="dk1"/>
              </a:solidFill>
              <a:prstDash val="solid"/>
              <a:round/>
              <a:headEnd len="sm" w="sm"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18" name="Google Shape;218;p3"/>
            <p:cNvCxnSpPr/>
            <p:nvPr/>
          </p:nvCxnSpPr>
          <p:spPr>
            <a:xfrm>
              <a:off x="5602288" y="5275651"/>
              <a:ext cx="0" cy="288925"/>
            </a:xfrm>
            <a:prstGeom prst="straightConnector1">
              <a:avLst/>
            </a:prstGeom>
            <a:noFill/>
            <a:ln cap="flat" cmpd="sng" w="9525">
              <a:solidFill>
                <a:schemeClr val="dk1"/>
              </a:solidFill>
              <a:prstDash val="solid"/>
              <a:round/>
              <a:headEnd len="med" w="med" type="none"/>
              <a:tailEnd len="med" w="med" type="stealth"/>
            </a:ln>
          </p:spPr>
        </p:cxnSp>
        <p:cxnSp>
          <p:nvCxnSpPr>
            <p:cNvPr id="219" name="Google Shape;219;p3"/>
            <p:cNvCxnSpPr/>
            <p:nvPr/>
          </p:nvCxnSpPr>
          <p:spPr>
            <a:xfrm>
              <a:off x="4306888" y="5275651"/>
              <a:ext cx="0" cy="288925"/>
            </a:xfrm>
            <a:prstGeom prst="straightConnector1">
              <a:avLst/>
            </a:prstGeom>
            <a:noFill/>
            <a:ln cap="flat" cmpd="sng" w="9525">
              <a:solidFill>
                <a:schemeClr val="dk1"/>
              </a:solidFill>
              <a:prstDash val="solid"/>
              <a:round/>
              <a:headEnd len="med" w="med" type="none"/>
              <a:tailEnd len="med" w="med" type="stealth"/>
            </a:ln>
          </p:spPr>
        </p:cxnSp>
        <p:cxnSp>
          <p:nvCxnSpPr>
            <p:cNvPr id="220" name="Google Shape;220;p3"/>
            <p:cNvCxnSpPr/>
            <p:nvPr/>
          </p:nvCxnSpPr>
          <p:spPr>
            <a:xfrm>
              <a:off x="4983163" y="5615376"/>
              <a:ext cx="0" cy="252413"/>
            </a:xfrm>
            <a:prstGeom prst="straightConnector1">
              <a:avLst/>
            </a:prstGeom>
            <a:noFill/>
            <a:ln cap="flat" cmpd="sng" w="9525">
              <a:solidFill>
                <a:schemeClr val="lt2"/>
              </a:solidFill>
              <a:prstDash val="solid"/>
              <a:round/>
              <a:headEnd len="med" w="med" type="none"/>
              <a:tailEnd len="med" w="med" type="stealth"/>
            </a:ln>
          </p:spPr>
        </p:cxnSp>
        <p:cxnSp>
          <p:nvCxnSpPr>
            <p:cNvPr id="221" name="Google Shape;221;p3"/>
            <p:cNvCxnSpPr/>
            <p:nvPr/>
          </p:nvCxnSpPr>
          <p:spPr>
            <a:xfrm>
              <a:off x="3425825" y="4766064"/>
              <a:ext cx="0" cy="1104900"/>
            </a:xfrm>
            <a:prstGeom prst="straightConnector1">
              <a:avLst/>
            </a:prstGeom>
            <a:noFill/>
            <a:ln cap="flat" cmpd="sng" w="9525">
              <a:solidFill>
                <a:schemeClr val="dk1"/>
              </a:solidFill>
              <a:prstDash val="solid"/>
              <a:round/>
              <a:headEnd len="med" w="med" type="none"/>
              <a:tailEnd len="med" w="med" type="stealth"/>
            </a:ln>
          </p:spPr>
        </p:cxnSp>
        <p:cxnSp>
          <p:nvCxnSpPr>
            <p:cNvPr id="222" name="Google Shape;222;p3"/>
            <p:cNvCxnSpPr/>
            <p:nvPr/>
          </p:nvCxnSpPr>
          <p:spPr>
            <a:xfrm>
              <a:off x="4549775" y="5915414"/>
              <a:ext cx="0" cy="252413"/>
            </a:xfrm>
            <a:prstGeom prst="straightConnector1">
              <a:avLst/>
            </a:prstGeom>
            <a:noFill/>
            <a:ln cap="flat" cmpd="sng" w="9525">
              <a:solidFill>
                <a:schemeClr val="dk1"/>
              </a:solidFill>
              <a:prstDash val="solid"/>
              <a:round/>
              <a:headEnd len="med" w="med" type="none"/>
              <a:tailEnd len="med" w="med" type="stealth"/>
            </a:ln>
          </p:spPr>
        </p:cxnSp>
        <p:sp>
          <p:nvSpPr>
            <p:cNvPr id="223" name="Google Shape;223;p3"/>
            <p:cNvSpPr/>
            <p:nvPr/>
          </p:nvSpPr>
          <p:spPr>
            <a:xfrm>
              <a:off x="4089400" y="5572514"/>
              <a:ext cx="1731963" cy="49213"/>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24" name="Google Shape;224;p3"/>
            <p:cNvSpPr/>
            <p:nvPr/>
          </p:nvSpPr>
          <p:spPr>
            <a:xfrm>
              <a:off x="3238500" y="5877314"/>
              <a:ext cx="1955800" cy="50800"/>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25" name="Google Shape;225;p3"/>
            <p:cNvSpPr/>
            <p:nvPr/>
          </p:nvSpPr>
          <p:spPr>
            <a:xfrm>
              <a:off x="2762250" y="1716476"/>
              <a:ext cx="3581400" cy="2190750"/>
            </a:xfrm>
            <a:prstGeom prst="roundRect">
              <a:avLst>
                <a:gd fmla="val 16667" name="adj"/>
              </a:avLst>
            </a:prstGeom>
            <a:noFill/>
            <a:ln cap="flat" cmpd="sng" w="28575">
              <a:solidFill>
                <a:srgbClr val="0000FF"/>
              </a:solidFill>
              <a:prstDash val="dash"/>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26" name="Google Shape;226;p3"/>
            <p:cNvSpPr/>
            <p:nvPr/>
          </p:nvSpPr>
          <p:spPr>
            <a:xfrm>
              <a:off x="4079875" y="4165989"/>
              <a:ext cx="1731963" cy="49213"/>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27" name="Google Shape;227;p3"/>
            <p:cNvSpPr/>
            <p:nvPr/>
          </p:nvSpPr>
          <p:spPr>
            <a:xfrm>
              <a:off x="3741738" y="2951551"/>
              <a:ext cx="1374775" cy="47625"/>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28" name="Google Shape;228;p3"/>
            <p:cNvSpPr/>
            <p:nvPr/>
          </p:nvSpPr>
          <p:spPr>
            <a:xfrm>
              <a:off x="2790825" y="3983426"/>
              <a:ext cx="3581400" cy="2057400"/>
            </a:xfrm>
            <a:prstGeom prst="flowChartAlternateProcess">
              <a:avLst/>
            </a:prstGeom>
            <a:noFill/>
            <a:ln cap="flat" cmpd="sng" w="28575">
              <a:solidFill>
                <a:schemeClr val="hlink"/>
              </a:solidFill>
              <a:prstDash val="dash"/>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229" name="Google Shape;229;p3"/>
            <p:cNvGrpSpPr/>
            <p:nvPr/>
          </p:nvGrpSpPr>
          <p:grpSpPr>
            <a:xfrm>
              <a:off x="5256322" y="2857235"/>
              <a:ext cx="256032" cy="256032"/>
              <a:chOff x="5272088" y="2841469"/>
              <a:chExt cx="256032" cy="256032"/>
            </a:xfrm>
          </p:grpSpPr>
          <p:sp>
            <p:nvSpPr>
              <p:cNvPr id="230" name="Google Shape;230;p3"/>
              <p:cNvSpPr/>
              <p:nvPr/>
            </p:nvSpPr>
            <p:spPr>
              <a:xfrm>
                <a:off x="5307359" y="2867428"/>
                <a:ext cx="182880" cy="182880"/>
              </a:xfrm>
              <a:prstGeom prst="ellipse">
                <a:avLst/>
              </a:prstGeom>
              <a:solidFill>
                <a:schemeClr val="dk1"/>
              </a:solid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31" name="Google Shape;231;p3"/>
              <p:cNvSpPr/>
              <p:nvPr/>
            </p:nvSpPr>
            <p:spPr>
              <a:xfrm>
                <a:off x="5272088" y="2841469"/>
                <a:ext cx="256032" cy="256032"/>
              </a:xfrm>
              <a:prstGeom prst="ellipse">
                <a:avLst/>
              </a:prstGeom>
              <a:no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232" name="Google Shape;232;p3"/>
            <p:cNvGrpSpPr/>
            <p:nvPr/>
          </p:nvGrpSpPr>
          <p:grpSpPr>
            <a:xfrm>
              <a:off x="4420750" y="6152228"/>
              <a:ext cx="256032" cy="256032"/>
              <a:chOff x="5272088" y="2841469"/>
              <a:chExt cx="256032" cy="256032"/>
            </a:xfrm>
          </p:grpSpPr>
          <p:sp>
            <p:nvSpPr>
              <p:cNvPr id="233" name="Google Shape;233;p3"/>
              <p:cNvSpPr/>
              <p:nvPr/>
            </p:nvSpPr>
            <p:spPr>
              <a:xfrm>
                <a:off x="5307359" y="2867428"/>
                <a:ext cx="182880" cy="182880"/>
              </a:xfrm>
              <a:prstGeom prst="ellipse">
                <a:avLst/>
              </a:prstGeom>
              <a:solidFill>
                <a:schemeClr val="dk1"/>
              </a:solid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34" name="Google Shape;234;p3"/>
              <p:cNvSpPr/>
              <p:nvPr/>
            </p:nvSpPr>
            <p:spPr>
              <a:xfrm>
                <a:off x="5272088" y="2841469"/>
                <a:ext cx="256032" cy="256032"/>
              </a:xfrm>
              <a:prstGeom prst="ellipse">
                <a:avLst/>
              </a:prstGeom>
              <a:no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grpSp>
        <p:nvGrpSpPr>
          <p:cNvPr id="235" name="Google Shape;235;p3"/>
          <p:cNvGrpSpPr/>
          <p:nvPr/>
        </p:nvGrpSpPr>
        <p:grpSpPr>
          <a:xfrm>
            <a:off x="881053" y="3739836"/>
            <a:ext cx="2868506" cy="3005088"/>
            <a:chOff x="492" y="1852"/>
            <a:chExt cx="2011" cy="1983"/>
          </a:xfrm>
        </p:grpSpPr>
        <p:sp>
          <p:nvSpPr>
            <p:cNvPr id="236" name="Google Shape;236;p3"/>
            <p:cNvSpPr/>
            <p:nvPr/>
          </p:nvSpPr>
          <p:spPr>
            <a:xfrm rot="-8446413">
              <a:off x="739" y="2183"/>
              <a:ext cx="1517" cy="1321"/>
            </a:xfrm>
            <a:custGeom>
              <a:rect b="b" l="l" r="r" t="t"/>
              <a:pathLst>
                <a:path extrusionOk="0" h="21600" w="21600">
                  <a:moveTo>
                    <a:pt x="10800" y="0"/>
                  </a:moveTo>
                  <a:lnTo>
                    <a:pt x="0" y="21600"/>
                  </a:lnTo>
                  <a:lnTo>
                    <a:pt x="21600" y="10800"/>
                  </a:lnTo>
                  <a:close/>
                </a:path>
              </a:pathLst>
            </a:custGeom>
            <a:solidFill>
              <a:srgbClr val="D8EBB3"/>
            </a:solidFill>
            <a:ln cap="flat" cmpd="sng" w="9525">
              <a:solidFill>
                <a:srgbClr val="000000"/>
              </a:solidFill>
              <a:prstDash val="solid"/>
              <a:miter lim="800000"/>
              <a:headEnd len="sm" w="sm" type="none"/>
              <a:tailEnd len="sm" w="sm" type="none"/>
            </a:ln>
            <a:effectLst>
              <a:outerShdw rotWithShape="0" algn="ctr" dir="2700000" dist="107763">
                <a:srgbClr val="808080"/>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37" name="Google Shape;237;p3"/>
            <p:cNvSpPr/>
            <p:nvPr/>
          </p:nvSpPr>
          <p:spPr>
            <a:xfrm>
              <a:off x="1034" y="2860"/>
              <a:ext cx="355" cy="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25221E"/>
                  </a:solidFill>
                  <a:latin typeface="Constantia"/>
                  <a:ea typeface="Constantia"/>
                  <a:cs typeface="Constantia"/>
                  <a:sym typeface="Constantia"/>
                </a:rPr>
                <a:t>Use-Case</a:t>
              </a:r>
              <a:endParaRPr sz="1800">
                <a:solidFill>
                  <a:schemeClr val="dk1"/>
                </a:solidFill>
                <a:latin typeface="Arial"/>
                <a:ea typeface="Arial"/>
                <a:cs typeface="Arial"/>
                <a:sym typeface="Arial"/>
              </a:endParaRPr>
            </a:p>
          </p:txBody>
        </p:sp>
        <p:sp>
          <p:nvSpPr>
            <p:cNvPr id="238" name="Google Shape;238;p3"/>
            <p:cNvSpPr/>
            <p:nvPr/>
          </p:nvSpPr>
          <p:spPr>
            <a:xfrm>
              <a:off x="1061" y="2946"/>
              <a:ext cx="248" cy="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25221E"/>
                  </a:solidFill>
                  <a:latin typeface="Constantia"/>
                  <a:ea typeface="Constantia"/>
                  <a:cs typeface="Constantia"/>
                  <a:sym typeface="Constantia"/>
                </a:rPr>
                <a:t>Design</a:t>
              </a:r>
              <a:endParaRPr sz="1800">
                <a:solidFill>
                  <a:schemeClr val="dk1"/>
                </a:solidFill>
                <a:latin typeface="Arial"/>
                <a:ea typeface="Arial"/>
                <a:cs typeface="Arial"/>
                <a:sym typeface="Arial"/>
              </a:endParaRPr>
            </a:p>
          </p:txBody>
        </p:sp>
        <p:sp>
          <p:nvSpPr>
            <p:cNvPr id="239" name="Google Shape;239;p3"/>
            <p:cNvSpPr/>
            <p:nvPr/>
          </p:nvSpPr>
          <p:spPr>
            <a:xfrm>
              <a:off x="1054" y="2648"/>
              <a:ext cx="271" cy="168"/>
            </a:xfrm>
            <a:custGeom>
              <a:rect b="b" l="l" r="r" t="t"/>
              <a:pathLst>
                <a:path extrusionOk="0" h="23" w="38">
                  <a:moveTo>
                    <a:pt x="0" y="0"/>
                  </a:moveTo>
                  <a:lnTo>
                    <a:pt x="26" y="0"/>
                  </a:lnTo>
                  <a:lnTo>
                    <a:pt x="38" y="11"/>
                  </a:lnTo>
                  <a:lnTo>
                    <a:pt x="26" y="23"/>
                  </a:lnTo>
                  <a:lnTo>
                    <a:pt x="0" y="23"/>
                  </a:lnTo>
                  <a:lnTo>
                    <a:pt x="0" y="0"/>
                  </a:lnTo>
                </a:path>
              </a:pathLst>
            </a:custGeom>
            <a:solidFill>
              <a:srgbClr val="C2C1C1"/>
            </a:solidFill>
            <a:ln cap="flat" cmpd="sng" w="9525">
              <a:solidFill>
                <a:srgbClr val="C2C1C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0" name="Google Shape;240;p3"/>
            <p:cNvSpPr/>
            <p:nvPr/>
          </p:nvSpPr>
          <p:spPr>
            <a:xfrm>
              <a:off x="1095" y="2645"/>
              <a:ext cx="271" cy="175"/>
            </a:xfrm>
            <a:custGeom>
              <a:rect b="b" l="l" r="r" t="t"/>
              <a:pathLst>
                <a:path extrusionOk="0" h="24" w="38">
                  <a:moveTo>
                    <a:pt x="0" y="0"/>
                  </a:moveTo>
                  <a:lnTo>
                    <a:pt x="26" y="0"/>
                  </a:lnTo>
                  <a:lnTo>
                    <a:pt x="38" y="12"/>
                  </a:lnTo>
                  <a:lnTo>
                    <a:pt x="26" y="24"/>
                  </a:lnTo>
                  <a:lnTo>
                    <a:pt x="0" y="24"/>
                  </a:lnTo>
                  <a:lnTo>
                    <a:pt x="0" y="0"/>
                  </a:lnTo>
                </a:path>
              </a:pathLst>
            </a:custGeom>
            <a:solidFill>
              <a:srgbClr val="FDFFC7"/>
            </a:solidFill>
            <a:ln cap="flat" cmpd="sng" w="9525">
              <a:solidFill>
                <a:srgbClr val="25221E"/>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1" name="Google Shape;241;p3"/>
            <p:cNvSpPr/>
            <p:nvPr/>
          </p:nvSpPr>
          <p:spPr>
            <a:xfrm>
              <a:off x="1677" y="2543"/>
              <a:ext cx="135" cy="132"/>
            </a:xfrm>
            <a:prstGeom prst="ellipse">
              <a:avLst/>
            </a:prstGeom>
            <a:solidFill>
              <a:srgbClr val="A9A8A7"/>
            </a:solidFill>
            <a:ln cap="flat" cmpd="sng" w="9525">
              <a:solidFill>
                <a:srgbClr val="C2C1C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2" name="Google Shape;242;p3"/>
            <p:cNvSpPr/>
            <p:nvPr/>
          </p:nvSpPr>
          <p:spPr>
            <a:xfrm>
              <a:off x="1591" y="2711"/>
              <a:ext cx="257" cy="206"/>
            </a:xfrm>
            <a:custGeom>
              <a:rect b="b" l="l" r="r" t="t"/>
              <a:pathLst>
                <a:path extrusionOk="0" h="28" w="36">
                  <a:moveTo>
                    <a:pt x="9" y="0"/>
                  </a:moveTo>
                  <a:lnTo>
                    <a:pt x="36" y="0"/>
                  </a:lnTo>
                  <a:lnTo>
                    <a:pt x="27" y="28"/>
                  </a:lnTo>
                  <a:lnTo>
                    <a:pt x="0" y="28"/>
                  </a:lnTo>
                  <a:lnTo>
                    <a:pt x="9" y="0"/>
                  </a:lnTo>
                </a:path>
              </a:pathLst>
            </a:custGeom>
            <a:solidFill>
              <a:srgbClr val="A9A8A7"/>
            </a:solidFill>
            <a:ln cap="flat" cmpd="sng" w="9525">
              <a:solidFill>
                <a:srgbClr val="C2C1C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3" name="Google Shape;243;p3"/>
            <p:cNvSpPr/>
            <p:nvPr/>
          </p:nvSpPr>
          <p:spPr>
            <a:xfrm>
              <a:off x="1676" y="2528"/>
              <a:ext cx="136" cy="132"/>
            </a:xfrm>
            <a:prstGeom prst="ellipse">
              <a:avLst/>
            </a:prstGeom>
            <a:solidFill>
              <a:srgbClr val="FBC88D"/>
            </a:solidFill>
            <a:ln cap="flat" cmpd="sng" w="9525">
              <a:solidFill>
                <a:srgbClr val="25221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4" name="Google Shape;244;p3"/>
            <p:cNvSpPr/>
            <p:nvPr/>
          </p:nvSpPr>
          <p:spPr>
            <a:xfrm>
              <a:off x="1591" y="2689"/>
              <a:ext cx="257" cy="206"/>
            </a:xfrm>
            <a:custGeom>
              <a:rect b="b" l="l" r="r" t="t"/>
              <a:pathLst>
                <a:path extrusionOk="0" h="28" w="36">
                  <a:moveTo>
                    <a:pt x="9" y="0"/>
                  </a:moveTo>
                  <a:lnTo>
                    <a:pt x="36" y="0"/>
                  </a:lnTo>
                  <a:lnTo>
                    <a:pt x="27" y="28"/>
                  </a:lnTo>
                  <a:lnTo>
                    <a:pt x="0" y="28"/>
                  </a:lnTo>
                  <a:lnTo>
                    <a:pt x="9" y="0"/>
                  </a:lnTo>
                </a:path>
              </a:pathLst>
            </a:custGeom>
            <a:solidFill>
              <a:srgbClr val="FBC88D"/>
            </a:solidFill>
            <a:ln cap="flat" cmpd="sng" w="9525">
              <a:solidFill>
                <a:srgbClr val="25221E"/>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5" name="Google Shape;245;p3"/>
            <p:cNvSpPr/>
            <p:nvPr/>
          </p:nvSpPr>
          <p:spPr>
            <a:xfrm>
              <a:off x="1128" y="2610"/>
              <a:ext cx="171" cy="203"/>
            </a:xfrm>
            <a:prstGeom prst="star5">
              <a:avLst>
                <a:gd fmla="val 19098" name="adj"/>
                <a:gd fmla="val 105146" name="hf"/>
                <a:gd fmla="val 110557" name="vf"/>
              </a:avLst>
            </a:prstGeom>
            <a:solidFill>
              <a:srgbClr val="FF00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6" name="Google Shape;246;p3"/>
            <p:cNvSpPr/>
            <p:nvPr/>
          </p:nvSpPr>
          <p:spPr>
            <a:xfrm>
              <a:off x="1586" y="2960"/>
              <a:ext cx="319" cy="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25221E"/>
                  </a:solidFill>
                  <a:latin typeface="Constantia"/>
                  <a:ea typeface="Constantia"/>
                  <a:cs typeface="Constantia"/>
                  <a:sym typeface="Constantia"/>
                </a:rPr>
                <a:t>Designer</a:t>
              </a:r>
              <a:endParaRPr sz="1800">
                <a:solidFill>
                  <a:schemeClr val="dk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
          <p:cNvSpPr txBox="1"/>
          <p:nvPr>
            <p:ph type="title"/>
          </p:nvPr>
        </p:nvSpPr>
        <p:spPr>
          <a:xfrm>
            <a:off x="457200" y="-51593"/>
            <a:ext cx="83058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Tổng quan về thiết kế ca sử dụng</a:t>
            </a:r>
            <a:endParaRPr sz="4500"/>
          </a:p>
        </p:txBody>
      </p:sp>
      <p:sp>
        <p:nvSpPr>
          <p:cNvPr id="255" name="Google Shape;255;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256" name="Google Shape;256;p4"/>
          <p:cNvGrpSpPr/>
          <p:nvPr/>
        </p:nvGrpSpPr>
        <p:grpSpPr>
          <a:xfrm>
            <a:off x="304800" y="1785938"/>
            <a:ext cx="1720850" cy="1860550"/>
            <a:chOff x="3971" y="1776"/>
            <a:chExt cx="1084" cy="1172"/>
          </a:xfrm>
        </p:grpSpPr>
        <p:grpSp>
          <p:nvGrpSpPr>
            <p:cNvPr id="257" name="Google Shape;257;p4"/>
            <p:cNvGrpSpPr/>
            <p:nvPr/>
          </p:nvGrpSpPr>
          <p:grpSpPr>
            <a:xfrm>
              <a:off x="4297" y="1776"/>
              <a:ext cx="432" cy="720"/>
              <a:chOff x="1249" y="2496"/>
              <a:chExt cx="432" cy="720"/>
            </a:xfrm>
          </p:grpSpPr>
          <p:sp>
            <p:nvSpPr>
              <p:cNvPr id="258" name="Google Shape;258;p4"/>
              <p:cNvSpPr/>
              <p:nvPr/>
            </p:nvSpPr>
            <p:spPr>
              <a:xfrm>
                <a:off x="1249" y="2496"/>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59" name="Google Shape;259;p4"/>
              <p:cNvCxnSpPr/>
              <p:nvPr/>
            </p:nvCxnSpPr>
            <p:spPr>
              <a:xfrm>
                <a:off x="1537" y="2496"/>
                <a:ext cx="144" cy="144"/>
              </a:xfrm>
              <a:prstGeom prst="straightConnector1">
                <a:avLst/>
              </a:prstGeom>
              <a:noFill/>
              <a:ln cap="flat" cmpd="sng" w="28575">
                <a:solidFill>
                  <a:schemeClr val="dk1"/>
                </a:solidFill>
                <a:prstDash val="solid"/>
                <a:round/>
                <a:headEnd len="sm" w="sm" type="none"/>
                <a:tailEnd len="sm" w="sm" type="none"/>
              </a:ln>
            </p:spPr>
          </p:cxnSp>
          <p:cxnSp>
            <p:nvCxnSpPr>
              <p:cNvPr id="260" name="Google Shape;260;p4"/>
              <p:cNvCxnSpPr/>
              <p:nvPr/>
            </p:nvCxnSpPr>
            <p:spPr>
              <a:xfrm>
                <a:off x="1537" y="2496"/>
                <a:ext cx="0" cy="144"/>
              </a:xfrm>
              <a:prstGeom prst="straightConnector1">
                <a:avLst/>
              </a:prstGeom>
              <a:noFill/>
              <a:ln cap="flat" cmpd="sng" w="28575">
                <a:solidFill>
                  <a:schemeClr val="dk1"/>
                </a:solidFill>
                <a:prstDash val="solid"/>
                <a:round/>
                <a:headEnd len="sm" w="sm" type="none"/>
                <a:tailEnd len="sm" w="sm" type="none"/>
              </a:ln>
            </p:spPr>
          </p:cxnSp>
          <p:cxnSp>
            <p:nvCxnSpPr>
              <p:cNvPr id="261" name="Google Shape;261;p4"/>
              <p:cNvCxnSpPr/>
              <p:nvPr/>
            </p:nvCxnSpPr>
            <p:spPr>
              <a:xfrm rot="10800000">
                <a:off x="1537" y="2640"/>
                <a:ext cx="144" cy="0"/>
              </a:xfrm>
              <a:prstGeom prst="straightConnector1">
                <a:avLst/>
              </a:prstGeom>
              <a:noFill/>
              <a:ln cap="flat" cmpd="sng" w="28575">
                <a:solidFill>
                  <a:schemeClr val="dk1"/>
                </a:solidFill>
                <a:prstDash val="solid"/>
                <a:round/>
                <a:headEnd len="sm" w="sm" type="none"/>
                <a:tailEnd len="sm" w="sm" type="none"/>
              </a:ln>
            </p:spPr>
          </p:cxnSp>
          <p:cxnSp>
            <p:nvCxnSpPr>
              <p:cNvPr id="262" name="Google Shape;262;p4"/>
              <p:cNvCxnSpPr/>
              <p:nvPr/>
            </p:nvCxnSpPr>
            <p:spPr>
              <a:xfrm>
                <a:off x="1297" y="2736"/>
                <a:ext cx="336" cy="0"/>
              </a:xfrm>
              <a:prstGeom prst="straightConnector1">
                <a:avLst/>
              </a:prstGeom>
              <a:noFill/>
              <a:ln cap="flat" cmpd="sng" w="28575">
                <a:solidFill>
                  <a:schemeClr val="dk1"/>
                </a:solidFill>
                <a:prstDash val="solid"/>
                <a:round/>
                <a:headEnd len="sm" w="sm" type="none"/>
                <a:tailEnd len="sm" w="sm" type="none"/>
              </a:ln>
            </p:spPr>
          </p:cxnSp>
          <p:cxnSp>
            <p:nvCxnSpPr>
              <p:cNvPr id="263" name="Google Shape;263;p4"/>
              <p:cNvCxnSpPr/>
              <p:nvPr/>
            </p:nvCxnSpPr>
            <p:spPr>
              <a:xfrm>
                <a:off x="1297" y="2784"/>
                <a:ext cx="336" cy="0"/>
              </a:xfrm>
              <a:prstGeom prst="straightConnector1">
                <a:avLst/>
              </a:prstGeom>
              <a:noFill/>
              <a:ln cap="flat" cmpd="sng" w="28575">
                <a:solidFill>
                  <a:schemeClr val="dk1"/>
                </a:solidFill>
                <a:prstDash val="solid"/>
                <a:round/>
                <a:headEnd len="sm" w="sm" type="none"/>
                <a:tailEnd len="sm" w="sm" type="none"/>
              </a:ln>
            </p:spPr>
          </p:cxnSp>
          <p:cxnSp>
            <p:nvCxnSpPr>
              <p:cNvPr id="264" name="Google Shape;264;p4"/>
              <p:cNvCxnSpPr/>
              <p:nvPr/>
            </p:nvCxnSpPr>
            <p:spPr>
              <a:xfrm>
                <a:off x="1297" y="2832"/>
                <a:ext cx="336" cy="0"/>
              </a:xfrm>
              <a:prstGeom prst="straightConnector1">
                <a:avLst/>
              </a:prstGeom>
              <a:noFill/>
              <a:ln cap="flat" cmpd="sng" w="28575">
                <a:solidFill>
                  <a:schemeClr val="dk1"/>
                </a:solidFill>
                <a:prstDash val="solid"/>
                <a:round/>
                <a:headEnd len="sm" w="sm" type="none"/>
                <a:tailEnd len="sm" w="sm" type="none"/>
              </a:ln>
            </p:spPr>
          </p:cxnSp>
          <p:cxnSp>
            <p:nvCxnSpPr>
              <p:cNvPr id="265" name="Google Shape;265;p4"/>
              <p:cNvCxnSpPr/>
              <p:nvPr/>
            </p:nvCxnSpPr>
            <p:spPr>
              <a:xfrm>
                <a:off x="1297" y="2928"/>
                <a:ext cx="336" cy="0"/>
              </a:xfrm>
              <a:prstGeom prst="straightConnector1">
                <a:avLst/>
              </a:prstGeom>
              <a:noFill/>
              <a:ln cap="flat" cmpd="sng" w="28575">
                <a:solidFill>
                  <a:schemeClr val="dk1"/>
                </a:solidFill>
                <a:prstDash val="solid"/>
                <a:round/>
                <a:headEnd len="sm" w="sm" type="none"/>
                <a:tailEnd len="sm" w="sm" type="none"/>
              </a:ln>
            </p:spPr>
          </p:cxnSp>
          <p:cxnSp>
            <p:nvCxnSpPr>
              <p:cNvPr id="266" name="Google Shape;266;p4"/>
              <p:cNvCxnSpPr/>
              <p:nvPr/>
            </p:nvCxnSpPr>
            <p:spPr>
              <a:xfrm>
                <a:off x="1297" y="2880"/>
                <a:ext cx="336" cy="0"/>
              </a:xfrm>
              <a:prstGeom prst="straightConnector1">
                <a:avLst/>
              </a:prstGeom>
              <a:noFill/>
              <a:ln cap="flat" cmpd="sng" w="28575">
                <a:solidFill>
                  <a:schemeClr val="dk1"/>
                </a:solidFill>
                <a:prstDash val="solid"/>
                <a:round/>
                <a:headEnd len="sm" w="sm" type="none"/>
                <a:tailEnd len="sm" w="sm" type="none"/>
              </a:ln>
            </p:spPr>
          </p:cxnSp>
          <p:cxnSp>
            <p:nvCxnSpPr>
              <p:cNvPr id="267" name="Google Shape;267;p4"/>
              <p:cNvCxnSpPr/>
              <p:nvPr/>
            </p:nvCxnSpPr>
            <p:spPr>
              <a:xfrm>
                <a:off x="1297" y="2976"/>
                <a:ext cx="336" cy="0"/>
              </a:xfrm>
              <a:prstGeom prst="straightConnector1">
                <a:avLst/>
              </a:prstGeom>
              <a:noFill/>
              <a:ln cap="flat" cmpd="sng" w="28575">
                <a:solidFill>
                  <a:schemeClr val="dk1"/>
                </a:solidFill>
                <a:prstDash val="solid"/>
                <a:round/>
                <a:headEnd len="sm" w="sm" type="none"/>
                <a:tailEnd len="sm" w="sm" type="none"/>
              </a:ln>
            </p:spPr>
          </p:cxnSp>
          <p:cxnSp>
            <p:nvCxnSpPr>
              <p:cNvPr id="268" name="Google Shape;268;p4"/>
              <p:cNvCxnSpPr/>
              <p:nvPr/>
            </p:nvCxnSpPr>
            <p:spPr>
              <a:xfrm>
                <a:off x="1297" y="3024"/>
                <a:ext cx="336" cy="0"/>
              </a:xfrm>
              <a:prstGeom prst="straightConnector1">
                <a:avLst/>
              </a:prstGeom>
              <a:noFill/>
              <a:ln cap="flat" cmpd="sng" w="28575">
                <a:solidFill>
                  <a:schemeClr val="dk1"/>
                </a:solidFill>
                <a:prstDash val="solid"/>
                <a:round/>
                <a:headEnd len="sm" w="sm" type="none"/>
                <a:tailEnd len="sm" w="sm" type="none"/>
              </a:ln>
            </p:spPr>
          </p:cxnSp>
          <p:cxnSp>
            <p:nvCxnSpPr>
              <p:cNvPr id="269" name="Google Shape;269;p4"/>
              <p:cNvCxnSpPr/>
              <p:nvPr/>
            </p:nvCxnSpPr>
            <p:spPr>
              <a:xfrm>
                <a:off x="1297" y="3072"/>
                <a:ext cx="336" cy="0"/>
              </a:xfrm>
              <a:prstGeom prst="straightConnector1">
                <a:avLst/>
              </a:prstGeom>
              <a:noFill/>
              <a:ln cap="flat" cmpd="sng" w="28575">
                <a:solidFill>
                  <a:schemeClr val="dk1"/>
                </a:solidFill>
                <a:prstDash val="solid"/>
                <a:round/>
                <a:headEnd len="sm" w="sm" type="none"/>
                <a:tailEnd len="sm" w="sm" type="none"/>
              </a:ln>
            </p:spPr>
          </p:cxnSp>
          <p:cxnSp>
            <p:nvCxnSpPr>
              <p:cNvPr id="270" name="Google Shape;270;p4"/>
              <p:cNvCxnSpPr/>
              <p:nvPr/>
            </p:nvCxnSpPr>
            <p:spPr>
              <a:xfrm>
                <a:off x="1297" y="3120"/>
                <a:ext cx="336" cy="0"/>
              </a:xfrm>
              <a:prstGeom prst="straightConnector1">
                <a:avLst/>
              </a:prstGeom>
              <a:noFill/>
              <a:ln cap="flat" cmpd="sng" w="28575">
                <a:solidFill>
                  <a:schemeClr val="dk1"/>
                </a:solidFill>
                <a:prstDash val="solid"/>
                <a:round/>
                <a:headEnd len="sm" w="sm" type="none"/>
                <a:tailEnd len="sm" w="sm" type="none"/>
              </a:ln>
            </p:spPr>
          </p:cxnSp>
          <p:cxnSp>
            <p:nvCxnSpPr>
              <p:cNvPr id="271" name="Google Shape;271;p4"/>
              <p:cNvCxnSpPr/>
              <p:nvPr/>
            </p:nvCxnSpPr>
            <p:spPr>
              <a:xfrm>
                <a:off x="1297" y="3168"/>
                <a:ext cx="336" cy="0"/>
              </a:xfrm>
              <a:prstGeom prst="straightConnector1">
                <a:avLst/>
              </a:prstGeom>
              <a:noFill/>
              <a:ln cap="flat" cmpd="sng" w="28575">
                <a:solidFill>
                  <a:schemeClr val="dk1"/>
                </a:solidFill>
                <a:prstDash val="solid"/>
                <a:round/>
                <a:headEnd len="sm" w="sm" type="none"/>
                <a:tailEnd len="sm" w="sm" type="none"/>
              </a:ln>
            </p:spPr>
          </p:cxnSp>
          <p:cxnSp>
            <p:nvCxnSpPr>
              <p:cNvPr id="272" name="Google Shape;272;p4"/>
              <p:cNvCxnSpPr/>
              <p:nvPr/>
            </p:nvCxnSpPr>
            <p:spPr>
              <a:xfrm>
                <a:off x="1297" y="2688"/>
                <a:ext cx="336" cy="0"/>
              </a:xfrm>
              <a:prstGeom prst="straightConnector1">
                <a:avLst/>
              </a:prstGeom>
              <a:noFill/>
              <a:ln cap="flat" cmpd="sng" w="28575">
                <a:solidFill>
                  <a:schemeClr val="dk1"/>
                </a:solidFill>
                <a:prstDash val="solid"/>
                <a:round/>
                <a:headEnd len="sm" w="sm" type="none"/>
                <a:tailEnd len="sm" w="sm" type="none"/>
              </a:ln>
            </p:spPr>
          </p:cxnSp>
          <p:cxnSp>
            <p:nvCxnSpPr>
              <p:cNvPr id="273" name="Google Shape;273;p4"/>
              <p:cNvCxnSpPr/>
              <p:nvPr/>
            </p:nvCxnSpPr>
            <p:spPr>
              <a:xfrm>
                <a:off x="1297" y="2592"/>
                <a:ext cx="209" cy="0"/>
              </a:xfrm>
              <a:prstGeom prst="straightConnector1">
                <a:avLst/>
              </a:prstGeom>
              <a:noFill/>
              <a:ln cap="flat" cmpd="sng" w="28575">
                <a:solidFill>
                  <a:schemeClr val="dk1"/>
                </a:solidFill>
                <a:prstDash val="solid"/>
                <a:round/>
                <a:headEnd len="sm" w="sm" type="none"/>
                <a:tailEnd len="sm" w="sm" type="none"/>
              </a:ln>
            </p:spPr>
          </p:cxnSp>
          <p:cxnSp>
            <p:nvCxnSpPr>
              <p:cNvPr id="274" name="Google Shape;274;p4"/>
              <p:cNvCxnSpPr/>
              <p:nvPr/>
            </p:nvCxnSpPr>
            <p:spPr>
              <a:xfrm>
                <a:off x="1297" y="2544"/>
                <a:ext cx="209" cy="0"/>
              </a:xfrm>
              <a:prstGeom prst="straightConnector1">
                <a:avLst/>
              </a:prstGeom>
              <a:noFill/>
              <a:ln cap="flat" cmpd="sng" w="28575">
                <a:solidFill>
                  <a:schemeClr val="dk1"/>
                </a:solidFill>
                <a:prstDash val="solid"/>
                <a:round/>
                <a:headEnd len="sm" w="sm" type="none"/>
                <a:tailEnd len="sm" w="sm" type="none"/>
              </a:ln>
            </p:spPr>
          </p:cxnSp>
          <p:cxnSp>
            <p:nvCxnSpPr>
              <p:cNvPr id="275" name="Google Shape;275;p4"/>
              <p:cNvCxnSpPr/>
              <p:nvPr/>
            </p:nvCxnSpPr>
            <p:spPr>
              <a:xfrm>
                <a:off x="1297" y="2640"/>
                <a:ext cx="209" cy="0"/>
              </a:xfrm>
              <a:prstGeom prst="straightConnector1">
                <a:avLst/>
              </a:prstGeom>
              <a:noFill/>
              <a:ln cap="flat" cmpd="sng" w="28575">
                <a:solidFill>
                  <a:schemeClr val="dk1"/>
                </a:solidFill>
                <a:prstDash val="solid"/>
                <a:round/>
                <a:headEnd len="sm" w="sm" type="none"/>
                <a:tailEnd len="sm" w="sm" type="none"/>
              </a:ln>
            </p:spPr>
          </p:cxnSp>
        </p:grpSp>
        <p:sp>
          <p:nvSpPr>
            <p:cNvPr id="276" name="Google Shape;276;p4"/>
            <p:cNvSpPr txBox="1"/>
            <p:nvPr/>
          </p:nvSpPr>
          <p:spPr>
            <a:xfrm>
              <a:off x="3971" y="2544"/>
              <a:ext cx="1084" cy="4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Supplementary</a:t>
              </a:r>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Specifications</a:t>
              </a:r>
              <a:endParaRPr/>
            </a:p>
          </p:txBody>
        </p:sp>
      </p:grpSp>
      <p:sp>
        <p:nvSpPr>
          <p:cNvPr id="277" name="Google Shape;277;p4"/>
          <p:cNvSpPr/>
          <p:nvPr/>
        </p:nvSpPr>
        <p:spPr>
          <a:xfrm>
            <a:off x="4289425" y="3000375"/>
            <a:ext cx="1751013" cy="966788"/>
          </a:xfrm>
          <a:prstGeom prst="homePlate">
            <a:avLst>
              <a:gd fmla="val 54955" name="adj"/>
            </a:avLst>
          </a:prstGeom>
          <a:solidFill>
            <a:srgbClr val="00CCFF"/>
          </a:solid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78" name="Google Shape;278;p4"/>
          <p:cNvSpPr/>
          <p:nvPr/>
        </p:nvSpPr>
        <p:spPr>
          <a:xfrm>
            <a:off x="4151313" y="3138488"/>
            <a:ext cx="1751012" cy="966787"/>
          </a:xfrm>
          <a:prstGeom prst="homePlate">
            <a:avLst>
              <a:gd fmla="val 54955" name="adj"/>
            </a:avLst>
          </a:prstGeom>
          <a:solidFill>
            <a:srgbClr val="00CCFF"/>
          </a:solid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79" name="Google Shape;279;p4"/>
          <p:cNvSpPr/>
          <p:nvPr/>
        </p:nvSpPr>
        <p:spPr>
          <a:xfrm>
            <a:off x="4038600" y="3276600"/>
            <a:ext cx="1752600" cy="966788"/>
          </a:xfrm>
          <a:prstGeom prst="homePlate">
            <a:avLst>
              <a:gd fmla="val 55005" name="adj"/>
            </a:avLst>
          </a:prstGeom>
          <a:solidFill>
            <a:srgbClr val="00CCFF"/>
          </a:solid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2"/>
                </a:solidFill>
                <a:latin typeface="Constantia"/>
                <a:ea typeface="Constantia"/>
                <a:cs typeface="Constantia"/>
                <a:sym typeface="Constantia"/>
              </a:rPr>
              <a:t>Use-Case</a:t>
            </a:r>
            <a:endParaRPr/>
          </a:p>
          <a:p>
            <a:pPr indent="0" lvl="0" marL="0" marR="0" rtl="0" algn="ctr">
              <a:spcBef>
                <a:spcPts val="0"/>
              </a:spcBef>
              <a:spcAft>
                <a:spcPts val="0"/>
              </a:spcAft>
              <a:buNone/>
            </a:pPr>
            <a:r>
              <a:rPr b="1" lang="en-US" sz="2000">
                <a:solidFill>
                  <a:schemeClr val="lt2"/>
                </a:solidFill>
                <a:latin typeface="Constantia"/>
                <a:ea typeface="Constantia"/>
                <a:cs typeface="Constantia"/>
                <a:sym typeface="Constantia"/>
              </a:rPr>
              <a:t>Design</a:t>
            </a:r>
            <a:endParaRPr sz="1800">
              <a:solidFill>
                <a:schemeClr val="lt2"/>
              </a:solidFill>
              <a:latin typeface="Constantia"/>
              <a:ea typeface="Constantia"/>
              <a:cs typeface="Constantia"/>
              <a:sym typeface="Constantia"/>
            </a:endParaRPr>
          </a:p>
        </p:txBody>
      </p:sp>
      <p:grpSp>
        <p:nvGrpSpPr>
          <p:cNvPr id="280" name="Google Shape;280;p4"/>
          <p:cNvGrpSpPr/>
          <p:nvPr/>
        </p:nvGrpSpPr>
        <p:grpSpPr>
          <a:xfrm>
            <a:off x="6429375" y="3221038"/>
            <a:ext cx="2393950" cy="1131887"/>
            <a:chOff x="3484" y="3648"/>
            <a:chExt cx="1508" cy="713"/>
          </a:xfrm>
        </p:grpSpPr>
        <p:sp>
          <p:nvSpPr>
            <p:cNvPr id="281" name="Google Shape;281;p4"/>
            <p:cNvSpPr/>
            <p:nvPr/>
          </p:nvSpPr>
          <p:spPr>
            <a:xfrm>
              <a:off x="3925" y="3648"/>
              <a:ext cx="624" cy="288"/>
            </a:xfrm>
            <a:prstGeom prst="ellipse">
              <a:avLst/>
            </a:prstGeom>
            <a:noFill/>
            <a:ln cap="flat" cmpd="sng" w="2857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2" name="Google Shape;282;p4"/>
            <p:cNvSpPr txBox="1"/>
            <p:nvPr/>
          </p:nvSpPr>
          <p:spPr>
            <a:xfrm>
              <a:off x="3484" y="3957"/>
              <a:ext cx="1508" cy="4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Use-Case Realization</a:t>
              </a:r>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(Refined)</a:t>
              </a:r>
              <a:endParaRPr/>
            </a:p>
          </p:txBody>
        </p:sp>
      </p:grpSp>
      <p:cxnSp>
        <p:nvCxnSpPr>
          <p:cNvPr id="283" name="Google Shape;283;p4"/>
          <p:cNvCxnSpPr/>
          <p:nvPr/>
        </p:nvCxnSpPr>
        <p:spPr>
          <a:xfrm flipH="1" rot="10800000">
            <a:off x="6115050" y="3452813"/>
            <a:ext cx="752475" cy="14287"/>
          </a:xfrm>
          <a:prstGeom prst="straightConnector1">
            <a:avLst/>
          </a:prstGeom>
          <a:noFill/>
          <a:ln cap="flat" cmpd="sng" w="28575">
            <a:solidFill>
              <a:srgbClr val="FF0000"/>
            </a:solidFill>
            <a:prstDash val="solid"/>
            <a:round/>
            <a:headEnd len="med" w="med" type="triangle"/>
            <a:tailEnd len="med" w="med" type="triangle"/>
          </a:ln>
        </p:spPr>
      </p:cxnSp>
      <p:grpSp>
        <p:nvGrpSpPr>
          <p:cNvPr id="284" name="Google Shape;284;p4"/>
          <p:cNvGrpSpPr/>
          <p:nvPr/>
        </p:nvGrpSpPr>
        <p:grpSpPr>
          <a:xfrm>
            <a:off x="2260600" y="1295400"/>
            <a:ext cx="2286000" cy="911225"/>
            <a:chOff x="144" y="1872"/>
            <a:chExt cx="1440" cy="574"/>
          </a:xfrm>
        </p:grpSpPr>
        <p:grpSp>
          <p:nvGrpSpPr>
            <p:cNvPr id="285" name="Google Shape;285;p4"/>
            <p:cNvGrpSpPr/>
            <p:nvPr/>
          </p:nvGrpSpPr>
          <p:grpSpPr>
            <a:xfrm>
              <a:off x="625" y="1872"/>
              <a:ext cx="959" cy="574"/>
              <a:chOff x="3315" y="2345"/>
              <a:chExt cx="678" cy="452"/>
            </a:xfrm>
          </p:grpSpPr>
          <p:sp>
            <p:nvSpPr>
              <p:cNvPr id="286" name="Google Shape;286;p4"/>
              <p:cNvSpPr/>
              <p:nvPr/>
            </p:nvSpPr>
            <p:spPr>
              <a:xfrm>
                <a:off x="3315" y="2465"/>
                <a:ext cx="678" cy="332"/>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7" name="Google Shape;287;p4"/>
              <p:cNvSpPr/>
              <p:nvPr/>
            </p:nvSpPr>
            <p:spPr>
              <a:xfrm>
                <a:off x="3315" y="2345"/>
                <a:ext cx="237" cy="1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88" name="Google Shape;288;p4"/>
            <p:cNvSpPr/>
            <p:nvPr/>
          </p:nvSpPr>
          <p:spPr>
            <a:xfrm>
              <a:off x="144" y="2186"/>
              <a:ext cx="131" cy="11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89" name="Google Shape;289;p4"/>
            <p:cNvCxnSpPr/>
            <p:nvPr/>
          </p:nvCxnSpPr>
          <p:spPr>
            <a:xfrm>
              <a:off x="275" y="2245"/>
              <a:ext cx="350" cy="0"/>
            </a:xfrm>
            <a:prstGeom prst="straightConnector1">
              <a:avLst/>
            </a:prstGeom>
            <a:noFill/>
            <a:ln cap="flat" cmpd="sng" w="28575">
              <a:solidFill>
                <a:schemeClr val="dk1"/>
              </a:solidFill>
              <a:prstDash val="solid"/>
              <a:round/>
              <a:headEnd len="sm" w="sm" type="none"/>
              <a:tailEnd len="sm" w="sm" type="none"/>
            </a:ln>
          </p:spPr>
        </p:cxnSp>
        <p:sp>
          <p:nvSpPr>
            <p:cNvPr id="290" name="Google Shape;290;p4"/>
            <p:cNvSpPr/>
            <p:nvPr/>
          </p:nvSpPr>
          <p:spPr>
            <a:xfrm>
              <a:off x="144" y="2049"/>
              <a:ext cx="131" cy="117"/>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91" name="Google Shape;291;p4"/>
            <p:cNvCxnSpPr/>
            <p:nvPr/>
          </p:nvCxnSpPr>
          <p:spPr>
            <a:xfrm>
              <a:off x="275" y="2107"/>
              <a:ext cx="350" cy="0"/>
            </a:xfrm>
            <a:prstGeom prst="straightConnector1">
              <a:avLst/>
            </a:prstGeom>
            <a:noFill/>
            <a:ln cap="flat" cmpd="sng" w="28575">
              <a:solidFill>
                <a:schemeClr val="dk1"/>
              </a:solidFill>
              <a:prstDash val="solid"/>
              <a:round/>
              <a:headEnd len="sm" w="sm" type="none"/>
              <a:tailEnd len="sm" w="sm" type="none"/>
            </a:ln>
          </p:spPr>
        </p:cxnSp>
        <p:sp>
          <p:nvSpPr>
            <p:cNvPr id="292" name="Google Shape;292;p4"/>
            <p:cNvSpPr/>
            <p:nvPr/>
          </p:nvSpPr>
          <p:spPr>
            <a:xfrm>
              <a:off x="144" y="2323"/>
              <a:ext cx="131" cy="11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93" name="Google Shape;293;p4"/>
            <p:cNvCxnSpPr/>
            <p:nvPr/>
          </p:nvCxnSpPr>
          <p:spPr>
            <a:xfrm>
              <a:off x="275" y="2382"/>
              <a:ext cx="350" cy="0"/>
            </a:xfrm>
            <a:prstGeom prst="straightConnector1">
              <a:avLst/>
            </a:prstGeom>
            <a:noFill/>
            <a:ln cap="flat" cmpd="sng" w="28575">
              <a:solidFill>
                <a:schemeClr val="dk1"/>
              </a:solidFill>
              <a:prstDash val="solid"/>
              <a:round/>
              <a:headEnd len="sm" w="sm" type="none"/>
              <a:tailEnd len="sm" w="sm" type="none"/>
            </a:ln>
          </p:spPr>
        </p:cxnSp>
      </p:grpSp>
      <p:sp>
        <p:nvSpPr>
          <p:cNvPr id="294" name="Google Shape;294;p4"/>
          <p:cNvSpPr txBox="1"/>
          <p:nvPr/>
        </p:nvSpPr>
        <p:spPr>
          <a:xfrm>
            <a:off x="1981200" y="2286000"/>
            <a:ext cx="37147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Design Subsystems and Interfaces</a:t>
            </a:r>
            <a:endParaRPr/>
          </a:p>
        </p:txBody>
      </p:sp>
      <p:grpSp>
        <p:nvGrpSpPr>
          <p:cNvPr id="295" name="Google Shape;295;p4"/>
          <p:cNvGrpSpPr/>
          <p:nvPr/>
        </p:nvGrpSpPr>
        <p:grpSpPr>
          <a:xfrm>
            <a:off x="2657475" y="4800600"/>
            <a:ext cx="2998788" cy="1257300"/>
            <a:chOff x="1246" y="3200"/>
            <a:chExt cx="1889" cy="792"/>
          </a:xfrm>
        </p:grpSpPr>
        <p:grpSp>
          <p:nvGrpSpPr>
            <p:cNvPr id="296" name="Google Shape;296;p4"/>
            <p:cNvGrpSpPr/>
            <p:nvPr/>
          </p:nvGrpSpPr>
          <p:grpSpPr>
            <a:xfrm>
              <a:off x="1246" y="3200"/>
              <a:ext cx="881" cy="510"/>
              <a:chOff x="144" y="1440"/>
              <a:chExt cx="881" cy="510"/>
            </a:xfrm>
          </p:grpSpPr>
          <p:grpSp>
            <p:nvGrpSpPr>
              <p:cNvPr id="297" name="Google Shape;297;p4"/>
              <p:cNvGrpSpPr/>
              <p:nvPr/>
            </p:nvGrpSpPr>
            <p:grpSpPr>
              <a:xfrm>
                <a:off x="144" y="1440"/>
                <a:ext cx="881" cy="510"/>
                <a:chOff x="144" y="1440"/>
                <a:chExt cx="881" cy="510"/>
              </a:xfrm>
            </p:grpSpPr>
            <p:sp>
              <p:nvSpPr>
                <p:cNvPr id="298" name="Google Shape;298;p4"/>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99" name="Google Shape;299;p4"/>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00" name="Google Shape;300;p4"/>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sp>
            <p:nvSpPr>
              <p:cNvPr id="301" name="Google Shape;301;p4"/>
              <p:cNvSpPr txBox="1"/>
              <p:nvPr/>
            </p:nvSpPr>
            <p:spPr>
              <a:xfrm>
                <a:off x="588" y="1477"/>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302" name="Google Shape;302;p4"/>
            <p:cNvGrpSpPr/>
            <p:nvPr/>
          </p:nvGrpSpPr>
          <p:grpSpPr>
            <a:xfrm>
              <a:off x="2254" y="3207"/>
              <a:ext cx="881" cy="510"/>
              <a:chOff x="144" y="1440"/>
              <a:chExt cx="881" cy="510"/>
            </a:xfrm>
          </p:grpSpPr>
          <p:sp>
            <p:nvSpPr>
              <p:cNvPr id="303" name="Google Shape;303;p4"/>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04" name="Google Shape;304;p4"/>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05" name="Google Shape;305;p4"/>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sp>
          <p:nvSpPr>
            <p:cNvPr id="306" name="Google Shape;306;p4"/>
            <p:cNvSpPr txBox="1"/>
            <p:nvPr/>
          </p:nvSpPr>
          <p:spPr>
            <a:xfrm>
              <a:off x="1518" y="3761"/>
              <a:ext cx="1344"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Design Classes</a:t>
              </a:r>
              <a:endParaRPr/>
            </a:p>
          </p:txBody>
        </p:sp>
      </p:grpSp>
      <p:cxnSp>
        <p:nvCxnSpPr>
          <p:cNvPr id="307" name="Google Shape;307;p4"/>
          <p:cNvCxnSpPr/>
          <p:nvPr/>
        </p:nvCxnSpPr>
        <p:spPr>
          <a:xfrm flipH="1" rot="10800000">
            <a:off x="2284413" y="4076700"/>
            <a:ext cx="1566862" cy="317500"/>
          </a:xfrm>
          <a:prstGeom prst="straightConnector1">
            <a:avLst/>
          </a:prstGeom>
          <a:noFill/>
          <a:ln cap="flat" cmpd="sng" w="28575">
            <a:solidFill>
              <a:srgbClr val="FF0000"/>
            </a:solidFill>
            <a:prstDash val="solid"/>
            <a:round/>
            <a:headEnd len="sm" w="sm" type="none"/>
            <a:tailEnd len="med" w="med" type="triangle"/>
          </a:ln>
        </p:spPr>
      </p:cxnSp>
      <p:cxnSp>
        <p:nvCxnSpPr>
          <p:cNvPr id="308" name="Google Shape;308;p4"/>
          <p:cNvCxnSpPr/>
          <p:nvPr/>
        </p:nvCxnSpPr>
        <p:spPr>
          <a:xfrm>
            <a:off x="2112963" y="3459163"/>
            <a:ext cx="1687512" cy="6350"/>
          </a:xfrm>
          <a:prstGeom prst="straightConnector1">
            <a:avLst/>
          </a:prstGeom>
          <a:noFill/>
          <a:ln cap="flat" cmpd="sng" w="28575">
            <a:solidFill>
              <a:srgbClr val="FF0000"/>
            </a:solidFill>
            <a:prstDash val="solid"/>
            <a:round/>
            <a:headEnd len="sm" w="sm" type="none"/>
            <a:tailEnd len="med" w="med" type="triangle"/>
          </a:ln>
        </p:spPr>
      </p:cxnSp>
      <p:cxnSp>
        <p:nvCxnSpPr>
          <p:cNvPr id="309" name="Google Shape;309;p4"/>
          <p:cNvCxnSpPr/>
          <p:nvPr/>
        </p:nvCxnSpPr>
        <p:spPr>
          <a:xfrm flipH="1" rot="10800000">
            <a:off x="4219575" y="4344988"/>
            <a:ext cx="457200" cy="303212"/>
          </a:xfrm>
          <a:prstGeom prst="straightConnector1">
            <a:avLst/>
          </a:prstGeom>
          <a:noFill/>
          <a:ln cap="flat" cmpd="sng" w="28575">
            <a:solidFill>
              <a:srgbClr val="FF0000"/>
            </a:solidFill>
            <a:prstDash val="solid"/>
            <a:round/>
            <a:headEnd len="sm" w="sm" type="none"/>
            <a:tailEnd len="med" w="med" type="triangle"/>
          </a:ln>
        </p:spPr>
      </p:cxnSp>
      <p:cxnSp>
        <p:nvCxnSpPr>
          <p:cNvPr id="310" name="Google Shape;310;p4"/>
          <p:cNvCxnSpPr/>
          <p:nvPr/>
        </p:nvCxnSpPr>
        <p:spPr>
          <a:xfrm>
            <a:off x="3724275" y="2692400"/>
            <a:ext cx="457200" cy="190500"/>
          </a:xfrm>
          <a:prstGeom prst="straightConnector1">
            <a:avLst/>
          </a:prstGeom>
          <a:noFill/>
          <a:ln cap="flat" cmpd="sng" w="28575">
            <a:solidFill>
              <a:srgbClr val="FF0000"/>
            </a:solidFill>
            <a:prstDash val="solid"/>
            <a:round/>
            <a:headEnd len="sm" w="sm" type="none"/>
            <a:tailEnd len="med" w="med" type="triangle"/>
          </a:ln>
        </p:spPr>
      </p:cxnSp>
      <p:grpSp>
        <p:nvGrpSpPr>
          <p:cNvPr id="311" name="Google Shape;311;p4"/>
          <p:cNvGrpSpPr/>
          <p:nvPr/>
        </p:nvGrpSpPr>
        <p:grpSpPr>
          <a:xfrm>
            <a:off x="676275" y="3914775"/>
            <a:ext cx="1839913" cy="2043113"/>
            <a:chOff x="528" y="2832"/>
            <a:chExt cx="1159" cy="1287"/>
          </a:xfrm>
        </p:grpSpPr>
        <p:grpSp>
          <p:nvGrpSpPr>
            <p:cNvPr id="312" name="Google Shape;312;p4"/>
            <p:cNvGrpSpPr/>
            <p:nvPr/>
          </p:nvGrpSpPr>
          <p:grpSpPr>
            <a:xfrm>
              <a:off x="576" y="2832"/>
              <a:ext cx="754" cy="1008"/>
              <a:chOff x="365" y="2533"/>
              <a:chExt cx="754" cy="1008"/>
            </a:xfrm>
          </p:grpSpPr>
          <p:sp>
            <p:nvSpPr>
              <p:cNvPr id="313" name="Google Shape;313;p4"/>
              <p:cNvSpPr/>
              <p:nvPr/>
            </p:nvSpPr>
            <p:spPr>
              <a:xfrm>
                <a:off x="365" y="2533"/>
                <a:ext cx="624" cy="28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14" name="Google Shape;314;p4"/>
              <p:cNvSpPr/>
              <p:nvPr/>
            </p:nvSpPr>
            <p:spPr>
              <a:xfrm>
                <a:off x="687" y="2821"/>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15" name="Google Shape;315;p4"/>
              <p:cNvCxnSpPr/>
              <p:nvPr/>
            </p:nvCxnSpPr>
            <p:spPr>
              <a:xfrm>
                <a:off x="975" y="2821"/>
                <a:ext cx="144" cy="144"/>
              </a:xfrm>
              <a:prstGeom prst="straightConnector1">
                <a:avLst/>
              </a:prstGeom>
              <a:noFill/>
              <a:ln cap="flat" cmpd="sng" w="28575">
                <a:solidFill>
                  <a:schemeClr val="dk1"/>
                </a:solidFill>
                <a:prstDash val="solid"/>
                <a:round/>
                <a:headEnd len="sm" w="sm" type="none"/>
                <a:tailEnd len="sm" w="sm" type="none"/>
              </a:ln>
            </p:spPr>
          </p:cxnSp>
          <p:cxnSp>
            <p:nvCxnSpPr>
              <p:cNvPr id="316" name="Google Shape;316;p4"/>
              <p:cNvCxnSpPr/>
              <p:nvPr/>
            </p:nvCxnSpPr>
            <p:spPr>
              <a:xfrm>
                <a:off x="975" y="2821"/>
                <a:ext cx="0" cy="144"/>
              </a:xfrm>
              <a:prstGeom prst="straightConnector1">
                <a:avLst/>
              </a:prstGeom>
              <a:noFill/>
              <a:ln cap="flat" cmpd="sng" w="28575">
                <a:solidFill>
                  <a:schemeClr val="dk1"/>
                </a:solidFill>
                <a:prstDash val="solid"/>
                <a:round/>
                <a:headEnd len="sm" w="sm" type="none"/>
                <a:tailEnd len="sm" w="sm" type="none"/>
              </a:ln>
            </p:spPr>
          </p:cxnSp>
          <p:cxnSp>
            <p:nvCxnSpPr>
              <p:cNvPr id="317" name="Google Shape;317;p4"/>
              <p:cNvCxnSpPr/>
              <p:nvPr/>
            </p:nvCxnSpPr>
            <p:spPr>
              <a:xfrm rot="10800000">
                <a:off x="975" y="2965"/>
                <a:ext cx="144" cy="0"/>
              </a:xfrm>
              <a:prstGeom prst="straightConnector1">
                <a:avLst/>
              </a:prstGeom>
              <a:noFill/>
              <a:ln cap="flat" cmpd="sng" w="28575">
                <a:solidFill>
                  <a:schemeClr val="dk1"/>
                </a:solidFill>
                <a:prstDash val="solid"/>
                <a:round/>
                <a:headEnd len="sm" w="sm" type="none"/>
                <a:tailEnd len="sm" w="sm" type="none"/>
              </a:ln>
            </p:spPr>
          </p:cxnSp>
          <p:cxnSp>
            <p:nvCxnSpPr>
              <p:cNvPr id="318" name="Google Shape;318;p4"/>
              <p:cNvCxnSpPr/>
              <p:nvPr/>
            </p:nvCxnSpPr>
            <p:spPr>
              <a:xfrm>
                <a:off x="735" y="3061"/>
                <a:ext cx="336" cy="0"/>
              </a:xfrm>
              <a:prstGeom prst="straightConnector1">
                <a:avLst/>
              </a:prstGeom>
              <a:noFill/>
              <a:ln cap="flat" cmpd="sng" w="28575">
                <a:solidFill>
                  <a:schemeClr val="dk1"/>
                </a:solidFill>
                <a:prstDash val="solid"/>
                <a:round/>
                <a:headEnd len="sm" w="sm" type="none"/>
                <a:tailEnd len="sm" w="sm" type="none"/>
              </a:ln>
            </p:spPr>
          </p:cxnSp>
          <p:cxnSp>
            <p:nvCxnSpPr>
              <p:cNvPr id="319" name="Google Shape;319;p4"/>
              <p:cNvCxnSpPr/>
              <p:nvPr/>
            </p:nvCxnSpPr>
            <p:spPr>
              <a:xfrm>
                <a:off x="735" y="3109"/>
                <a:ext cx="336" cy="0"/>
              </a:xfrm>
              <a:prstGeom prst="straightConnector1">
                <a:avLst/>
              </a:prstGeom>
              <a:noFill/>
              <a:ln cap="flat" cmpd="sng" w="28575">
                <a:solidFill>
                  <a:schemeClr val="dk1"/>
                </a:solidFill>
                <a:prstDash val="solid"/>
                <a:round/>
                <a:headEnd len="sm" w="sm" type="none"/>
                <a:tailEnd len="sm" w="sm" type="none"/>
              </a:ln>
            </p:spPr>
          </p:cxnSp>
          <p:cxnSp>
            <p:nvCxnSpPr>
              <p:cNvPr id="320" name="Google Shape;320;p4"/>
              <p:cNvCxnSpPr/>
              <p:nvPr/>
            </p:nvCxnSpPr>
            <p:spPr>
              <a:xfrm>
                <a:off x="735" y="3157"/>
                <a:ext cx="336" cy="0"/>
              </a:xfrm>
              <a:prstGeom prst="straightConnector1">
                <a:avLst/>
              </a:prstGeom>
              <a:noFill/>
              <a:ln cap="flat" cmpd="sng" w="28575">
                <a:solidFill>
                  <a:schemeClr val="dk1"/>
                </a:solidFill>
                <a:prstDash val="solid"/>
                <a:round/>
                <a:headEnd len="sm" w="sm" type="none"/>
                <a:tailEnd len="sm" w="sm" type="none"/>
              </a:ln>
            </p:spPr>
          </p:cxnSp>
          <p:cxnSp>
            <p:nvCxnSpPr>
              <p:cNvPr id="321" name="Google Shape;321;p4"/>
              <p:cNvCxnSpPr/>
              <p:nvPr/>
            </p:nvCxnSpPr>
            <p:spPr>
              <a:xfrm>
                <a:off x="735" y="3253"/>
                <a:ext cx="336" cy="0"/>
              </a:xfrm>
              <a:prstGeom prst="straightConnector1">
                <a:avLst/>
              </a:prstGeom>
              <a:noFill/>
              <a:ln cap="flat" cmpd="sng" w="28575">
                <a:solidFill>
                  <a:schemeClr val="dk1"/>
                </a:solidFill>
                <a:prstDash val="solid"/>
                <a:round/>
                <a:headEnd len="sm" w="sm" type="none"/>
                <a:tailEnd len="sm" w="sm" type="none"/>
              </a:ln>
            </p:spPr>
          </p:cxnSp>
          <p:cxnSp>
            <p:nvCxnSpPr>
              <p:cNvPr id="322" name="Google Shape;322;p4"/>
              <p:cNvCxnSpPr/>
              <p:nvPr/>
            </p:nvCxnSpPr>
            <p:spPr>
              <a:xfrm>
                <a:off x="735" y="3205"/>
                <a:ext cx="336" cy="0"/>
              </a:xfrm>
              <a:prstGeom prst="straightConnector1">
                <a:avLst/>
              </a:prstGeom>
              <a:noFill/>
              <a:ln cap="flat" cmpd="sng" w="28575">
                <a:solidFill>
                  <a:schemeClr val="dk1"/>
                </a:solidFill>
                <a:prstDash val="solid"/>
                <a:round/>
                <a:headEnd len="sm" w="sm" type="none"/>
                <a:tailEnd len="sm" w="sm" type="none"/>
              </a:ln>
            </p:spPr>
          </p:cxnSp>
          <p:cxnSp>
            <p:nvCxnSpPr>
              <p:cNvPr id="323" name="Google Shape;323;p4"/>
              <p:cNvCxnSpPr/>
              <p:nvPr/>
            </p:nvCxnSpPr>
            <p:spPr>
              <a:xfrm>
                <a:off x="735" y="3301"/>
                <a:ext cx="336" cy="0"/>
              </a:xfrm>
              <a:prstGeom prst="straightConnector1">
                <a:avLst/>
              </a:prstGeom>
              <a:noFill/>
              <a:ln cap="flat" cmpd="sng" w="28575">
                <a:solidFill>
                  <a:schemeClr val="dk1"/>
                </a:solidFill>
                <a:prstDash val="solid"/>
                <a:round/>
                <a:headEnd len="sm" w="sm" type="none"/>
                <a:tailEnd len="sm" w="sm" type="none"/>
              </a:ln>
            </p:spPr>
          </p:cxnSp>
          <p:cxnSp>
            <p:nvCxnSpPr>
              <p:cNvPr id="324" name="Google Shape;324;p4"/>
              <p:cNvCxnSpPr/>
              <p:nvPr/>
            </p:nvCxnSpPr>
            <p:spPr>
              <a:xfrm>
                <a:off x="735" y="3349"/>
                <a:ext cx="336" cy="0"/>
              </a:xfrm>
              <a:prstGeom prst="straightConnector1">
                <a:avLst/>
              </a:prstGeom>
              <a:noFill/>
              <a:ln cap="flat" cmpd="sng" w="28575">
                <a:solidFill>
                  <a:schemeClr val="dk1"/>
                </a:solidFill>
                <a:prstDash val="solid"/>
                <a:round/>
                <a:headEnd len="sm" w="sm" type="none"/>
                <a:tailEnd len="sm" w="sm" type="none"/>
              </a:ln>
            </p:spPr>
          </p:cxnSp>
          <p:cxnSp>
            <p:nvCxnSpPr>
              <p:cNvPr id="325" name="Google Shape;325;p4"/>
              <p:cNvCxnSpPr/>
              <p:nvPr/>
            </p:nvCxnSpPr>
            <p:spPr>
              <a:xfrm>
                <a:off x="735" y="3397"/>
                <a:ext cx="336" cy="0"/>
              </a:xfrm>
              <a:prstGeom prst="straightConnector1">
                <a:avLst/>
              </a:prstGeom>
              <a:noFill/>
              <a:ln cap="flat" cmpd="sng" w="28575">
                <a:solidFill>
                  <a:schemeClr val="dk1"/>
                </a:solidFill>
                <a:prstDash val="solid"/>
                <a:round/>
                <a:headEnd len="sm" w="sm" type="none"/>
                <a:tailEnd len="sm" w="sm" type="none"/>
              </a:ln>
            </p:spPr>
          </p:cxnSp>
          <p:cxnSp>
            <p:nvCxnSpPr>
              <p:cNvPr id="326" name="Google Shape;326;p4"/>
              <p:cNvCxnSpPr/>
              <p:nvPr/>
            </p:nvCxnSpPr>
            <p:spPr>
              <a:xfrm>
                <a:off x="735" y="3445"/>
                <a:ext cx="336" cy="0"/>
              </a:xfrm>
              <a:prstGeom prst="straightConnector1">
                <a:avLst/>
              </a:prstGeom>
              <a:noFill/>
              <a:ln cap="flat" cmpd="sng" w="28575">
                <a:solidFill>
                  <a:schemeClr val="dk1"/>
                </a:solidFill>
                <a:prstDash val="solid"/>
                <a:round/>
                <a:headEnd len="sm" w="sm" type="none"/>
                <a:tailEnd len="sm" w="sm" type="none"/>
              </a:ln>
            </p:spPr>
          </p:cxnSp>
          <p:cxnSp>
            <p:nvCxnSpPr>
              <p:cNvPr id="327" name="Google Shape;327;p4"/>
              <p:cNvCxnSpPr/>
              <p:nvPr/>
            </p:nvCxnSpPr>
            <p:spPr>
              <a:xfrm>
                <a:off x="735" y="3493"/>
                <a:ext cx="336" cy="0"/>
              </a:xfrm>
              <a:prstGeom prst="straightConnector1">
                <a:avLst/>
              </a:prstGeom>
              <a:noFill/>
              <a:ln cap="flat" cmpd="sng" w="28575">
                <a:solidFill>
                  <a:schemeClr val="dk1"/>
                </a:solidFill>
                <a:prstDash val="solid"/>
                <a:round/>
                <a:headEnd len="sm" w="sm" type="none"/>
                <a:tailEnd len="sm" w="sm" type="none"/>
              </a:ln>
            </p:spPr>
          </p:cxnSp>
          <p:cxnSp>
            <p:nvCxnSpPr>
              <p:cNvPr id="328" name="Google Shape;328;p4"/>
              <p:cNvCxnSpPr/>
              <p:nvPr/>
            </p:nvCxnSpPr>
            <p:spPr>
              <a:xfrm>
                <a:off x="735" y="3013"/>
                <a:ext cx="336" cy="0"/>
              </a:xfrm>
              <a:prstGeom prst="straightConnector1">
                <a:avLst/>
              </a:prstGeom>
              <a:noFill/>
              <a:ln cap="flat" cmpd="sng" w="28575">
                <a:solidFill>
                  <a:schemeClr val="dk1"/>
                </a:solidFill>
                <a:prstDash val="solid"/>
                <a:round/>
                <a:headEnd len="sm" w="sm" type="none"/>
                <a:tailEnd len="sm" w="sm" type="none"/>
              </a:ln>
            </p:spPr>
          </p:cxnSp>
          <p:cxnSp>
            <p:nvCxnSpPr>
              <p:cNvPr id="329" name="Google Shape;329;p4"/>
              <p:cNvCxnSpPr/>
              <p:nvPr/>
            </p:nvCxnSpPr>
            <p:spPr>
              <a:xfrm>
                <a:off x="735" y="2917"/>
                <a:ext cx="209" cy="0"/>
              </a:xfrm>
              <a:prstGeom prst="straightConnector1">
                <a:avLst/>
              </a:prstGeom>
              <a:noFill/>
              <a:ln cap="flat" cmpd="sng" w="28575">
                <a:solidFill>
                  <a:schemeClr val="dk1"/>
                </a:solidFill>
                <a:prstDash val="solid"/>
                <a:round/>
                <a:headEnd len="sm" w="sm" type="none"/>
                <a:tailEnd len="sm" w="sm" type="none"/>
              </a:ln>
            </p:spPr>
          </p:cxnSp>
          <p:cxnSp>
            <p:nvCxnSpPr>
              <p:cNvPr id="330" name="Google Shape;330;p4"/>
              <p:cNvCxnSpPr/>
              <p:nvPr/>
            </p:nvCxnSpPr>
            <p:spPr>
              <a:xfrm>
                <a:off x="735" y="2869"/>
                <a:ext cx="209" cy="0"/>
              </a:xfrm>
              <a:prstGeom prst="straightConnector1">
                <a:avLst/>
              </a:prstGeom>
              <a:noFill/>
              <a:ln cap="flat" cmpd="sng" w="28575">
                <a:solidFill>
                  <a:schemeClr val="dk1"/>
                </a:solidFill>
                <a:prstDash val="solid"/>
                <a:round/>
                <a:headEnd len="sm" w="sm" type="none"/>
                <a:tailEnd len="sm" w="sm" type="none"/>
              </a:ln>
            </p:spPr>
          </p:cxnSp>
          <p:cxnSp>
            <p:nvCxnSpPr>
              <p:cNvPr id="331" name="Google Shape;331;p4"/>
              <p:cNvCxnSpPr/>
              <p:nvPr/>
            </p:nvCxnSpPr>
            <p:spPr>
              <a:xfrm>
                <a:off x="735" y="2965"/>
                <a:ext cx="209" cy="0"/>
              </a:xfrm>
              <a:prstGeom prst="straightConnector1">
                <a:avLst/>
              </a:prstGeom>
              <a:noFill/>
              <a:ln cap="flat" cmpd="sng" w="28575">
                <a:solidFill>
                  <a:schemeClr val="dk1"/>
                </a:solidFill>
                <a:prstDash val="solid"/>
                <a:round/>
                <a:headEnd len="sm" w="sm" type="none"/>
                <a:tailEnd len="sm" w="sm" type="none"/>
              </a:ln>
            </p:spPr>
          </p:cxnSp>
        </p:grpSp>
        <p:sp>
          <p:nvSpPr>
            <p:cNvPr id="332" name="Google Shape;332;p4"/>
            <p:cNvSpPr txBox="1"/>
            <p:nvPr/>
          </p:nvSpPr>
          <p:spPr>
            <a:xfrm>
              <a:off x="528" y="3888"/>
              <a:ext cx="1159"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use-case</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
          <p:cNvSpPr txBox="1"/>
          <p:nvPr>
            <p:ph type="title"/>
          </p:nvPr>
        </p:nvSpPr>
        <p:spPr>
          <a:xfrm>
            <a:off x="228600" y="157162"/>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bước thiết kế ca sử dụng</a:t>
            </a:r>
            <a:endParaRPr/>
          </a:p>
        </p:txBody>
      </p:sp>
      <p:sp>
        <p:nvSpPr>
          <p:cNvPr id="341" name="Google Shape;341;p5"/>
          <p:cNvSpPr txBox="1"/>
          <p:nvPr>
            <p:ph idx="1" type="body"/>
          </p:nvPr>
        </p:nvSpPr>
        <p:spPr>
          <a:xfrm>
            <a:off x="60325" y="1495425"/>
            <a:ext cx="6572250" cy="504348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latin typeface="Calibri"/>
                <a:ea typeface="Calibri"/>
                <a:cs typeface="Calibri"/>
                <a:sym typeface="Calibri"/>
              </a:rPr>
              <a:t>Mô tả sự tương tác giữa các đối tượng thiết kế </a:t>
            </a:r>
            <a:endParaRPr/>
          </a:p>
          <a:p>
            <a:pPr indent="-274320" lvl="0" marL="274320" rtl="0" algn="l">
              <a:spcBef>
                <a:spcPts val="520"/>
              </a:spcBef>
              <a:spcAft>
                <a:spcPts val="0"/>
              </a:spcAft>
              <a:buSzPts val="2470"/>
              <a:buChar char="⚫"/>
            </a:pPr>
            <a:r>
              <a:rPr lang="en-US">
                <a:latin typeface="Calibri"/>
                <a:ea typeface="Calibri"/>
                <a:cs typeface="Calibri"/>
                <a:sym typeface="Calibri"/>
              </a:rPr>
              <a:t>Đơn giản hoá biểu đồ tuần tự sử dụng hệ thống con </a:t>
            </a:r>
            <a:endParaRPr>
              <a:latin typeface="Calibri"/>
              <a:ea typeface="Calibri"/>
              <a:cs typeface="Calibri"/>
              <a:sym typeface="Calibri"/>
            </a:endParaRPr>
          </a:p>
          <a:p>
            <a:pPr indent="-274320" lvl="0" marL="274320" rtl="0" algn="l">
              <a:spcBef>
                <a:spcPts val="520"/>
              </a:spcBef>
              <a:spcAft>
                <a:spcPts val="0"/>
              </a:spcAft>
              <a:buSzPts val="2470"/>
              <a:buChar char="⚫"/>
            </a:pPr>
            <a:r>
              <a:rPr lang="en-US">
                <a:latin typeface="Calibri"/>
                <a:ea typeface="Calibri"/>
                <a:cs typeface="Calibri"/>
                <a:sym typeface="Calibri"/>
              </a:rPr>
              <a:t>Mô tả các hành vi liên quan dữ liệu bền vững</a:t>
            </a:r>
            <a:endParaRPr>
              <a:latin typeface="Calibri"/>
              <a:ea typeface="Calibri"/>
              <a:cs typeface="Calibri"/>
              <a:sym typeface="Calibri"/>
            </a:endParaRPr>
          </a:p>
          <a:p>
            <a:pPr indent="-274320" lvl="0" marL="274320" rtl="0" algn="l">
              <a:spcBef>
                <a:spcPts val="520"/>
              </a:spcBef>
              <a:spcAft>
                <a:spcPts val="0"/>
              </a:spcAft>
              <a:buSzPts val="2470"/>
              <a:buChar char="⚫"/>
            </a:pPr>
            <a:r>
              <a:rPr lang="en-US">
                <a:latin typeface="Calibri"/>
                <a:ea typeface="Calibri"/>
                <a:cs typeface="Calibri"/>
                <a:sym typeface="Calibri"/>
              </a:rPr>
              <a:t>Làm mịn sự mô tả luồng các sự kiện</a:t>
            </a:r>
            <a:endParaRPr>
              <a:latin typeface="Calibri"/>
              <a:ea typeface="Calibri"/>
              <a:cs typeface="Calibri"/>
              <a:sym typeface="Calibri"/>
            </a:endParaRPr>
          </a:p>
          <a:p>
            <a:pPr indent="-274320" lvl="0" marL="274320" rtl="0" algn="l">
              <a:spcBef>
                <a:spcPts val="520"/>
              </a:spcBef>
              <a:spcAft>
                <a:spcPts val="0"/>
              </a:spcAft>
              <a:buSzPts val="2470"/>
              <a:buChar char="⚫"/>
            </a:pPr>
            <a:r>
              <a:rPr lang="en-US">
                <a:latin typeface="Calibri"/>
                <a:ea typeface="Calibri"/>
                <a:cs typeface="Calibri"/>
                <a:sym typeface="Calibri"/>
              </a:rPr>
              <a:t>Thống nhất các lớp và các hệ thống con</a:t>
            </a:r>
            <a:endParaRPr>
              <a:latin typeface="Calibri"/>
              <a:ea typeface="Calibri"/>
              <a:cs typeface="Calibri"/>
              <a:sym typeface="Calibri"/>
            </a:endParaRPr>
          </a:p>
        </p:txBody>
      </p:sp>
      <p:sp>
        <p:nvSpPr>
          <p:cNvPr id="342" name="Google Shape;342;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c:\Program Files\Microsoft Office\Clipart\smbusbas\bd20026_.wmf" id="343" name="Google Shape;343;p5"/>
          <p:cNvPicPr preferRelativeResize="0"/>
          <p:nvPr/>
        </p:nvPicPr>
        <p:blipFill rotWithShape="1">
          <a:blip r:embed="rId3">
            <a:alphaModFix/>
          </a:blip>
          <a:srcRect b="0" l="0" r="0" t="0"/>
          <a:stretch/>
        </p:blipFill>
        <p:spPr>
          <a:xfrm>
            <a:off x="6623050" y="952500"/>
            <a:ext cx="2047875" cy="4470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bước thiết kế ca sử dụng</a:t>
            </a:r>
            <a:endParaRPr/>
          </a:p>
        </p:txBody>
      </p:sp>
      <p:sp>
        <p:nvSpPr>
          <p:cNvPr id="351" name="Google Shape;351;p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solidFill>
                  <a:srgbClr val="7030A0"/>
                </a:solidFill>
              </a:rPr>
              <a:t>Mô tả </a:t>
            </a:r>
            <a:r>
              <a:rPr lang="en-US">
                <a:solidFill>
                  <a:srgbClr val="7030A0"/>
                </a:solidFill>
                <a:latin typeface="Calibri"/>
                <a:ea typeface="Calibri"/>
                <a:cs typeface="Calibri"/>
                <a:sym typeface="Calibri"/>
              </a:rPr>
              <a:t>sự tương tác giữa các đối tượng thiết kế </a:t>
            </a:r>
            <a:endParaRPr/>
          </a:p>
          <a:p>
            <a:pPr indent="-274320" lvl="0" marL="274320" rtl="0" algn="l">
              <a:spcBef>
                <a:spcPts val="520"/>
              </a:spcBef>
              <a:spcAft>
                <a:spcPts val="0"/>
              </a:spcAft>
              <a:buSzPts val="2470"/>
              <a:buChar char="⚫"/>
            </a:pPr>
            <a:r>
              <a:rPr lang="en-US">
                <a:latin typeface="Calibri"/>
                <a:ea typeface="Calibri"/>
                <a:cs typeface="Calibri"/>
                <a:sym typeface="Calibri"/>
              </a:rPr>
              <a:t>Đơn giản hoá biểu đồ tuần tự sử dụng hệ thống con </a:t>
            </a:r>
            <a:endParaRPr>
              <a:latin typeface="Calibri"/>
              <a:ea typeface="Calibri"/>
              <a:cs typeface="Calibri"/>
              <a:sym typeface="Calibri"/>
            </a:endParaRPr>
          </a:p>
          <a:p>
            <a:pPr indent="-274320" lvl="0" marL="274320" rtl="0" algn="l">
              <a:spcBef>
                <a:spcPts val="520"/>
              </a:spcBef>
              <a:spcAft>
                <a:spcPts val="0"/>
              </a:spcAft>
              <a:buSzPts val="2470"/>
              <a:buChar char="⚫"/>
            </a:pPr>
            <a:r>
              <a:rPr lang="en-US"/>
              <a:t>Mô tả các hành vi liên quan dữ liệu bền vững</a:t>
            </a:r>
            <a:endParaRPr/>
          </a:p>
          <a:p>
            <a:pPr indent="-274320" lvl="0" marL="274320" rtl="0" algn="l">
              <a:spcBef>
                <a:spcPts val="520"/>
              </a:spcBef>
              <a:spcAft>
                <a:spcPts val="0"/>
              </a:spcAft>
              <a:buSzPts val="2470"/>
              <a:buChar char="⚫"/>
            </a:pPr>
            <a:r>
              <a:rPr lang="en-US"/>
              <a:t>Làm mịn sự mô tả luồng các sự kiện</a:t>
            </a:r>
            <a:endParaRPr/>
          </a:p>
          <a:p>
            <a:pPr indent="-274320" lvl="0" marL="274320" rtl="0" algn="l">
              <a:spcBef>
                <a:spcPts val="520"/>
              </a:spcBef>
              <a:spcAft>
                <a:spcPts val="0"/>
              </a:spcAft>
              <a:buSzPts val="2470"/>
              <a:buChar char="⚫"/>
            </a:pPr>
            <a:r>
              <a:rPr lang="en-US"/>
              <a:t>Thống nhất các lớp và các hệ thống con</a:t>
            </a:r>
            <a:endParaRPr/>
          </a:p>
        </p:txBody>
      </p:sp>
      <p:sp>
        <p:nvSpPr>
          <p:cNvPr id="352" name="Google Shape;352;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7"/>
          <p:cNvSpPr txBox="1"/>
          <p:nvPr>
            <p:ph type="title"/>
          </p:nvPr>
        </p:nvSpPr>
        <p:spPr>
          <a:xfrm>
            <a:off x="468313" y="-96516"/>
            <a:ext cx="83058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Nhắc lại: Hiện thực hóa ca sử dụng</a:t>
            </a:r>
            <a:endParaRPr sz="4500"/>
          </a:p>
        </p:txBody>
      </p:sp>
      <p:sp>
        <p:nvSpPr>
          <p:cNvPr id="361" name="Google Shape;361;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362" name="Google Shape;362;p7"/>
          <p:cNvSpPr/>
          <p:nvPr/>
        </p:nvSpPr>
        <p:spPr>
          <a:xfrm>
            <a:off x="3167063" y="3073722"/>
            <a:ext cx="5761037" cy="3167062"/>
          </a:xfrm>
          <a:prstGeom prst="ellipse">
            <a:avLst/>
          </a:prstGeom>
          <a:noFill/>
          <a:ln cap="flat" cmpd="sng" w="28575">
            <a:solidFill>
              <a:schemeClr val="folHlink"/>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363" name="Google Shape;363;p7"/>
          <p:cNvGrpSpPr/>
          <p:nvPr/>
        </p:nvGrpSpPr>
        <p:grpSpPr>
          <a:xfrm>
            <a:off x="5224463" y="4932684"/>
            <a:ext cx="1797050" cy="1195388"/>
            <a:chOff x="3231" y="2968"/>
            <a:chExt cx="1132" cy="753"/>
          </a:xfrm>
        </p:grpSpPr>
        <p:grpSp>
          <p:nvGrpSpPr>
            <p:cNvPr id="364" name="Google Shape;364;p7"/>
            <p:cNvGrpSpPr/>
            <p:nvPr/>
          </p:nvGrpSpPr>
          <p:grpSpPr>
            <a:xfrm>
              <a:off x="3393" y="2968"/>
              <a:ext cx="808" cy="511"/>
              <a:chOff x="1309" y="1072"/>
              <a:chExt cx="1245" cy="766"/>
            </a:xfrm>
          </p:grpSpPr>
          <p:grpSp>
            <p:nvGrpSpPr>
              <p:cNvPr id="365" name="Google Shape;365;p7"/>
              <p:cNvGrpSpPr/>
              <p:nvPr/>
            </p:nvGrpSpPr>
            <p:grpSpPr>
              <a:xfrm>
                <a:off x="1309" y="1231"/>
                <a:ext cx="302" cy="175"/>
                <a:chOff x="144" y="1440"/>
                <a:chExt cx="881" cy="510"/>
              </a:xfrm>
            </p:grpSpPr>
            <p:sp>
              <p:nvSpPr>
                <p:cNvPr id="366" name="Google Shape;366;p7"/>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67" name="Google Shape;367;p7"/>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68" name="Google Shape;368;p7"/>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69" name="Google Shape;369;p7"/>
              <p:cNvGrpSpPr/>
              <p:nvPr/>
            </p:nvGrpSpPr>
            <p:grpSpPr>
              <a:xfrm>
                <a:off x="1950" y="1072"/>
                <a:ext cx="302" cy="175"/>
                <a:chOff x="144" y="1440"/>
                <a:chExt cx="881" cy="510"/>
              </a:xfrm>
            </p:grpSpPr>
            <p:sp>
              <p:nvSpPr>
                <p:cNvPr id="370" name="Google Shape;370;p7"/>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71" name="Google Shape;371;p7"/>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72" name="Google Shape;372;p7"/>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73" name="Google Shape;373;p7"/>
              <p:cNvGrpSpPr/>
              <p:nvPr/>
            </p:nvGrpSpPr>
            <p:grpSpPr>
              <a:xfrm>
                <a:off x="1648" y="1663"/>
                <a:ext cx="302" cy="175"/>
                <a:chOff x="144" y="1440"/>
                <a:chExt cx="881" cy="510"/>
              </a:xfrm>
            </p:grpSpPr>
            <p:sp>
              <p:nvSpPr>
                <p:cNvPr id="374" name="Google Shape;374;p7"/>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75" name="Google Shape;375;p7"/>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76" name="Google Shape;376;p7"/>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77" name="Google Shape;377;p7"/>
              <p:cNvGrpSpPr/>
              <p:nvPr/>
            </p:nvGrpSpPr>
            <p:grpSpPr>
              <a:xfrm>
                <a:off x="2252" y="1581"/>
                <a:ext cx="302" cy="175"/>
                <a:chOff x="144" y="1440"/>
                <a:chExt cx="881" cy="510"/>
              </a:xfrm>
            </p:grpSpPr>
            <p:sp>
              <p:nvSpPr>
                <p:cNvPr id="378" name="Google Shape;378;p7"/>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79" name="Google Shape;379;p7"/>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80" name="Google Shape;380;p7"/>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cxnSp>
            <p:nvCxnSpPr>
              <p:cNvPr id="381" name="Google Shape;381;p7"/>
              <p:cNvCxnSpPr/>
              <p:nvPr/>
            </p:nvCxnSpPr>
            <p:spPr>
              <a:xfrm rot="10800000">
                <a:off x="1463" y="1406"/>
                <a:ext cx="312" cy="257"/>
              </a:xfrm>
              <a:prstGeom prst="straightConnector1">
                <a:avLst/>
              </a:prstGeom>
              <a:noFill/>
              <a:ln cap="flat" cmpd="sng" w="28575">
                <a:solidFill>
                  <a:schemeClr val="dk1"/>
                </a:solidFill>
                <a:prstDash val="solid"/>
                <a:round/>
                <a:headEnd len="sm" w="sm" type="none"/>
                <a:tailEnd len="sm" w="sm" type="none"/>
              </a:ln>
            </p:spPr>
          </p:cxnSp>
          <p:cxnSp>
            <p:nvCxnSpPr>
              <p:cNvPr id="382" name="Google Shape;382;p7"/>
              <p:cNvCxnSpPr/>
              <p:nvPr/>
            </p:nvCxnSpPr>
            <p:spPr>
              <a:xfrm flipH="1" rot="10800000">
                <a:off x="1611" y="1160"/>
                <a:ext cx="339" cy="153"/>
              </a:xfrm>
              <a:prstGeom prst="straightConnector1">
                <a:avLst/>
              </a:prstGeom>
              <a:noFill/>
              <a:ln cap="flat" cmpd="sng" w="28575">
                <a:solidFill>
                  <a:schemeClr val="dk1"/>
                </a:solidFill>
                <a:prstDash val="solid"/>
                <a:round/>
                <a:headEnd len="sm" w="sm" type="none"/>
                <a:tailEnd len="sm" w="sm" type="none"/>
              </a:ln>
            </p:spPr>
          </p:cxnSp>
          <p:cxnSp>
            <p:nvCxnSpPr>
              <p:cNvPr id="383" name="Google Shape;383;p7"/>
              <p:cNvCxnSpPr/>
              <p:nvPr/>
            </p:nvCxnSpPr>
            <p:spPr>
              <a:xfrm flipH="1" rot="10800000">
                <a:off x="1950" y="1663"/>
                <a:ext cx="302" cy="82"/>
              </a:xfrm>
              <a:prstGeom prst="straightConnector1">
                <a:avLst/>
              </a:prstGeom>
              <a:noFill/>
              <a:ln cap="flat" cmpd="sng" w="28575">
                <a:solidFill>
                  <a:schemeClr val="dk1"/>
                </a:solidFill>
                <a:prstDash val="solid"/>
                <a:round/>
                <a:headEnd len="sm" w="sm" type="none"/>
                <a:tailEnd len="sm" w="sm" type="none"/>
              </a:ln>
            </p:spPr>
          </p:cxnSp>
          <p:cxnSp>
            <p:nvCxnSpPr>
              <p:cNvPr id="384" name="Google Shape;384;p7"/>
              <p:cNvCxnSpPr/>
              <p:nvPr/>
            </p:nvCxnSpPr>
            <p:spPr>
              <a:xfrm flipH="1" rot="10800000">
                <a:off x="1775" y="1247"/>
                <a:ext cx="329" cy="416"/>
              </a:xfrm>
              <a:prstGeom prst="straightConnector1">
                <a:avLst/>
              </a:prstGeom>
              <a:noFill/>
              <a:ln cap="flat" cmpd="sng" w="28575">
                <a:solidFill>
                  <a:schemeClr val="dk1"/>
                </a:solidFill>
                <a:prstDash val="solid"/>
                <a:round/>
                <a:headEnd len="sm" w="sm" type="none"/>
                <a:tailEnd len="sm" w="sm" type="none"/>
              </a:ln>
            </p:spPr>
          </p:cxnSp>
        </p:grpSp>
        <p:sp>
          <p:nvSpPr>
            <p:cNvPr id="385" name="Google Shape;385;p7"/>
            <p:cNvSpPr txBox="1"/>
            <p:nvPr/>
          </p:nvSpPr>
          <p:spPr>
            <a:xfrm>
              <a:off x="3231" y="3490"/>
              <a:ext cx="1132"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Class Diagrams</a:t>
              </a:r>
              <a:endParaRPr/>
            </a:p>
          </p:txBody>
        </p:sp>
      </p:grpSp>
      <p:grpSp>
        <p:nvGrpSpPr>
          <p:cNvPr id="386" name="Google Shape;386;p7"/>
          <p:cNvGrpSpPr/>
          <p:nvPr/>
        </p:nvGrpSpPr>
        <p:grpSpPr>
          <a:xfrm>
            <a:off x="647700" y="3294384"/>
            <a:ext cx="1476375" cy="2044700"/>
            <a:chOff x="365" y="2533"/>
            <a:chExt cx="754" cy="1008"/>
          </a:xfrm>
        </p:grpSpPr>
        <p:sp>
          <p:nvSpPr>
            <p:cNvPr id="387" name="Google Shape;387;p7"/>
            <p:cNvSpPr/>
            <p:nvPr/>
          </p:nvSpPr>
          <p:spPr>
            <a:xfrm>
              <a:off x="365" y="2533"/>
              <a:ext cx="624" cy="28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88" name="Google Shape;388;p7"/>
            <p:cNvSpPr/>
            <p:nvPr/>
          </p:nvSpPr>
          <p:spPr>
            <a:xfrm>
              <a:off x="687" y="2821"/>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89" name="Google Shape;389;p7"/>
            <p:cNvCxnSpPr/>
            <p:nvPr/>
          </p:nvCxnSpPr>
          <p:spPr>
            <a:xfrm>
              <a:off x="975" y="2821"/>
              <a:ext cx="144" cy="144"/>
            </a:xfrm>
            <a:prstGeom prst="straightConnector1">
              <a:avLst/>
            </a:prstGeom>
            <a:noFill/>
            <a:ln cap="flat" cmpd="sng" w="28575">
              <a:solidFill>
                <a:schemeClr val="dk1"/>
              </a:solidFill>
              <a:prstDash val="solid"/>
              <a:round/>
              <a:headEnd len="sm" w="sm" type="none"/>
              <a:tailEnd len="sm" w="sm" type="none"/>
            </a:ln>
          </p:spPr>
        </p:cxnSp>
        <p:cxnSp>
          <p:nvCxnSpPr>
            <p:cNvPr id="390" name="Google Shape;390;p7"/>
            <p:cNvCxnSpPr/>
            <p:nvPr/>
          </p:nvCxnSpPr>
          <p:spPr>
            <a:xfrm>
              <a:off x="975" y="2821"/>
              <a:ext cx="0" cy="144"/>
            </a:xfrm>
            <a:prstGeom prst="straightConnector1">
              <a:avLst/>
            </a:prstGeom>
            <a:noFill/>
            <a:ln cap="flat" cmpd="sng" w="28575">
              <a:solidFill>
                <a:schemeClr val="dk1"/>
              </a:solidFill>
              <a:prstDash val="solid"/>
              <a:round/>
              <a:headEnd len="sm" w="sm" type="none"/>
              <a:tailEnd len="sm" w="sm" type="none"/>
            </a:ln>
          </p:spPr>
        </p:cxnSp>
        <p:cxnSp>
          <p:nvCxnSpPr>
            <p:cNvPr id="391" name="Google Shape;391;p7"/>
            <p:cNvCxnSpPr/>
            <p:nvPr/>
          </p:nvCxnSpPr>
          <p:spPr>
            <a:xfrm rot="10800000">
              <a:off x="975" y="2965"/>
              <a:ext cx="144" cy="0"/>
            </a:xfrm>
            <a:prstGeom prst="straightConnector1">
              <a:avLst/>
            </a:prstGeom>
            <a:noFill/>
            <a:ln cap="flat" cmpd="sng" w="28575">
              <a:solidFill>
                <a:schemeClr val="dk1"/>
              </a:solidFill>
              <a:prstDash val="solid"/>
              <a:round/>
              <a:headEnd len="sm" w="sm" type="none"/>
              <a:tailEnd len="sm" w="sm" type="none"/>
            </a:ln>
          </p:spPr>
        </p:cxnSp>
        <p:cxnSp>
          <p:nvCxnSpPr>
            <p:cNvPr id="392" name="Google Shape;392;p7"/>
            <p:cNvCxnSpPr/>
            <p:nvPr/>
          </p:nvCxnSpPr>
          <p:spPr>
            <a:xfrm>
              <a:off x="735" y="3061"/>
              <a:ext cx="336" cy="0"/>
            </a:xfrm>
            <a:prstGeom prst="straightConnector1">
              <a:avLst/>
            </a:prstGeom>
            <a:noFill/>
            <a:ln cap="flat" cmpd="sng" w="28575">
              <a:solidFill>
                <a:schemeClr val="dk1"/>
              </a:solidFill>
              <a:prstDash val="solid"/>
              <a:round/>
              <a:headEnd len="sm" w="sm" type="none"/>
              <a:tailEnd len="sm" w="sm" type="none"/>
            </a:ln>
          </p:spPr>
        </p:cxnSp>
        <p:cxnSp>
          <p:nvCxnSpPr>
            <p:cNvPr id="393" name="Google Shape;393;p7"/>
            <p:cNvCxnSpPr/>
            <p:nvPr/>
          </p:nvCxnSpPr>
          <p:spPr>
            <a:xfrm>
              <a:off x="735" y="3109"/>
              <a:ext cx="336" cy="0"/>
            </a:xfrm>
            <a:prstGeom prst="straightConnector1">
              <a:avLst/>
            </a:prstGeom>
            <a:noFill/>
            <a:ln cap="flat" cmpd="sng" w="28575">
              <a:solidFill>
                <a:schemeClr val="dk1"/>
              </a:solidFill>
              <a:prstDash val="solid"/>
              <a:round/>
              <a:headEnd len="sm" w="sm" type="none"/>
              <a:tailEnd len="sm" w="sm" type="none"/>
            </a:ln>
          </p:spPr>
        </p:cxnSp>
        <p:cxnSp>
          <p:nvCxnSpPr>
            <p:cNvPr id="394" name="Google Shape;394;p7"/>
            <p:cNvCxnSpPr/>
            <p:nvPr/>
          </p:nvCxnSpPr>
          <p:spPr>
            <a:xfrm>
              <a:off x="735" y="3157"/>
              <a:ext cx="336" cy="0"/>
            </a:xfrm>
            <a:prstGeom prst="straightConnector1">
              <a:avLst/>
            </a:prstGeom>
            <a:noFill/>
            <a:ln cap="flat" cmpd="sng" w="28575">
              <a:solidFill>
                <a:schemeClr val="dk1"/>
              </a:solidFill>
              <a:prstDash val="solid"/>
              <a:round/>
              <a:headEnd len="sm" w="sm" type="none"/>
              <a:tailEnd len="sm" w="sm" type="none"/>
            </a:ln>
          </p:spPr>
        </p:cxnSp>
        <p:cxnSp>
          <p:nvCxnSpPr>
            <p:cNvPr id="395" name="Google Shape;395;p7"/>
            <p:cNvCxnSpPr/>
            <p:nvPr/>
          </p:nvCxnSpPr>
          <p:spPr>
            <a:xfrm>
              <a:off x="735" y="3253"/>
              <a:ext cx="336" cy="0"/>
            </a:xfrm>
            <a:prstGeom prst="straightConnector1">
              <a:avLst/>
            </a:prstGeom>
            <a:noFill/>
            <a:ln cap="flat" cmpd="sng" w="28575">
              <a:solidFill>
                <a:schemeClr val="dk1"/>
              </a:solidFill>
              <a:prstDash val="solid"/>
              <a:round/>
              <a:headEnd len="sm" w="sm" type="none"/>
              <a:tailEnd len="sm" w="sm" type="none"/>
            </a:ln>
          </p:spPr>
        </p:cxnSp>
        <p:cxnSp>
          <p:nvCxnSpPr>
            <p:cNvPr id="396" name="Google Shape;396;p7"/>
            <p:cNvCxnSpPr/>
            <p:nvPr/>
          </p:nvCxnSpPr>
          <p:spPr>
            <a:xfrm>
              <a:off x="735" y="3205"/>
              <a:ext cx="336" cy="0"/>
            </a:xfrm>
            <a:prstGeom prst="straightConnector1">
              <a:avLst/>
            </a:prstGeom>
            <a:noFill/>
            <a:ln cap="flat" cmpd="sng" w="28575">
              <a:solidFill>
                <a:schemeClr val="dk1"/>
              </a:solidFill>
              <a:prstDash val="solid"/>
              <a:round/>
              <a:headEnd len="sm" w="sm" type="none"/>
              <a:tailEnd len="sm" w="sm" type="none"/>
            </a:ln>
          </p:spPr>
        </p:cxnSp>
        <p:cxnSp>
          <p:nvCxnSpPr>
            <p:cNvPr id="397" name="Google Shape;397;p7"/>
            <p:cNvCxnSpPr/>
            <p:nvPr/>
          </p:nvCxnSpPr>
          <p:spPr>
            <a:xfrm>
              <a:off x="735" y="3301"/>
              <a:ext cx="336" cy="0"/>
            </a:xfrm>
            <a:prstGeom prst="straightConnector1">
              <a:avLst/>
            </a:prstGeom>
            <a:noFill/>
            <a:ln cap="flat" cmpd="sng" w="28575">
              <a:solidFill>
                <a:schemeClr val="dk1"/>
              </a:solidFill>
              <a:prstDash val="solid"/>
              <a:round/>
              <a:headEnd len="sm" w="sm" type="none"/>
              <a:tailEnd len="sm" w="sm" type="none"/>
            </a:ln>
          </p:spPr>
        </p:cxnSp>
        <p:cxnSp>
          <p:nvCxnSpPr>
            <p:cNvPr id="398" name="Google Shape;398;p7"/>
            <p:cNvCxnSpPr/>
            <p:nvPr/>
          </p:nvCxnSpPr>
          <p:spPr>
            <a:xfrm>
              <a:off x="735" y="3349"/>
              <a:ext cx="336" cy="0"/>
            </a:xfrm>
            <a:prstGeom prst="straightConnector1">
              <a:avLst/>
            </a:prstGeom>
            <a:noFill/>
            <a:ln cap="flat" cmpd="sng" w="28575">
              <a:solidFill>
                <a:schemeClr val="dk1"/>
              </a:solidFill>
              <a:prstDash val="solid"/>
              <a:round/>
              <a:headEnd len="sm" w="sm" type="none"/>
              <a:tailEnd len="sm" w="sm" type="none"/>
            </a:ln>
          </p:spPr>
        </p:cxnSp>
        <p:cxnSp>
          <p:nvCxnSpPr>
            <p:cNvPr id="399" name="Google Shape;399;p7"/>
            <p:cNvCxnSpPr/>
            <p:nvPr/>
          </p:nvCxnSpPr>
          <p:spPr>
            <a:xfrm>
              <a:off x="735" y="3397"/>
              <a:ext cx="336" cy="0"/>
            </a:xfrm>
            <a:prstGeom prst="straightConnector1">
              <a:avLst/>
            </a:prstGeom>
            <a:noFill/>
            <a:ln cap="flat" cmpd="sng" w="28575">
              <a:solidFill>
                <a:schemeClr val="dk1"/>
              </a:solidFill>
              <a:prstDash val="solid"/>
              <a:round/>
              <a:headEnd len="sm" w="sm" type="none"/>
              <a:tailEnd len="sm" w="sm" type="none"/>
            </a:ln>
          </p:spPr>
        </p:cxnSp>
        <p:cxnSp>
          <p:nvCxnSpPr>
            <p:cNvPr id="400" name="Google Shape;400;p7"/>
            <p:cNvCxnSpPr/>
            <p:nvPr/>
          </p:nvCxnSpPr>
          <p:spPr>
            <a:xfrm>
              <a:off x="735" y="3445"/>
              <a:ext cx="336" cy="0"/>
            </a:xfrm>
            <a:prstGeom prst="straightConnector1">
              <a:avLst/>
            </a:prstGeom>
            <a:noFill/>
            <a:ln cap="flat" cmpd="sng" w="28575">
              <a:solidFill>
                <a:schemeClr val="dk1"/>
              </a:solidFill>
              <a:prstDash val="solid"/>
              <a:round/>
              <a:headEnd len="sm" w="sm" type="none"/>
              <a:tailEnd len="sm" w="sm" type="none"/>
            </a:ln>
          </p:spPr>
        </p:cxnSp>
        <p:cxnSp>
          <p:nvCxnSpPr>
            <p:cNvPr id="401" name="Google Shape;401;p7"/>
            <p:cNvCxnSpPr/>
            <p:nvPr/>
          </p:nvCxnSpPr>
          <p:spPr>
            <a:xfrm>
              <a:off x="735" y="3493"/>
              <a:ext cx="336" cy="0"/>
            </a:xfrm>
            <a:prstGeom prst="straightConnector1">
              <a:avLst/>
            </a:prstGeom>
            <a:noFill/>
            <a:ln cap="flat" cmpd="sng" w="28575">
              <a:solidFill>
                <a:schemeClr val="dk1"/>
              </a:solidFill>
              <a:prstDash val="solid"/>
              <a:round/>
              <a:headEnd len="sm" w="sm" type="none"/>
              <a:tailEnd len="sm" w="sm" type="none"/>
            </a:ln>
          </p:spPr>
        </p:cxnSp>
        <p:cxnSp>
          <p:nvCxnSpPr>
            <p:cNvPr id="402" name="Google Shape;402;p7"/>
            <p:cNvCxnSpPr/>
            <p:nvPr/>
          </p:nvCxnSpPr>
          <p:spPr>
            <a:xfrm>
              <a:off x="735" y="3013"/>
              <a:ext cx="336" cy="0"/>
            </a:xfrm>
            <a:prstGeom prst="straightConnector1">
              <a:avLst/>
            </a:prstGeom>
            <a:noFill/>
            <a:ln cap="flat" cmpd="sng" w="28575">
              <a:solidFill>
                <a:schemeClr val="dk1"/>
              </a:solidFill>
              <a:prstDash val="solid"/>
              <a:round/>
              <a:headEnd len="sm" w="sm" type="none"/>
              <a:tailEnd len="sm" w="sm" type="none"/>
            </a:ln>
          </p:spPr>
        </p:cxnSp>
        <p:cxnSp>
          <p:nvCxnSpPr>
            <p:cNvPr id="403" name="Google Shape;403;p7"/>
            <p:cNvCxnSpPr/>
            <p:nvPr/>
          </p:nvCxnSpPr>
          <p:spPr>
            <a:xfrm>
              <a:off x="735" y="2917"/>
              <a:ext cx="209" cy="0"/>
            </a:xfrm>
            <a:prstGeom prst="straightConnector1">
              <a:avLst/>
            </a:prstGeom>
            <a:noFill/>
            <a:ln cap="flat" cmpd="sng" w="28575">
              <a:solidFill>
                <a:schemeClr val="dk1"/>
              </a:solidFill>
              <a:prstDash val="solid"/>
              <a:round/>
              <a:headEnd len="sm" w="sm" type="none"/>
              <a:tailEnd len="sm" w="sm" type="none"/>
            </a:ln>
          </p:spPr>
        </p:cxnSp>
        <p:cxnSp>
          <p:nvCxnSpPr>
            <p:cNvPr id="404" name="Google Shape;404;p7"/>
            <p:cNvCxnSpPr/>
            <p:nvPr/>
          </p:nvCxnSpPr>
          <p:spPr>
            <a:xfrm>
              <a:off x="735" y="2869"/>
              <a:ext cx="209" cy="0"/>
            </a:xfrm>
            <a:prstGeom prst="straightConnector1">
              <a:avLst/>
            </a:prstGeom>
            <a:noFill/>
            <a:ln cap="flat" cmpd="sng" w="28575">
              <a:solidFill>
                <a:schemeClr val="dk1"/>
              </a:solidFill>
              <a:prstDash val="solid"/>
              <a:round/>
              <a:headEnd len="sm" w="sm" type="none"/>
              <a:tailEnd len="sm" w="sm" type="none"/>
            </a:ln>
          </p:spPr>
        </p:cxnSp>
        <p:cxnSp>
          <p:nvCxnSpPr>
            <p:cNvPr id="405" name="Google Shape;405;p7"/>
            <p:cNvCxnSpPr/>
            <p:nvPr/>
          </p:nvCxnSpPr>
          <p:spPr>
            <a:xfrm>
              <a:off x="735" y="2965"/>
              <a:ext cx="209" cy="0"/>
            </a:xfrm>
            <a:prstGeom prst="straightConnector1">
              <a:avLst/>
            </a:prstGeom>
            <a:noFill/>
            <a:ln cap="flat" cmpd="sng" w="28575">
              <a:solidFill>
                <a:schemeClr val="dk1"/>
              </a:solidFill>
              <a:prstDash val="solid"/>
              <a:round/>
              <a:headEnd len="sm" w="sm" type="none"/>
              <a:tailEnd len="sm" w="sm" type="none"/>
            </a:ln>
          </p:spPr>
        </p:cxnSp>
      </p:grpSp>
      <p:sp>
        <p:nvSpPr>
          <p:cNvPr id="406" name="Google Shape;406;p7"/>
          <p:cNvSpPr txBox="1"/>
          <p:nvPr/>
        </p:nvSpPr>
        <p:spPr>
          <a:xfrm>
            <a:off x="939800" y="5427984"/>
            <a:ext cx="154940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Use Case</a:t>
            </a:r>
            <a:endParaRPr/>
          </a:p>
        </p:txBody>
      </p:sp>
      <p:grpSp>
        <p:nvGrpSpPr>
          <p:cNvPr id="407" name="Google Shape;407;p7"/>
          <p:cNvGrpSpPr/>
          <p:nvPr/>
        </p:nvGrpSpPr>
        <p:grpSpPr>
          <a:xfrm>
            <a:off x="6029326" y="3192784"/>
            <a:ext cx="2582863" cy="1457325"/>
            <a:chOff x="3408" y="2040"/>
            <a:chExt cx="1627" cy="918"/>
          </a:xfrm>
        </p:grpSpPr>
        <p:grpSp>
          <p:nvGrpSpPr>
            <p:cNvPr id="408" name="Google Shape;408;p7"/>
            <p:cNvGrpSpPr/>
            <p:nvPr/>
          </p:nvGrpSpPr>
          <p:grpSpPr>
            <a:xfrm>
              <a:off x="3606" y="2058"/>
              <a:ext cx="99" cy="148"/>
              <a:chOff x="7654" y="3380"/>
              <a:chExt cx="554" cy="754"/>
            </a:xfrm>
          </p:grpSpPr>
          <p:sp>
            <p:nvSpPr>
              <p:cNvPr id="409" name="Google Shape;409;p7"/>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10" name="Google Shape;410;p7"/>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411" name="Google Shape;411;p7"/>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412" name="Google Shape;412;p7"/>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cxnSp>
          <p:nvCxnSpPr>
            <p:cNvPr id="413" name="Google Shape;413;p7"/>
            <p:cNvCxnSpPr/>
            <p:nvPr/>
          </p:nvCxnSpPr>
          <p:spPr>
            <a:xfrm>
              <a:off x="3717" y="2297"/>
              <a:ext cx="186" cy="199"/>
            </a:xfrm>
            <a:prstGeom prst="straightConnector1">
              <a:avLst/>
            </a:prstGeom>
            <a:noFill/>
            <a:ln cap="flat" cmpd="sng" w="28575">
              <a:solidFill>
                <a:schemeClr val="dk1"/>
              </a:solidFill>
              <a:prstDash val="solid"/>
              <a:round/>
              <a:headEnd len="sm" w="sm" type="none"/>
              <a:tailEnd len="sm" w="sm" type="none"/>
            </a:ln>
          </p:spPr>
        </p:cxnSp>
        <p:cxnSp>
          <p:nvCxnSpPr>
            <p:cNvPr id="414" name="Google Shape;414;p7"/>
            <p:cNvCxnSpPr/>
            <p:nvPr/>
          </p:nvCxnSpPr>
          <p:spPr>
            <a:xfrm flipH="1" rot="10800000">
              <a:off x="3717" y="2118"/>
              <a:ext cx="280" cy="36"/>
            </a:xfrm>
            <a:prstGeom prst="straightConnector1">
              <a:avLst/>
            </a:prstGeom>
            <a:noFill/>
            <a:ln cap="flat" cmpd="sng" w="28575">
              <a:solidFill>
                <a:schemeClr val="dk1"/>
              </a:solidFill>
              <a:prstDash val="solid"/>
              <a:round/>
              <a:headEnd len="sm" w="sm" type="none"/>
              <a:tailEnd len="sm" w="sm" type="none"/>
            </a:ln>
          </p:spPr>
        </p:cxnSp>
        <p:cxnSp>
          <p:nvCxnSpPr>
            <p:cNvPr id="415" name="Google Shape;415;p7"/>
            <p:cNvCxnSpPr/>
            <p:nvPr/>
          </p:nvCxnSpPr>
          <p:spPr>
            <a:xfrm>
              <a:off x="3967" y="2560"/>
              <a:ext cx="471" cy="108"/>
            </a:xfrm>
            <a:prstGeom prst="straightConnector1">
              <a:avLst/>
            </a:prstGeom>
            <a:noFill/>
            <a:ln cap="flat" cmpd="sng" w="28575">
              <a:solidFill>
                <a:schemeClr val="dk1"/>
              </a:solidFill>
              <a:prstDash val="solid"/>
              <a:round/>
              <a:headEnd len="sm" w="sm" type="none"/>
              <a:tailEnd len="sm" w="sm" type="none"/>
            </a:ln>
          </p:spPr>
        </p:cxnSp>
        <p:cxnSp>
          <p:nvCxnSpPr>
            <p:cNvPr id="416" name="Google Shape;416;p7"/>
            <p:cNvCxnSpPr/>
            <p:nvPr/>
          </p:nvCxnSpPr>
          <p:spPr>
            <a:xfrm flipH="1" rot="10800000">
              <a:off x="3967" y="2393"/>
              <a:ext cx="442" cy="143"/>
            </a:xfrm>
            <a:prstGeom prst="straightConnector1">
              <a:avLst/>
            </a:prstGeom>
            <a:noFill/>
            <a:ln cap="flat" cmpd="sng" w="28575">
              <a:solidFill>
                <a:schemeClr val="dk1"/>
              </a:solidFill>
              <a:prstDash val="solid"/>
              <a:round/>
              <a:headEnd len="sm" w="sm" type="none"/>
              <a:tailEnd len="sm" w="sm" type="none"/>
            </a:ln>
          </p:spPr>
        </p:cxnSp>
        <p:cxnSp>
          <p:nvCxnSpPr>
            <p:cNvPr id="417" name="Google Shape;417;p7"/>
            <p:cNvCxnSpPr/>
            <p:nvPr/>
          </p:nvCxnSpPr>
          <p:spPr>
            <a:xfrm flipH="1" rot="10800000">
              <a:off x="4489" y="2130"/>
              <a:ext cx="80" cy="203"/>
            </a:xfrm>
            <a:prstGeom prst="straightConnector1">
              <a:avLst/>
            </a:prstGeom>
            <a:noFill/>
            <a:ln cap="flat" cmpd="sng" w="28575">
              <a:solidFill>
                <a:schemeClr val="dk1"/>
              </a:solidFill>
              <a:prstDash val="solid"/>
              <a:round/>
              <a:headEnd len="sm" w="sm" type="none"/>
              <a:tailEnd len="sm" w="sm" type="none"/>
            </a:ln>
          </p:spPr>
        </p:cxnSp>
        <p:cxnSp>
          <p:nvCxnSpPr>
            <p:cNvPr id="418" name="Google Shape;418;p7"/>
            <p:cNvCxnSpPr/>
            <p:nvPr/>
          </p:nvCxnSpPr>
          <p:spPr>
            <a:xfrm flipH="1">
              <a:off x="3937" y="2170"/>
              <a:ext cx="148" cy="318"/>
            </a:xfrm>
            <a:prstGeom prst="straightConnector1">
              <a:avLst/>
            </a:prstGeom>
            <a:noFill/>
            <a:ln cap="flat" cmpd="sng" w="28575">
              <a:solidFill>
                <a:schemeClr val="dk1"/>
              </a:solidFill>
              <a:prstDash val="solid"/>
              <a:round/>
              <a:headEnd len="sm" w="sm" type="none"/>
              <a:tailEnd len="sm" w="sm" type="none"/>
            </a:ln>
          </p:spPr>
        </p:cxnSp>
        <p:cxnSp>
          <p:nvCxnSpPr>
            <p:cNvPr id="419" name="Google Shape;419;p7"/>
            <p:cNvCxnSpPr/>
            <p:nvPr/>
          </p:nvCxnSpPr>
          <p:spPr>
            <a:xfrm>
              <a:off x="3806" y="2401"/>
              <a:ext cx="71" cy="72"/>
            </a:xfrm>
            <a:prstGeom prst="straightConnector1">
              <a:avLst/>
            </a:prstGeom>
            <a:noFill/>
            <a:ln cap="flat" cmpd="sng" w="28575">
              <a:solidFill>
                <a:schemeClr val="dk1"/>
              </a:solidFill>
              <a:prstDash val="solid"/>
              <a:round/>
              <a:headEnd len="sm" w="sm" type="none"/>
              <a:tailEnd len="med" w="med" type="stealth"/>
            </a:ln>
          </p:spPr>
        </p:cxnSp>
        <p:cxnSp>
          <p:nvCxnSpPr>
            <p:cNvPr id="420" name="Google Shape;420;p7"/>
            <p:cNvCxnSpPr/>
            <p:nvPr/>
          </p:nvCxnSpPr>
          <p:spPr>
            <a:xfrm flipH="1">
              <a:off x="3940" y="2380"/>
              <a:ext cx="50" cy="96"/>
            </a:xfrm>
            <a:prstGeom prst="straightConnector1">
              <a:avLst/>
            </a:prstGeom>
            <a:noFill/>
            <a:ln cap="flat" cmpd="sng" w="28575">
              <a:solidFill>
                <a:schemeClr val="dk1"/>
              </a:solidFill>
              <a:prstDash val="solid"/>
              <a:round/>
              <a:headEnd len="sm" w="sm" type="none"/>
              <a:tailEnd len="med" w="med" type="stealth"/>
            </a:ln>
          </p:spPr>
        </p:cxnSp>
        <p:cxnSp>
          <p:nvCxnSpPr>
            <p:cNvPr id="421" name="Google Shape;421;p7"/>
            <p:cNvCxnSpPr/>
            <p:nvPr/>
          </p:nvCxnSpPr>
          <p:spPr>
            <a:xfrm flipH="1" rot="10800000">
              <a:off x="4299" y="2393"/>
              <a:ext cx="101" cy="35"/>
            </a:xfrm>
            <a:prstGeom prst="straightConnector1">
              <a:avLst/>
            </a:prstGeom>
            <a:noFill/>
            <a:ln cap="flat" cmpd="sng" w="28575">
              <a:solidFill>
                <a:schemeClr val="dk1"/>
              </a:solidFill>
              <a:prstDash val="solid"/>
              <a:round/>
              <a:headEnd len="sm" w="sm" type="none"/>
              <a:tailEnd len="med" w="med" type="stealth"/>
            </a:ln>
          </p:spPr>
        </p:cxnSp>
        <p:cxnSp>
          <p:nvCxnSpPr>
            <p:cNvPr id="422" name="Google Shape;422;p7"/>
            <p:cNvCxnSpPr/>
            <p:nvPr/>
          </p:nvCxnSpPr>
          <p:spPr>
            <a:xfrm>
              <a:off x="4336" y="2632"/>
              <a:ext cx="100" cy="23"/>
            </a:xfrm>
            <a:prstGeom prst="straightConnector1">
              <a:avLst/>
            </a:prstGeom>
            <a:noFill/>
            <a:ln cap="flat" cmpd="sng" w="28575">
              <a:solidFill>
                <a:schemeClr val="dk1"/>
              </a:solidFill>
              <a:prstDash val="solid"/>
              <a:round/>
              <a:headEnd len="sm" w="sm" type="none"/>
              <a:tailEnd len="med" w="med" type="stealth"/>
            </a:ln>
          </p:spPr>
        </p:cxnSp>
        <p:cxnSp>
          <p:nvCxnSpPr>
            <p:cNvPr id="423" name="Google Shape;423;p7"/>
            <p:cNvCxnSpPr/>
            <p:nvPr/>
          </p:nvCxnSpPr>
          <p:spPr>
            <a:xfrm flipH="1" rot="10800000">
              <a:off x="4521" y="2146"/>
              <a:ext cx="40" cy="95"/>
            </a:xfrm>
            <a:prstGeom prst="straightConnector1">
              <a:avLst/>
            </a:prstGeom>
            <a:noFill/>
            <a:ln cap="flat" cmpd="sng" w="28575">
              <a:solidFill>
                <a:schemeClr val="dk1"/>
              </a:solidFill>
              <a:prstDash val="solid"/>
              <a:round/>
              <a:headEnd len="med" w="med" type="none"/>
              <a:tailEnd len="med" w="med" type="stealth"/>
            </a:ln>
          </p:spPr>
        </p:cxnSp>
        <p:cxnSp>
          <p:nvCxnSpPr>
            <p:cNvPr id="424" name="Google Shape;424;p7"/>
            <p:cNvCxnSpPr/>
            <p:nvPr/>
          </p:nvCxnSpPr>
          <p:spPr>
            <a:xfrm flipH="1" rot="10800000">
              <a:off x="3867" y="2114"/>
              <a:ext cx="90" cy="12"/>
            </a:xfrm>
            <a:prstGeom prst="straightConnector1">
              <a:avLst/>
            </a:prstGeom>
            <a:noFill/>
            <a:ln cap="flat" cmpd="sng" w="28575">
              <a:solidFill>
                <a:schemeClr val="dk1"/>
              </a:solidFill>
              <a:prstDash val="solid"/>
              <a:round/>
              <a:headEnd len="sm" w="sm" type="none"/>
              <a:tailEnd len="med" w="med" type="stealth"/>
            </a:ln>
          </p:spPr>
        </p:cxnSp>
        <p:sp>
          <p:nvSpPr>
            <p:cNvPr id="425" name="Google Shape;425;p7"/>
            <p:cNvSpPr txBox="1"/>
            <p:nvPr/>
          </p:nvSpPr>
          <p:spPr>
            <a:xfrm>
              <a:off x="3408" y="2727"/>
              <a:ext cx="1627"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Collaboration Diagrams</a:t>
              </a:r>
              <a:endParaRPr/>
            </a:p>
          </p:txBody>
        </p:sp>
        <p:sp>
          <p:nvSpPr>
            <p:cNvPr id="426" name="Google Shape;426;p7"/>
            <p:cNvSpPr/>
            <p:nvPr/>
          </p:nvSpPr>
          <p:spPr>
            <a:xfrm>
              <a:off x="3994" y="2073"/>
              <a:ext cx="121" cy="97"/>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27" name="Google Shape;427;p7"/>
            <p:cNvSpPr/>
            <p:nvPr/>
          </p:nvSpPr>
          <p:spPr>
            <a:xfrm>
              <a:off x="3843" y="2496"/>
              <a:ext cx="121" cy="98"/>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28" name="Google Shape;428;p7"/>
            <p:cNvSpPr/>
            <p:nvPr/>
          </p:nvSpPr>
          <p:spPr>
            <a:xfrm>
              <a:off x="4449" y="2626"/>
              <a:ext cx="121" cy="98"/>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29" name="Google Shape;429;p7"/>
            <p:cNvSpPr/>
            <p:nvPr/>
          </p:nvSpPr>
          <p:spPr>
            <a:xfrm>
              <a:off x="4419" y="2333"/>
              <a:ext cx="121" cy="98"/>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30" name="Google Shape;430;p7"/>
            <p:cNvSpPr/>
            <p:nvPr/>
          </p:nvSpPr>
          <p:spPr>
            <a:xfrm>
              <a:off x="4510" y="2040"/>
              <a:ext cx="121" cy="98"/>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431" name="Google Shape;431;p7"/>
          <p:cNvSpPr txBox="1"/>
          <p:nvPr/>
        </p:nvSpPr>
        <p:spPr>
          <a:xfrm>
            <a:off x="685800" y="1097284"/>
            <a:ext cx="2590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CCFF"/>
                </a:solidFill>
                <a:latin typeface="Constantia"/>
                <a:ea typeface="Constantia"/>
                <a:cs typeface="Constantia"/>
                <a:sym typeface="Constantia"/>
              </a:rPr>
              <a:t>Use-Case Model</a:t>
            </a:r>
            <a:endParaRPr/>
          </a:p>
        </p:txBody>
      </p:sp>
      <p:sp>
        <p:nvSpPr>
          <p:cNvPr id="432" name="Google Shape;432;p7"/>
          <p:cNvSpPr txBox="1"/>
          <p:nvPr/>
        </p:nvSpPr>
        <p:spPr>
          <a:xfrm>
            <a:off x="5054600" y="1097284"/>
            <a:ext cx="2590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CCFF"/>
                </a:solidFill>
                <a:latin typeface="Constantia"/>
                <a:ea typeface="Constantia"/>
                <a:cs typeface="Constantia"/>
                <a:sym typeface="Constantia"/>
              </a:rPr>
              <a:t>Design Model</a:t>
            </a:r>
            <a:endParaRPr/>
          </a:p>
        </p:txBody>
      </p:sp>
      <p:grpSp>
        <p:nvGrpSpPr>
          <p:cNvPr id="433" name="Google Shape;433;p7"/>
          <p:cNvGrpSpPr/>
          <p:nvPr/>
        </p:nvGrpSpPr>
        <p:grpSpPr>
          <a:xfrm>
            <a:off x="973138" y="1630684"/>
            <a:ext cx="1187450" cy="857250"/>
            <a:chOff x="2840" y="3541"/>
            <a:chExt cx="748" cy="540"/>
          </a:xfrm>
        </p:grpSpPr>
        <p:sp>
          <p:nvSpPr>
            <p:cNvPr id="434" name="Google Shape;434;p7"/>
            <p:cNvSpPr/>
            <p:nvPr/>
          </p:nvSpPr>
          <p:spPr>
            <a:xfrm>
              <a:off x="2901" y="3541"/>
              <a:ext cx="624" cy="28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35" name="Google Shape;435;p7"/>
            <p:cNvSpPr txBox="1"/>
            <p:nvPr/>
          </p:nvSpPr>
          <p:spPr>
            <a:xfrm>
              <a:off x="2840" y="3850"/>
              <a:ext cx="748"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Use Case</a:t>
              </a:r>
              <a:endParaRPr/>
            </a:p>
          </p:txBody>
        </p:sp>
      </p:grpSp>
      <p:grpSp>
        <p:nvGrpSpPr>
          <p:cNvPr id="436" name="Google Shape;436;p7"/>
          <p:cNvGrpSpPr/>
          <p:nvPr/>
        </p:nvGrpSpPr>
        <p:grpSpPr>
          <a:xfrm>
            <a:off x="4803775" y="1630684"/>
            <a:ext cx="2393950" cy="857250"/>
            <a:chOff x="3484" y="3648"/>
            <a:chExt cx="1508" cy="540"/>
          </a:xfrm>
        </p:grpSpPr>
        <p:sp>
          <p:nvSpPr>
            <p:cNvPr id="437" name="Google Shape;437;p7"/>
            <p:cNvSpPr/>
            <p:nvPr/>
          </p:nvSpPr>
          <p:spPr>
            <a:xfrm>
              <a:off x="3925" y="3648"/>
              <a:ext cx="624" cy="288"/>
            </a:xfrm>
            <a:prstGeom prst="ellipse">
              <a:avLst/>
            </a:prstGeom>
            <a:noFill/>
            <a:ln cap="flat" cmpd="sng" w="2857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38" name="Google Shape;438;p7"/>
            <p:cNvSpPr txBox="1"/>
            <p:nvPr/>
          </p:nvSpPr>
          <p:spPr>
            <a:xfrm>
              <a:off x="3484" y="3957"/>
              <a:ext cx="1508"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Use-Case Realization</a:t>
              </a:r>
              <a:endParaRPr/>
            </a:p>
          </p:txBody>
        </p:sp>
      </p:grpSp>
      <p:cxnSp>
        <p:nvCxnSpPr>
          <p:cNvPr id="439" name="Google Shape;439;p7"/>
          <p:cNvCxnSpPr/>
          <p:nvPr/>
        </p:nvCxnSpPr>
        <p:spPr>
          <a:xfrm rot="10800000">
            <a:off x="2476500" y="1859284"/>
            <a:ext cx="3014663" cy="0"/>
          </a:xfrm>
          <a:prstGeom prst="straightConnector1">
            <a:avLst/>
          </a:prstGeom>
          <a:noFill/>
          <a:ln cap="flat" cmpd="sng" w="28575">
            <a:solidFill>
              <a:schemeClr val="dk1"/>
            </a:solidFill>
            <a:prstDash val="lgDash"/>
            <a:round/>
            <a:headEnd len="sm" w="sm" type="none"/>
            <a:tailEnd len="med" w="med" type="none"/>
          </a:ln>
        </p:spPr>
      </p:cxnSp>
      <p:sp>
        <p:nvSpPr>
          <p:cNvPr id="440" name="Google Shape;440;p7"/>
          <p:cNvSpPr/>
          <p:nvPr/>
        </p:nvSpPr>
        <p:spPr>
          <a:xfrm rot="-5400000">
            <a:off x="2171700" y="1694184"/>
            <a:ext cx="381000" cy="304800"/>
          </a:xfrm>
          <a:prstGeom prst="triangle">
            <a:avLst>
              <a:gd fmla="val 50000" name="adj"/>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41" name="Google Shape;441;p7"/>
          <p:cNvSpPr/>
          <p:nvPr/>
        </p:nvSpPr>
        <p:spPr>
          <a:xfrm>
            <a:off x="2408238" y="4415159"/>
            <a:ext cx="539750" cy="533400"/>
          </a:xfrm>
          <a:prstGeom prst="rightArrow">
            <a:avLst>
              <a:gd fmla="val 55954" name="adj1"/>
              <a:gd fmla="val 50295" name="adj2"/>
            </a:avLst>
          </a:prstGeom>
          <a:solidFill>
            <a:schemeClr va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42" name="Google Shape;442;p7"/>
          <p:cNvSpPr txBox="1"/>
          <p:nvPr/>
        </p:nvSpPr>
        <p:spPr>
          <a:xfrm>
            <a:off x="3495675" y="4483422"/>
            <a:ext cx="2268538"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Sequence Diagrams</a:t>
            </a:r>
            <a:endParaRPr/>
          </a:p>
        </p:txBody>
      </p:sp>
      <p:grpSp>
        <p:nvGrpSpPr>
          <p:cNvPr id="443" name="Google Shape;443;p7"/>
          <p:cNvGrpSpPr/>
          <p:nvPr/>
        </p:nvGrpSpPr>
        <p:grpSpPr>
          <a:xfrm>
            <a:off x="3562350" y="3397572"/>
            <a:ext cx="192088" cy="257175"/>
            <a:chOff x="7654" y="3380"/>
            <a:chExt cx="554" cy="754"/>
          </a:xfrm>
        </p:grpSpPr>
        <p:sp>
          <p:nvSpPr>
            <p:cNvPr id="444" name="Google Shape;444;p7"/>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45" name="Google Shape;445;p7"/>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446" name="Google Shape;446;p7"/>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447" name="Google Shape;447;p7"/>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cxnSp>
        <p:nvCxnSpPr>
          <p:cNvPr id="448" name="Google Shape;448;p7"/>
          <p:cNvCxnSpPr/>
          <p:nvPr/>
        </p:nvCxnSpPr>
        <p:spPr>
          <a:xfrm>
            <a:off x="3651250" y="3807147"/>
            <a:ext cx="484188" cy="0"/>
          </a:xfrm>
          <a:prstGeom prst="straightConnector1">
            <a:avLst/>
          </a:prstGeom>
          <a:noFill/>
          <a:ln cap="flat" cmpd="sng" w="28575">
            <a:solidFill>
              <a:schemeClr val="dk1"/>
            </a:solidFill>
            <a:prstDash val="solid"/>
            <a:round/>
            <a:headEnd len="sm" w="sm" type="none"/>
            <a:tailEnd len="med" w="med" type="triangle"/>
          </a:ln>
        </p:spPr>
      </p:cxnSp>
      <p:cxnSp>
        <p:nvCxnSpPr>
          <p:cNvPr id="449" name="Google Shape;449;p7"/>
          <p:cNvCxnSpPr/>
          <p:nvPr/>
        </p:nvCxnSpPr>
        <p:spPr>
          <a:xfrm>
            <a:off x="4633913" y="4132584"/>
            <a:ext cx="381000" cy="0"/>
          </a:xfrm>
          <a:prstGeom prst="straightConnector1">
            <a:avLst/>
          </a:prstGeom>
          <a:noFill/>
          <a:ln cap="flat" cmpd="sng" w="28575">
            <a:solidFill>
              <a:schemeClr val="dk1"/>
            </a:solidFill>
            <a:prstDash val="solid"/>
            <a:round/>
            <a:headEnd len="sm" w="sm" type="none"/>
            <a:tailEnd len="med" w="med" type="triangle"/>
          </a:ln>
        </p:spPr>
      </p:cxnSp>
      <p:cxnSp>
        <p:nvCxnSpPr>
          <p:cNvPr id="450" name="Google Shape;450;p7"/>
          <p:cNvCxnSpPr/>
          <p:nvPr/>
        </p:nvCxnSpPr>
        <p:spPr>
          <a:xfrm>
            <a:off x="4168775" y="3961134"/>
            <a:ext cx="407988" cy="0"/>
          </a:xfrm>
          <a:prstGeom prst="straightConnector1">
            <a:avLst/>
          </a:prstGeom>
          <a:noFill/>
          <a:ln cap="flat" cmpd="sng" w="28575">
            <a:solidFill>
              <a:schemeClr val="dk1"/>
            </a:solidFill>
            <a:prstDash val="solid"/>
            <a:round/>
            <a:headEnd len="sm" w="sm" type="none"/>
            <a:tailEnd len="med" w="med" type="triangle"/>
          </a:ln>
        </p:spPr>
      </p:cxnSp>
      <p:cxnSp>
        <p:nvCxnSpPr>
          <p:cNvPr id="451" name="Google Shape;451;p7"/>
          <p:cNvCxnSpPr/>
          <p:nvPr/>
        </p:nvCxnSpPr>
        <p:spPr>
          <a:xfrm>
            <a:off x="3654425" y="4419922"/>
            <a:ext cx="0" cy="141287"/>
          </a:xfrm>
          <a:prstGeom prst="straightConnector1">
            <a:avLst/>
          </a:prstGeom>
          <a:noFill/>
          <a:ln cap="flat" cmpd="sng" w="28575">
            <a:solidFill>
              <a:schemeClr val="dk1"/>
            </a:solidFill>
            <a:prstDash val="dash"/>
            <a:round/>
            <a:headEnd len="sm" w="sm" type="none"/>
            <a:tailEnd len="sm" w="sm" type="none"/>
          </a:ln>
        </p:spPr>
      </p:cxnSp>
      <p:cxnSp>
        <p:nvCxnSpPr>
          <p:cNvPr id="452" name="Google Shape;452;p7"/>
          <p:cNvCxnSpPr/>
          <p:nvPr/>
        </p:nvCxnSpPr>
        <p:spPr>
          <a:xfrm>
            <a:off x="4141788" y="3724597"/>
            <a:ext cx="0" cy="90487"/>
          </a:xfrm>
          <a:prstGeom prst="straightConnector1">
            <a:avLst/>
          </a:prstGeom>
          <a:noFill/>
          <a:ln cap="flat" cmpd="sng" w="28575">
            <a:solidFill>
              <a:schemeClr val="dk1"/>
            </a:solidFill>
            <a:prstDash val="dash"/>
            <a:round/>
            <a:headEnd len="sm" w="sm" type="none"/>
            <a:tailEnd len="sm" w="sm" type="none"/>
          </a:ln>
        </p:spPr>
      </p:cxnSp>
      <p:cxnSp>
        <p:nvCxnSpPr>
          <p:cNvPr id="453" name="Google Shape;453;p7"/>
          <p:cNvCxnSpPr/>
          <p:nvPr/>
        </p:nvCxnSpPr>
        <p:spPr>
          <a:xfrm>
            <a:off x="4591050" y="3724597"/>
            <a:ext cx="0" cy="241300"/>
          </a:xfrm>
          <a:prstGeom prst="straightConnector1">
            <a:avLst/>
          </a:prstGeom>
          <a:noFill/>
          <a:ln cap="flat" cmpd="sng" w="28575">
            <a:solidFill>
              <a:schemeClr val="dk1"/>
            </a:solidFill>
            <a:prstDash val="dash"/>
            <a:round/>
            <a:headEnd len="sm" w="sm" type="none"/>
            <a:tailEnd len="sm" w="sm" type="none"/>
          </a:ln>
        </p:spPr>
      </p:cxnSp>
      <p:cxnSp>
        <p:nvCxnSpPr>
          <p:cNvPr id="454" name="Google Shape;454;p7"/>
          <p:cNvCxnSpPr/>
          <p:nvPr/>
        </p:nvCxnSpPr>
        <p:spPr>
          <a:xfrm>
            <a:off x="5030788" y="4254822"/>
            <a:ext cx="0" cy="303212"/>
          </a:xfrm>
          <a:prstGeom prst="straightConnector1">
            <a:avLst/>
          </a:prstGeom>
          <a:noFill/>
          <a:ln cap="flat" cmpd="sng" w="28575">
            <a:solidFill>
              <a:schemeClr val="dk1"/>
            </a:solidFill>
            <a:prstDash val="dash"/>
            <a:round/>
            <a:headEnd len="sm" w="sm" type="none"/>
            <a:tailEnd len="sm" w="sm" type="none"/>
          </a:ln>
        </p:spPr>
      </p:cxnSp>
      <p:cxnSp>
        <p:nvCxnSpPr>
          <p:cNvPr id="455" name="Google Shape;455;p7"/>
          <p:cNvCxnSpPr/>
          <p:nvPr/>
        </p:nvCxnSpPr>
        <p:spPr>
          <a:xfrm>
            <a:off x="5438775" y="3724597"/>
            <a:ext cx="0" cy="833437"/>
          </a:xfrm>
          <a:prstGeom prst="straightConnector1">
            <a:avLst/>
          </a:prstGeom>
          <a:noFill/>
          <a:ln cap="flat" cmpd="sng" w="28575">
            <a:solidFill>
              <a:schemeClr val="dk1"/>
            </a:solidFill>
            <a:prstDash val="dash"/>
            <a:round/>
            <a:headEnd len="sm" w="sm" type="none"/>
            <a:tailEnd len="sm" w="sm" type="none"/>
          </a:ln>
        </p:spPr>
      </p:cxnSp>
      <p:sp>
        <p:nvSpPr>
          <p:cNvPr id="456" name="Google Shape;456;p7"/>
          <p:cNvSpPr/>
          <p:nvPr/>
        </p:nvSpPr>
        <p:spPr>
          <a:xfrm rot="-5400000">
            <a:off x="3352801" y="4078609"/>
            <a:ext cx="603250" cy="6032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57" name="Google Shape;457;p7"/>
          <p:cNvCxnSpPr/>
          <p:nvPr/>
        </p:nvCxnSpPr>
        <p:spPr>
          <a:xfrm>
            <a:off x="3654425" y="3723009"/>
            <a:ext cx="0" cy="88900"/>
          </a:xfrm>
          <a:prstGeom prst="straightConnector1">
            <a:avLst/>
          </a:prstGeom>
          <a:noFill/>
          <a:ln cap="flat" cmpd="sng" w="28575">
            <a:solidFill>
              <a:schemeClr val="dk1"/>
            </a:solidFill>
            <a:prstDash val="dash"/>
            <a:round/>
            <a:headEnd len="sm" w="sm" type="none"/>
            <a:tailEnd len="sm" w="sm" type="none"/>
          </a:ln>
        </p:spPr>
      </p:cxnSp>
      <p:sp>
        <p:nvSpPr>
          <p:cNvPr id="458" name="Google Shape;458;p7"/>
          <p:cNvSpPr/>
          <p:nvPr/>
        </p:nvSpPr>
        <p:spPr>
          <a:xfrm rot="-5400000">
            <a:off x="3897312" y="4026222"/>
            <a:ext cx="485775" cy="6350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59" name="Google Shape;459;p7"/>
          <p:cNvCxnSpPr/>
          <p:nvPr/>
        </p:nvCxnSpPr>
        <p:spPr>
          <a:xfrm>
            <a:off x="4141788" y="4308797"/>
            <a:ext cx="0" cy="249237"/>
          </a:xfrm>
          <a:prstGeom prst="straightConnector1">
            <a:avLst/>
          </a:prstGeom>
          <a:noFill/>
          <a:ln cap="flat" cmpd="sng" w="28575">
            <a:solidFill>
              <a:schemeClr val="dk1"/>
            </a:solidFill>
            <a:prstDash val="dash"/>
            <a:round/>
            <a:headEnd len="sm" w="sm" type="none"/>
            <a:tailEnd len="sm" w="sm" type="none"/>
          </a:ln>
        </p:spPr>
      </p:cxnSp>
      <p:sp>
        <p:nvSpPr>
          <p:cNvPr id="460" name="Google Shape;460;p7"/>
          <p:cNvSpPr/>
          <p:nvPr/>
        </p:nvSpPr>
        <p:spPr>
          <a:xfrm rot="-5400000">
            <a:off x="4454525" y="4072260"/>
            <a:ext cx="269875" cy="6350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61" name="Google Shape;461;p7"/>
          <p:cNvCxnSpPr/>
          <p:nvPr/>
        </p:nvCxnSpPr>
        <p:spPr>
          <a:xfrm>
            <a:off x="4589463" y="4238947"/>
            <a:ext cx="1587" cy="317500"/>
          </a:xfrm>
          <a:prstGeom prst="straightConnector1">
            <a:avLst/>
          </a:prstGeom>
          <a:noFill/>
          <a:ln cap="flat" cmpd="sng" w="28575">
            <a:solidFill>
              <a:schemeClr val="dk1"/>
            </a:solidFill>
            <a:prstDash val="dash"/>
            <a:round/>
            <a:headEnd len="sm" w="sm" type="none"/>
            <a:tailEnd len="sm" w="sm" type="none"/>
          </a:ln>
        </p:spPr>
      </p:cxnSp>
      <p:sp>
        <p:nvSpPr>
          <p:cNvPr id="462" name="Google Shape;462;p7"/>
          <p:cNvSpPr/>
          <p:nvPr/>
        </p:nvSpPr>
        <p:spPr>
          <a:xfrm rot="-5400000">
            <a:off x="4976813" y="4164334"/>
            <a:ext cx="101600" cy="5715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63" name="Google Shape;463;p7"/>
          <p:cNvCxnSpPr/>
          <p:nvPr/>
        </p:nvCxnSpPr>
        <p:spPr>
          <a:xfrm>
            <a:off x="5030788" y="3724597"/>
            <a:ext cx="0" cy="415925"/>
          </a:xfrm>
          <a:prstGeom prst="straightConnector1">
            <a:avLst/>
          </a:prstGeom>
          <a:noFill/>
          <a:ln cap="flat" cmpd="sng" w="28575">
            <a:solidFill>
              <a:schemeClr val="dk1"/>
            </a:solidFill>
            <a:prstDash val="dash"/>
            <a:round/>
            <a:headEnd len="sm" w="sm" type="none"/>
            <a:tailEnd len="sm" w="sm" type="none"/>
          </a:ln>
        </p:spPr>
      </p:cxnSp>
      <p:sp>
        <p:nvSpPr>
          <p:cNvPr id="464" name="Google Shape;464;p7"/>
          <p:cNvSpPr/>
          <p:nvPr/>
        </p:nvSpPr>
        <p:spPr>
          <a:xfrm>
            <a:off x="4387850" y="3494409"/>
            <a:ext cx="347663" cy="19685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65" name="Google Shape;465;p7"/>
          <p:cNvSpPr/>
          <p:nvPr/>
        </p:nvSpPr>
        <p:spPr>
          <a:xfrm>
            <a:off x="5278438" y="3494409"/>
            <a:ext cx="347662" cy="19685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66" name="Google Shape;466;p7"/>
          <p:cNvSpPr/>
          <p:nvPr/>
        </p:nvSpPr>
        <p:spPr>
          <a:xfrm>
            <a:off x="4784725" y="3494409"/>
            <a:ext cx="442913" cy="19685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67" name="Google Shape;467;p7"/>
          <p:cNvSpPr/>
          <p:nvPr/>
        </p:nvSpPr>
        <p:spPr>
          <a:xfrm>
            <a:off x="3984625" y="3494409"/>
            <a:ext cx="349250" cy="19685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8"/>
          <p:cNvSpPr txBox="1"/>
          <p:nvPr/>
        </p:nvSpPr>
        <p:spPr>
          <a:xfrm>
            <a:off x="546100" y="1117804"/>
            <a:ext cx="2438400" cy="478336"/>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2400">
                <a:solidFill>
                  <a:srgbClr val="0000FF"/>
                </a:solidFill>
                <a:latin typeface="Times New Roman"/>
                <a:ea typeface="Times New Roman"/>
                <a:cs typeface="Times New Roman"/>
                <a:sym typeface="Times New Roman"/>
              </a:rPr>
              <a:t>Lớp phân tích</a:t>
            </a:r>
            <a:endParaRPr sz="2400">
              <a:solidFill>
                <a:srgbClr val="FF0000"/>
              </a:solidFill>
              <a:latin typeface="Times New Roman"/>
              <a:ea typeface="Times New Roman"/>
              <a:cs typeface="Times New Roman"/>
              <a:sym typeface="Times New Roman"/>
            </a:endParaRPr>
          </a:p>
        </p:txBody>
      </p:sp>
      <p:sp>
        <p:nvSpPr>
          <p:cNvPr id="476" name="Google Shape;476;p8"/>
          <p:cNvSpPr txBox="1"/>
          <p:nvPr/>
        </p:nvSpPr>
        <p:spPr>
          <a:xfrm>
            <a:off x="6045200" y="1117804"/>
            <a:ext cx="2438400" cy="478336"/>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2400">
                <a:solidFill>
                  <a:srgbClr val="0000FF"/>
                </a:solidFill>
                <a:latin typeface="Times New Roman"/>
                <a:ea typeface="Times New Roman"/>
                <a:cs typeface="Times New Roman"/>
                <a:sym typeface="Times New Roman"/>
              </a:rPr>
              <a:t>Phần tử thiết kế</a:t>
            </a:r>
            <a:endParaRPr sz="2400">
              <a:solidFill>
                <a:srgbClr val="0000FF"/>
              </a:solidFill>
              <a:latin typeface="Times New Roman"/>
              <a:ea typeface="Times New Roman"/>
              <a:cs typeface="Times New Roman"/>
              <a:sym typeface="Times New Roman"/>
            </a:endParaRPr>
          </a:p>
        </p:txBody>
      </p:sp>
      <p:sp>
        <p:nvSpPr>
          <p:cNvPr id="477" name="Google Shape;477;p8"/>
          <p:cNvSpPr txBox="1"/>
          <p:nvPr/>
        </p:nvSpPr>
        <p:spPr>
          <a:xfrm>
            <a:off x="2590800" y="6248604"/>
            <a:ext cx="3962400" cy="504825"/>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i="1" lang="en-US" sz="2600">
                <a:solidFill>
                  <a:srgbClr val="00CCFF"/>
                </a:solidFill>
                <a:latin typeface="Times New Roman"/>
                <a:ea typeface="Times New Roman"/>
                <a:cs typeface="Times New Roman"/>
                <a:sym typeface="Times New Roman"/>
              </a:rPr>
              <a:t>Ánh xạ Nhiều – Nhiều</a:t>
            </a:r>
            <a:endParaRPr i="1" sz="2600">
              <a:solidFill>
                <a:srgbClr val="00CCFF"/>
              </a:solidFill>
              <a:latin typeface="Times New Roman"/>
              <a:ea typeface="Times New Roman"/>
              <a:cs typeface="Times New Roman"/>
              <a:sym typeface="Times New Roman"/>
            </a:endParaRPr>
          </a:p>
        </p:txBody>
      </p:sp>
      <p:sp>
        <p:nvSpPr>
          <p:cNvPr id="478" name="Google Shape;478;p8"/>
          <p:cNvSpPr txBox="1"/>
          <p:nvPr>
            <p:ph type="title"/>
          </p:nvPr>
        </p:nvSpPr>
        <p:spPr>
          <a:xfrm>
            <a:off x="152400" y="-10908"/>
            <a:ext cx="8839200" cy="859041"/>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US" sz="3600"/>
              <a:t>Nhắc lại: Từ Lớp phân tích thới Phần tử thiết kế</a:t>
            </a:r>
            <a:endParaRPr sz="3600"/>
          </a:p>
        </p:txBody>
      </p:sp>
      <p:sp>
        <p:nvSpPr>
          <p:cNvPr id="479" name="Google Shape;479;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cxnSp>
        <p:nvCxnSpPr>
          <p:cNvPr id="480" name="Google Shape;480;p8"/>
          <p:cNvCxnSpPr/>
          <p:nvPr/>
        </p:nvCxnSpPr>
        <p:spPr>
          <a:xfrm>
            <a:off x="2317750" y="2035379"/>
            <a:ext cx="3336925" cy="2528888"/>
          </a:xfrm>
          <a:prstGeom prst="straightConnector1">
            <a:avLst/>
          </a:prstGeom>
          <a:noFill/>
          <a:ln cap="flat" cmpd="sng" w="12700">
            <a:solidFill>
              <a:schemeClr val="hlink"/>
            </a:solidFill>
            <a:prstDash val="solid"/>
            <a:round/>
            <a:headEnd len="sm" w="sm" type="none"/>
            <a:tailEnd len="sm" w="sm" type="none"/>
          </a:ln>
        </p:spPr>
      </p:cxnSp>
      <p:cxnSp>
        <p:nvCxnSpPr>
          <p:cNvPr id="481" name="Google Shape;481;p8"/>
          <p:cNvCxnSpPr/>
          <p:nvPr/>
        </p:nvCxnSpPr>
        <p:spPr>
          <a:xfrm>
            <a:off x="2325688" y="2043317"/>
            <a:ext cx="3338512" cy="1182687"/>
          </a:xfrm>
          <a:prstGeom prst="straightConnector1">
            <a:avLst/>
          </a:prstGeom>
          <a:noFill/>
          <a:ln cap="flat" cmpd="sng" w="12700">
            <a:solidFill>
              <a:schemeClr val="hlink"/>
            </a:solidFill>
            <a:prstDash val="solid"/>
            <a:round/>
            <a:headEnd len="sm" w="sm" type="none"/>
            <a:tailEnd len="sm" w="sm" type="none"/>
          </a:ln>
        </p:spPr>
      </p:cxnSp>
      <p:cxnSp>
        <p:nvCxnSpPr>
          <p:cNvPr id="482" name="Google Shape;482;p8"/>
          <p:cNvCxnSpPr/>
          <p:nvPr/>
        </p:nvCxnSpPr>
        <p:spPr>
          <a:xfrm flipH="1" rot="10800000">
            <a:off x="2924175" y="2044904"/>
            <a:ext cx="3076575" cy="1173163"/>
          </a:xfrm>
          <a:prstGeom prst="straightConnector1">
            <a:avLst/>
          </a:prstGeom>
          <a:noFill/>
          <a:ln cap="flat" cmpd="sng" w="12700">
            <a:solidFill>
              <a:schemeClr val="hlink"/>
            </a:solidFill>
            <a:prstDash val="solid"/>
            <a:round/>
            <a:headEnd len="sm" w="sm" type="none"/>
            <a:tailEnd len="sm" w="sm" type="none"/>
          </a:ln>
        </p:spPr>
      </p:cxnSp>
      <p:cxnSp>
        <p:nvCxnSpPr>
          <p:cNvPr id="483" name="Google Shape;483;p8"/>
          <p:cNvCxnSpPr/>
          <p:nvPr/>
        </p:nvCxnSpPr>
        <p:spPr>
          <a:xfrm>
            <a:off x="2932113" y="3224417"/>
            <a:ext cx="2724150" cy="1343025"/>
          </a:xfrm>
          <a:prstGeom prst="straightConnector1">
            <a:avLst/>
          </a:prstGeom>
          <a:noFill/>
          <a:ln cap="flat" cmpd="sng" w="12700">
            <a:solidFill>
              <a:schemeClr val="hlink"/>
            </a:solidFill>
            <a:prstDash val="solid"/>
            <a:round/>
            <a:headEnd len="sm" w="sm" type="none"/>
            <a:tailEnd len="sm" w="sm" type="none"/>
          </a:ln>
        </p:spPr>
      </p:cxnSp>
      <p:cxnSp>
        <p:nvCxnSpPr>
          <p:cNvPr id="484" name="Google Shape;484;p8"/>
          <p:cNvCxnSpPr/>
          <p:nvPr/>
        </p:nvCxnSpPr>
        <p:spPr>
          <a:xfrm flipH="1" rot="10800000">
            <a:off x="2611438" y="3213304"/>
            <a:ext cx="3040062" cy="2443163"/>
          </a:xfrm>
          <a:prstGeom prst="straightConnector1">
            <a:avLst/>
          </a:prstGeom>
          <a:noFill/>
          <a:ln cap="flat" cmpd="sng" w="12700">
            <a:solidFill>
              <a:schemeClr val="hlink"/>
            </a:solidFill>
            <a:prstDash val="solid"/>
            <a:round/>
            <a:headEnd len="sm" w="sm" type="none"/>
            <a:tailEnd len="sm" w="sm" type="none"/>
          </a:ln>
        </p:spPr>
      </p:cxnSp>
      <p:cxnSp>
        <p:nvCxnSpPr>
          <p:cNvPr id="485" name="Google Shape;485;p8"/>
          <p:cNvCxnSpPr/>
          <p:nvPr/>
        </p:nvCxnSpPr>
        <p:spPr>
          <a:xfrm>
            <a:off x="2625725" y="5645354"/>
            <a:ext cx="3030538" cy="1588"/>
          </a:xfrm>
          <a:prstGeom prst="straightConnector1">
            <a:avLst/>
          </a:prstGeom>
          <a:noFill/>
          <a:ln cap="flat" cmpd="sng" w="12700">
            <a:solidFill>
              <a:schemeClr val="hlink"/>
            </a:solidFill>
            <a:prstDash val="solid"/>
            <a:round/>
            <a:headEnd len="sm" w="sm" type="none"/>
            <a:tailEnd len="sm" w="sm" type="none"/>
          </a:ln>
        </p:spPr>
      </p:cxnSp>
      <p:cxnSp>
        <p:nvCxnSpPr>
          <p:cNvPr id="486" name="Google Shape;486;p8"/>
          <p:cNvCxnSpPr/>
          <p:nvPr/>
        </p:nvCxnSpPr>
        <p:spPr>
          <a:xfrm>
            <a:off x="2927350" y="3224417"/>
            <a:ext cx="2730500" cy="4762"/>
          </a:xfrm>
          <a:prstGeom prst="straightConnector1">
            <a:avLst/>
          </a:prstGeom>
          <a:noFill/>
          <a:ln cap="flat" cmpd="sng" w="12700">
            <a:solidFill>
              <a:schemeClr val="hlink"/>
            </a:solidFill>
            <a:prstDash val="solid"/>
            <a:round/>
            <a:headEnd len="sm" w="sm" type="none"/>
            <a:tailEnd len="sm" w="sm" type="none"/>
          </a:ln>
        </p:spPr>
      </p:cxnSp>
      <p:cxnSp>
        <p:nvCxnSpPr>
          <p:cNvPr id="487" name="Google Shape;487;p8"/>
          <p:cNvCxnSpPr/>
          <p:nvPr/>
        </p:nvCxnSpPr>
        <p:spPr>
          <a:xfrm flipH="1" rot="10800000">
            <a:off x="2082800" y="2044904"/>
            <a:ext cx="3921125" cy="2336800"/>
          </a:xfrm>
          <a:prstGeom prst="straightConnector1">
            <a:avLst/>
          </a:prstGeom>
          <a:noFill/>
          <a:ln cap="flat" cmpd="sng" w="12700">
            <a:solidFill>
              <a:schemeClr val="hlink"/>
            </a:solidFill>
            <a:prstDash val="solid"/>
            <a:round/>
            <a:headEnd len="sm" w="sm" type="none"/>
            <a:tailEnd len="sm" w="sm" type="none"/>
          </a:ln>
        </p:spPr>
      </p:cxnSp>
      <p:cxnSp>
        <p:nvCxnSpPr>
          <p:cNvPr id="488" name="Google Shape;488;p8"/>
          <p:cNvCxnSpPr/>
          <p:nvPr/>
        </p:nvCxnSpPr>
        <p:spPr>
          <a:xfrm>
            <a:off x="2311400" y="2043317"/>
            <a:ext cx="3683000" cy="3175"/>
          </a:xfrm>
          <a:prstGeom prst="straightConnector1">
            <a:avLst/>
          </a:prstGeom>
          <a:noFill/>
          <a:ln cap="flat" cmpd="sng" w="12700">
            <a:solidFill>
              <a:schemeClr val="hlink"/>
            </a:solidFill>
            <a:prstDash val="solid"/>
            <a:round/>
            <a:headEnd len="sm" w="sm" type="none"/>
            <a:tailEnd len="sm" w="sm" type="none"/>
          </a:ln>
        </p:spPr>
      </p:cxnSp>
      <p:cxnSp>
        <p:nvCxnSpPr>
          <p:cNvPr id="489" name="Google Shape;489;p8"/>
          <p:cNvCxnSpPr/>
          <p:nvPr/>
        </p:nvCxnSpPr>
        <p:spPr>
          <a:xfrm flipH="1" rot="10800000">
            <a:off x="2611438" y="4567442"/>
            <a:ext cx="3048000" cy="1079500"/>
          </a:xfrm>
          <a:prstGeom prst="straightConnector1">
            <a:avLst/>
          </a:prstGeom>
          <a:noFill/>
          <a:ln cap="flat" cmpd="sng" w="12700">
            <a:solidFill>
              <a:schemeClr val="hlink"/>
            </a:solidFill>
            <a:prstDash val="solid"/>
            <a:round/>
            <a:headEnd len="sm" w="sm" type="none"/>
            <a:tailEnd len="sm" w="sm" type="none"/>
          </a:ln>
        </p:spPr>
      </p:cxnSp>
      <p:cxnSp>
        <p:nvCxnSpPr>
          <p:cNvPr id="490" name="Google Shape;490;p8"/>
          <p:cNvCxnSpPr/>
          <p:nvPr/>
        </p:nvCxnSpPr>
        <p:spPr>
          <a:xfrm>
            <a:off x="2081213" y="4380117"/>
            <a:ext cx="3570287" cy="185737"/>
          </a:xfrm>
          <a:prstGeom prst="straightConnector1">
            <a:avLst/>
          </a:prstGeom>
          <a:noFill/>
          <a:ln cap="flat" cmpd="sng" w="12700">
            <a:solidFill>
              <a:schemeClr val="hlink"/>
            </a:solidFill>
            <a:prstDash val="solid"/>
            <a:round/>
            <a:headEnd len="sm" w="sm" type="none"/>
            <a:tailEnd len="sm" w="sm" type="none"/>
          </a:ln>
        </p:spPr>
      </p:cxnSp>
      <p:grpSp>
        <p:nvGrpSpPr>
          <p:cNvPr id="491" name="Google Shape;491;p8"/>
          <p:cNvGrpSpPr/>
          <p:nvPr/>
        </p:nvGrpSpPr>
        <p:grpSpPr>
          <a:xfrm>
            <a:off x="6007100" y="1676604"/>
            <a:ext cx="1066800" cy="809625"/>
            <a:chOff x="349" y="2258"/>
            <a:chExt cx="881" cy="510"/>
          </a:xfrm>
        </p:grpSpPr>
        <p:grpSp>
          <p:nvGrpSpPr>
            <p:cNvPr id="492" name="Google Shape;492;p8"/>
            <p:cNvGrpSpPr/>
            <p:nvPr/>
          </p:nvGrpSpPr>
          <p:grpSpPr>
            <a:xfrm>
              <a:off x="349" y="2258"/>
              <a:ext cx="881" cy="510"/>
              <a:chOff x="734" y="2258"/>
              <a:chExt cx="288" cy="336"/>
            </a:xfrm>
          </p:grpSpPr>
          <p:sp>
            <p:nvSpPr>
              <p:cNvPr id="493" name="Google Shape;493;p8"/>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94" name="Google Shape;494;p8"/>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495" name="Google Shape;495;p8"/>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496" name="Google Shape;496;p8"/>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497" name="Google Shape;497;p8"/>
          <p:cNvGrpSpPr/>
          <p:nvPr/>
        </p:nvGrpSpPr>
        <p:grpSpPr>
          <a:xfrm>
            <a:off x="5664200" y="2870404"/>
            <a:ext cx="1066800" cy="809625"/>
            <a:chOff x="349" y="2258"/>
            <a:chExt cx="881" cy="510"/>
          </a:xfrm>
        </p:grpSpPr>
        <p:grpSp>
          <p:nvGrpSpPr>
            <p:cNvPr id="498" name="Google Shape;498;p8"/>
            <p:cNvGrpSpPr/>
            <p:nvPr/>
          </p:nvGrpSpPr>
          <p:grpSpPr>
            <a:xfrm>
              <a:off x="349" y="2258"/>
              <a:ext cx="881" cy="510"/>
              <a:chOff x="734" y="2258"/>
              <a:chExt cx="288" cy="336"/>
            </a:xfrm>
          </p:grpSpPr>
          <p:sp>
            <p:nvSpPr>
              <p:cNvPr id="499" name="Google Shape;499;p8"/>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00" name="Google Shape;500;p8"/>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501" name="Google Shape;501;p8"/>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502" name="Google Shape;502;p8"/>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503" name="Google Shape;503;p8"/>
          <p:cNvGrpSpPr/>
          <p:nvPr/>
        </p:nvGrpSpPr>
        <p:grpSpPr>
          <a:xfrm>
            <a:off x="7264400" y="3886404"/>
            <a:ext cx="1066800" cy="809625"/>
            <a:chOff x="349" y="2258"/>
            <a:chExt cx="881" cy="510"/>
          </a:xfrm>
        </p:grpSpPr>
        <p:grpSp>
          <p:nvGrpSpPr>
            <p:cNvPr id="504" name="Google Shape;504;p8"/>
            <p:cNvGrpSpPr/>
            <p:nvPr/>
          </p:nvGrpSpPr>
          <p:grpSpPr>
            <a:xfrm>
              <a:off x="349" y="2258"/>
              <a:ext cx="881" cy="510"/>
              <a:chOff x="734" y="2258"/>
              <a:chExt cx="288" cy="336"/>
            </a:xfrm>
          </p:grpSpPr>
          <p:sp>
            <p:nvSpPr>
              <p:cNvPr id="505" name="Google Shape;505;p8"/>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06" name="Google Shape;506;p8"/>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507" name="Google Shape;507;p8"/>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508" name="Google Shape;508;p8"/>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509" name="Google Shape;509;p8"/>
          <p:cNvGrpSpPr/>
          <p:nvPr/>
        </p:nvGrpSpPr>
        <p:grpSpPr>
          <a:xfrm>
            <a:off x="5664200" y="5334204"/>
            <a:ext cx="1066800" cy="809625"/>
            <a:chOff x="349" y="2258"/>
            <a:chExt cx="881" cy="510"/>
          </a:xfrm>
        </p:grpSpPr>
        <p:grpSp>
          <p:nvGrpSpPr>
            <p:cNvPr id="510" name="Google Shape;510;p8"/>
            <p:cNvGrpSpPr/>
            <p:nvPr/>
          </p:nvGrpSpPr>
          <p:grpSpPr>
            <a:xfrm>
              <a:off x="349" y="2258"/>
              <a:ext cx="881" cy="510"/>
              <a:chOff x="734" y="2258"/>
              <a:chExt cx="288" cy="336"/>
            </a:xfrm>
          </p:grpSpPr>
          <p:sp>
            <p:nvSpPr>
              <p:cNvPr id="511" name="Google Shape;511;p8"/>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12" name="Google Shape;512;p8"/>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513" name="Google Shape;513;p8"/>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514" name="Google Shape;514;p8"/>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515" name="Google Shape;515;p8"/>
          <p:cNvGrpSpPr/>
          <p:nvPr/>
        </p:nvGrpSpPr>
        <p:grpSpPr>
          <a:xfrm>
            <a:off x="7416800" y="5232604"/>
            <a:ext cx="1371600" cy="914400"/>
            <a:chOff x="1252" y="3089"/>
            <a:chExt cx="1114" cy="758"/>
          </a:xfrm>
        </p:grpSpPr>
        <p:sp>
          <p:nvSpPr>
            <p:cNvPr id="516" name="Google Shape;516;p8"/>
            <p:cNvSpPr/>
            <p:nvPr/>
          </p:nvSpPr>
          <p:spPr>
            <a:xfrm>
              <a:off x="1252" y="3290"/>
              <a:ext cx="1114" cy="557"/>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7" name="Google Shape;517;p8"/>
            <p:cNvSpPr/>
            <p:nvPr/>
          </p:nvSpPr>
          <p:spPr>
            <a:xfrm>
              <a:off x="1252" y="3089"/>
              <a:ext cx="445" cy="201"/>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518" name="Google Shape;518;p8"/>
          <p:cNvGrpSpPr/>
          <p:nvPr/>
        </p:nvGrpSpPr>
        <p:grpSpPr>
          <a:xfrm>
            <a:off x="5664200" y="4064204"/>
            <a:ext cx="1371600" cy="914400"/>
            <a:chOff x="1252" y="3089"/>
            <a:chExt cx="1114" cy="758"/>
          </a:xfrm>
        </p:grpSpPr>
        <p:sp>
          <p:nvSpPr>
            <p:cNvPr id="519" name="Google Shape;519;p8"/>
            <p:cNvSpPr/>
            <p:nvPr/>
          </p:nvSpPr>
          <p:spPr>
            <a:xfrm>
              <a:off x="1252" y="3290"/>
              <a:ext cx="1114" cy="557"/>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0" name="Google Shape;520;p8"/>
            <p:cNvSpPr/>
            <p:nvPr/>
          </p:nvSpPr>
          <p:spPr>
            <a:xfrm>
              <a:off x="1252" y="3089"/>
              <a:ext cx="445" cy="201"/>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521" name="Google Shape;521;p8"/>
          <p:cNvGrpSpPr/>
          <p:nvPr/>
        </p:nvGrpSpPr>
        <p:grpSpPr>
          <a:xfrm>
            <a:off x="6883400" y="5537404"/>
            <a:ext cx="533400" cy="228600"/>
            <a:chOff x="4368" y="3312"/>
            <a:chExt cx="336" cy="144"/>
          </a:xfrm>
        </p:grpSpPr>
        <p:sp>
          <p:nvSpPr>
            <p:cNvPr id="522" name="Google Shape;522;p8"/>
            <p:cNvSpPr/>
            <p:nvPr/>
          </p:nvSpPr>
          <p:spPr>
            <a:xfrm>
              <a:off x="4368" y="3312"/>
              <a:ext cx="144" cy="144"/>
            </a:xfrm>
            <a:prstGeom prst="ellipse">
              <a:avLst/>
            </a:prstGeom>
            <a:noFill/>
            <a:ln cap="flat" cmpd="sng" w="2857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23" name="Google Shape;523;p8"/>
            <p:cNvCxnSpPr/>
            <p:nvPr/>
          </p:nvCxnSpPr>
          <p:spPr>
            <a:xfrm>
              <a:off x="4512" y="3384"/>
              <a:ext cx="192" cy="0"/>
            </a:xfrm>
            <a:prstGeom prst="straightConnector1">
              <a:avLst/>
            </a:prstGeom>
            <a:noFill/>
            <a:ln cap="flat" cmpd="sng" w="28575">
              <a:solidFill>
                <a:schemeClr val="dk1"/>
              </a:solidFill>
              <a:prstDash val="solid"/>
              <a:round/>
              <a:headEnd len="med" w="med" type="none"/>
              <a:tailEnd len="med" w="med" type="none"/>
            </a:ln>
          </p:spPr>
        </p:cxnSp>
      </p:grpSp>
      <p:grpSp>
        <p:nvGrpSpPr>
          <p:cNvPr id="524" name="Google Shape;524;p8"/>
          <p:cNvGrpSpPr/>
          <p:nvPr/>
        </p:nvGrpSpPr>
        <p:grpSpPr>
          <a:xfrm>
            <a:off x="6883400" y="2565604"/>
            <a:ext cx="1905000" cy="914400"/>
            <a:chOff x="4416" y="1440"/>
            <a:chExt cx="1200" cy="576"/>
          </a:xfrm>
        </p:grpSpPr>
        <p:grpSp>
          <p:nvGrpSpPr>
            <p:cNvPr id="525" name="Google Shape;525;p8"/>
            <p:cNvGrpSpPr/>
            <p:nvPr/>
          </p:nvGrpSpPr>
          <p:grpSpPr>
            <a:xfrm>
              <a:off x="4752" y="1440"/>
              <a:ext cx="864" cy="576"/>
              <a:chOff x="1252" y="3089"/>
              <a:chExt cx="1114" cy="758"/>
            </a:xfrm>
          </p:grpSpPr>
          <p:sp>
            <p:nvSpPr>
              <p:cNvPr id="526" name="Google Shape;526;p8"/>
              <p:cNvSpPr/>
              <p:nvPr/>
            </p:nvSpPr>
            <p:spPr>
              <a:xfrm>
                <a:off x="1252" y="3290"/>
                <a:ext cx="1114" cy="557"/>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7" name="Google Shape;527;p8"/>
              <p:cNvSpPr/>
              <p:nvPr/>
            </p:nvSpPr>
            <p:spPr>
              <a:xfrm>
                <a:off x="1252" y="3089"/>
                <a:ext cx="445" cy="201"/>
              </a:xfrm>
              <a:prstGeom prst="rect">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528" name="Google Shape;528;p8"/>
            <p:cNvGrpSpPr/>
            <p:nvPr/>
          </p:nvGrpSpPr>
          <p:grpSpPr>
            <a:xfrm>
              <a:off x="4416" y="1632"/>
              <a:ext cx="336" cy="144"/>
              <a:chOff x="4368" y="3312"/>
              <a:chExt cx="336" cy="144"/>
            </a:xfrm>
          </p:grpSpPr>
          <p:sp>
            <p:nvSpPr>
              <p:cNvPr id="529" name="Google Shape;529;p8"/>
              <p:cNvSpPr/>
              <p:nvPr/>
            </p:nvSpPr>
            <p:spPr>
              <a:xfrm>
                <a:off x="4368" y="3312"/>
                <a:ext cx="144" cy="144"/>
              </a:xfrm>
              <a:prstGeom prst="ellipse">
                <a:avLst/>
              </a:prstGeom>
              <a:noFill/>
              <a:ln cap="flat" cmpd="sng" w="2857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30" name="Google Shape;530;p8"/>
              <p:cNvCxnSpPr/>
              <p:nvPr/>
            </p:nvCxnSpPr>
            <p:spPr>
              <a:xfrm>
                <a:off x="4512" y="3384"/>
                <a:ext cx="192" cy="0"/>
              </a:xfrm>
              <a:prstGeom prst="straightConnector1">
                <a:avLst/>
              </a:prstGeom>
              <a:noFill/>
              <a:ln cap="flat" cmpd="sng" w="28575">
                <a:solidFill>
                  <a:schemeClr val="dk1"/>
                </a:solidFill>
                <a:prstDash val="solid"/>
                <a:round/>
                <a:headEnd len="med" w="med" type="none"/>
                <a:tailEnd len="med" w="med" type="none"/>
              </a:ln>
            </p:spPr>
          </p:cxnSp>
        </p:grpSp>
        <p:grpSp>
          <p:nvGrpSpPr>
            <p:cNvPr id="531" name="Google Shape;531;p8"/>
            <p:cNvGrpSpPr/>
            <p:nvPr/>
          </p:nvGrpSpPr>
          <p:grpSpPr>
            <a:xfrm>
              <a:off x="4416" y="1872"/>
              <a:ext cx="336" cy="144"/>
              <a:chOff x="4368" y="3312"/>
              <a:chExt cx="336" cy="144"/>
            </a:xfrm>
          </p:grpSpPr>
          <p:sp>
            <p:nvSpPr>
              <p:cNvPr id="532" name="Google Shape;532;p8"/>
              <p:cNvSpPr/>
              <p:nvPr/>
            </p:nvSpPr>
            <p:spPr>
              <a:xfrm>
                <a:off x="4368" y="3312"/>
                <a:ext cx="144" cy="144"/>
              </a:xfrm>
              <a:prstGeom prst="ellipse">
                <a:avLst/>
              </a:prstGeom>
              <a:noFill/>
              <a:ln cap="flat" cmpd="sng" w="28575">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33" name="Google Shape;533;p8"/>
              <p:cNvCxnSpPr/>
              <p:nvPr/>
            </p:nvCxnSpPr>
            <p:spPr>
              <a:xfrm>
                <a:off x="4512" y="3384"/>
                <a:ext cx="192"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534" name="Google Shape;534;p8"/>
          <p:cNvGrpSpPr/>
          <p:nvPr/>
        </p:nvGrpSpPr>
        <p:grpSpPr>
          <a:xfrm>
            <a:off x="787400" y="1678192"/>
            <a:ext cx="1603375" cy="811212"/>
            <a:chOff x="336" y="881"/>
            <a:chExt cx="1010" cy="511"/>
          </a:xfrm>
        </p:grpSpPr>
        <p:grpSp>
          <p:nvGrpSpPr>
            <p:cNvPr id="535" name="Google Shape;535;p8"/>
            <p:cNvGrpSpPr/>
            <p:nvPr/>
          </p:nvGrpSpPr>
          <p:grpSpPr>
            <a:xfrm>
              <a:off x="384" y="882"/>
              <a:ext cx="914" cy="510"/>
              <a:chOff x="349" y="2258"/>
              <a:chExt cx="881" cy="510"/>
            </a:xfrm>
          </p:grpSpPr>
          <p:grpSp>
            <p:nvGrpSpPr>
              <p:cNvPr id="536" name="Google Shape;536;p8"/>
              <p:cNvGrpSpPr/>
              <p:nvPr/>
            </p:nvGrpSpPr>
            <p:grpSpPr>
              <a:xfrm>
                <a:off x="349" y="2258"/>
                <a:ext cx="881" cy="510"/>
                <a:chOff x="734" y="2258"/>
                <a:chExt cx="288" cy="336"/>
              </a:xfrm>
            </p:grpSpPr>
            <p:sp>
              <p:nvSpPr>
                <p:cNvPr id="537" name="Google Shape;537;p8"/>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38" name="Google Shape;538;p8"/>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539" name="Google Shape;539;p8"/>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540" name="Google Shape;540;p8"/>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541" name="Google Shape;541;p8"/>
            <p:cNvSpPr txBox="1"/>
            <p:nvPr/>
          </p:nvSpPr>
          <p:spPr>
            <a:xfrm>
              <a:off x="336" y="881"/>
              <a:ext cx="1010" cy="212"/>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500">
                  <a:solidFill>
                    <a:schemeClr val="dk1"/>
                  </a:solidFill>
                  <a:latin typeface="Constantia"/>
                  <a:ea typeface="Constantia"/>
                  <a:cs typeface="Constantia"/>
                  <a:sym typeface="Constantia"/>
                </a:rPr>
                <a:t>&lt;&lt;boundary&gt;&gt;</a:t>
              </a:r>
              <a:endParaRPr/>
            </a:p>
          </p:txBody>
        </p:sp>
      </p:grpSp>
      <p:grpSp>
        <p:nvGrpSpPr>
          <p:cNvPr id="542" name="Google Shape;542;p8"/>
          <p:cNvGrpSpPr/>
          <p:nvPr/>
        </p:nvGrpSpPr>
        <p:grpSpPr>
          <a:xfrm>
            <a:off x="1390650" y="2808492"/>
            <a:ext cx="1603375" cy="811212"/>
            <a:chOff x="336" y="881"/>
            <a:chExt cx="1010" cy="511"/>
          </a:xfrm>
        </p:grpSpPr>
        <p:grpSp>
          <p:nvGrpSpPr>
            <p:cNvPr id="543" name="Google Shape;543;p8"/>
            <p:cNvGrpSpPr/>
            <p:nvPr/>
          </p:nvGrpSpPr>
          <p:grpSpPr>
            <a:xfrm>
              <a:off x="384" y="882"/>
              <a:ext cx="914" cy="510"/>
              <a:chOff x="349" y="2258"/>
              <a:chExt cx="881" cy="510"/>
            </a:xfrm>
          </p:grpSpPr>
          <p:grpSp>
            <p:nvGrpSpPr>
              <p:cNvPr id="544" name="Google Shape;544;p8"/>
              <p:cNvGrpSpPr/>
              <p:nvPr/>
            </p:nvGrpSpPr>
            <p:grpSpPr>
              <a:xfrm>
                <a:off x="349" y="2258"/>
                <a:ext cx="881" cy="510"/>
                <a:chOff x="734" y="2258"/>
                <a:chExt cx="288" cy="336"/>
              </a:xfrm>
            </p:grpSpPr>
            <p:sp>
              <p:nvSpPr>
                <p:cNvPr id="545" name="Google Shape;545;p8"/>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46" name="Google Shape;546;p8"/>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547" name="Google Shape;547;p8"/>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548" name="Google Shape;548;p8"/>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549" name="Google Shape;549;p8"/>
            <p:cNvSpPr txBox="1"/>
            <p:nvPr/>
          </p:nvSpPr>
          <p:spPr>
            <a:xfrm>
              <a:off x="336" y="881"/>
              <a:ext cx="1010" cy="212"/>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500">
                  <a:solidFill>
                    <a:schemeClr val="dk1"/>
                  </a:solidFill>
                  <a:latin typeface="Constantia"/>
                  <a:ea typeface="Constantia"/>
                  <a:cs typeface="Constantia"/>
                  <a:sym typeface="Constantia"/>
                </a:rPr>
                <a:t>&lt;&lt;control&gt;&gt;</a:t>
              </a:r>
              <a:endParaRPr/>
            </a:p>
          </p:txBody>
        </p:sp>
      </p:grpSp>
      <p:grpSp>
        <p:nvGrpSpPr>
          <p:cNvPr id="550" name="Google Shape;550;p8"/>
          <p:cNvGrpSpPr/>
          <p:nvPr/>
        </p:nvGrpSpPr>
        <p:grpSpPr>
          <a:xfrm>
            <a:off x="546100" y="3937204"/>
            <a:ext cx="1603375" cy="811213"/>
            <a:chOff x="336" y="881"/>
            <a:chExt cx="1010" cy="511"/>
          </a:xfrm>
        </p:grpSpPr>
        <p:grpSp>
          <p:nvGrpSpPr>
            <p:cNvPr id="551" name="Google Shape;551;p8"/>
            <p:cNvGrpSpPr/>
            <p:nvPr/>
          </p:nvGrpSpPr>
          <p:grpSpPr>
            <a:xfrm>
              <a:off x="384" y="882"/>
              <a:ext cx="914" cy="510"/>
              <a:chOff x="349" y="2258"/>
              <a:chExt cx="881" cy="510"/>
            </a:xfrm>
          </p:grpSpPr>
          <p:grpSp>
            <p:nvGrpSpPr>
              <p:cNvPr id="552" name="Google Shape;552;p8"/>
              <p:cNvGrpSpPr/>
              <p:nvPr/>
            </p:nvGrpSpPr>
            <p:grpSpPr>
              <a:xfrm>
                <a:off x="349" y="2258"/>
                <a:ext cx="881" cy="510"/>
                <a:chOff x="734" y="2258"/>
                <a:chExt cx="288" cy="336"/>
              </a:xfrm>
            </p:grpSpPr>
            <p:sp>
              <p:nvSpPr>
                <p:cNvPr id="553" name="Google Shape;553;p8"/>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54" name="Google Shape;554;p8"/>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555" name="Google Shape;555;p8"/>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556" name="Google Shape;556;p8"/>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557" name="Google Shape;557;p8"/>
            <p:cNvSpPr txBox="1"/>
            <p:nvPr/>
          </p:nvSpPr>
          <p:spPr>
            <a:xfrm>
              <a:off x="336" y="881"/>
              <a:ext cx="1010" cy="212"/>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500">
                  <a:solidFill>
                    <a:schemeClr val="dk1"/>
                  </a:solidFill>
                  <a:latin typeface="Constantia"/>
                  <a:ea typeface="Constantia"/>
                  <a:cs typeface="Constantia"/>
                  <a:sym typeface="Constantia"/>
                </a:rPr>
                <a:t>&lt;&lt;entity&gt;&gt;</a:t>
              </a:r>
              <a:endParaRPr/>
            </a:p>
          </p:txBody>
        </p:sp>
      </p:grpSp>
      <p:grpSp>
        <p:nvGrpSpPr>
          <p:cNvPr id="558" name="Google Shape;558;p8"/>
          <p:cNvGrpSpPr/>
          <p:nvPr/>
        </p:nvGrpSpPr>
        <p:grpSpPr>
          <a:xfrm>
            <a:off x="1076325" y="5156404"/>
            <a:ext cx="1603375" cy="811213"/>
            <a:chOff x="336" y="881"/>
            <a:chExt cx="1010" cy="511"/>
          </a:xfrm>
        </p:grpSpPr>
        <p:grpSp>
          <p:nvGrpSpPr>
            <p:cNvPr id="559" name="Google Shape;559;p8"/>
            <p:cNvGrpSpPr/>
            <p:nvPr/>
          </p:nvGrpSpPr>
          <p:grpSpPr>
            <a:xfrm>
              <a:off x="384" y="882"/>
              <a:ext cx="914" cy="510"/>
              <a:chOff x="349" y="2258"/>
              <a:chExt cx="881" cy="510"/>
            </a:xfrm>
          </p:grpSpPr>
          <p:grpSp>
            <p:nvGrpSpPr>
              <p:cNvPr id="560" name="Google Shape;560;p8"/>
              <p:cNvGrpSpPr/>
              <p:nvPr/>
            </p:nvGrpSpPr>
            <p:grpSpPr>
              <a:xfrm>
                <a:off x="349" y="2258"/>
                <a:ext cx="881" cy="510"/>
                <a:chOff x="734" y="2258"/>
                <a:chExt cx="288" cy="336"/>
              </a:xfrm>
            </p:grpSpPr>
            <p:sp>
              <p:nvSpPr>
                <p:cNvPr id="561" name="Google Shape;561;p8"/>
                <p:cNvSpPr/>
                <p:nvPr/>
              </p:nvSpPr>
              <p:spPr>
                <a:xfrm>
                  <a:off x="734" y="2258"/>
                  <a:ext cx="288" cy="3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62" name="Google Shape;562;p8"/>
                <p:cNvCxnSpPr/>
                <p:nvPr/>
              </p:nvCxnSpPr>
              <p:spPr>
                <a:xfrm>
                  <a:off x="734" y="2502"/>
                  <a:ext cx="288" cy="0"/>
                </a:xfrm>
                <a:prstGeom prst="straightConnector1">
                  <a:avLst/>
                </a:prstGeom>
                <a:noFill/>
                <a:ln cap="flat" cmpd="sng" w="28575">
                  <a:solidFill>
                    <a:schemeClr val="dk1"/>
                  </a:solidFill>
                  <a:prstDash val="solid"/>
                  <a:round/>
                  <a:headEnd len="sm" w="sm" type="none"/>
                  <a:tailEnd len="sm" w="sm" type="none"/>
                </a:ln>
              </p:spPr>
            </p:cxnSp>
            <p:cxnSp>
              <p:nvCxnSpPr>
                <p:cNvPr id="563" name="Google Shape;563;p8"/>
                <p:cNvCxnSpPr/>
                <p:nvPr/>
              </p:nvCxnSpPr>
              <p:spPr>
                <a:xfrm>
                  <a:off x="734" y="2402"/>
                  <a:ext cx="288" cy="0"/>
                </a:xfrm>
                <a:prstGeom prst="straightConnector1">
                  <a:avLst/>
                </a:prstGeom>
                <a:noFill/>
                <a:ln cap="flat" cmpd="sng" w="28575">
                  <a:solidFill>
                    <a:schemeClr val="dk1"/>
                  </a:solidFill>
                  <a:prstDash val="solid"/>
                  <a:round/>
                  <a:headEnd len="sm" w="sm" type="none"/>
                  <a:tailEnd len="sm" w="sm" type="none"/>
                </a:ln>
              </p:spPr>
            </p:cxnSp>
          </p:grpSp>
          <p:sp>
            <p:nvSpPr>
              <p:cNvPr id="564" name="Google Shape;564;p8"/>
              <p:cNvSpPr txBox="1"/>
              <p:nvPr/>
            </p:nvSpPr>
            <p:spPr>
              <a:xfrm>
                <a:off x="792" y="2296"/>
                <a:ext cx="0" cy="17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565" name="Google Shape;565;p8"/>
            <p:cNvSpPr txBox="1"/>
            <p:nvPr/>
          </p:nvSpPr>
          <p:spPr>
            <a:xfrm>
              <a:off x="336" y="881"/>
              <a:ext cx="1010" cy="212"/>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500">
                  <a:solidFill>
                    <a:schemeClr val="dk1"/>
                  </a:solidFill>
                  <a:latin typeface="Constantia"/>
                  <a:ea typeface="Constantia"/>
                  <a:cs typeface="Constantia"/>
                  <a:sym typeface="Constantia"/>
                </a:rPr>
                <a:t>&lt;&lt;boundary&gt;&gt;</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
          <p:cNvSpPr txBox="1"/>
          <p:nvPr>
            <p:ph type="title"/>
          </p:nvPr>
        </p:nvSpPr>
        <p:spPr>
          <a:xfrm>
            <a:off x="457200" y="26543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Làm mịnh những hiện thực hóa ca sử dụng</a:t>
            </a:r>
            <a:endParaRPr sz="4500"/>
          </a:p>
        </p:txBody>
      </p:sp>
      <p:sp>
        <p:nvSpPr>
          <p:cNvPr id="574" name="Google Shape;574;p9"/>
          <p:cNvSpPr txBox="1"/>
          <p:nvPr>
            <p:ph idx="1" type="body"/>
          </p:nvPr>
        </p:nvSpPr>
        <p:spPr>
          <a:xfrm>
            <a:off x="403225" y="1392209"/>
            <a:ext cx="8229600" cy="4389120"/>
          </a:xfrm>
          <a:prstGeom prst="rect">
            <a:avLst/>
          </a:prstGeom>
          <a:noFill/>
          <a:ln>
            <a:noFill/>
          </a:ln>
        </p:spPr>
        <p:txBody>
          <a:bodyPr anchorCtr="0" anchor="t" bIns="45700" lIns="91425" spcFirstLastPara="1" rIns="91425" wrap="square" tIns="45700">
            <a:normAutofit/>
          </a:bodyPr>
          <a:lstStyle/>
          <a:p>
            <a:pPr indent="-246888" lvl="1" marL="640080" rtl="0" algn="l">
              <a:spcBef>
                <a:spcPts val="0"/>
              </a:spcBef>
              <a:spcAft>
                <a:spcPts val="0"/>
              </a:spcAft>
              <a:buSzPts val="2040"/>
              <a:buChar char="⚫"/>
            </a:pPr>
            <a:r>
              <a:rPr lang="en-US"/>
              <a:t>Xác định đối tượng tham gia trong luồng các sự kiện của ca sử dụng</a:t>
            </a:r>
            <a:endParaRPr/>
          </a:p>
          <a:p>
            <a:pPr indent="-246888" lvl="1" marL="640080" rtl="0" algn="l">
              <a:spcBef>
                <a:spcPts val="480"/>
              </a:spcBef>
              <a:spcAft>
                <a:spcPts val="0"/>
              </a:spcAft>
              <a:buSzPts val="2040"/>
              <a:buChar char="⚫"/>
            </a:pPr>
            <a:r>
              <a:rPr lang="en-US"/>
              <a:t>Phân phối trách nhiệm cho các đối tượng</a:t>
            </a:r>
            <a:endParaRPr/>
          </a:p>
          <a:p>
            <a:pPr indent="-246888" lvl="1" marL="640080" rtl="0" algn="l">
              <a:spcBef>
                <a:spcPts val="480"/>
              </a:spcBef>
              <a:spcAft>
                <a:spcPts val="0"/>
              </a:spcAft>
              <a:buSzPts val="2040"/>
              <a:buChar char="⚫"/>
            </a:pPr>
            <a:r>
              <a:rPr lang="en-US"/>
              <a:t>Minh hoạ việc gửi thông điẹp giữa các đối tượng sử dụng các hình mũi tên</a:t>
            </a:r>
            <a:endParaRPr/>
          </a:p>
          <a:p>
            <a:pPr indent="-246888" lvl="1" marL="640080" rtl="0" algn="l">
              <a:spcBef>
                <a:spcPts val="480"/>
              </a:spcBef>
              <a:spcAft>
                <a:spcPts val="0"/>
              </a:spcAft>
              <a:buSzPts val="2040"/>
              <a:buChar char="⚫"/>
            </a:pPr>
            <a:r>
              <a:rPr lang="en-US"/>
              <a:t>Mô tả kết quả của việc xử lý từ các thông điệp và những gì đối tượng thực hiện khi nó nhận được thông điệp</a:t>
            </a:r>
            <a:endParaRPr/>
          </a:p>
          <a:p>
            <a:pPr indent="-246888" lvl="1" marL="640080" rtl="0" algn="l">
              <a:spcBef>
                <a:spcPts val="480"/>
              </a:spcBef>
              <a:spcAft>
                <a:spcPts val="0"/>
              </a:spcAft>
              <a:buSzPts val="2040"/>
              <a:buChar char="⚫"/>
            </a:pPr>
            <a:r>
              <a:rPr lang="en-US"/>
              <a:t>Mô hình hóa các kết hợp của các lớp</a:t>
            </a:r>
            <a:endParaRPr/>
          </a:p>
        </p:txBody>
      </p:sp>
      <p:sp>
        <p:nvSpPr>
          <p:cNvPr id="575" name="Google Shape;575;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576" name="Google Shape;576;p9"/>
          <p:cNvGrpSpPr/>
          <p:nvPr/>
        </p:nvGrpSpPr>
        <p:grpSpPr>
          <a:xfrm>
            <a:off x="1412875" y="4722150"/>
            <a:ext cx="6261100" cy="1852613"/>
            <a:chOff x="1412875" y="4452330"/>
            <a:chExt cx="6261100" cy="1852613"/>
          </a:xfrm>
        </p:grpSpPr>
        <p:sp>
          <p:nvSpPr>
            <p:cNvPr id="577" name="Google Shape;577;p9"/>
            <p:cNvSpPr txBox="1"/>
            <p:nvPr/>
          </p:nvSpPr>
          <p:spPr>
            <a:xfrm>
              <a:off x="5610225" y="5935055"/>
              <a:ext cx="17970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Class Diagrams</a:t>
              </a:r>
              <a:endParaRPr/>
            </a:p>
          </p:txBody>
        </p:sp>
        <p:grpSp>
          <p:nvGrpSpPr>
            <p:cNvPr id="578" name="Google Shape;578;p9"/>
            <p:cNvGrpSpPr/>
            <p:nvPr/>
          </p:nvGrpSpPr>
          <p:grpSpPr>
            <a:xfrm>
              <a:off x="5189538" y="4538055"/>
              <a:ext cx="2484437" cy="1216025"/>
              <a:chOff x="3477" y="2746"/>
              <a:chExt cx="1565" cy="766"/>
            </a:xfrm>
          </p:grpSpPr>
          <p:grpSp>
            <p:nvGrpSpPr>
              <p:cNvPr id="579" name="Google Shape;579;p9"/>
              <p:cNvGrpSpPr/>
              <p:nvPr/>
            </p:nvGrpSpPr>
            <p:grpSpPr>
              <a:xfrm>
                <a:off x="3477" y="2905"/>
                <a:ext cx="302" cy="175"/>
                <a:chOff x="144" y="1440"/>
                <a:chExt cx="881" cy="510"/>
              </a:xfrm>
            </p:grpSpPr>
            <p:sp>
              <p:nvSpPr>
                <p:cNvPr id="580" name="Google Shape;580;p9"/>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81" name="Google Shape;581;p9"/>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582" name="Google Shape;582;p9"/>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583" name="Google Shape;583;p9"/>
              <p:cNvGrpSpPr/>
              <p:nvPr/>
            </p:nvGrpSpPr>
            <p:grpSpPr>
              <a:xfrm>
                <a:off x="4118" y="2746"/>
                <a:ext cx="302" cy="175"/>
                <a:chOff x="144" y="1440"/>
                <a:chExt cx="881" cy="510"/>
              </a:xfrm>
            </p:grpSpPr>
            <p:sp>
              <p:nvSpPr>
                <p:cNvPr id="584" name="Google Shape;584;p9"/>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85" name="Google Shape;585;p9"/>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586" name="Google Shape;586;p9"/>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587" name="Google Shape;587;p9"/>
              <p:cNvGrpSpPr/>
              <p:nvPr/>
            </p:nvGrpSpPr>
            <p:grpSpPr>
              <a:xfrm>
                <a:off x="3816" y="3337"/>
                <a:ext cx="302" cy="175"/>
                <a:chOff x="144" y="1440"/>
                <a:chExt cx="881" cy="510"/>
              </a:xfrm>
            </p:grpSpPr>
            <p:sp>
              <p:nvSpPr>
                <p:cNvPr id="588" name="Google Shape;588;p9"/>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89" name="Google Shape;589;p9"/>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590" name="Google Shape;590;p9"/>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591" name="Google Shape;591;p9"/>
              <p:cNvGrpSpPr/>
              <p:nvPr/>
            </p:nvGrpSpPr>
            <p:grpSpPr>
              <a:xfrm>
                <a:off x="4740" y="3226"/>
                <a:ext cx="302" cy="175"/>
                <a:chOff x="144" y="1440"/>
                <a:chExt cx="881" cy="510"/>
              </a:xfrm>
            </p:grpSpPr>
            <p:sp>
              <p:nvSpPr>
                <p:cNvPr id="592" name="Google Shape;592;p9"/>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93" name="Google Shape;593;p9"/>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594" name="Google Shape;594;p9"/>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cxnSp>
            <p:nvCxnSpPr>
              <p:cNvPr id="595" name="Google Shape;595;p9"/>
              <p:cNvCxnSpPr/>
              <p:nvPr/>
            </p:nvCxnSpPr>
            <p:spPr>
              <a:xfrm rot="10800000">
                <a:off x="3631" y="3080"/>
                <a:ext cx="312" cy="257"/>
              </a:xfrm>
              <a:prstGeom prst="straightConnector1">
                <a:avLst/>
              </a:prstGeom>
              <a:noFill/>
              <a:ln cap="flat" cmpd="sng" w="28575">
                <a:solidFill>
                  <a:schemeClr val="dk1"/>
                </a:solidFill>
                <a:prstDash val="solid"/>
                <a:round/>
                <a:headEnd len="sm" w="sm" type="none"/>
                <a:tailEnd len="sm" w="sm" type="none"/>
              </a:ln>
            </p:spPr>
          </p:cxnSp>
          <p:cxnSp>
            <p:nvCxnSpPr>
              <p:cNvPr id="596" name="Google Shape;596;p9"/>
              <p:cNvCxnSpPr/>
              <p:nvPr/>
            </p:nvCxnSpPr>
            <p:spPr>
              <a:xfrm flipH="1" rot="10800000">
                <a:off x="3779" y="2834"/>
                <a:ext cx="339" cy="153"/>
              </a:xfrm>
              <a:prstGeom prst="straightConnector1">
                <a:avLst/>
              </a:prstGeom>
              <a:noFill/>
              <a:ln cap="flat" cmpd="sng" w="28575">
                <a:solidFill>
                  <a:schemeClr val="dk1"/>
                </a:solidFill>
                <a:prstDash val="solid"/>
                <a:round/>
                <a:headEnd len="sm" w="sm" type="none"/>
                <a:tailEnd len="sm" w="sm" type="none"/>
              </a:ln>
            </p:spPr>
          </p:cxnSp>
          <p:cxnSp>
            <p:nvCxnSpPr>
              <p:cNvPr id="597" name="Google Shape;597;p9"/>
              <p:cNvCxnSpPr/>
              <p:nvPr/>
            </p:nvCxnSpPr>
            <p:spPr>
              <a:xfrm flipH="1" rot="10800000">
                <a:off x="4118" y="3337"/>
                <a:ext cx="302" cy="82"/>
              </a:xfrm>
              <a:prstGeom prst="straightConnector1">
                <a:avLst/>
              </a:prstGeom>
              <a:noFill/>
              <a:ln cap="flat" cmpd="sng" w="28575">
                <a:solidFill>
                  <a:schemeClr val="dk1"/>
                </a:solidFill>
                <a:prstDash val="solid"/>
                <a:round/>
                <a:headEnd len="sm" w="sm" type="none"/>
                <a:tailEnd len="sm" w="sm" type="none"/>
              </a:ln>
            </p:spPr>
          </p:cxnSp>
          <p:cxnSp>
            <p:nvCxnSpPr>
              <p:cNvPr id="598" name="Google Shape;598;p9"/>
              <p:cNvCxnSpPr/>
              <p:nvPr/>
            </p:nvCxnSpPr>
            <p:spPr>
              <a:xfrm flipH="1" rot="10800000">
                <a:off x="3943" y="2921"/>
                <a:ext cx="329" cy="416"/>
              </a:xfrm>
              <a:prstGeom prst="straightConnector1">
                <a:avLst/>
              </a:prstGeom>
              <a:noFill/>
              <a:ln cap="flat" cmpd="sng" w="28575">
                <a:solidFill>
                  <a:schemeClr val="dk1"/>
                </a:solidFill>
                <a:prstDash val="solid"/>
                <a:round/>
                <a:headEnd len="sm" w="sm" type="none"/>
                <a:tailEnd len="sm" w="sm" type="none"/>
              </a:ln>
            </p:spPr>
          </p:cxnSp>
          <p:grpSp>
            <p:nvGrpSpPr>
              <p:cNvPr id="599" name="Google Shape;599;p9"/>
              <p:cNvGrpSpPr/>
              <p:nvPr/>
            </p:nvGrpSpPr>
            <p:grpSpPr>
              <a:xfrm>
                <a:off x="4420" y="3221"/>
                <a:ext cx="320" cy="192"/>
                <a:chOff x="3978" y="2718"/>
                <a:chExt cx="258" cy="144"/>
              </a:xfrm>
            </p:grpSpPr>
            <p:sp>
              <p:nvSpPr>
                <p:cNvPr id="600" name="Google Shape;600;p9"/>
                <p:cNvSpPr/>
                <p:nvPr/>
              </p:nvSpPr>
              <p:spPr>
                <a:xfrm>
                  <a:off x="3978" y="2718"/>
                  <a:ext cx="144" cy="144"/>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01" name="Google Shape;601;p9"/>
                <p:cNvCxnSpPr/>
                <p:nvPr/>
              </p:nvCxnSpPr>
              <p:spPr>
                <a:xfrm>
                  <a:off x="4122" y="2796"/>
                  <a:ext cx="114" cy="0"/>
                </a:xfrm>
                <a:prstGeom prst="straightConnector1">
                  <a:avLst/>
                </a:prstGeom>
                <a:noFill/>
                <a:ln cap="flat" cmpd="sng" w="28575">
                  <a:solidFill>
                    <a:schemeClr val="dk1"/>
                  </a:solidFill>
                  <a:prstDash val="solid"/>
                  <a:round/>
                  <a:headEnd len="sm" w="sm" type="none"/>
                  <a:tailEnd len="sm" w="sm" type="none"/>
                </a:ln>
              </p:spPr>
            </p:cxnSp>
          </p:grpSp>
        </p:grpSp>
        <p:sp>
          <p:nvSpPr>
            <p:cNvPr id="602" name="Google Shape;602;p9"/>
            <p:cNvSpPr txBox="1"/>
            <p:nvPr/>
          </p:nvSpPr>
          <p:spPr>
            <a:xfrm>
              <a:off x="1412875" y="5938230"/>
              <a:ext cx="310515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Sequence Diagrams</a:t>
              </a:r>
              <a:endParaRPr/>
            </a:p>
          </p:txBody>
        </p:sp>
        <p:grpSp>
          <p:nvGrpSpPr>
            <p:cNvPr id="603" name="Google Shape;603;p9"/>
            <p:cNvGrpSpPr/>
            <p:nvPr/>
          </p:nvGrpSpPr>
          <p:grpSpPr>
            <a:xfrm>
              <a:off x="1503363" y="4452330"/>
              <a:ext cx="263525" cy="350838"/>
              <a:chOff x="7654" y="3380"/>
              <a:chExt cx="554" cy="754"/>
            </a:xfrm>
          </p:grpSpPr>
          <p:sp>
            <p:nvSpPr>
              <p:cNvPr id="604" name="Google Shape;604;p9"/>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05" name="Google Shape;605;p9"/>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606" name="Google Shape;606;p9"/>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607" name="Google Shape;607;p9"/>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cxnSp>
          <p:nvCxnSpPr>
            <p:cNvPr id="608" name="Google Shape;608;p9"/>
            <p:cNvCxnSpPr/>
            <p:nvPr/>
          </p:nvCxnSpPr>
          <p:spPr>
            <a:xfrm>
              <a:off x="1624013" y="5011130"/>
              <a:ext cx="663575" cy="0"/>
            </a:xfrm>
            <a:prstGeom prst="straightConnector1">
              <a:avLst/>
            </a:prstGeom>
            <a:noFill/>
            <a:ln cap="flat" cmpd="sng" w="28575">
              <a:solidFill>
                <a:schemeClr val="dk1"/>
              </a:solidFill>
              <a:prstDash val="solid"/>
              <a:round/>
              <a:headEnd len="sm" w="sm" type="none"/>
              <a:tailEnd len="med" w="med" type="triangle"/>
            </a:ln>
          </p:spPr>
        </p:cxnSp>
        <p:cxnSp>
          <p:nvCxnSpPr>
            <p:cNvPr id="609" name="Google Shape;609;p9"/>
            <p:cNvCxnSpPr/>
            <p:nvPr/>
          </p:nvCxnSpPr>
          <p:spPr>
            <a:xfrm>
              <a:off x="2970213" y="5458805"/>
              <a:ext cx="520700" cy="0"/>
            </a:xfrm>
            <a:prstGeom prst="straightConnector1">
              <a:avLst/>
            </a:prstGeom>
            <a:noFill/>
            <a:ln cap="flat" cmpd="sng" w="28575">
              <a:solidFill>
                <a:schemeClr val="dk1"/>
              </a:solidFill>
              <a:prstDash val="solid"/>
              <a:round/>
              <a:headEnd len="sm" w="sm" type="none"/>
              <a:tailEnd len="med" w="med" type="triangle"/>
            </a:ln>
          </p:spPr>
        </p:cxnSp>
        <p:cxnSp>
          <p:nvCxnSpPr>
            <p:cNvPr id="610" name="Google Shape;610;p9"/>
            <p:cNvCxnSpPr/>
            <p:nvPr/>
          </p:nvCxnSpPr>
          <p:spPr>
            <a:xfrm>
              <a:off x="2333625" y="5223855"/>
              <a:ext cx="558800" cy="0"/>
            </a:xfrm>
            <a:prstGeom prst="straightConnector1">
              <a:avLst/>
            </a:prstGeom>
            <a:noFill/>
            <a:ln cap="flat" cmpd="sng" w="28575">
              <a:solidFill>
                <a:schemeClr val="dk1"/>
              </a:solidFill>
              <a:prstDash val="solid"/>
              <a:round/>
              <a:headEnd len="sm" w="sm" type="none"/>
              <a:tailEnd len="med" w="med" type="triangle"/>
            </a:ln>
          </p:spPr>
        </p:cxnSp>
        <p:cxnSp>
          <p:nvCxnSpPr>
            <p:cNvPr id="611" name="Google Shape;611;p9"/>
            <p:cNvCxnSpPr/>
            <p:nvPr/>
          </p:nvCxnSpPr>
          <p:spPr>
            <a:xfrm>
              <a:off x="1628775" y="5852505"/>
              <a:ext cx="0" cy="192088"/>
            </a:xfrm>
            <a:prstGeom prst="straightConnector1">
              <a:avLst/>
            </a:prstGeom>
            <a:noFill/>
            <a:ln cap="flat" cmpd="sng" w="28575">
              <a:solidFill>
                <a:schemeClr val="dk1"/>
              </a:solidFill>
              <a:prstDash val="dash"/>
              <a:round/>
              <a:headEnd len="sm" w="sm" type="none"/>
              <a:tailEnd len="sm" w="sm" type="none"/>
            </a:ln>
          </p:spPr>
        </p:cxnSp>
        <p:cxnSp>
          <p:nvCxnSpPr>
            <p:cNvPr id="612" name="Google Shape;612;p9"/>
            <p:cNvCxnSpPr/>
            <p:nvPr/>
          </p:nvCxnSpPr>
          <p:spPr>
            <a:xfrm>
              <a:off x="2297113" y="4900005"/>
              <a:ext cx="0" cy="122238"/>
            </a:xfrm>
            <a:prstGeom prst="straightConnector1">
              <a:avLst/>
            </a:prstGeom>
            <a:noFill/>
            <a:ln cap="flat" cmpd="sng" w="28575">
              <a:solidFill>
                <a:schemeClr val="dk1"/>
              </a:solidFill>
              <a:prstDash val="dash"/>
              <a:round/>
              <a:headEnd len="sm" w="sm" type="none"/>
              <a:tailEnd len="sm" w="sm" type="none"/>
            </a:ln>
          </p:spPr>
        </p:cxnSp>
        <p:cxnSp>
          <p:nvCxnSpPr>
            <p:cNvPr id="613" name="Google Shape;613;p9"/>
            <p:cNvCxnSpPr/>
            <p:nvPr/>
          </p:nvCxnSpPr>
          <p:spPr>
            <a:xfrm>
              <a:off x="2911475" y="4900005"/>
              <a:ext cx="0" cy="330200"/>
            </a:xfrm>
            <a:prstGeom prst="straightConnector1">
              <a:avLst/>
            </a:prstGeom>
            <a:noFill/>
            <a:ln cap="flat" cmpd="sng" w="28575">
              <a:solidFill>
                <a:schemeClr val="dk1"/>
              </a:solidFill>
              <a:prstDash val="dash"/>
              <a:round/>
              <a:headEnd len="sm" w="sm" type="none"/>
              <a:tailEnd len="sm" w="sm" type="none"/>
            </a:ln>
          </p:spPr>
        </p:cxnSp>
        <p:cxnSp>
          <p:nvCxnSpPr>
            <p:cNvPr id="614" name="Google Shape;614;p9"/>
            <p:cNvCxnSpPr/>
            <p:nvPr/>
          </p:nvCxnSpPr>
          <p:spPr>
            <a:xfrm>
              <a:off x="3514725" y="5625493"/>
              <a:ext cx="0" cy="415925"/>
            </a:xfrm>
            <a:prstGeom prst="straightConnector1">
              <a:avLst/>
            </a:prstGeom>
            <a:noFill/>
            <a:ln cap="flat" cmpd="sng" w="28575">
              <a:solidFill>
                <a:schemeClr val="dk1"/>
              </a:solidFill>
              <a:prstDash val="dash"/>
              <a:round/>
              <a:headEnd len="sm" w="sm" type="none"/>
              <a:tailEnd len="sm" w="sm" type="none"/>
            </a:ln>
          </p:spPr>
        </p:cxnSp>
        <p:cxnSp>
          <p:nvCxnSpPr>
            <p:cNvPr id="615" name="Google Shape;615;p9"/>
            <p:cNvCxnSpPr/>
            <p:nvPr/>
          </p:nvCxnSpPr>
          <p:spPr>
            <a:xfrm>
              <a:off x="4073525" y="4900005"/>
              <a:ext cx="0" cy="1141413"/>
            </a:xfrm>
            <a:prstGeom prst="straightConnector1">
              <a:avLst/>
            </a:prstGeom>
            <a:noFill/>
            <a:ln cap="flat" cmpd="sng" w="28575">
              <a:solidFill>
                <a:schemeClr val="dk1"/>
              </a:solidFill>
              <a:prstDash val="dash"/>
              <a:round/>
              <a:headEnd len="sm" w="sm" type="none"/>
              <a:tailEnd len="sm" w="sm" type="none"/>
            </a:ln>
          </p:spPr>
        </p:cxnSp>
        <p:sp>
          <p:nvSpPr>
            <p:cNvPr id="616" name="Google Shape;616;p9"/>
            <p:cNvSpPr/>
            <p:nvPr/>
          </p:nvSpPr>
          <p:spPr>
            <a:xfrm rot="-5400000">
              <a:off x="1216819" y="5383399"/>
              <a:ext cx="825500" cy="84138"/>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17" name="Google Shape;617;p9"/>
            <p:cNvCxnSpPr/>
            <p:nvPr/>
          </p:nvCxnSpPr>
          <p:spPr>
            <a:xfrm>
              <a:off x="1628775" y="4896830"/>
              <a:ext cx="0" cy="122238"/>
            </a:xfrm>
            <a:prstGeom prst="straightConnector1">
              <a:avLst/>
            </a:prstGeom>
            <a:noFill/>
            <a:ln cap="flat" cmpd="sng" w="28575">
              <a:solidFill>
                <a:schemeClr val="dk1"/>
              </a:solidFill>
              <a:prstDash val="dash"/>
              <a:round/>
              <a:headEnd len="sm" w="sm" type="none"/>
              <a:tailEnd len="sm" w="sm" type="none"/>
            </a:ln>
          </p:spPr>
        </p:cxnSp>
        <p:sp>
          <p:nvSpPr>
            <p:cNvPr id="618" name="Google Shape;618;p9"/>
            <p:cNvSpPr/>
            <p:nvPr/>
          </p:nvSpPr>
          <p:spPr>
            <a:xfrm rot="-5400000">
              <a:off x="1962944" y="5311961"/>
              <a:ext cx="663575" cy="87313"/>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19" name="Google Shape;619;p9"/>
            <p:cNvCxnSpPr/>
            <p:nvPr/>
          </p:nvCxnSpPr>
          <p:spPr>
            <a:xfrm>
              <a:off x="2297113" y="5700105"/>
              <a:ext cx="0" cy="341313"/>
            </a:xfrm>
            <a:prstGeom prst="straightConnector1">
              <a:avLst/>
            </a:prstGeom>
            <a:noFill/>
            <a:ln cap="flat" cmpd="sng" w="28575">
              <a:solidFill>
                <a:schemeClr val="dk1"/>
              </a:solidFill>
              <a:prstDash val="dash"/>
              <a:round/>
              <a:headEnd len="sm" w="sm" type="none"/>
              <a:tailEnd len="sm" w="sm" type="none"/>
            </a:ln>
          </p:spPr>
        </p:cxnSp>
        <p:sp>
          <p:nvSpPr>
            <p:cNvPr id="620" name="Google Shape;620;p9"/>
            <p:cNvSpPr/>
            <p:nvPr/>
          </p:nvSpPr>
          <p:spPr>
            <a:xfrm rot="-5400000">
              <a:off x="2724944" y="5375461"/>
              <a:ext cx="369888" cy="8572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21" name="Google Shape;621;p9"/>
            <p:cNvCxnSpPr/>
            <p:nvPr/>
          </p:nvCxnSpPr>
          <p:spPr>
            <a:xfrm>
              <a:off x="2908300" y="5603268"/>
              <a:ext cx="3175" cy="436562"/>
            </a:xfrm>
            <a:prstGeom prst="straightConnector1">
              <a:avLst/>
            </a:prstGeom>
            <a:noFill/>
            <a:ln cap="flat" cmpd="sng" w="28575">
              <a:solidFill>
                <a:schemeClr val="dk1"/>
              </a:solidFill>
              <a:prstDash val="dash"/>
              <a:round/>
              <a:headEnd len="sm" w="sm" type="none"/>
              <a:tailEnd len="sm" w="sm" type="none"/>
            </a:ln>
          </p:spPr>
        </p:cxnSp>
        <p:sp>
          <p:nvSpPr>
            <p:cNvPr id="622" name="Google Shape;622;p9"/>
            <p:cNvSpPr/>
            <p:nvPr/>
          </p:nvSpPr>
          <p:spPr>
            <a:xfrm rot="-5400000">
              <a:off x="3440112" y="5501668"/>
              <a:ext cx="138113" cy="77788"/>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23" name="Google Shape;623;p9"/>
            <p:cNvCxnSpPr/>
            <p:nvPr/>
          </p:nvCxnSpPr>
          <p:spPr>
            <a:xfrm>
              <a:off x="3514725" y="4898418"/>
              <a:ext cx="0" cy="571500"/>
            </a:xfrm>
            <a:prstGeom prst="straightConnector1">
              <a:avLst/>
            </a:prstGeom>
            <a:noFill/>
            <a:ln cap="flat" cmpd="sng" w="28575">
              <a:solidFill>
                <a:schemeClr val="dk1"/>
              </a:solidFill>
              <a:prstDash val="dash"/>
              <a:round/>
              <a:headEnd len="sm" w="sm" type="none"/>
              <a:tailEnd len="sm" w="sm" type="none"/>
            </a:ln>
          </p:spPr>
        </p:cxnSp>
        <p:sp>
          <p:nvSpPr>
            <p:cNvPr id="624" name="Google Shape;624;p9"/>
            <p:cNvSpPr/>
            <p:nvPr/>
          </p:nvSpPr>
          <p:spPr>
            <a:xfrm>
              <a:off x="2633663" y="4584093"/>
              <a:ext cx="476250" cy="26987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25" name="Google Shape;625;p9"/>
            <p:cNvSpPr/>
            <p:nvPr/>
          </p:nvSpPr>
          <p:spPr>
            <a:xfrm>
              <a:off x="3851275" y="4584093"/>
              <a:ext cx="477838" cy="26987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26" name="Google Shape;626;p9"/>
            <p:cNvSpPr/>
            <p:nvPr/>
          </p:nvSpPr>
          <p:spPr>
            <a:xfrm>
              <a:off x="3178175" y="4584093"/>
              <a:ext cx="606425" cy="26987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27" name="Google Shape;627;p9"/>
            <p:cNvSpPr/>
            <p:nvPr/>
          </p:nvSpPr>
          <p:spPr>
            <a:xfrm>
              <a:off x="2082800" y="4584093"/>
              <a:ext cx="476250" cy="26987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10"/>
          <p:cNvSpPr txBox="1"/>
          <p:nvPr>
            <p:ph type="title"/>
          </p:nvPr>
        </p:nvSpPr>
        <p:spPr>
          <a:xfrm>
            <a:off x="0" y="317501"/>
            <a:ext cx="9144000" cy="955674"/>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Các bước làm mịn sự trừu tượng hóa ca sử dụng</a:t>
            </a:r>
            <a:endParaRPr sz="3600"/>
          </a:p>
        </p:txBody>
      </p:sp>
      <p:sp>
        <p:nvSpPr>
          <p:cNvPr id="636" name="Google Shape;636;p10"/>
          <p:cNvSpPr txBox="1"/>
          <p:nvPr>
            <p:ph idx="1" type="body"/>
          </p:nvPr>
        </p:nvSpPr>
        <p:spPr>
          <a:xfrm>
            <a:off x="220663" y="1322388"/>
            <a:ext cx="8553450" cy="504348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Xác định các đối tượng tham gia vào luồng sự kiện của cá sử dụng</a:t>
            </a:r>
            <a:endParaRPr/>
          </a:p>
          <a:p>
            <a:pPr indent="-274320" lvl="0" marL="274320" rtl="0" algn="l">
              <a:spcBef>
                <a:spcPts val="520"/>
              </a:spcBef>
              <a:spcAft>
                <a:spcPts val="0"/>
              </a:spcAft>
              <a:buSzPts val="2470"/>
              <a:buChar char="⚫"/>
            </a:pPr>
            <a:r>
              <a:rPr lang="en-US"/>
              <a:t>Biểu diễn mỗi đối tượng tham gia trong một lược đồ tuần tự</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US"/>
              <a:t>Incrementally incorporate applicable architectural mechanisms</a:t>
            </a:r>
            <a:endParaRPr/>
          </a:p>
        </p:txBody>
      </p:sp>
      <p:sp>
        <p:nvSpPr>
          <p:cNvPr id="637" name="Google Shape;637;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638" name="Google Shape;638;p10"/>
          <p:cNvSpPr/>
          <p:nvPr/>
        </p:nvSpPr>
        <p:spPr>
          <a:xfrm>
            <a:off x="4497388" y="3727450"/>
            <a:ext cx="495300" cy="382588"/>
          </a:xfrm>
          <a:prstGeom prst="rightArrow">
            <a:avLst>
              <a:gd fmla="val 51870" name="adj1"/>
              <a:gd fmla="val 51868" name="adj2"/>
            </a:avLst>
          </a:prstGeom>
          <a:solidFill>
            <a:srgbClr val="FF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639" name="Google Shape;639;p10"/>
          <p:cNvGrpSpPr/>
          <p:nvPr/>
        </p:nvGrpSpPr>
        <p:grpSpPr>
          <a:xfrm>
            <a:off x="790575" y="3094038"/>
            <a:ext cx="3284538" cy="1665287"/>
            <a:chOff x="172" y="1997"/>
            <a:chExt cx="2069" cy="1049"/>
          </a:xfrm>
        </p:grpSpPr>
        <p:cxnSp>
          <p:nvCxnSpPr>
            <p:cNvPr id="640" name="Google Shape;640;p10"/>
            <p:cNvCxnSpPr/>
            <p:nvPr/>
          </p:nvCxnSpPr>
          <p:spPr>
            <a:xfrm>
              <a:off x="368" y="2249"/>
              <a:ext cx="437" cy="438"/>
            </a:xfrm>
            <a:prstGeom prst="straightConnector1">
              <a:avLst/>
            </a:prstGeom>
            <a:noFill/>
            <a:ln cap="flat" cmpd="sng" w="28575">
              <a:solidFill>
                <a:schemeClr val="dk1"/>
              </a:solidFill>
              <a:prstDash val="solid"/>
              <a:round/>
              <a:headEnd len="sm" w="sm" type="none"/>
              <a:tailEnd len="sm" w="sm" type="none"/>
            </a:ln>
          </p:spPr>
        </p:cxnSp>
        <p:cxnSp>
          <p:nvCxnSpPr>
            <p:cNvPr id="641" name="Google Shape;641;p10"/>
            <p:cNvCxnSpPr/>
            <p:nvPr/>
          </p:nvCxnSpPr>
          <p:spPr>
            <a:xfrm flipH="1" rot="10800000">
              <a:off x="392" y="2093"/>
              <a:ext cx="605" cy="4"/>
            </a:xfrm>
            <a:prstGeom prst="straightConnector1">
              <a:avLst/>
            </a:prstGeom>
            <a:noFill/>
            <a:ln cap="flat" cmpd="sng" w="28575">
              <a:solidFill>
                <a:schemeClr val="dk1"/>
              </a:solidFill>
              <a:prstDash val="solid"/>
              <a:round/>
              <a:headEnd len="sm" w="sm" type="none"/>
              <a:tailEnd len="sm" w="sm" type="none"/>
            </a:ln>
          </p:spPr>
        </p:cxnSp>
        <p:cxnSp>
          <p:nvCxnSpPr>
            <p:cNvPr id="642" name="Google Shape;642;p10"/>
            <p:cNvCxnSpPr/>
            <p:nvPr/>
          </p:nvCxnSpPr>
          <p:spPr>
            <a:xfrm>
              <a:off x="947" y="2788"/>
              <a:ext cx="704" cy="174"/>
            </a:xfrm>
            <a:prstGeom prst="straightConnector1">
              <a:avLst/>
            </a:prstGeom>
            <a:noFill/>
            <a:ln cap="flat" cmpd="sng" w="28575">
              <a:solidFill>
                <a:schemeClr val="dk1"/>
              </a:solidFill>
              <a:prstDash val="solid"/>
              <a:round/>
              <a:headEnd len="sm" w="sm" type="none"/>
              <a:tailEnd len="sm" w="sm" type="none"/>
            </a:ln>
          </p:spPr>
        </p:cxnSp>
        <p:cxnSp>
          <p:nvCxnSpPr>
            <p:cNvPr id="643" name="Google Shape;643;p10"/>
            <p:cNvCxnSpPr/>
            <p:nvPr/>
          </p:nvCxnSpPr>
          <p:spPr>
            <a:xfrm flipH="1" rot="10800000">
              <a:off x="947" y="2538"/>
              <a:ext cx="710" cy="213"/>
            </a:xfrm>
            <a:prstGeom prst="straightConnector1">
              <a:avLst/>
            </a:prstGeom>
            <a:noFill/>
            <a:ln cap="flat" cmpd="sng" w="28575">
              <a:solidFill>
                <a:schemeClr val="dk1"/>
              </a:solidFill>
              <a:prstDash val="solid"/>
              <a:round/>
              <a:headEnd len="sm" w="sm" type="none"/>
              <a:tailEnd len="sm" w="sm" type="none"/>
            </a:ln>
          </p:spPr>
        </p:cxnSp>
        <p:cxnSp>
          <p:nvCxnSpPr>
            <p:cNvPr id="644" name="Google Shape;644;p10"/>
            <p:cNvCxnSpPr/>
            <p:nvPr/>
          </p:nvCxnSpPr>
          <p:spPr>
            <a:xfrm flipH="1" rot="10800000">
              <a:off x="1819" y="2186"/>
              <a:ext cx="247" cy="246"/>
            </a:xfrm>
            <a:prstGeom prst="straightConnector1">
              <a:avLst/>
            </a:prstGeom>
            <a:noFill/>
            <a:ln cap="flat" cmpd="sng" w="28575">
              <a:solidFill>
                <a:schemeClr val="dk1"/>
              </a:solidFill>
              <a:prstDash val="solid"/>
              <a:round/>
              <a:headEnd len="sm" w="sm" type="none"/>
              <a:tailEnd len="sm" w="sm" type="none"/>
            </a:ln>
          </p:spPr>
        </p:cxnSp>
        <p:cxnSp>
          <p:nvCxnSpPr>
            <p:cNvPr id="645" name="Google Shape;645;p10"/>
            <p:cNvCxnSpPr/>
            <p:nvPr/>
          </p:nvCxnSpPr>
          <p:spPr>
            <a:xfrm flipH="1">
              <a:off x="881" y="2176"/>
              <a:ext cx="332" cy="499"/>
            </a:xfrm>
            <a:prstGeom prst="straightConnector1">
              <a:avLst/>
            </a:prstGeom>
            <a:noFill/>
            <a:ln cap="flat" cmpd="sng" w="28575">
              <a:solidFill>
                <a:schemeClr val="dk1"/>
              </a:solidFill>
              <a:prstDash val="solid"/>
              <a:round/>
              <a:headEnd len="sm" w="sm" type="none"/>
              <a:tailEnd len="sm" w="sm" type="none"/>
            </a:ln>
          </p:spPr>
        </p:cxnSp>
        <p:cxnSp>
          <p:nvCxnSpPr>
            <p:cNvPr id="646" name="Google Shape;646;p10"/>
            <p:cNvCxnSpPr/>
            <p:nvPr/>
          </p:nvCxnSpPr>
          <p:spPr>
            <a:xfrm>
              <a:off x="407" y="2439"/>
              <a:ext cx="153" cy="142"/>
            </a:xfrm>
            <a:prstGeom prst="straightConnector1">
              <a:avLst/>
            </a:prstGeom>
            <a:noFill/>
            <a:ln cap="flat" cmpd="sng" w="28575">
              <a:solidFill>
                <a:schemeClr val="dk1"/>
              </a:solidFill>
              <a:prstDash val="solid"/>
              <a:round/>
              <a:headEnd len="sm" w="sm" type="none"/>
              <a:tailEnd len="med" w="med" type="stealth"/>
            </a:ln>
          </p:spPr>
        </p:cxnSp>
        <p:cxnSp>
          <p:nvCxnSpPr>
            <p:cNvPr id="647" name="Google Shape;647;p10"/>
            <p:cNvCxnSpPr/>
            <p:nvPr/>
          </p:nvCxnSpPr>
          <p:spPr>
            <a:xfrm flipH="1">
              <a:off x="915" y="2311"/>
              <a:ext cx="107" cy="169"/>
            </a:xfrm>
            <a:prstGeom prst="straightConnector1">
              <a:avLst/>
            </a:prstGeom>
            <a:noFill/>
            <a:ln cap="flat" cmpd="sng" w="28575">
              <a:solidFill>
                <a:schemeClr val="dk1"/>
              </a:solidFill>
              <a:prstDash val="solid"/>
              <a:round/>
              <a:headEnd len="sm" w="sm" type="none"/>
              <a:tailEnd len="med" w="med" type="stealth"/>
            </a:ln>
          </p:spPr>
        </p:cxnSp>
        <p:cxnSp>
          <p:nvCxnSpPr>
            <p:cNvPr id="648" name="Google Shape;648;p10"/>
            <p:cNvCxnSpPr/>
            <p:nvPr/>
          </p:nvCxnSpPr>
          <p:spPr>
            <a:xfrm flipH="1" rot="10800000">
              <a:off x="1161" y="2510"/>
              <a:ext cx="225" cy="68"/>
            </a:xfrm>
            <a:prstGeom prst="straightConnector1">
              <a:avLst/>
            </a:prstGeom>
            <a:noFill/>
            <a:ln cap="flat" cmpd="sng" w="28575">
              <a:solidFill>
                <a:schemeClr val="dk1"/>
              </a:solidFill>
              <a:prstDash val="solid"/>
              <a:round/>
              <a:headEnd len="sm" w="sm" type="none"/>
              <a:tailEnd len="med" w="med" type="stealth"/>
            </a:ln>
          </p:spPr>
        </p:cxnSp>
        <p:cxnSp>
          <p:nvCxnSpPr>
            <p:cNvPr id="649" name="Google Shape;649;p10"/>
            <p:cNvCxnSpPr/>
            <p:nvPr/>
          </p:nvCxnSpPr>
          <p:spPr>
            <a:xfrm>
              <a:off x="1154" y="2936"/>
              <a:ext cx="224" cy="56"/>
            </a:xfrm>
            <a:prstGeom prst="straightConnector1">
              <a:avLst/>
            </a:prstGeom>
            <a:noFill/>
            <a:ln cap="flat" cmpd="sng" w="28575">
              <a:solidFill>
                <a:schemeClr val="dk1"/>
              </a:solidFill>
              <a:prstDash val="solid"/>
              <a:round/>
              <a:headEnd len="sm" w="sm" type="none"/>
              <a:tailEnd len="med" w="med" type="stealth"/>
            </a:ln>
          </p:spPr>
        </p:cxnSp>
        <p:cxnSp>
          <p:nvCxnSpPr>
            <p:cNvPr id="650" name="Google Shape;650;p10"/>
            <p:cNvCxnSpPr/>
            <p:nvPr/>
          </p:nvCxnSpPr>
          <p:spPr>
            <a:xfrm flipH="1" rot="10800000">
              <a:off x="1777" y="2206"/>
              <a:ext cx="145" cy="143"/>
            </a:xfrm>
            <a:prstGeom prst="straightConnector1">
              <a:avLst/>
            </a:prstGeom>
            <a:noFill/>
            <a:ln cap="flat" cmpd="sng" w="28575">
              <a:solidFill>
                <a:schemeClr val="dk1"/>
              </a:solidFill>
              <a:prstDash val="solid"/>
              <a:round/>
              <a:headEnd len="med" w="med" type="none"/>
              <a:tailEnd len="med" w="med" type="stealth"/>
            </a:ln>
          </p:spPr>
        </p:cxnSp>
        <p:cxnSp>
          <p:nvCxnSpPr>
            <p:cNvPr id="651" name="Google Shape;651;p10"/>
            <p:cNvCxnSpPr/>
            <p:nvPr/>
          </p:nvCxnSpPr>
          <p:spPr>
            <a:xfrm>
              <a:off x="602" y="1997"/>
              <a:ext cx="198" cy="1"/>
            </a:xfrm>
            <a:prstGeom prst="straightConnector1">
              <a:avLst/>
            </a:prstGeom>
            <a:noFill/>
            <a:ln cap="flat" cmpd="sng" w="28575">
              <a:solidFill>
                <a:schemeClr val="dk1"/>
              </a:solidFill>
              <a:prstDash val="solid"/>
              <a:round/>
              <a:headEnd len="sm" w="sm" type="none"/>
              <a:tailEnd len="med" w="med" type="stealth"/>
            </a:ln>
          </p:spPr>
        </p:cxnSp>
        <p:sp>
          <p:nvSpPr>
            <p:cNvPr id="652" name="Google Shape;652;p10"/>
            <p:cNvSpPr/>
            <p:nvPr/>
          </p:nvSpPr>
          <p:spPr>
            <a:xfrm>
              <a:off x="1008" y="2022"/>
              <a:ext cx="273" cy="154"/>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3" name="Google Shape;653;p10"/>
            <p:cNvSpPr/>
            <p:nvPr/>
          </p:nvSpPr>
          <p:spPr>
            <a:xfrm>
              <a:off x="668" y="2687"/>
              <a:ext cx="271" cy="154"/>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4" name="Google Shape;654;p10"/>
            <p:cNvSpPr/>
            <p:nvPr/>
          </p:nvSpPr>
          <p:spPr>
            <a:xfrm>
              <a:off x="1652" y="2892"/>
              <a:ext cx="273" cy="154"/>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5" name="Google Shape;655;p10"/>
            <p:cNvSpPr/>
            <p:nvPr/>
          </p:nvSpPr>
          <p:spPr>
            <a:xfrm>
              <a:off x="1663" y="2432"/>
              <a:ext cx="271" cy="153"/>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56" name="Google Shape;656;p10"/>
            <p:cNvSpPr/>
            <p:nvPr/>
          </p:nvSpPr>
          <p:spPr>
            <a:xfrm>
              <a:off x="1968" y="2027"/>
              <a:ext cx="273" cy="153"/>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657" name="Google Shape;657;p10"/>
            <p:cNvGrpSpPr/>
            <p:nvPr/>
          </p:nvGrpSpPr>
          <p:grpSpPr>
            <a:xfrm>
              <a:off x="172" y="2010"/>
              <a:ext cx="154" cy="203"/>
              <a:chOff x="7654" y="3380"/>
              <a:chExt cx="554" cy="754"/>
            </a:xfrm>
          </p:grpSpPr>
          <p:sp>
            <p:nvSpPr>
              <p:cNvPr id="658" name="Google Shape;658;p10"/>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59" name="Google Shape;659;p10"/>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660" name="Google Shape;660;p10"/>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661" name="Google Shape;661;p10"/>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grpSp>
        <p:nvGrpSpPr>
          <p:cNvPr id="662" name="Google Shape;662;p10"/>
          <p:cNvGrpSpPr/>
          <p:nvPr/>
        </p:nvGrpSpPr>
        <p:grpSpPr>
          <a:xfrm>
            <a:off x="7223125" y="3111500"/>
            <a:ext cx="508000" cy="304800"/>
            <a:chOff x="3978" y="2718"/>
            <a:chExt cx="258" cy="144"/>
          </a:xfrm>
        </p:grpSpPr>
        <p:sp>
          <p:nvSpPr>
            <p:cNvPr id="663" name="Google Shape;663;p10"/>
            <p:cNvSpPr/>
            <p:nvPr/>
          </p:nvSpPr>
          <p:spPr>
            <a:xfrm>
              <a:off x="3978" y="2718"/>
              <a:ext cx="144" cy="144"/>
            </a:xfrm>
            <a:prstGeom prst="ellipse">
              <a:avLst/>
            </a:prstGeom>
            <a:noFill/>
            <a:ln cap="flat" cmpd="sng" w="2857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64" name="Google Shape;664;p10"/>
            <p:cNvCxnSpPr/>
            <p:nvPr/>
          </p:nvCxnSpPr>
          <p:spPr>
            <a:xfrm>
              <a:off x="4122" y="2796"/>
              <a:ext cx="114" cy="0"/>
            </a:xfrm>
            <a:prstGeom prst="straightConnector1">
              <a:avLst/>
            </a:prstGeom>
            <a:noFill/>
            <a:ln cap="flat" cmpd="sng" w="28575">
              <a:solidFill>
                <a:schemeClr val="dk2"/>
              </a:solidFill>
              <a:prstDash val="solid"/>
              <a:round/>
              <a:headEnd len="sm" w="sm" type="none"/>
              <a:tailEnd len="sm" w="sm" type="none"/>
            </a:ln>
          </p:spPr>
        </p:cxnSp>
      </p:grpSp>
      <p:grpSp>
        <p:nvGrpSpPr>
          <p:cNvPr id="665" name="Google Shape;665;p10"/>
          <p:cNvGrpSpPr/>
          <p:nvPr/>
        </p:nvGrpSpPr>
        <p:grpSpPr>
          <a:xfrm>
            <a:off x="5481638" y="2990850"/>
            <a:ext cx="263525" cy="350838"/>
            <a:chOff x="7654" y="3380"/>
            <a:chExt cx="554" cy="754"/>
          </a:xfrm>
        </p:grpSpPr>
        <p:sp>
          <p:nvSpPr>
            <p:cNvPr id="666" name="Google Shape;666;p10"/>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67" name="Google Shape;667;p10"/>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668" name="Google Shape;668;p10"/>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669" name="Google Shape;669;p10"/>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cxnSp>
        <p:nvCxnSpPr>
          <p:cNvPr id="670" name="Google Shape;670;p10"/>
          <p:cNvCxnSpPr/>
          <p:nvPr/>
        </p:nvCxnSpPr>
        <p:spPr>
          <a:xfrm>
            <a:off x="5602288" y="3549650"/>
            <a:ext cx="663575" cy="0"/>
          </a:xfrm>
          <a:prstGeom prst="straightConnector1">
            <a:avLst/>
          </a:prstGeom>
          <a:noFill/>
          <a:ln cap="flat" cmpd="sng" w="28575">
            <a:solidFill>
              <a:schemeClr val="dk1"/>
            </a:solidFill>
            <a:prstDash val="solid"/>
            <a:round/>
            <a:headEnd len="sm" w="sm" type="none"/>
            <a:tailEnd len="med" w="med" type="stealth"/>
          </a:ln>
        </p:spPr>
      </p:cxnSp>
      <p:cxnSp>
        <p:nvCxnSpPr>
          <p:cNvPr id="671" name="Google Shape;671;p10"/>
          <p:cNvCxnSpPr/>
          <p:nvPr/>
        </p:nvCxnSpPr>
        <p:spPr>
          <a:xfrm>
            <a:off x="6948488" y="3997325"/>
            <a:ext cx="520700" cy="0"/>
          </a:xfrm>
          <a:prstGeom prst="straightConnector1">
            <a:avLst/>
          </a:prstGeom>
          <a:noFill/>
          <a:ln cap="flat" cmpd="sng" w="28575">
            <a:solidFill>
              <a:schemeClr val="dk1"/>
            </a:solidFill>
            <a:prstDash val="solid"/>
            <a:round/>
            <a:headEnd len="sm" w="sm" type="none"/>
            <a:tailEnd len="med" w="med" type="stealth"/>
          </a:ln>
        </p:spPr>
      </p:cxnSp>
      <p:cxnSp>
        <p:nvCxnSpPr>
          <p:cNvPr id="672" name="Google Shape;672;p10"/>
          <p:cNvCxnSpPr/>
          <p:nvPr/>
        </p:nvCxnSpPr>
        <p:spPr>
          <a:xfrm>
            <a:off x="6311900" y="3762375"/>
            <a:ext cx="558800" cy="0"/>
          </a:xfrm>
          <a:prstGeom prst="straightConnector1">
            <a:avLst/>
          </a:prstGeom>
          <a:noFill/>
          <a:ln cap="flat" cmpd="sng" w="28575">
            <a:solidFill>
              <a:schemeClr val="dk1"/>
            </a:solidFill>
            <a:prstDash val="solid"/>
            <a:round/>
            <a:headEnd len="sm" w="sm" type="none"/>
            <a:tailEnd len="med" w="med" type="stealth"/>
          </a:ln>
        </p:spPr>
      </p:cxnSp>
      <p:cxnSp>
        <p:nvCxnSpPr>
          <p:cNvPr id="673" name="Google Shape;673;p10"/>
          <p:cNvCxnSpPr/>
          <p:nvPr/>
        </p:nvCxnSpPr>
        <p:spPr>
          <a:xfrm>
            <a:off x="5607050" y="4391025"/>
            <a:ext cx="0" cy="192088"/>
          </a:xfrm>
          <a:prstGeom prst="straightConnector1">
            <a:avLst/>
          </a:prstGeom>
          <a:noFill/>
          <a:ln cap="flat" cmpd="sng" w="28575">
            <a:solidFill>
              <a:schemeClr val="dk1"/>
            </a:solidFill>
            <a:prstDash val="dash"/>
            <a:round/>
            <a:headEnd len="sm" w="sm" type="none"/>
            <a:tailEnd len="sm" w="sm" type="none"/>
          </a:ln>
        </p:spPr>
      </p:cxnSp>
      <p:cxnSp>
        <p:nvCxnSpPr>
          <p:cNvPr id="674" name="Google Shape;674;p10"/>
          <p:cNvCxnSpPr/>
          <p:nvPr/>
        </p:nvCxnSpPr>
        <p:spPr>
          <a:xfrm>
            <a:off x="6275388" y="3438525"/>
            <a:ext cx="0" cy="122238"/>
          </a:xfrm>
          <a:prstGeom prst="straightConnector1">
            <a:avLst/>
          </a:prstGeom>
          <a:noFill/>
          <a:ln cap="flat" cmpd="sng" w="28575">
            <a:solidFill>
              <a:schemeClr val="dk1"/>
            </a:solidFill>
            <a:prstDash val="dash"/>
            <a:round/>
            <a:headEnd len="sm" w="sm" type="none"/>
            <a:tailEnd len="sm" w="sm" type="none"/>
          </a:ln>
        </p:spPr>
      </p:cxnSp>
      <p:cxnSp>
        <p:nvCxnSpPr>
          <p:cNvPr id="675" name="Google Shape;675;p10"/>
          <p:cNvCxnSpPr/>
          <p:nvPr/>
        </p:nvCxnSpPr>
        <p:spPr>
          <a:xfrm>
            <a:off x="6889750" y="3438525"/>
            <a:ext cx="0" cy="330200"/>
          </a:xfrm>
          <a:prstGeom prst="straightConnector1">
            <a:avLst/>
          </a:prstGeom>
          <a:noFill/>
          <a:ln cap="flat" cmpd="sng" w="28575">
            <a:solidFill>
              <a:schemeClr val="dk1"/>
            </a:solidFill>
            <a:prstDash val="dash"/>
            <a:round/>
            <a:headEnd len="sm" w="sm" type="none"/>
            <a:tailEnd len="sm" w="sm" type="none"/>
          </a:ln>
        </p:spPr>
      </p:cxnSp>
      <p:cxnSp>
        <p:nvCxnSpPr>
          <p:cNvPr id="676" name="Google Shape;676;p10"/>
          <p:cNvCxnSpPr/>
          <p:nvPr/>
        </p:nvCxnSpPr>
        <p:spPr>
          <a:xfrm>
            <a:off x="7493000" y="4164013"/>
            <a:ext cx="0" cy="415925"/>
          </a:xfrm>
          <a:prstGeom prst="straightConnector1">
            <a:avLst/>
          </a:prstGeom>
          <a:noFill/>
          <a:ln cap="flat" cmpd="sng" w="28575">
            <a:solidFill>
              <a:schemeClr val="dk2"/>
            </a:solidFill>
            <a:prstDash val="dash"/>
            <a:round/>
            <a:headEnd len="sm" w="sm" type="none"/>
            <a:tailEnd len="sm" w="sm" type="none"/>
          </a:ln>
        </p:spPr>
      </p:cxnSp>
      <p:cxnSp>
        <p:nvCxnSpPr>
          <p:cNvPr id="677" name="Google Shape;677;p10"/>
          <p:cNvCxnSpPr/>
          <p:nvPr/>
        </p:nvCxnSpPr>
        <p:spPr>
          <a:xfrm>
            <a:off x="8051800" y="3438525"/>
            <a:ext cx="0" cy="1141413"/>
          </a:xfrm>
          <a:prstGeom prst="straightConnector1">
            <a:avLst/>
          </a:prstGeom>
          <a:noFill/>
          <a:ln cap="flat" cmpd="sng" w="28575">
            <a:solidFill>
              <a:schemeClr val="dk1"/>
            </a:solidFill>
            <a:prstDash val="dash"/>
            <a:round/>
            <a:headEnd len="sm" w="sm" type="none"/>
            <a:tailEnd len="sm" w="sm" type="none"/>
          </a:ln>
        </p:spPr>
      </p:cxnSp>
      <p:sp>
        <p:nvSpPr>
          <p:cNvPr id="678" name="Google Shape;678;p10"/>
          <p:cNvSpPr/>
          <p:nvPr/>
        </p:nvSpPr>
        <p:spPr>
          <a:xfrm rot="-5400000">
            <a:off x="5195094" y="3921919"/>
            <a:ext cx="825500" cy="84138"/>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79" name="Google Shape;679;p10"/>
          <p:cNvCxnSpPr/>
          <p:nvPr/>
        </p:nvCxnSpPr>
        <p:spPr>
          <a:xfrm>
            <a:off x="5607050" y="3435350"/>
            <a:ext cx="0" cy="122238"/>
          </a:xfrm>
          <a:prstGeom prst="straightConnector1">
            <a:avLst/>
          </a:prstGeom>
          <a:noFill/>
          <a:ln cap="flat" cmpd="sng" w="28575">
            <a:solidFill>
              <a:schemeClr val="dk1"/>
            </a:solidFill>
            <a:prstDash val="dash"/>
            <a:round/>
            <a:headEnd len="sm" w="sm" type="none"/>
            <a:tailEnd len="sm" w="sm" type="none"/>
          </a:ln>
        </p:spPr>
      </p:cxnSp>
      <p:sp>
        <p:nvSpPr>
          <p:cNvPr id="680" name="Google Shape;680;p10"/>
          <p:cNvSpPr/>
          <p:nvPr/>
        </p:nvSpPr>
        <p:spPr>
          <a:xfrm rot="-5400000">
            <a:off x="5941219" y="3850481"/>
            <a:ext cx="663575" cy="87313"/>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81" name="Google Shape;681;p10"/>
          <p:cNvCxnSpPr/>
          <p:nvPr/>
        </p:nvCxnSpPr>
        <p:spPr>
          <a:xfrm>
            <a:off x="6275388" y="4238625"/>
            <a:ext cx="0" cy="341313"/>
          </a:xfrm>
          <a:prstGeom prst="straightConnector1">
            <a:avLst/>
          </a:prstGeom>
          <a:noFill/>
          <a:ln cap="flat" cmpd="sng" w="28575">
            <a:solidFill>
              <a:schemeClr val="dk1"/>
            </a:solidFill>
            <a:prstDash val="dash"/>
            <a:round/>
            <a:headEnd len="sm" w="sm" type="none"/>
            <a:tailEnd len="sm" w="sm" type="none"/>
          </a:ln>
        </p:spPr>
      </p:cxnSp>
      <p:sp>
        <p:nvSpPr>
          <p:cNvPr id="682" name="Google Shape;682;p10"/>
          <p:cNvSpPr/>
          <p:nvPr/>
        </p:nvSpPr>
        <p:spPr>
          <a:xfrm rot="-5400000">
            <a:off x="6703219" y="3913981"/>
            <a:ext cx="369888" cy="8572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83" name="Google Shape;683;p10"/>
          <p:cNvCxnSpPr/>
          <p:nvPr/>
        </p:nvCxnSpPr>
        <p:spPr>
          <a:xfrm>
            <a:off x="6886575" y="4141788"/>
            <a:ext cx="3175" cy="436562"/>
          </a:xfrm>
          <a:prstGeom prst="straightConnector1">
            <a:avLst/>
          </a:prstGeom>
          <a:noFill/>
          <a:ln cap="flat" cmpd="sng" w="28575">
            <a:solidFill>
              <a:schemeClr val="dk1"/>
            </a:solidFill>
            <a:prstDash val="dash"/>
            <a:round/>
            <a:headEnd len="sm" w="sm" type="none"/>
            <a:tailEnd len="sm" w="sm" type="none"/>
          </a:ln>
        </p:spPr>
      </p:cxnSp>
      <p:sp>
        <p:nvSpPr>
          <p:cNvPr id="684" name="Google Shape;684;p10"/>
          <p:cNvSpPr/>
          <p:nvPr/>
        </p:nvSpPr>
        <p:spPr>
          <a:xfrm rot="-5400000">
            <a:off x="7418387" y="4040188"/>
            <a:ext cx="138113" cy="77788"/>
          </a:xfrm>
          <a:prstGeom prst="rect">
            <a:avLst/>
          </a:prstGeom>
          <a:noFill/>
          <a:ln cap="flat" cmpd="sng" w="28575">
            <a:solidFill>
              <a:schemeClr val="dk2"/>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85" name="Google Shape;685;p10"/>
          <p:cNvCxnSpPr/>
          <p:nvPr/>
        </p:nvCxnSpPr>
        <p:spPr>
          <a:xfrm>
            <a:off x="7493000" y="3436938"/>
            <a:ext cx="0" cy="571500"/>
          </a:xfrm>
          <a:prstGeom prst="straightConnector1">
            <a:avLst/>
          </a:prstGeom>
          <a:noFill/>
          <a:ln cap="flat" cmpd="sng" w="28575">
            <a:solidFill>
              <a:schemeClr val="dk2"/>
            </a:solidFill>
            <a:prstDash val="dash"/>
            <a:round/>
            <a:headEnd len="sm" w="sm" type="none"/>
            <a:tailEnd len="sm" w="sm" type="none"/>
          </a:ln>
        </p:spPr>
      </p:cxnSp>
      <p:sp>
        <p:nvSpPr>
          <p:cNvPr id="686" name="Google Shape;686;p10"/>
          <p:cNvSpPr/>
          <p:nvPr/>
        </p:nvSpPr>
        <p:spPr>
          <a:xfrm>
            <a:off x="6611938" y="3122613"/>
            <a:ext cx="476250" cy="26987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87" name="Google Shape;687;p10"/>
          <p:cNvSpPr/>
          <p:nvPr/>
        </p:nvSpPr>
        <p:spPr>
          <a:xfrm>
            <a:off x="7829550" y="3122613"/>
            <a:ext cx="477838" cy="26987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88" name="Google Shape;688;p10"/>
          <p:cNvSpPr/>
          <p:nvPr/>
        </p:nvSpPr>
        <p:spPr>
          <a:xfrm>
            <a:off x="6061075" y="3122613"/>
            <a:ext cx="476250" cy="26987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1"/>
          <p:cNvSpPr txBox="1"/>
          <p:nvPr>
            <p:ph type="title"/>
          </p:nvPr>
        </p:nvSpPr>
        <p:spPr>
          <a:xfrm>
            <a:off x="503944" y="377407"/>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Biểu diễn các hệ thống con trên lược đồ tuần tự</a:t>
            </a:r>
            <a:endParaRPr sz="4500"/>
          </a:p>
        </p:txBody>
      </p:sp>
      <p:sp>
        <p:nvSpPr>
          <p:cNvPr id="697" name="Google Shape;697;p11"/>
          <p:cNvSpPr txBox="1"/>
          <p:nvPr>
            <p:ph idx="1" type="body"/>
          </p:nvPr>
        </p:nvSpPr>
        <p:spPr>
          <a:xfrm>
            <a:off x="300037" y="1818482"/>
            <a:ext cx="8489950" cy="1614487"/>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261"/>
              <a:buChar char="⚫"/>
            </a:pPr>
            <a:r>
              <a:rPr lang="en-US" sz="2380"/>
              <a:t>Giao diện (Interfaces)</a:t>
            </a:r>
            <a:endParaRPr sz="2380"/>
          </a:p>
          <a:p>
            <a:pPr indent="-246888" lvl="1" marL="640080" rtl="0" algn="l">
              <a:lnSpc>
                <a:spcPct val="100000"/>
              </a:lnSpc>
              <a:spcBef>
                <a:spcPts val="408"/>
              </a:spcBef>
              <a:spcAft>
                <a:spcPts val="0"/>
              </a:spcAft>
              <a:buSzPts val="1734"/>
              <a:buChar char="⚫"/>
            </a:pPr>
            <a:r>
              <a:rPr lang="en-US" sz="2040"/>
              <a:t>Biểu diễn một phần tử thiết kế hiện thực hóa giao diện</a:t>
            </a:r>
            <a:endParaRPr sz="2040"/>
          </a:p>
          <a:p>
            <a:pPr indent="-246888" lvl="1" marL="640080" rtl="0" algn="l">
              <a:lnSpc>
                <a:spcPct val="100000"/>
              </a:lnSpc>
              <a:spcBef>
                <a:spcPts val="408"/>
              </a:spcBef>
              <a:spcAft>
                <a:spcPts val="0"/>
              </a:spcAft>
              <a:buSzPts val="1734"/>
              <a:buChar char="⚫"/>
            </a:pPr>
            <a:r>
              <a:rPr lang="en-US" sz="2040"/>
              <a:t>Không vẽ thông điệp đi ra từ giao diện</a:t>
            </a:r>
            <a:endParaRPr sz="2040"/>
          </a:p>
          <a:p>
            <a:pPr indent="-274320" lvl="0" marL="274320" rtl="0" algn="l">
              <a:lnSpc>
                <a:spcPct val="100000"/>
              </a:lnSpc>
              <a:spcBef>
                <a:spcPts val="476"/>
              </a:spcBef>
              <a:spcAft>
                <a:spcPts val="0"/>
              </a:spcAft>
              <a:buSzPts val="2261"/>
              <a:buChar char="⚫"/>
            </a:pPr>
            <a:r>
              <a:rPr lang="en-US" sz="2380"/>
              <a:t>Lớp Proxy</a:t>
            </a:r>
            <a:endParaRPr/>
          </a:p>
          <a:p>
            <a:pPr indent="-246888" lvl="1" marL="640080" rtl="0" algn="l">
              <a:lnSpc>
                <a:spcPct val="100000"/>
              </a:lnSpc>
              <a:spcBef>
                <a:spcPts val="408"/>
              </a:spcBef>
              <a:spcAft>
                <a:spcPts val="0"/>
              </a:spcAft>
              <a:buSzPts val="1734"/>
              <a:buChar char="⚫"/>
            </a:pPr>
            <a:r>
              <a:rPr lang="en-US" sz="2040"/>
              <a:t>Biểu diễn một hệ thống con riêng biệt</a:t>
            </a:r>
            <a:endParaRPr sz="2040"/>
          </a:p>
          <a:p>
            <a:pPr indent="-246888" lvl="1" marL="640080" rtl="0" algn="l">
              <a:lnSpc>
                <a:spcPct val="100000"/>
              </a:lnSpc>
              <a:spcBef>
                <a:spcPts val="408"/>
              </a:spcBef>
              <a:spcAft>
                <a:spcPts val="0"/>
              </a:spcAft>
              <a:buSzPts val="1734"/>
              <a:buChar char="⚫"/>
            </a:pPr>
            <a:r>
              <a:rPr lang="en-US" sz="2040"/>
              <a:t>Thông điệp có thể được vẽ đi ra từ proxy</a:t>
            </a:r>
            <a:endParaRPr sz="2040"/>
          </a:p>
        </p:txBody>
      </p:sp>
      <p:pic>
        <p:nvPicPr>
          <p:cNvPr id="698" name="Google Shape;698;p11"/>
          <p:cNvPicPr preferRelativeResize="0"/>
          <p:nvPr/>
        </p:nvPicPr>
        <p:blipFill>
          <a:blip r:embed="rId3">
            <a:alphaModFix/>
          </a:blip>
          <a:stretch>
            <a:fillRect/>
          </a:stretch>
        </p:blipFill>
        <p:spPr>
          <a:xfrm>
            <a:off x="797525" y="4230494"/>
            <a:ext cx="7305675" cy="2457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solidFill>
                  <a:schemeClr val="dk1"/>
                </a:solidFill>
              </a:rPr>
              <a:t>‹#›</a:t>
            </a:fld>
            <a:endParaRPr>
              <a:solidFill>
                <a:schemeClr val="dk1"/>
              </a:solidFill>
            </a:endParaRPr>
          </a:p>
        </p:txBody>
      </p:sp>
      <p:grpSp>
        <p:nvGrpSpPr>
          <p:cNvPr id="706" name="Google Shape;706;p12"/>
          <p:cNvGrpSpPr/>
          <p:nvPr/>
        </p:nvGrpSpPr>
        <p:grpSpPr>
          <a:xfrm>
            <a:off x="287338" y="993452"/>
            <a:ext cx="8691562" cy="5795963"/>
            <a:chOff x="287338" y="1023432"/>
            <a:chExt cx="8691562" cy="5795963"/>
          </a:xfrm>
        </p:grpSpPr>
        <p:cxnSp>
          <p:nvCxnSpPr>
            <p:cNvPr id="707" name="Google Shape;707;p12"/>
            <p:cNvCxnSpPr/>
            <p:nvPr/>
          </p:nvCxnSpPr>
          <p:spPr>
            <a:xfrm flipH="1" rot="10800000">
              <a:off x="1662113" y="3430082"/>
              <a:ext cx="1211262" cy="265113"/>
            </a:xfrm>
            <a:prstGeom prst="straightConnector1">
              <a:avLst/>
            </a:prstGeom>
            <a:noFill/>
            <a:ln cap="flat" cmpd="sng" w="9525">
              <a:solidFill>
                <a:srgbClr val="C00000"/>
              </a:solidFill>
              <a:prstDash val="dash"/>
              <a:round/>
              <a:headEnd len="med" w="med" type="none"/>
              <a:tailEnd len="med" w="med" type="none"/>
            </a:ln>
          </p:spPr>
        </p:cxnSp>
        <p:cxnSp>
          <p:nvCxnSpPr>
            <p:cNvPr id="708" name="Google Shape;708;p12"/>
            <p:cNvCxnSpPr/>
            <p:nvPr/>
          </p:nvCxnSpPr>
          <p:spPr>
            <a:xfrm>
              <a:off x="4224338" y="1853695"/>
              <a:ext cx="0" cy="693737"/>
            </a:xfrm>
            <a:prstGeom prst="straightConnector1">
              <a:avLst/>
            </a:prstGeom>
            <a:noFill/>
            <a:ln cap="flat" cmpd="sng" w="9525">
              <a:solidFill>
                <a:schemeClr val="dk1"/>
              </a:solidFill>
              <a:prstDash val="lgDash"/>
              <a:round/>
              <a:headEnd len="med" w="med" type="none"/>
              <a:tailEnd len="med" w="med" type="none"/>
            </a:ln>
          </p:spPr>
        </p:cxnSp>
        <p:cxnSp>
          <p:nvCxnSpPr>
            <p:cNvPr id="709" name="Google Shape;709;p12"/>
            <p:cNvCxnSpPr/>
            <p:nvPr/>
          </p:nvCxnSpPr>
          <p:spPr>
            <a:xfrm>
              <a:off x="7410450" y="1826707"/>
              <a:ext cx="1588" cy="3743325"/>
            </a:xfrm>
            <a:prstGeom prst="straightConnector1">
              <a:avLst/>
            </a:prstGeom>
            <a:noFill/>
            <a:ln cap="flat" cmpd="sng" w="9525">
              <a:solidFill>
                <a:schemeClr val="dk1"/>
              </a:solidFill>
              <a:prstDash val="lgDash"/>
              <a:round/>
              <a:headEnd len="med" w="med" type="none"/>
              <a:tailEnd len="med" w="med" type="none"/>
            </a:ln>
          </p:spPr>
        </p:cxnSp>
        <p:cxnSp>
          <p:nvCxnSpPr>
            <p:cNvPr id="710" name="Google Shape;710;p12"/>
            <p:cNvCxnSpPr/>
            <p:nvPr/>
          </p:nvCxnSpPr>
          <p:spPr>
            <a:xfrm>
              <a:off x="8480425" y="1853695"/>
              <a:ext cx="1588" cy="4033837"/>
            </a:xfrm>
            <a:prstGeom prst="straightConnector1">
              <a:avLst/>
            </a:prstGeom>
            <a:noFill/>
            <a:ln cap="flat" cmpd="sng" w="9525">
              <a:solidFill>
                <a:schemeClr val="dk1"/>
              </a:solidFill>
              <a:prstDash val="lgDash"/>
              <a:round/>
              <a:headEnd len="med" w="med" type="none"/>
              <a:tailEnd len="med" w="med" type="none"/>
            </a:ln>
          </p:spPr>
        </p:cxnSp>
        <p:cxnSp>
          <p:nvCxnSpPr>
            <p:cNvPr id="711" name="Google Shape;711;p12"/>
            <p:cNvCxnSpPr/>
            <p:nvPr/>
          </p:nvCxnSpPr>
          <p:spPr>
            <a:xfrm>
              <a:off x="6002338" y="1853695"/>
              <a:ext cx="0" cy="973137"/>
            </a:xfrm>
            <a:prstGeom prst="straightConnector1">
              <a:avLst/>
            </a:prstGeom>
            <a:noFill/>
            <a:ln cap="flat" cmpd="sng" w="9525">
              <a:solidFill>
                <a:schemeClr val="dk1"/>
              </a:solidFill>
              <a:prstDash val="lgDash"/>
              <a:round/>
              <a:headEnd len="med" w="med" type="none"/>
              <a:tailEnd len="med" w="med" type="none"/>
            </a:ln>
          </p:spPr>
        </p:cxnSp>
        <p:cxnSp>
          <p:nvCxnSpPr>
            <p:cNvPr id="712" name="Google Shape;712;p12"/>
            <p:cNvCxnSpPr/>
            <p:nvPr/>
          </p:nvCxnSpPr>
          <p:spPr>
            <a:xfrm>
              <a:off x="2492375" y="1850520"/>
              <a:ext cx="0" cy="468312"/>
            </a:xfrm>
            <a:prstGeom prst="straightConnector1">
              <a:avLst/>
            </a:prstGeom>
            <a:noFill/>
            <a:ln cap="flat" cmpd="sng" w="9525">
              <a:solidFill>
                <a:schemeClr val="dk1"/>
              </a:solidFill>
              <a:prstDash val="lgDash"/>
              <a:round/>
              <a:headEnd len="med" w="med" type="none"/>
              <a:tailEnd len="med" w="med" type="none"/>
            </a:ln>
          </p:spPr>
        </p:cxnSp>
        <p:cxnSp>
          <p:nvCxnSpPr>
            <p:cNvPr id="713" name="Google Shape;713;p12"/>
            <p:cNvCxnSpPr/>
            <p:nvPr/>
          </p:nvCxnSpPr>
          <p:spPr>
            <a:xfrm>
              <a:off x="817563" y="4820732"/>
              <a:ext cx="0" cy="322263"/>
            </a:xfrm>
            <a:prstGeom prst="straightConnector1">
              <a:avLst/>
            </a:prstGeom>
            <a:noFill/>
            <a:ln cap="flat" cmpd="sng" w="9525">
              <a:solidFill>
                <a:schemeClr val="dk1"/>
              </a:solidFill>
              <a:prstDash val="lgDash"/>
              <a:round/>
              <a:headEnd len="med" w="med" type="none"/>
              <a:tailEnd len="med" w="med" type="none"/>
            </a:ln>
          </p:spPr>
        </p:cxnSp>
        <p:sp>
          <p:nvSpPr>
            <p:cNvPr id="714" name="Google Shape;714;p12"/>
            <p:cNvSpPr txBox="1"/>
            <p:nvPr/>
          </p:nvSpPr>
          <p:spPr>
            <a:xfrm>
              <a:off x="539646" y="1023432"/>
              <a:ext cx="53404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00FF"/>
                  </a:solidFill>
                  <a:latin typeface="Constantia"/>
                  <a:ea typeface="Constantia"/>
                  <a:cs typeface="Constantia"/>
                  <a:sym typeface="Constantia"/>
                </a:rPr>
                <a:t>Lớp phân tích sẽ được thay thế bởi một giao diên</a:t>
              </a:r>
              <a:endParaRPr i="1" sz="1800">
                <a:solidFill>
                  <a:srgbClr val="0000FF"/>
                </a:solidFill>
                <a:latin typeface="Constantia"/>
                <a:ea typeface="Constantia"/>
                <a:cs typeface="Constantia"/>
                <a:sym typeface="Constantia"/>
              </a:endParaRPr>
            </a:p>
          </p:txBody>
        </p:sp>
        <p:sp>
          <p:nvSpPr>
            <p:cNvPr id="715" name="Google Shape;715;p12"/>
            <p:cNvSpPr/>
            <p:nvPr/>
          </p:nvSpPr>
          <p:spPr>
            <a:xfrm>
              <a:off x="468313" y="1845757"/>
              <a:ext cx="65883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chemeClr val="dk1"/>
                  </a:solidFill>
                  <a:latin typeface="Constantia"/>
                  <a:ea typeface="Constantia"/>
                  <a:cs typeface="Constantia"/>
                  <a:sym typeface="Constantia"/>
                </a:rPr>
                <a:t> : Student</a:t>
              </a:r>
              <a:endParaRPr sz="1200">
                <a:solidFill>
                  <a:schemeClr val="dk1"/>
                </a:solidFill>
                <a:latin typeface="Arial"/>
                <a:ea typeface="Arial"/>
                <a:cs typeface="Arial"/>
                <a:sym typeface="Arial"/>
              </a:endParaRPr>
            </a:p>
          </p:txBody>
        </p:sp>
        <p:sp>
          <p:nvSpPr>
            <p:cNvPr id="716" name="Google Shape;716;p12"/>
            <p:cNvSpPr/>
            <p:nvPr/>
          </p:nvSpPr>
          <p:spPr>
            <a:xfrm>
              <a:off x="763588" y="2315657"/>
              <a:ext cx="106362" cy="2500313"/>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7E9532"/>
                </a:solidFill>
                <a:latin typeface="Constantia"/>
                <a:ea typeface="Constantia"/>
                <a:cs typeface="Constantia"/>
                <a:sym typeface="Constantia"/>
              </a:endParaRPr>
            </a:p>
          </p:txBody>
        </p:sp>
        <p:sp>
          <p:nvSpPr>
            <p:cNvPr id="717" name="Google Shape;717;p12"/>
            <p:cNvSpPr/>
            <p:nvPr/>
          </p:nvSpPr>
          <p:spPr>
            <a:xfrm>
              <a:off x="763588" y="5142995"/>
              <a:ext cx="96837" cy="1512887"/>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18" name="Google Shape;718;p12"/>
            <p:cNvSpPr/>
            <p:nvPr/>
          </p:nvSpPr>
          <p:spPr>
            <a:xfrm>
              <a:off x="1457325" y="1464757"/>
              <a:ext cx="1905000" cy="355600"/>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19" name="Google Shape;719;p12"/>
            <p:cNvSpPr/>
            <p:nvPr/>
          </p:nvSpPr>
          <p:spPr>
            <a:xfrm>
              <a:off x="1482725" y="1547307"/>
              <a:ext cx="1861087"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chemeClr val="dk1"/>
                  </a:solidFill>
                  <a:latin typeface="Constantia"/>
                  <a:ea typeface="Constantia"/>
                  <a:cs typeface="Constantia"/>
                  <a:sym typeface="Constantia"/>
                </a:rPr>
                <a:t> : RegisterForCoursesForm</a:t>
              </a:r>
              <a:endParaRPr sz="1200">
                <a:solidFill>
                  <a:schemeClr val="dk1"/>
                </a:solidFill>
                <a:latin typeface="Arial"/>
                <a:ea typeface="Arial"/>
                <a:cs typeface="Arial"/>
                <a:sym typeface="Arial"/>
              </a:endParaRPr>
            </a:p>
          </p:txBody>
        </p:sp>
        <p:sp>
          <p:nvSpPr>
            <p:cNvPr id="720" name="Google Shape;720;p12"/>
            <p:cNvSpPr/>
            <p:nvPr/>
          </p:nvSpPr>
          <p:spPr>
            <a:xfrm>
              <a:off x="2489200" y="3411032"/>
              <a:ext cx="106363" cy="187325"/>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1" name="Google Shape;721;p12"/>
            <p:cNvSpPr/>
            <p:nvPr/>
          </p:nvSpPr>
          <p:spPr>
            <a:xfrm>
              <a:off x="2447925" y="5142995"/>
              <a:ext cx="95250" cy="1300162"/>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2" name="Google Shape;722;p12"/>
            <p:cNvSpPr/>
            <p:nvPr/>
          </p:nvSpPr>
          <p:spPr>
            <a:xfrm>
              <a:off x="3416300" y="1464757"/>
              <a:ext cx="1630363" cy="355600"/>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3" name="Google Shape;723;p12"/>
            <p:cNvSpPr/>
            <p:nvPr/>
          </p:nvSpPr>
          <p:spPr>
            <a:xfrm>
              <a:off x="3432175" y="1547307"/>
              <a:ext cx="161101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chemeClr val="dk1"/>
                  </a:solidFill>
                  <a:latin typeface="Constantia"/>
                  <a:ea typeface="Constantia"/>
                  <a:cs typeface="Constantia"/>
                  <a:sym typeface="Constantia"/>
                </a:rPr>
                <a:t> : RegistrationController</a:t>
              </a:r>
              <a:endParaRPr sz="1200">
                <a:solidFill>
                  <a:schemeClr val="dk1"/>
                </a:solidFill>
                <a:latin typeface="Arial"/>
                <a:ea typeface="Arial"/>
                <a:cs typeface="Arial"/>
                <a:sym typeface="Arial"/>
              </a:endParaRPr>
            </a:p>
          </p:txBody>
        </p:sp>
        <p:sp>
          <p:nvSpPr>
            <p:cNvPr id="724" name="Google Shape;724;p12"/>
            <p:cNvSpPr/>
            <p:nvPr/>
          </p:nvSpPr>
          <p:spPr>
            <a:xfrm>
              <a:off x="4173538" y="2549020"/>
              <a:ext cx="106362" cy="647700"/>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5" name="Google Shape;725;p12"/>
            <p:cNvSpPr/>
            <p:nvPr/>
          </p:nvSpPr>
          <p:spPr>
            <a:xfrm>
              <a:off x="4173538" y="5470020"/>
              <a:ext cx="106362" cy="795337"/>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6" name="Google Shape;726;p12"/>
            <p:cNvSpPr/>
            <p:nvPr/>
          </p:nvSpPr>
          <p:spPr>
            <a:xfrm>
              <a:off x="6881813" y="1464757"/>
              <a:ext cx="1058862" cy="355600"/>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7" name="Google Shape;727;p12"/>
            <p:cNvSpPr/>
            <p:nvPr/>
          </p:nvSpPr>
          <p:spPr>
            <a:xfrm>
              <a:off x="7021513" y="1547307"/>
              <a:ext cx="767839"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chemeClr val="dk1"/>
                  </a:solidFill>
                  <a:latin typeface="Constantia"/>
                  <a:ea typeface="Constantia"/>
                  <a:cs typeface="Constantia"/>
                  <a:sym typeface="Constantia"/>
                </a:rPr>
                <a:t> : Schedule</a:t>
              </a:r>
              <a:endParaRPr sz="1200">
                <a:solidFill>
                  <a:schemeClr val="dk1"/>
                </a:solidFill>
                <a:latin typeface="Arial"/>
                <a:ea typeface="Arial"/>
                <a:cs typeface="Arial"/>
                <a:sym typeface="Arial"/>
              </a:endParaRPr>
            </a:p>
          </p:txBody>
        </p:sp>
        <p:sp>
          <p:nvSpPr>
            <p:cNvPr id="728" name="Google Shape;728;p12"/>
            <p:cNvSpPr/>
            <p:nvPr/>
          </p:nvSpPr>
          <p:spPr>
            <a:xfrm>
              <a:off x="7358063" y="5573207"/>
              <a:ext cx="106362" cy="176213"/>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9" name="Google Shape;729;p12"/>
            <p:cNvSpPr/>
            <p:nvPr/>
          </p:nvSpPr>
          <p:spPr>
            <a:xfrm>
              <a:off x="7972425" y="1464757"/>
              <a:ext cx="1006475" cy="355600"/>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30" name="Google Shape;730;p12"/>
            <p:cNvSpPr/>
            <p:nvPr/>
          </p:nvSpPr>
          <p:spPr>
            <a:xfrm>
              <a:off x="8134350" y="1547307"/>
              <a:ext cx="65883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chemeClr val="dk1"/>
                  </a:solidFill>
                  <a:latin typeface="Constantia"/>
                  <a:ea typeface="Constantia"/>
                  <a:cs typeface="Constantia"/>
                  <a:sym typeface="Constantia"/>
                </a:rPr>
                <a:t> : Student</a:t>
              </a:r>
              <a:endParaRPr sz="1200">
                <a:solidFill>
                  <a:schemeClr val="dk1"/>
                </a:solidFill>
                <a:latin typeface="Arial"/>
                <a:ea typeface="Arial"/>
                <a:cs typeface="Arial"/>
                <a:sym typeface="Arial"/>
              </a:endParaRPr>
            </a:p>
          </p:txBody>
        </p:sp>
        <p:sp>
          <p:nvSpPr>
            <p:cNvPr id="731" name="Google Shape;731;p12"/>
            <p:cNvSpPr/>
            <p:nvPr/>
          </p:nvSpPr>
          <p:spPr>
            <a:xfrm>
              <a:off x="8428038" y="5900232"/>
              <a:ext cx="95250" cy="187325"/>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32" name="Google Shape;732;p12"/>
            <p:cNvSpPr/>
            <p:nvPr/>
          </p:nvSpPr>
          <p:spPr>
            <a:xfrm>
              <a:off x="5132388" y="1464757"/>
              <a:ext cx="1677987" cy="355600"/>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33" name="Google Shape;733;p12"/>
            <p:cNvSpPr/>
            <p:nvPr/>
          </p:nvSpPr>
          <p:spPr>
            <a:xfrm>
              <a:off x="5145088" y="1547307"/>
              <a:ext cx="1663917"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chemeClr val="dk1"/>
                  </a:solidFill>
                  <a:latin typeface="Constantia"/>
                  <a:ea typeface="Constantia"/>
                  <a:cs typeface="Constantia"/>
                  <a:sym typeface="Constantia"/>
                </a:rPr>
                <a:t> : CourseCatalogSystem</a:t>
              </a:r>
              <a:endParaRPr sz="1200">
                <a:solidFill>
                  <a:schemeClr val="dk1"/>
                </a:solidFill>
                <a:latin typeface="Arial"/>
                <a:ea typeface="Arial"/>
                <a:cs typeface="Arial"/>
                <a:sym typeface="Arial"/>
              </a:endParaRPr>
            </a:p>
          </p:txBody>
        </p:sp>
        <p:cxnSp>
          <p:nvCxnSpPr>
            <p:cNvPr id="734" name="Google Shape;734;p12"/>
            <p:cNvCxnSpPr/>
            <p:nvPr/>
          </p:nvCxnSpPr>
          <p:spPr>
            <a:xfrm>
              <a:off x="2498725" y="4639757"/>
              <a:ext cx="0" cy="503238"/>
            </a:xfrm>
            <a:prstGeom prst="straightConnector1">
              <a:avLst/>
            </a:prstGeom>
            <a:noFill/>
            <a:ln cap="flat" cmpd="sng" w="9525">
              <a:solidFill>
                <a:schemeClr val="dk1"/>
              </a:solidFill>
              <a:prstDash val="lgDash"/>
              <a:round/>
              <a:headEnd len="med" w="med" type="none"/>
              <a:tailEnd len="med" w="med" type="none"/>
            </a:ln>
          </p:spPr>
        </p:cxnSp>
        <p:sp>
          <p:nvSpPr>
            <p:cNvPr id="735" name="Google Shape;735;p12"/>
            <p:cNvSpPr/>
            <p:nvPr/>
          </p:nvSpPr>
          <p:spPr>
            <a:xfrm>
              <a:off x="5949950" y="2841120"/>
              <a:ext cx="104775" cy="176212"/>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36" name="Google Shape;736;p12"/>
            <p:cNvSpPr/>
            <p:nvPr/>
          </p:nvSpPr>
          <p:spPr>
            <a:xfrm>
              <a:off x="295275" y="2485520"/>
              <a:ext cx="1292225" cy="598487"/>
            </a:xfrm>
            <a:custGeom>
              <a:rect b="b" l="l" r="r" t="t"/>
              <a:pathLst>
                <a:path extrusionOk="0" h="64" w="122">
                  <a:moveTo>
                    <a:pt x="0" y="0"/>
                  </a:moveTo>
                  <a:lnTo>
                    <a:pt x="110" y="0"/>
                  </a:lnTo>
                  <a:lnTo>
                    <a:pt x="122" y="12"/>
                  </a:lnTo>
                  <a:lnTo>
                    <a:pt x="122" y="64"/>
                  </a:lnTo>
                  <a:lnTo>
                    <a:pt x="0" y="64"/>
                  </a:lnTo>
                  <a:lnTo>
                    <a:pt x="0" y="0"/>
                  </a:lnTo>
                </a:path>
              </a:pathLst>
            </a:custGeom>
            <a:solidFill>
              <a:srgbClr val="CCECFF"/>
            </a:solidFill>
            <a:ln cap="flat" cmpd="sng" w="9525">
              <a:solidFill>
                <a:srgbClr val="C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7E9532"/>
                </a:solidFill>
                <a:latin typeface="Constantia"/>
                <a:ea typeface="Constantia"/>
                <a:cs typeface="Constantia"/>
                <a:sym typeface="Constantia"/>
              </a:endParaRPr>
            </a:p>
          </p:txBody>
        </p:sp>
        <p:sp>
          <p:nvSpPr>
            <p:cNvPr id="737" name="Google Shape;737;p12"/>
            <p:cNvSpPr/>
            <p:nvPr/>
          </p:nvSpPr>
          <p:spPr>
            <a:xfrm>
              <a:off x="1447800" y="2488695"/>
              <a:ext cx="127000" cy="112712"/>
            </a:xfrm>
            <a:custGeom>
              <a:rect b="b" l="l" r="r" t="t"/>
              <a:pathLst>
                <a:path extrusionOk="0" h="12" w="12">
                  <a:moveTo>
                    <a:pt x="0" y="0"/>
                  </a:moveTo>
                  <a:lnTo>
                    <a:pt x="0" y="12"/>
                  </a:lnTo>
                  <a:lnTo>
                    <a:pt x="12" y="12"/>
                  </a:lnTo>
                </a:path>
              </a:pathLst>
            </a:custGeom>
            <a:solidFill>
              <a:srgbClr val="CCECFF"/>
            </a:solidFill>
            <a:ln cap="flat" cmpd="sng" w="9525">
              <a:solidFill>
                <a:srgbClr val="C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7E9532"/>
                </a:solidFill>
                <a:latin typeface="Constantia"/>
                <a:ea typeface="Constantia"/>
                <a:cs typeface="Constantia"/>
                <a:sym typeface="Constantia"/>
              </a:endParaRPr>
            </a:p>
          </p:txBody>
        </p:sp>
        <p:sp>
          <p:nvSpPr>
            <p:cNvPr id="738" name="Google Shape;738;p12"/>
            <p:cNvSpPr/>
            <p:nvPr/>
          </p:nvSpPr>
          <p:spPr>
            <a:xfrm>
              <a:off x="338138" y="2550607"/>
              <a:ext cx="1040349"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546321"/>
                  </a:solidFill>
                  <a:latin typeface="Constantia"/>
                  <a:ea typeface="Constantia"/>
                  <a:cs typeface="Constantia"/>
                  <a:sym typeface="Constantia"/>
                </a:rPr>
                <a:t>Student wishes</a:t>
              </a:r>
              <a:endParaRPr sz="1200">
                <a:solidFill>
                  <a:srgbClr val="546321"/>
                </a:solidFill>
                <a:latin typeface="Arial"/>
                <a:ea typeface="Arial"/>
                <a:cs typeface="Arial"/>
                <a:sym typeface="Arial"/>
              </a:endParaRPr>
            </a:p>
          </p:txBody>
        </p:sp>
        <p:sp>
          <p:nvSpPr>
            <p:cNvPr id="739" name="Google Shape;739;p12"/>
            <p:cNvSpPr/>
            <p:nvPr/>
          </p:nvSpPr>
          <p:spPr>
            <a:xfrm>
              <a:off x="338138" y="2701420"/>
              <a:ext cx="109324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546321"/>
                  </a:solidFill>
                  <a:latin typeface="Constantia"/>
                  <a:ea typeface="Constantia"/>
                  <a:cs typeface="Constantia"/>
                  <a:sym typeface="Constantia"/>
                </a:rPr>
                <a:t>to create a new </a:t>
              </a:r>
              <a:endParaRPr/>
            </a:p>
          </p:txBody>
        </p:sp>
        <p:sp>
          <p:nvSpPr>
            <p:cNvPr id="740" name="Google Shape;740;p12"/>
            <p:cNvSpPr/>
            <p:nvPr/>
          </p:nvSpPr>
          <p:spPr>
            <a:xfrm>
              <a:off x="338138" y="2850645"/>
              <a:ext cx="612347"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546321"/>
                  </a:solidFill>
                  <a:latin typeface="Constantia"/>
                  <a:ea typeface="Constantia"/>
                  <a:cs typeface="Constantia"/>
                  <a:sym typeface="Constantia"/>
                </a:rPr>
                <a:t>schedule</a:t>
              </a:r>
              <a:endParaRPr sz="1200">
                <a:solidFill>
                  <a:srgbClr val="546321"/>
                </a:solidFill>
                <a:latin typeface="Arial"/>
                <a:ea typeface="Arial"/>
                <a:cs typeface="Arial"/>
                <a:sym typeface="Arial"/>
              </a:endParaRPr>
            </a:p>
          </p:txBody>
        </p:sp>
        <p:cxnSp>
          <p:nvCxnSpPr>
            <p:cNvPr id="741" name="Google Shape;741;p12"/>
            <p:cNvCxnSpPr/>
            <p:nvPr/>
          </p:nvCxnSpPr>
          <p:spPr>
            <a:xfrm>
              <a:off x="869950" y="2318832"/>
              <a:ext cx="1577975" cy="0"/>
            </a:xfrm>
            <a:prstGeom prst="straightConnector1">
              <a:avLst/>
            </a:prstGeom>
            <a:noFill/>
            <a:ln cap="flat" cmpd="sng" w="9525">
              <a:solidFill>
                <a:schemeClr val="dk1"/>
              </a:solidFill>
              <a:prstDash val="solid"/>
              <a:round/>
              <a:headEnd len="med" w="med" type="none"/>
              <a:tailEnd len="lg" w="lg" type="triangle"/>
            </a:ln>
          </p:spPr>
        </p:cxnSp>
        <p:sp>
          <p:nvSpPr>
            <p:cNvPr id="742" name="Google Shape;742;p12"/>
            <p:cNvSpPr/>
            <p:nvPr/>
          </p:nvSpPr>
          <p:spPr>
            <a:xfrm>
              <a:off x="965200" y="2109282"/>
              <a:ext cx="152926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 // create schedule( )</a:t>
              </a:r>
              <a:endParaRPr sz="1200">
                <a:solidFill>
                  <a:schemeClr val="dk1"/>
                </a:solidFill>
                <a:latin typeface="Arial"/>
                <a:ea typeface="Arial"/>
                <a:cs typeface="Arial"/>
                <a:sym typeface="Arial"/>
              </a:endParaRPr>
            </a:p>
          </p:txBody>
        </p:sp>
        <p:sp>
          <p:nvSpPr>
            <p:cNvPr id="743" name="Google Shape;743;p12"/>
            <p:cNvSpPr/>
            <p:nvPr/>
          </p:nvSpPr>
          <p:spPr>
            <a:xfrm>
              <a:off x="1874838" y="3118932"/>
              <a:ext cx="2183739"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1.2. // display course offerings( )</a:t>
              </a:r>
              <a:endParaRPr sz="1200">
                <a:solidFill>
                  <a:schemeClr val="dk1"/>
                </a:solidFill>
                <a:latin typeface="Arial"/>
                <a:ea typeface="Arial"/>
                <a:cs typeface="Arial"/>
                <a:sym typeface="Arial"/>
              </a:endParaRPr>
            </a:p>
          </p:txBody>
        </p:sp>
        <p:cxnSp>
          <p:nvCxnSpPr>
            <p:cNvPr id="744" name="Google Shape;744;p12"/>
            <p:cNvCxnSpPr/>
            <p:nvPr/>
          </p:nvCxnSpPr>
          <p:spPr>
            <a:xfrm>
              <a:off x="2554288" y="2560132"/>
              <a:ext cx="1619250" cy="1588"/>
            </a:xfrm>
            <a:prstGeom prst="straightConnector1">
              <a:avLst/>
            </a:prstGeom>
            <a:noFill/>
            <a:ln cap="flat" cmpd="sng" w="9525">
              <a:solidFill>
                <a:schemeClr val="dk1"/>
              </a:solidFill>
              <a:prstDash val="solid"/>
              <a:round/>
              <a:headEnd len="med" w="med" type="none"/>
              <a:tailEnd len="lg" w="lg" type="triangle"/>
            </a:ln>
          </p:spPr>
        </p:cxnSp>
        <p:sp>
          <p:nvSpPr>
            <p:cNvPr id="745" name="Google Shape;745;p12"/>
            <p:cNvSpPr/>
            <p:nvPr/>
          </p:nvSpPr>
          <p:spPr>
            <a:xfrm>
              <a:off x="2576513" y="2353757"/>
              <a:ext cx="1920847"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1.1. // get course offerings( )</a:t>
              </a:r>
              <a:endParaRPr sz="1200">
                <a:solidFill>
                  <a:schemeClr val="dk1"/>
                </a:solidFill>
                <a:latin typeface="Arial"/>
                <a:ea typeface="Arial"/>
                <a:cs typeface="Arial"/>
                <a:sym typeface="Arial"/>
              </a:endParaRPr>
            </a:p>
          </p:txBody>
        </p:sp>
        <p:cxnSp>
          <p:nvCxnSpPr>
            <p:cNvPr id="746" name="Google Shape;746;p12"/>
            <p:cNvCxnSpPr/>
            <p:nvPr/>
          </p:nvCxnSpPr>
          <p:spPr>
            <a:xfrm>
              <a:off x="4278313" y="2842707"/>
              <a:ext cx="1658937" cy="0"/>
            </a:xfrm>
            <a:prstGeom prst="straightConnector1">
              <a:avLst/>
            </a:prstGeom>
            <a:noFill/>
            <a:ln cap="flat" cmpd="sng" w="9525">
              <a:solidFill>
                <a:schemeClr val="dk1"/>
              </a:solidFill>
              <a:prstDash val="solid"/>
              <a:round/>
              <a:headEnd len="med" w="med" type="none"/>
              <a:tailEnd len="lg" w="lg" type="triangle"/>
            </a:ln>
          </p:spPr>
        </p:cxnSp>
        <p:sp>
          <p:nvSpPr>
            <p:cNvPr id="747" name="Google Shape;747;p12"/>
            <p:cNvSpPr/>
            <p:nvPr/>
          </p:nvSpPr>
          <p:spPr>
            <a:xfrm>
              <a:off x="4310063" y="2633157"/>
              <a:ext cx="284257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1.1.1. // get course offerings(forSemester)</a:t>
              </a:r>
              <a:endParaRPr sz="1200">
                <a:solidFill>
                  <a:schemeClr val="dk1"/>
                </a:solidFill>
                <a:latin typeface="Arial"/>
                <a:ea typeface="Arial"/>
                <a:cs typeface="Arial"/>
                <a:sym typeface="Arial"/>
              </a:endParaRPr>
            </a:p>
          </p:txBody>
        </p:sp>
        <p:cxnSp>
          <p:nvCxnSpPr>
            <p:cNvPr id="748" name="Google Shape;748;p12"/>
            <p:cNvCxnSpPr/>
            <p:nvPr/>
          </p:nvCxnSpPr>
          <p:spPr>
            <a:xfrm flipH="1" rot="10800000">
              <a:off x="1312863" y="2320420"/>
              <a:ext cx="200025" cy="165100"/>
            </a:xfrm>
            <a:prstGeom prst="straightConnector1">
              <a:avLst/>
            </a:prstGeom>
            <a:noFill/>
            <a:ln cap="flat" cmpd="sng" w="9525">
              <a:solidFill>
                <a:srgbClr val="C00000"/>
              </a:solidFill>
              <a:prstDash val="dash"/>
              <a:round/>
              <a:headEnd len="med" w="med" type="none"/>
              <a:tailEnd len="med" w="med" type="none"/>
            </a:ln>
          </p:spPr>
        </p:cxnSp>
        <p:sp>
          <p:nvSpPr>
            <p:cNvPr id="749" name="Google Shape;749;p12"/>
            <p:cNvSpPr/>
            <p:nvPr/>
          </p:nvSpPr>
          <p:spPr>
            <a:xfrm>
              <a:off x="1897063" y="3984120"/>
              <a:ext cx="211596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1.3. // display blank schedule( )</a:t>
              </a:r>
              <a:endParaRPr sz="1200">
                <a:solidFill>
                  <a:schemeClr val="dk1"/>
                </a:solidFill>
                <a:latin typeface="Arial"/>
                <a:ea typeface="Arial"/>
                <a:cs typeface="Arial"/>
                <a:sym typeface="Arial"/>
              </a:endParaRPr>
            </a:p>
          </p:txBody>
        </p:sp>
        <p:cxnSp>
          <p:nvCxnSpPr>
            <p:cNvPr id="750" name="Google Shape;750;p12"/>
            <p:cNvCxnSpPr/>
            <p:nvPr/>
          </p:nvCxnSpPr>
          <p:spPr>
            <a:xfrm>
              <a:off x="869950" y="5142995"/>
              <a:ext cx="1577975" cy="1587"/>
            </a:xfrm>
            <a:prstGeom prst="straightConnector1">
              <a:avLst/>
            </a:prstGeom>
            <a:noFill/>
            <a:ln cap="flat" cmpd="sng" w="9525">
              <a:solidFill>
                <a:schemeClr val="dk1"/>
              </a:solidFill>
              <a:prstDash val="solid"/>
              <a:round/>
              <a:headEnd len="med" w="med" type="none"/>
              <a:tailEnd len="lg" w="lg" type="triangle"/>
            </a:ln>
          </p:spPr>
        </p:cxnSp>
        <p:sp>
          <p:nvSpPr>
            <p:cNvPr id="751" name="Google Shape;751;p12"/>
            <p:cNvSpPr/>
            <p:nvPr/>
          </p:nvSpPr>
          <p:spPr>
            <a:xfrm>
              <a:off x="303213" y="4936620"/>
              <a:ext cx="322569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2. // select 4 primary and 2 alternate offerings( )</a:t>
              </a:r>
              <a:endParaRPr sz="1200">
                <a:solidFill>
                  <a:schemeClr val="dk1"/>
                </a:solidFill>
                <a:latin typeface="Arial"/>
                <a:ea typeface="Arial"/>
                <a:cs typeface="Arial"/>
                <a:sym typeface="Arial"/>
              </a:endParaRPr>
            </a:p>
          </p:txBody>
        </p:sp>
        <p:cxnSp>
          <p:nvCxnSpPr>
            <p:cNvPr id="752" name="Google Shape;752;p12"/>
            <p:cNvCxnSpPr/>
            <p:nvPr/>
          </p:nvCxnSpPr>
          <p:spPr>
            <a:xfrm>
              <a:off x="2554288" y="5465257"/>
              <a:ext cx="1619250" cy="1588"/>
            </a:xfrm>
            <a:prstGeom prst="straightConnector1">
              <a:avLst/>
            </a:prstGeom>
            <a:noFill/>
            <a:ln cap="flat" cmpd="sng" w="9525">
              <a:solidFill>
                <a:schemeClr val="dk1"/>
              </a:solidFill>
              <a:prstDash val="solid"/>
              <a:round/>
              <a:headEnd len="med" w="med" type="none"/>
              <a:tailEnd len="lg" w="lg" type="triangle"/>
            </a:ln>
          </p:spPr>
        </p:cxnSp>
        <p:sp>
          <p:nvSpPr>
            <p:cNvPr id="753" name="Google Shape;753;p12"/>
            <p:cNvSpPr/>
            <p:nvPr/>
          </p:nvSpPr>
          <p:spPr>
            <a:xfrm>
              <a:off x="2193925" y="5260470"/>
              <a:ext cx="260212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2.1. // create schedule with offerings( )</a:t>
              </a:r>
              <a:endParaRPr sz="1200">
                <a:solidFill>
                  <a:schemeClr val="dk1"/>
                </a:solidFill>
                <a:latin typeface="Arial"/>
                <a:ea typeface="Arial"/>
                <a:cs typeface="Arial"/>
                <a:sym typeface="Arial"/>
              </a:endParaRPr>
            </a:p>
          </p:txBody>
        </p:sp>
        <p:cxnSp>
          <p:nvCxnSpPr>
            <p:cNvPr id="754" name="Google Shape;754;p12"/>
            <p:cNvCxnSpPr/>
            <p:nvPr/>
          </p:nvCxnSpPr>
          <p:spPr>
            <a:xfrm>
              <a:off x="4279900" y="5573207"/>
              <a:ext cx="3090863" cy="1588"/>
            </a:xfrm>
            <a:prstGeom prst="straightConnector1">
              <a:avLst/>
            </a:prstGeom>
            <a:noFill/>
            <a:ln cap="flat" cmpd="sng" w="9525">
              <a:solidFill>
                <a:schemeClr val="dk1"/>
              </a:solidFill>
              <a:prstDash val="solid"/>
              <a:round/>
              <a:headEnd len="med" w="med" type="none"/>
              <a:tailEnd len="lg" w="lg" type="triangle"/>
            </a:ln>
          </p:spPr>
        </p:cxnSp>
        <p:sp>
          <p:nvSpPr>
            <p:cNvPr id="755" name="Google Shape;755;p12"/>
            <p:cNvSpPr/>
            <p:nvPr/>
          </p:nvSpPr>
          <p:spPr>
            <a:xfrm>
              <a:off x="4911725" y="5365245"/>
              <a:ext cx="207473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2.1.1. // create with offerings( )</a:t>
              </a:r>
              <a:endParaRPr sz="1200">
                <a:solidFill>
                  <a:schemeClr val="dk1"/>
                </a:solidFill>
                <a:latin typeface="Arial"/>
                <a:ea typeface="Arial"/>
                <a:cs typeface="Arial"/>
                <a:sym typeface="Arial"/>
              </a:endParaRPr>
            </a:p>
          </p:txBody>
        </p:sp>
        <p:sp>
          <p:nvSpPr>
            <p:cNvPr id="756" name="Google Shape;756;p12"/>
            <p:cNvSpPr/>
            <p:nvPr/>
          </p:nvSpPr>
          <p:spPr>
            <a:xfrm>
              <a:off x="287338" y="4066670"/>
              <a:ext cx="1365250" cy="692150"/>
            </a:xfrm>
            <a:custGeom>
              <a:rect b="b" l="l" r="r" t="t"/>
              <a:pathLst>
                <a:path extrusionOk="0" h="74" w="129">
                  <a:moveTo>
                    <a:pt x="0" y="0"/>
                  </a:moveTo>
                  <a:lnTo>
                    <a:pt x="118" y="0"/>
                  </a:lnTo>
                  <a:lnTo>
                    <a:pt x="129" y="12"/>
                  </a:lnTo>
                  <a:lnTo>
                    <a:pt x="129" y="74"/>
                  </a:lnTo>
                  <a:lnTo>
                    <a:pt x="0" y="74"/>
                  </a:lnTo>
                  <a:lnTo>
                    <a:pt x="0" y="0"/>
                  </a:lnTo>
                </a:path>
              </a:pathLst>
            </a:custGeom>
            <a:solidFill>
              <a:srgbClr val="CCECFF"/>
            </a:solidFill>
            <a:ln cap="flat" cmpd="sng" w="9525">
              <a:solidFill>
                <a:srgbClr val="C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7E9532"/>
                </a:solidFill>
                <a:latin typeface="Constantia"/>
                <a:ea typeface="Constantia"/>
                <a:cs typeface="Constantia"/>
                <a:sym typeface="Constantia"/>
              </a:endParaRPr>
            </a:p>
          </p:txBody>
        </p:sp>
        <p:sp>
          <p:nvSpPr>
            <p:cNvPr id="757" name="Google Shape;757;p12"/>
            <p:cNvSpPr/>
            <p:nvPr/>
          </p:nvSpPr>
          <p:spPr>
            <a:xfrm>
              <a:off x="1536700" y="4069845"/>
              <a:ext cx="115888" cy="111125"/>
            </a:xfrm>
            <a:custGeom>
              <a:rect b="b" l="l" r="r" t="t"/>
              <a:pathLst>
                <a:path extrusionOk="0" h="12" w="11">
                  <a:moveTo>
                    <a:pt x="0" y="0"/>
                  </a:moveTo>
                  <a:lnTo>
                    <a:pt x="0" y="12"/>
                  </a:lnTo>
                  <a:lnTo>
                    <a:pt x="11" y="12"/>
                  </a:lnTo>
                </a:path>
              </a:pathLst>
            </a:custGeom>
            <a:solidFill>
              <a:srgbClr val="CCECFF"/>
            </a:solidFill>
            <a:ln cap="flat" cmpd="sng" w="9525">
              <a:solidFill>
                <a:srgbClr val="C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7E9532"/>
                </a:solidFill>
                <a:latin typeface="Constantia"/>
                <a:ea typeface="Constantia"/>
                <a:cs typeface="Constantia"/>
                <a:sym typeface="Constantia"/>
              </a:endParaRPr>
            </a:p>
          </p:txBody>
        </p:sp>
        <p:sp>
          <p:nvSpPr>
            <p:cNvPr id="758" name="Google Shape;758;p12"/>
            <p:cNvSpPr/>
            <p:nvPr/>
          </p:nvSpPr>
          <p:spPr>
            <a:xfrm>
              <a:off x="331788" y="4084132"/>
              <a:ext cx="120180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546321"/>
                  </a:solidFill>
                  <a:latin typeface="Constantia"/>
                  <a:ea typeface="Constantia"/>
                  <a:cs typeface="Constantia"/>
                  <a:sym typeface="Constantia"/>
                </a:rPr>
                <a:t>A blank schedule </a:t>
              </a:r>
              <a:endParaRPr sz="1200">
                <a:solidFill>
                  <a:srgbClr val="546321"/>
                </a:solidFill>
                <a:latin typeface="Arial"/>
                <a:ea typeface="Arial"/>
                <a:cs typeface="Arial"/>
                <a:sym typeface="Arial"/>
              </a:endParaRPr>
            </a:p>
          </p:txBody>
        </p:sp>
        <p:sp>
          <p:nvSpPr>
            <p:cNvPr id="759" name="Google Shape;759;p12"/>
            <p:cNvSpPr/>
            <p:nvPr/>
          </p:nvSpPr>
          <p:spPr>
            <a:xfrm>
              <a:off x="331788" y="4234945"/>
              <a:ext cx="132247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546321"/>
                  </a:solidFill>
                  <a:latin typeface="Constantia"/>
                  <a:ea typeface="Constantia"/>
                  <a:cs typeface="Constantia"/>
                  <a:sym typeface="Constantia"/>
                </a:rPr>
                <a:t>is displayed for the </a:t>
              </a:r>
              <a:endParaRPr sz="1200">
                <a:solidFill>
                  <a:srgbClr val="546321"/>
                </a:solidFill>
                <a:latin typeface="Arial"/>
                <a:ea typeface="Arial"/>
                <a:cs typeface="Arial"/>
                <a:sym typeface="Arial"/>
              </a:endParaRPr>
            </a:p>
          </p:txBody>
        </p:sp>
        <p:sp>
          <p:nvSpPr>
            <p:cNvPr id="760" name="Google Shape;760;p12"/>
            <p:cNvSpPr/>
            <p:nvPr/>
          </p:nvSpPr>
          <p:spPr>
            <a:xfrm>
              <a:off x="331788" y="4384170"/>
              <a:ext cx="123912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546321"/>
                  </a:solidFill>
                  <a:latin typeface="Constantia"/>
                  <a:ea typeface="Constantia"/>
                  <a:cs typeface="Constantia"/>
                  <a:sym typeface="Constantia"/>
                </a:rPr>
                <a:t>students to select </a:t>
              </a:r>
              <a:endParaRPr sz="1200">
                <a:solidFill>
                  <a:srgbClr val="546321"/>
                </a:solidFill>
                <a:latin typeface="Arial"/>
                <a:ea typeface="Arial"/>
                <a:cs typeface="Arial"/>
                <a:sym typeface="Arial"/>
              </a:endParaRPr>
            </a:p>
          </p:txBody>
        </p:sp>
        <p:sp>
          <p:nvSpPr>
            <p:cNvPr id="761" name="Google Shape;761;p12"/>
            <p:cNvSpPr/>
            <p:nvPr/>
          </p:nvSpPr>
          <p:spPr>
            <a:xfrm>
              <a:off x="331788" y="4533395"/>
              <a:ext cx="58554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546321"/>
                  </a:solidFill>
                  <a:latin typeface="Constantia"/>
                  <a:ea typeface="Constantia"/>
                  <a:cs typeface="Constantia"/>
                  <a:sym typeface="Constantia"/>
                </a:rPr>
                <a:t>offerings</a:t>
              </a:r>
              <a:endParaRPr sz="1200">
                <a:solidFill>
                  <a:srgbClr val="546321"/>
                </a:solidFill>
                <a:latin typeface="Arial"/>
                <a:ea typeface="Arial"/>
                <a:cs typeface="Arial"/>
                <a:sym typeface="Arial"/>
              </a:endParaRPr>
            </a:p>
          </p:txBody>
        </p:sp>
        <p:cxnSp>
          <p:nvCxnSpPr>
            <p:cNvPr id="762" name="Google Shape;762;p12"/>
            <p:cNvCxnSpPr/>
            <p:nvPr/>
          </p:nvCxnSpPr>
          <p:spPr>
            <a:xfrm flipH="1" rot="10800000">
              <a:off x="1662113" y="4293682"/>
              <a:ext cx="1211262" cy="265113"/>
            </a:xfrm>
            <a:prstGeom prst="straightConnector1">
              <a:avLst/>
            </a:prstGeom>
            <a:noFill/>
            <a:ln cap="flat" cmpd="sng" w="9525">
              <a:solidFill>
                <a:srgbClr val="C00000"/>
              </a:solidFill>
              <a:prstDash val="dash"/>
              <a:round/>
              <a:headEnd len="med" w="med" type="none"/>
              <a:tailEnd len="med" w="med" type="none"/>
            </a:ln>
          </p:spPr>
        </p:cxnSp>
        <p:cxnSp>
          <p:nvCxnSpPr>
            <p:cNvPr id="763" name="Google Shape;763;p12"/>
            <p:cNvCxnSpPr/>
            <p:nvPr/>
          </p:nvCxnSpPr>
          <p:spPr>
            <a:xfrm>
              <a:off x="4279900" y="5897057"/>
              <a:ext cx="4135438" cy="1588"/>
            </a:xfrm>
            <a:prstGeom prst="straightConnector1">
              <a:avLst/>
            </a:prstGeom>
            <a:noFill/>
            <a:ln cap="flat" cmpd="sng" w="9525">
              <a:solidFill>
                <a:schemeClr val="dk1"/>
              </a:solidFill>
              <a:prstDash val="solid"/>
              <a:round/>
              <a:headEnd len="med" w="med" type="none"/>
              <a:tailEnd len="lg" w="lg" type="triangle"/>
            </a:ln>
          </p:spPr>
        </p:cxnSp>
        <p:sp>
          <p:nvSpPr>
            <p:cNvPr id="764" name="Google Shape;764;p12"/>
            <p:cNvSpPr/>
            <p:nvPr/>
          </p:nvSpPr>
          <p:spPr>
            <a:xfrm>
              <a:off x="4957763" y="5690682"/>
              <a:ext cx="220893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2.1.2. // add schedule(Schedule)</a:t>
              </a:r>
              <a:endParaRPr sz="1200">
                <a:solidFill>
                  <a:schemeClr val="dk1"/>
                </a:solidFill>
                <a:latin typeface="Arial"/>
                <a:ea typeface="Arial"/>
                <a:cs typeface="Arial"/>
                <a:sym typeface="Arial"/>
              </a:endParaRPr>
            </a:p>
          </p:txBody>
        </p:sp>
        <p:cxnSp>
          <p:nvCxnSpPr>
            <p:cNvPr id="765" name="Google Shape;765;p12"/>
            <p:cNvCxnSpPr/>
            <p:nvPr/>
          </p:nvCxnSpPr>
          <p:spPr>
            <a:xfrm>
              <a:off x="814388" y="6660645"/>
              <a:ext cx="0" cy="157162"/>
            </a:xfrm>
            <a:prstGeom prst="straightConnector1">
              <a:avLst/>
            </a:prstGeom>
            <a:noFill/>
            <a:ln>
              <a:noFill/>
            </a:ln>
          </p:spPr>
        </p:cxnSp>
        <p:cxnSp>
          <p:nvCxnSpPr>
            <p:cNvPr id="766" name="Google Shape;766;p12"/>
            <p:cNvCxnSpPr/>
            <p:nvPr/>
          </p:nvCxnSpPr>
          <p:spPr>
            <a:xfrm>
              <a:off x="815975" y="2114045"/>
              <a:ext cx="0" cy="203200"/>
            </a:xfrm>
            <a:prstGeom prst="straightConnector1">
              <a:avLst/>
            </a:prstGeom>
            <a:noFill/>
            <a:ln cap="flat" cmpd="sng" w="9525">
              <a:solidFill>
                <a:schemeClr val="dk1"/>
              </a:solidFill>
              <a:prstDash val="lgDash"/>
              <a:round/>
              <a:headEnd len="med" w="med" type="none"/>
              <a:tailEnd len="med" w="med" type="none"/>
            </a:ln>
          </p:spPr>
        </p:cxnSp>
        <p:cxnSp>
          <p:nvCxnSpPr>
            <p:cNvPr id="767" name="Google Shape;767;p12"/>
            <p:cNvCxnSpPr/>
            <p:nvPr/>
          </p:nvCxnSpPr>
          <p:spPr>
            <a:xfrm>
              <a:off x="2495550" y="6449507"/>
              <a:ext cx="0" cy="369888"/>
            </a:xfrm>
            <a:prstGeom prst="straightConnector1">
              <a:avLst/>
            </a:prstGeom>
            <a:noFill/>
            <a:ln>
              <a:noFill/>
            </a:ln>
          </p:spPr>
        </p:cxnSp>
        <p:cxnSp>
          <p:nvCxnSpPr>
            <p:cNvPr id="768" name="Google Shape;768;p12"/>
            <p:cNvCxnSpPr/>
            <p:nvPr/>
          </p:nvCxnSpPr>
          <p:spPr>
            <a:xfrm>
              <a:off x="4224338" y="3212595"/>
              <a:ext cx="0" cy="2257425"/>
            </a:xfrm>
            <a:prstGeom prst="straightConnector1">
              <a:avLst/>
            </a:prstGeom>
            <a:noFill/>
            <a:ln cap="flat" cmpd="sng" w="9525">
              <a:solidFill>
                <a:schemeClr val="dk1"/>
              </a:solidFill>
              <a:prstDash val="lgDash"/>
              <a:round/>
              <a:headEnd len="med" w="med" type="none"/>
              <a:tailEnd len="med" w="med" type="none"/>
            </a:ln>
          </p:spPr>
        </p:cxnSp>
        <p:cxnSp>
          <p:nvCxnSpPr>
            <p:cNvPr id="769" name="Google Shape;769;p12"/>
            <p:cNvCxnSpPr/>
            <p:nvPr/>
          </p:nvCxnSpPr>
          <p:spPr>
            <a:xfrm>
              <a:off x="4224338" y="6298695"/>
              <a:ext cx="0" cy="514350"/>
            </a:xfrm>
            <a:prstGeom prst="straightConnector1">
              <a:avLst/>
            </a:prstGeom>
            <a:noFill/>
            <a:ln>
              <a:noFill/>
            </a:ln>
          </p:spPr>
        </p:cxnSp>
        <p:cxnSp>
          <p:nvCxnSpPr>
            <p:cNvPr id="770" name="Google Shape;770;p12"/>
            <p:cNvCxnSpPr/>
            <p:nvPr/>
          </p:nvCxnSpPr>
          <p:spPr>
            <a:xfrm>
              <a:off x="6002338" y="3022095"/>
              <a:ext cx="1587" cy="3792537"/>
            </a:xfrm>
            <a:prstGeom prst="straightConnector1">
              <a:avLst/>
            </a:prstGeom>
            <a:noFill/>
            <a:ln cap="flat" cmpd="sng" w="9525">
              <a:solidFill>
                <a:schemeClr val="dk1"/>
              </a:solidFill>
              <a:prstDash val="lgDash"/>
              <a:round/>
              <a:headEnd len="med" w="med" type="none"/>
              <a:tailEnd len="med" w="med" type="none"/>
            </a:ln>
          </p:spPr>
        </p:cxnSp>
        <p:cxnSp>
          <p:nvCxnSpPr>
            <p:cNvPr id="771" name="Google Shape;771;p12"/>
            <p:cNvCxnSpPr/>
            <p:nvPr/>
          </p:nvCxnSpPr>
          <p:spPr>
            <a:xfrm>
              <a:off x="7412038" y="5790695"/>
              <a:ext cx="0" cy="1022350"/>
            </a:xfrm>
            <a:prstGeom prst="straightConnector1">
              <a:avLst/>
            </a:prstGeom>
            <a:noFill/>
            <a:ln cap="flat" cmpd="sng" w="9525">
              <a:solidFill>
                <a:schemeClr val="dk1"/>
              </a:solidFill>
              <a:prstDash val="lgDash"/>
              <a:round/>
              <a:headEnd len="med" w="med" type="none"/>
              <a:tailEnd len="med" w="med" type="none"/>
            </a:ln>
          </p:spPr>
        </p:cxnSp>
        <p:cxnSp>
          <p:nvCxnSpPr>
            <p:cNvPr id="772" name="Google Shape;772;p12"/>
            <p:cNvCxnSpPr/>
            <p:nvPr/>
          </p:nvCxnSpPr>
          <p:spPr>
            <a:xfrm>
              <a:off x="8478838" y="6095495"/>
              <a:ext cx="0" cy="717550"/>
            </a:xfrm>
            <a:prstGeom prst="straightConnector1">
              <a:avLst/>
            </a:prstGeom>
            <a:noFill/>
            <a:ln cap="flat" cmpd="sng" w="9525">
              <a:solidFill>
                <a:schemeClr val="dk1"/>
              </a:solidFill>
              <a:prstDash val="lgDash"/>
              <a:round/>
              <a:headEnd len="med" w="med" type="none"/>
              <a:tailEnd len="med" w="med" type="none"/>
            </a:ln>
          </p:spPr>
        </p:cxnSp>
        <p:sp>
          <p:nvSpPr>
            <p:cNvPr id="773" name="Google Shape;773;p12"/>
            <p:cNvSpPr txBox="1"/>
            <p:nvPr/>
          </p:nvSpPr>
          <p:spPr>
            <a:xfrm>
              <a:off x="836613" y="6433632"/>
              <a:ext cx="5105400" cy="324448"/>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400">
                  <a:solidFill>
                    <a:srgbClr val="0000FF"/>
                  </a:solidFill>
                  <a:latin typeface="Constantia"/>
                  <a:ea typeface="Constantia"/>
                  <a:cs typeface="Constantia"/>
                  <a:sym typeface="Constantia"/>
                </a:rPr>
                <a:t>At this point, the Submit Schedule subflow is executed</a:t>
              </a:r>
              <a:endParaRPr/>
            </a:p>
          </p:txBody>
        </p:sp>
        <p:sp>
          <p:nvSpPr>
            <p:cNvPr id="774" name="Google Shape;774;p12"/>
            <p:cNvSpPr/>
            <p:nvPr/>
          </p:nvSpPr>
          <p:spPr>
            <a:xfrm>
              <a:off x="2447925" y="2317245"/>
              <a:ext cx="95250" cy="2319337"/>
            </a:xfrm>
            <a:custGeom>
              <a:rect b="b" l="l" r="r" t="t"/>
              <a:pathLst>
                <a:path extrusionOk="0" h="1461" w="60">
                  <a:moveTo>
                    <a:pt x="60" y="688"/>
                  </a:moveTo>
                  <a:lnTo>
                    <a:pt x="60" y="0"/>
                  </a:lnTo>
                  <a:lnTo>
                    <a:pt x="0" y="0"/>
                  </a:lnTo>
                  <a:lnTo>
                    <a:pt x="0" y="1461"/>
                  </a:lnTo>
                  <a:lnTo>
                    <a:pt x="60" y="1461"/>
                  </a:lnTo>
                  <a:lnTo>
                    <a:pt x="60" y="1361"/>
                  </a:lnTo>
                </a:path>
              </a:pathLst>
            </a:custGeom>
            <a:noFill/>
            <a:ln cap="flat" cmpd="sng" w="9525">
              <a:solidFill>
                <a:srgbClr val="C00000"/>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775" name="Google Shape;775;p12"/>
            <p:cNvCxnSpPr/>
            <p:nvPr/>
          </p:nvCxnSpPr>
          <p:spPr>
            <a:xfrm>
              <a:off x="2543175" y="3598357"/>
              <a:ext cx="0" cy="682625"/>
            </a:xfrm>
            <a:prstGeom prst="straightConnector1">
              <a:avLst/>
            </a:prstGeom>
            <a:noFill/>
            <a:ln cap="flat" cmpd="sng" w="9525">
              <a:solidFill>
                <a:srgbClr val="C00000"/>
              </a:solidFill>
              <a:prstDash val="solid"/>
              <a:round/>
              <a:headEnd len="med" w="med" type="none"/>
              <a:tailEnd len="med" w="med" type="none"/>
            </a:ln>
          </p:spPr>
        </p:cxnSp>
        <p:sp>
          <p:nvSpPr>
            <p:cNvPr id="776" name="Google Shape;776;p12"/>
            <p:cNvSpPr/>
            <p:nvPr/>
          </p:nvSpPr>
          <p:spPr>
            <a:xfrm>
              <a:off x="2543175" y="3312607"/>
              <a:ext cx="574675" cy="98425"/>
            </a:xfrm>
            <a:custGeom>
              <a:rect b="b" l="l" r="r" t="t"/>
              <a:pathLst>
                <a:path extrusionOk="0" h="62" w="362">
                  <a:moveTo>
                    <a:pt x="0" y="0"/>
                  </a:moveTo>
                  <a:lnTo>
                    <a:pt x="362" y="0"/>
                  </a:lnTo>
                  <a:lnTo>
                    <a:pt x="362" y="62"/>
                  </a:lnTo>
                  <a:lnTo>
                    <a:pt x="36" y="62"/>
                  </a:lnTo>
                </a:path>
              </a:pathLst>
            </a:custGeom>
            <a:noFill/>
            <a:ln cap="flat" cmpd="sng" w="9525">
              <a:solidFill>
                <a:schemeClr val="dk1"/>
              </a:solidFill>
              <a:prstDash val="solid"/>
              <a:round/>
              <a:headEnd len="med" w="med" type="none"/>
              <a:tailEnd len="lg" w="lg" type="triangl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77" name="Google Shape;777;p12"/>
            <p:cNvSpPr/>
            <p:nvPr/>
          </p:nvSpPr>
          <p:spPr>
            <a:xfrm>
              <a:off x="2495550" y="4284157"/>
              <a:ext cx="106363" cy="187325"/>
            </a:xfrm>
            <a:prstGeom prst="rect">
              <a:avLst/>
            </a:prstGeom>
            <a:noFill/>
            <a:ln cap="flat" cmpd="sng" w="952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78" name="Google Shape;778;p12"/>
            <p:cNvSpPr/>
            <p:nvPr/>
          </p:nvSpPr>
          <p:spPr>
            <a:xfrm>
              <a:off x="2549525" y="4185732"/>
              <a:ext cx="574675" cy="98425"/>
            </a:xfrm>
            <a:custGeom>
              <a:rect b="b" l="l" r="r" t="t"/>
              <a:pathLst>
                <a:path extrusionOk="0" h="62" w="362">
                  <a:moveTo>
                    <a:pt x="0" y="0"/>
                  </a:moveTo>
                  <a:lnTo>
                    <a:pt x="362" y="0"/>
                  </a:lnTo>
                  <a:lnTo>
                    <a:pt x="362" y="62"/>
                  </a:lnTo>
                  <a:lnTo>
                    <a:pt x="36" y="62"/>
                  </a:lnTo>
                </a:path>
              </a:pathLst>
            </a:custGeom>
            <a:noFill/>
            <a:ln cap="flat" cmpd="sng" w="9525">
              <a:solidFill>
                <a:schemeClr val="dk1"/>
              </a:solidFill>
              <a:prstDash val="solid"/>
              <a:round/>
              <a:headEnd len="med" w="med" type="none"/>
              <a:tailEnd len="lg" w="lg" type="triangl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79" name="Google Shape;779;p12"/>
            <p:cNvSpPr/>
            <p:nvPr/>
          </p:nvSpPr>
          <p:spPr>
            <a:xfrm>
              <a:off x="292100" y="3364995"/>
              <a:ext cx="1657350" cy="560387"/>
            </a:xfrm>
            <a:custGeom>
              <a:rect b="b" l="l" r="r" t="t"/>
              <a:pathLst>
                <a:path extrusionOk="0" h="60" w="152">
                  <a:moveTo>
                    <a:pt x="0" y="0"/>
                  </a:moveTo>
                  <a:lnTo>
                    <a:pt x="140" y="0"/>
                  </a:lnTo>
                  <a:lnTo>
                    <a:pt x="152" y="12"/>
                  </a:lnTo>
                  <a:lnTo>
                    <a:pt x="152" y="60"/>
                  </a:lnTo>
                  <a:lnTo>
                    <a:pt x="0" y="60"/>
                  </a:lnTo>
                  <a:lnTo>
                    <a:pt x="0" y="0"/>
                  </a:lnTo>
                </a:path>
              </a:pathLst>
            </a:custGeom>
            <a:solidFill>
              <a:srgbClr val="CCECFF"/>
            </a:solidFill>
            <a:ln cap="flat" cmpd="sng" w="9525">
              <a:solidFill>
                <a:srgbClr val="C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7E9532"/>
                </a:solidFill>
                <a:latin typeface="Constantia"/>
                <a:ea typeface="Constantia"/>
                <a:cs typeface="Constantia"/>
                <a:sym typeface="Constantia"/>
              </a:endParaRPr>
            </a:p>
          </p:txBody>
        </p:sp>
        <p:sp>
          <p:nvSpPr>
            <p:cNvPr id="780" name="Google Shape;780;p12"/>
            <p:cNvSpPr/>
            <p:nvPr/>
          </p:nvSpPr>
          <p:spPr>
            <a:xfrm>
              <a:off x="1809750" y="3368170"/>
              <a:ext cx="127000" cy="112712"/>
            </a:xfrm>
            <a:custGeom>
              <a:rect b="b" l="l" r="r" t="t"/>
              <a:pathLst>
                <a:path extrusionOk="0" h="12" w="12">
                  <a:moveTo>
                    <a:pt x="0" y="0"/>
                  </a:moveTo>
                  <a:lnTo>
                    <a:pt x="0" y="12"/>
                  </a:lnTo>
                  <a:lnTo>
                    <a:pt x="12" y="12"/>
                  </a:lnTo>
                </a:path>
              </a:pathLst>
            </a:custGeom>
            <a:solidFill>
              <a:srgbClr val="CCECFF"/>
            </a:solidFill>
            <a:ln cap="flat" cmpd="sng" w="9525">
              <a:solidFill>
                <a:srgbClr val="C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7E9532"/>
                </a:solidFill>
                <a:latin typeface="Constantia"/>
                <a:ea typeface="Constantia"/>
                <a:cs typeface="Constantia"/>
                <a:sym typeface="Constantia"/>
              </a:endParaRPr>
            </a:p>
          </p:txBody>
        </p:sp>
        <p:sp>
          <p:nvSpPr>
            <p:cNvPr id="781" name="Google Shape;781;p12"/>
            <p:cNvSpPr/>
            <p:nvPr/>
          </p:nvSpPr>
          <p:spPr>
            <a:xfrm>
              <a:off x="334963" y="3382457"/>
              <a:ext cx="144225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546321"/>
                  </a:solidFill>
                  <a:latin typeface="Constantia"/>
                  <a:ea typeface="Constantia"/>
                  <a:cs typeface="Constantia"/>
                  <a:sym typeface="Constantia"/>
                </a:rPr>
                <a:t>A list of the available </a:t>
              </a:r>
              <a:endParaRPr sz="1200">
                <a:solidFill>
                  <a:srgbClr val="546321"/>
                </a:solidFill>
                <a:latin typeface="Arial"/>
                <a:ea typeface="Arial"/>
                <a:cs typeface="Arial"/>
                <a:sym typeface="Arial"/>
              </a:endParaRPr>
            </a:p>
          </p:txBody>
        </p:sp>
        <p:sp>
          <p:nvSpPr>
            <p:cNvPr id="782" name="Google Shape;782;p12"/>
            <p:cNvSpPr/>
            <p:nvPr/>
          </p:nvSpPr>
          <p:spPr>
            <a:xfrm>
              <a:off x="334963" y="3531682"/>
              <a:ext cx="163711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546321"/>
                  </a:solidFill>
                  <a:latin typeface="Constantia"/>
                  <a:ea typeface="Constantia"/>
                  <a:cs typeface="Constantia"/>
                  <a:sym typeface="Constantia"/>
                </a:rPr>
                <a:t>course offerings for this </a:t>
              </a:r>
              <a:endParaRPr sz="1200">
                <a:solidFill>
                  <a:srgbClr val="546321"/>
                </a:solidFill>
                <a:latin typeface="Arial"/>
                <a:ea typeface="Arial"/>
                <a:cs typeface="Arial"/>
                <a:sym typeface="Arial"/>
              </a:endParaRPr>
            </a:p>
          </p:txBody>
        </p:sp>
        <p:sp>
          <p:nvSpPr>
            <p:cNvPr id="783" name="Google Shape;783;p12"/>
            <p:cNvSpPr/>
            <p:nvPr/>
          </p:nvSpPr>
          <p:spPr>
            <a:xfrm>
              <a:off x="334963" y="3682495"/>
              <a:ext cx="158537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546321"/>
                  </a:solidFill>
                  <a:latin typeface="Constantia"/>
                  <a:ea typeface="Constantia"/>
                  <a:cs typeface="Constantia"/>
                  <a:sym typeface="Constantia"/>
                </a:rPr>
                <a:t>semester are displayed</a:t>
              </a:r>
              <a:endParaRPr sz="1200">
                <a:solidFill>
                  <a:srgbClr val="546321"/>
                </a:solidFill>
                <a:latin typeface="Arial"/>
                <a:ea typeface="Arial"/>
                <a:cs typeface="Arial"/>
                <a:sym typeface="Arial"/>
              </a:endParaRPr>
            </a:p>
          </p:txBody>
        </p:sp>
        <p:sp>
          <p:nvSpPr>
            <p:cNvPr id="784" name="Google Shape;784;p12"/>
            <p:cNvSpPr/>
            <p:nvPr/>
          </p:nvSpPr>
          <p:spPr>
            <a:xfrm>
              <a:off x="5783263" y="1226632"/>
              <a:ext cx="546100" cy="190500"/>
            </a:xfrm>
            <a:custGeom>
              <a:rect b="b" l="l" r="r" t="t"/>
              <a:pathLst>
                <a:path extrusionOk="0" h="120" w="344">
                  <a:moveTo>
                    <a:pt x="0" y="0"/>
                  </a:moveTo>
                  <a:lnTo>
                    <a:pt x="344" y="0"/>
                  </a:lnTo>
                  <a:lnTo>
                    <a:pt x="344" y="120"/>
                  </a:lnTo>
                </a:path>
              </a:pathLst>
            </a:custGeom>
            <a:noFill/>
            <a:ln cap="flat" cmpd="sng" w="28575">
              <a:solidFill>
                <a:srgbClr val="0000FF"/>
              </a:solidFill>
              <a:prstDash val="solid"/>
              <a:round/>
              <a:headEnd len="med" w="med" type="none"/>
              <a:tailEnd len="med" w="med" type="triangl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785" name="Google Shape;785;p12"/>
            <p:cNvGrpSpPr/>
            <p:nvPr/>
          </p:nvGrpSpPr>
          <p:grpSpPr>
            <a:xfrm>
              <a:off x="646113" y="1302832"/>
              <a:ext cx="344487" cy="498475"/>
              <a:chOff x="527" y="616"/>
              <a:chExt cx="217" cy="314"/>
            </a:xfrm>
          </p:grpSpPr>
          <p:sp>
            <p:nvSpPr>
              <p:cNvPr id="786" name="Google Shape;786;p12"/>
              <p:cNvSpPr/>
              <p:nvPr/>
            </p:nvSpPr>
            <p:spPr>
              <a:xfrm>
                <a:off x="577" y="616"/>
                <a:ext cx="113" cy="107"/>
              </a:xfrm>
              <a:prstGeom prst="ellipse">
                <a:avLst/>
              </a:prstGeom>
              <a:no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787" name="Google Shape;787;p12"/>
              <p:cNvCxnSpPr/>
              <p:nvPr/>
            </p:nvCxnSpPr>
            <p:spPr>
              <a:xfrm>
                <a:off x="634" y="725"/>
                <a:ext cx="0" cy="96"/>
              </a:xfrm>
              <a:prstGeom prst="straightConnector1">
                <a:avLst/>
              </a:prstGeom>
              <a:noFill/>
              <a:ln cap="flat" cmpd="sng" w="9525">
                <a:solidFill>
                  <a:srgbClr val="C00000"/>
                </a:solidFill>
                <a:prstDash val="solid"/>
                <a:round/>
                <a:headEnd len="med" w="med" type="none"/>
                <a:tailEnd len="med" w="med" type="none"/>
              </a:ln>
            </p:spPr>
          </p:cxnSp>
          <p:cxnSp>
            <p:nvCxnSpPr>
              <p:cNvPr id="788" name="Google Shape;788;p12"/>
              <p:cNvCxnSpPr/>
              <p:nvPr/>
            </p:nvCxnSpPr>
            <p:spPr>
              <a:xfrm>
                <a:off x="550" y="750"/>
                <a:ext cx="166" cy="0"/>
              </a:xfrm>
              <a:prstGeom prst="straightConnector1">
                <a:avLst/>
              </a:prstGeom>
              <a:noFill/>
              <a:ln cap="flat" cmpd="sng" w="9525">
                <a:solidFill>
                  <a:srgbClr val="C00000"/>
                </a:solidFill>
                <a:prstDash val="solid"/>
                <a:round/>
                <a:headEnd len="med" w="med" type="none"/>
                <a:tailEnd len="med" w="med" type="none"/>
              </a:ln>
            </p:spPr>
          </p:cxnSp>
          <p:sp>
            <p:nvSpPr>
              <p:cNvPr id="789" name="Google Shape;789;p12"/>
              <p:cNvSpPr/>
              <p:nvPr/>
            </p:nvSpPr>
            <p:spPr>
              <a:xfrm>
                <a:off x="527" y="821"/>
                <a:ext cx="217" cy="109"/>
              </a:xfrm>
              <a:custGeom>
                <a:rect b="b" l="l" r="r" t="t"/>
                <a:pathLst>
                  <a:path extrusionOk="0" h="109" w="217">
                    <a:moveTo>
                      <a:pt x="0" y="108"/>
                    </a:moveTo>
                    <a:lnTo>
                      <a:pt x="107" y="0"/>
                    </a:lnTo>
                    <a:lnTo>
                      <a:pt x="217" y="109"/>
                    </a:lnTo>
                  </a:path>
                </a:pathLst>
              </a:custGeom>
              <a:noFill/>
              <a:ln cap="flat" cmpd="sng" w="9525">
                <a:solidFill>
                  <a:srgbClr val="C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Kết hợp các cơ chế kiến trúc: Bảo mật (Security)</a:t>
            </a:r>
            <a:endParaRPr sz="4500"/>
          </a:p>
        </p:txBody>
      </p:sp>
      <p:sp>
        <p:nvSpPr>
          <p:cNvPr id="798" name="Google Shape;798;p1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Ánh xạ Lớp phân tích với Cơ chế kiến trúc từ việc phân tích ca sử dụng</a:t>
            </a:r>
            <a:endParaRPr/>
          </a:p>
        </p:txBody>
      </p:sp>
      <p:sp>
        <p:nvSpPr>
          <p:cNvPr id="799" name="Google Shape;799;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800" name="Google Shape;800;p13"/>
          <p:cNvGrpSpPr/>
          <p:nvPr/>
        </p:nvGrpSpPr>
        <p:grpSpPr>
          <a:xfrm>
            <a:off x="1473200" y="2748488"/>
            <a:ext cx="6669088" cy="2628900"/>
            <a:chOff x="1473200" y="2171700"/>
            <a:chExt cx="6669088" cy="2628900"/>
          </a:xfrm>
        </p:grpSpPr>
        <p:cxnSp>
          <p:nvCxnSpPr>
            <p:cNvPr id="801" name="Google Shape;801;p13"/>
            <p:cNvCxnSpPr/>
            <p:nvPr/>
          </p:nvCxnSpPr>
          <p:spPr>
            <a:xfrm>
              <a:off x="4521200" y="2171700"/>
              <a:ext cx="0" cy="2628900"/>
            </a:xfrm>
            <a:prstGeom prst="straightConnector1">
              <a:avLst/>
            </a:prstGeom>
            <a:noFill/>
            <a:ln cap="flat" cmpd="sng" w="28575">
              <a:solidFill>
                <a:schemeClr val="dk1"/>
              </a:solidFill>
              <a:prstDash val="solid"/>
              <a:round/>
              <a:headEnd len="sm" w="sm" type="none"/>
              <a:tailEnd len="sm" w="sm" type="none"/>
            </a:ln>
          </p:spPr>
        </p:cxnSp>
        <p:sp>
          <p:nvSpPr>
            <p:cNvPr id="802" name="Google Shape;802;p13"/>
            <p:cNvSpPr/>
            <p:nvPr/>
          </p:nvSpPr>
          <p:spPr>
            <a:xfrm>
              <a:off x="1473200" y="2171700"/>
              <a:ext cx="6400800" cy="262890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803" name="Google Shape;803;p13"/>
            <p:cNvCxnSpPr/>
            <p:nvPr/>
          </p:nvCxnSpPr>
          <p:spPr>
            <a:xfrm>
              <a:off x="1473200" y="2781300"/>
              <a:ext cx="6400800" cy="0"/>
            </a:xfrm>
            <a:prstGeom prst="straightConnector1">
              <a:avLst/>
            </a:prstGeom>
            <a:noFill/>
            <a:ln cap="flat" cmpd="sng" w="28575">
              <a:solidFill>
                <a:schemeClr val="dk1"/>
              </a:solidFill>
              <a:prstDash val="solid"/>
              <a:round/>
              <a:headEnd len="sm" w="sm" type="none"/>
              <a:tailEnd len="sm" w="sm" type="none"/>
            </a:ln>
          </p:spPr>
        </p:cxnSp>
        <p:sp>
          <p:nvSpPr>
            <p:cNvPr id="804" name="Google Shape;804;p13"/>
            <p:cNvSpPr txBox="1"/>
            <p:nvPr/>
          </p:nvSpPr>
          <p:spPr>
            <a:xfrm>
              <a:off x="1854200" y="2324100"/>
              <a:ext cx="2398713"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onstantia"/>
                  <a:ea typeface="Constantia"/>
                  <a:cs typeface="Constantia"/>
                  <a:sym typeface="Constantia"/>
                </a:rPr>
                <a:t>Lớp phân tích</a:t>
              </a:r>
              <a:endParaRPr b="1" sz="1800">
                <a:solidFill>
                  <a:schemeClr val="dk1"/>
                </a:solidFill>
                <a:latin typeface="Constantia"/>
                <a:ea typeface="Constantia"/>
                <a:cs typeface="Constantia"/>
                <a:sym typeface="Constantia"/>
              </a:endParaRPr>
            </a:p>
          </p:txBody>
        </p:sp>
        <p:sp>
          <p:nvSpPr>
            <p:cNvPr id="805" name="Google Shape;805;p13"/>
            <p:cNvSpPr txBox="1"/>
            <p:nvPr/>
          </p:nvSpPr>
          <p:spPr>
            <a:xfrm>
              <a:off x="4862513" y="2324100"/>
              <a:ext cx="289560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onstantia"/>
                  <a:ea typeface="Constantia"/>
                  <a:cs typeface="Constantia"/>
                  <a:sym typeface="Constantia"/>
                </a:rPr>
                <a:t>Cơ chế phân tích</a:t>
              </a:r>
              <a:endParaRPr b="1" sz="1800">
                <a:solidFill>
                  <a:schemeClr val="dk1"/>
                </a:solidFill>
                <a:latin typeface="Constantia"/>
                <a:ea typeface="Constantia"/>
                <a:cs typeface="Constantia"/>
                <a:sym typeface="Constantia"/>
              </a:endParaRPr>
            </a:p>
          </p:txBody>
        </p:sp>
        <p:sp>
          <p:nvSpPr>
            <p:cNvPr id="806" name="Google Shape;806;p13"/>
            <p:cNvSpPr txBox="1"/>
            <p:nvPr/>
          </p:nvSpPr>
          <p:spPr>
            <a:xfrm>
              <a:off x="1473200" y="2795588"/>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Student</a:t>
              </a:r>
              <a:endParaRPr/>
            </a:p>
          </p:txBody>
        </p:sp>
        <p:cxnSp>
          <p:nvCxnSpPr>
            <p:cNvPr id="807" name="Google Shape;807;p13"/>
            <p:cNvCxnSpPr/>
            <p:nvPr/>
          </p:nvCxnSpPr>
          <p:spPr>
            <a:xfrm>
              <a:off x="1473200" y="3557588"/>
              <a:ext cx="6400800" cy="0"/>
            </a:xfrm>
            <a:prstGeom prst="straightConnector1">
              <a:avLst/>
            </a:prstGeom>
            <a:noFill/>
            <a:ln cap="flat" cmpd="sng" w="28575">
              <a:solidFill>
                <a:schemeClr val="dk1"/>
              </a:solidFill>
              <a:prstDash val="solid"/>
              <a:round/>
              <a:headEnd len="sm" w="sm" type="none"/>
              <a:tailEnd len="sm" w="sm" type="none"/>
            </a:ln>
          </p:spPr>
        </p:cxnSp>
        <p:sp>
          <p:nvSpPr>
            <p:cNvPr id="808" name="Google Shape;808;p13"/>
            <p:cNvSpPr txBox="1"/>
            <p:nvPr/>
          </p:nvSpPr>
          <p:spPr>
            <a:xfrm>
              <a:off x="1473200" y="3595688"/>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CourseOffering</a:t>
              </a:r>
              <a:endParaRPr/>
            </a:p>
          </p:txBody>
        </p:sp>
        <p:cxnSp>
          <p:nvCxnSpPr>
            <p:cNvPr id="809" name="Google Shape;809;p13"/>
            <p:cNvCxnSpPr/>
            <p:nvPr/>
          </p:nvCxnSpPr>
          <p:spPr>
            <a:xfrm>
              <a:off x="1473200" y="3962400"/>
              <a:ext cx="6400800" cy="0"/>
            </a:xfrm>
            <a:prstGeom prst="straightConnector1">
              <a:avLst/>
            </a:prstGeom>
            <a:noFill/>
            <a:ln cap="flat" cmpd="sng" w="28575">
              <a:solidFill>
                <a:schemeClr val="dk1"/>
              </a:solidFill>
              <a:prstDash val="solid"/>
              <a:round/>
              <a:headEnd len="sm" w="sm" type="none"/>
              <a:tailEnd len="sm" w="sm" type="none"/>
            </a:ln>
          </p:spPr>
        </p:cxnSp>
        <p:sp>
          <p:nvSpPr>
            <p:cNvPr id="810" name="Google Shape;810;p13"/>
            <p:cNvSpPr txBox="1"/>
            <p:nvPr/>
          </p:nvSpPr>
          <p:spPr>
            <a:xfrm>
              <a:off x="1473200" y="3962400"/>
              <a:ext cx="1905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Course</a:t>
              </a:r>
              <a:endParaRPr/>
            </a:p>
          </p:txBody>
        </p:sp>
        <p:cxnSp>
          <p:nvCxnSpPr>
            <p:cNvPr id="811" name="Google Shape;811;p13"/>
            <p:cNvCxnSpPr/>
            <p:nvPr/>
          </p:nvCxnSpPr>
          <p:spPr>
            <a:xfrm>
              <a:off x="1473200" y="4329113"/>
              <a:ext cx="6400800" cy="0"/>
            </a:xfrm>
            <a:prstGeom prst="straightConnector1">
              <a:avLst/>
            </a:prstGeom>
            <a:noFill/>
            <a:ln cap="flat" cmpd="sng" w="28575">
              <a:solidFill>
                <a:schemeClr val="dk1"/>
              </a:solidFill>
              <a:prstDash val="solid"/>
              <a:round/>
              <a:headEnd len="sm" w="sm" type="none"/>
              <a:tailEnd len="sm" w="sm" type="none"/>
            </a:ln>
          </p:spPr>
        </p:cxnSp>
        <p:sp>
          <p:nvSpPr>
            <p:cNvPr id="812" name="Google Shape;812;p13"/>
            <p:cNvSpPr txBox="1"/>
            <p:nvPr/>
          </p:nvSpPr>
          <p:spPr>
            <a:xfrm>
              <a:off x="1473200" y="4357688"/>
              <a:ext cx="2590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RegistrationController</a:t>
              </a:r>
              <a:endParaRPr/>
            </a:p>
          </p:txBody>
        </p:sp>
        <p:sp>
          <p:nvSpPr>
            <p:cNvPr id="813" name="Google Shape;813;p13"/>
            <p:cNvSpPr txBox="1"/>
            <p:nvPr/>
          </p:nvSpPr>
          <p:spPr>
            <a:xfrm>
              <a:off x="4673600" y="2795588"/>
              <a:ext cx="2667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Persistency, </a:t>
              </a:r>
              <a:r>
                <a:rPr i="1" lang="en-US" sz="1800">
                  <a:solidFill>
                    <a:srgbClr val="00CCFF"/>
                  </a:solidFill>
                  <a:latin typeface="Constantia"/>
                  <a:ea typeface="Constantia"/>
                  <a:cs typeface="Constantia"/>
                  <a:sym typeface="Constantia"/>
                </a:rPr>
                <a:t>Security</a:t>
              </a:r>
              <a:endParaRPr sz="1800">
                <a:solidFill>
                  <a:srgbClr val="00CCFF"/>
                </a:solidFill>
                <a:latin typeface="Constantia"/>
                <a:ea typeface="Constantia"/>
                <a:cs typeface="Constantia"/>
                <a:sym typeface="Constantia"/>
              </a:endParaRPr>
            </a:p>
          </p:txBody>
        </p:sp>
        <p:sp>
          <p:nvSpPr>
            <p:cNvPr id="814" name="Google Shape;814;p13"/>
            <p:cNvSpPr txBox="1"/>
            <p:nvPr/>
          </p:nvSpPr>
          <p:spPr>
            <a:xfrm>
              <a:off x="4673600" y="3595688"/>
              <a:ext cx="34686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Persistency, Legacy Interface</a:t>
              </a:r>
              <a:endParaRPr/>
            </a:p>
          </p:txBody>
        </p:sp>
        <p:sp>
          <p:nvSpPr>
            <p:cNvPr id="815" name="Google Shape;815;p13"/>
            <p:cNvSpPr txBox="1"/>
            <p:nvPr/>
          </p:nvSpPr>
          <p:spPr>
            <a:xfrm>
              <a:off x="4673600" y="3962400"/>
              <a:ext cx="346868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Persistency, Legacy Interface</a:t>
              </a:r>
              <a:endParaRPr/>
            </a:p>
          </p:txBody>
        </p:sp>
        <p:sp>
          <p:nvSpPr>
            <p:cNvPr id="816" name="Google Shape;816;p13"/>
            <p:cNvSpPr txBox="1"/>
            <p:nvPr/>
          </p:nvSpPr>
          <p:spPr>
            <a:xfrm>
              <a:off x="4673600" y="4357688"/>
              <a:ext cx="18684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Distribution</a:t>
              </a:r>
              <a:endParaRPr/>
            </a:p>
          </p:txBody>
        </p:sp>
        <p:cxnSp>
          <p:nvCxnSpPr>
            <p:cNvPr id="817" name="Google Shape;817;p13"/>
            <p:cNvCxnSpPr/>
            <p:nvPr/>
          </p:nvCxnSpPr>
          <p:spPr>
            <a:xfrm>
              <a:off x="1473200" y="3151188"/>
              <a:ext cx="6400800" cy="0"/>
            </a:xfrm>
            <a:prstGeom prst="straightConnector1">
              <a:avLst/>
            </a:prstGeom>
            <a:noFill/>
            <a:ln cap="flat" cmpd="sng" w="28575">
              <a:solidFill>
                <a:schemeClr val="dk1"/>
              </a:solidFill>
              <a:prstDash val="solid"/>
              <a:round/>
              <a:headEnd len="sm" w="sm" type="none"/>
              <a:tailEnd len="sm" w="sm" type="none"/>
            </a:ln>
          </p:spPr>
        </p:cxnSp>
        <p:sp>
          <p:nvSpPr>
            <p:cNvPr id="818" name="Google Shape;818;p13"/>
            <p:cNvSpPr txBox="1"/>
            <p:nvPr/>
          </p:nvSpPr>
          <p:spPr>
            <a:xfrm>
              <a:off x="1473200" y="3151188"/>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Schedule</a:t>
              </a:r>
              <a:endParaRPr/>
            </a:p>
          </p:txBody>
        </p:sp>
        <p:sp>
          <p:nvSpPr>
            <p:cNvPr id="819" name="Google Shape;819;p13"/>
            <p:cNvSpPr txBox="1"/>
            <p:nvPr/>
          </p:nvSpPr>
          <p:spPr>
            <a:xfrm>
              <a:off x="4673600" y="3151188"/>
              <a:ext cx="2667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Persistency, </a:t>
              </a:r>
              <a:r>
                <a:rPr i="1" lang="en-US" sz="1800">
                  <a:solidFill>
                    <a:srgbClr val="00CCFF"/>
                  </a:solidFill>
                  <a:latin typeface="Constantia"/>
                  <a:ea typeface="Constantia"/>
                  <a:cs typeface="Constantia"/>
                  <a:sym typeface="Constantia"/>
                </a:rPr>
                <a:t>Security</a:t>
              </a:r>
              <a:endParaRPr sz="1800">
                <a:solidFill>
                  <a:srgbClr val="00CCFF"/>
                </a:solidFill>
                <a:latin typeface="Constantia"/>
                <a:ea typeface="Constantia"/>
                <a:cs typeface="Constantia"/>
                <a:sym typeface="Constantia"/>
              </a:endParaRPr>
            </a:p>
          </p:txBody>
        </p:sp>
      </p:grpSp>
      <p:sp>
        <p:nvSpPr>
          <p:cNvPr id="820" name="Google Shape;820;p13"/>
          <p:cNvSpPr txBox="1"/>
          <p:nvPr/>
        </p:nvSpPr>
        <p:spPr>
          <a:xfrm>
            <a:off x="3162300" y="5771088"/>
            <a:ext cx="2692400" cy="336550"/>
          </a:xfrm>
          <a:prstGeom prst="rect">
            <a:avLst/>
          </a:prstGeom>
          <a:noFill/>
          <a:ln>
            <a:noFill/>
          </a:ln>
        </p:spPr>
        <p:txBody>
          <a:bodyPr anchorCtr="0" anchor="t" bIns="53975" lIns="107950" spcFirstLastPara="1" rIns="107950" wrap="square" tIns="53975">
            <a:spAutoFit/>
          </a:bodyPr>
          <a:lstStyle/>
          <a:p>
            <a:pPr indent="0" lvl="0" marL="0" marR="0" rtl="0" algn="r">
              <a:spcBef>
                <a:spcPts val="0"/>
              </a:spcBef>
              <a:spcAft>
                <a:spcPts val="0"/>
              </a:spcAft>
              <a:buNone/>
            </a:pPr>
            <a:r>
              <a:rPr lang="en-US" sz="1500">
                <a:solidFill>
                  <a:schemeClr val="dk2"/>
                </a:solidFill>
                <a:latin typeface="Constantia"/>
                <a:ea typeface="Constantia"/>
                <a:cs typeface="Constantia"/>
                <a:sym typeface="Constantia"/>
              </a:rPr>
              <a:t>Chi tiết xem trong phụ lục</a:t>
            </a:r>
            <a:endParaRPr sz="1500">
              <a:solidFill>
                <a:schemeClr val="dk2"/>
              </a:solidFill>
              <a:latin typeface="Constantia"/>
              <a:ea typeface="Constantia"/>
              <a:cs typeface="Constantia"/>
              <a:sym typeface="Constant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Kết hợp các cơ chế kiến chúc: Phân tán (Distribution)</a:t>
            </a:r>
            <a:endParaRPr sz="4500"/>
          </a:p>
        </p:txBody>
      </p:sp>
      <p:sp>
        <p:nvSpPr>
          <p:cNvPr id="829" name="Google Shape;829;p1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Ánh xạ Lớp phân tích với Cơ chế kiến trúc từ việc phân tích ca sử dụng</a:t>
            </a:r>
            <a:endParaRPr/>
          </a:p>
        </p:txBody>
      </p:sp>
      <p:sp>
        <p:nvSpPr>
          <p:cNvPr id="830" name="Google Shape;830;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831" name="Google Shape;831;p14"/>
          <p:cNvGrpSpPr/>
          <p:nvPr/>
        </p:nvGrpSpPr>
        <p:grpSpPr>
          <a:xfrm>
            <a:off x="1473200" y="2692216"/>
            <a:ext cx="6669088" cy="2628900"/>
            <a:chOff x="1473200" y="2171700"/>
            <a:chExt cx="6669088" cy="2628900"/>
          </a:xfrm>
        </p:grpSpPr>
        <p:cxnSp>
          <p:nvCxnSpPr>
            <p:cNvPr id="832" name="Google Shape;832;p14"/>
            <p:cNvCxnSpPr/>
            <p:nvPr/>
          </p:nvCxnSpPr>
          <p:spPr>
            <a:xfrm>
              <a:off x="4521200" y="2171700"/>
              <a:ext cx="0" cy="2628900"/>
            </a:xfrm>
            <a:prstGeom prst="straightConnector1">
              <a:avLst/>
            </a:prstGeom>
            <a:noFill/>
            <a:ln cap="flat" cmpd="sng" w="28575">
              <a:solidFill>
                <a:schemeClr val="dk1"/>
              </a:solidFill>
              <a:prstDash val="solid"/>
              <a:round/>
              <a:headEnd len="sm" w="sm" type="none"/>
              <a:tailEnd len="sm" w="sm" type="none"/>
            </a:ln>
          </p:spPr>
        </p:cxnSp>
        <p:sp>
          <p:nvSpPr>
            <p:cNvPr id="833" name="Google Shape;833;p14"/>
            <p:cNvSpPr/>
            <p:nvPr/>
          </p:nvSpPr>
          <p:spPr>
            <a:xfrm>
              <a:off x="1473200" y="2171700"/>
              <a:ext cx="6400800" cy="262890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834" name="Google Shape;834;p14"/>
            <p:cNvCxnSpPr/>
            <p:nvPr/>
          </p:nvCxnSpPr>
          <p:spPr>
            <a:xfrm>
              <a:off x="1473200" y="2781300"/>
              <a:ext cx="6400800" cy="0"/>
            </a:xfrm>
            <a:prstGeom prst="straightConnector1">
              <a:avLst/>
            </a:prstGeom>
            <a:noFill/>
            <a:ln cap="flat" cmpd="sng" w="28575">
              <a:solidFill>
                <a:schemeClr val="dk1"/>
              </a:solidFill>
              <a:prstDash val="solid"/>
              <a:round/>
              <a:headEnd len="sm" w="sm" type="none"/>
              <a:tailEnd len="sm" w="sm" type="none"/>
            </a:ln>
          </p:spPr>
        </p:cxnSp>
        <p:sp>
          <p:nvSpPr>
            <p:cNvPr id="835" name="Google Shape;835;p14"/>
            <p:cNvSpPr txBox="1"/>
            <p:nvPr/>
          </p:nvSpPr>
          <p:spPr>
            <a:xfrm>
              <a:off x="1854200" y="2324100"/>
              <a:ext cx="2398713"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onstantia"/>
                  <a:ea typeface="Constantia"/>
                  <a:cs typeface="Constantia"/>
                  <a:sym typeface="Constantia"/>
                </a:rPr>
                <a:t>Lớp phân tích</a:t>
              </a:r>
              <a:endParaRPr b="1" sz="1800">
                <a:solidFill>
                  <a:schemeClr val="dk1"/>
                </a:solidFill>
                <a:latin typeface="Constantia"/>
                <a:ea typeface="Constantia"/>
                <a:cs typeface="Constantia"/>
                <a:sym typeface="Constantia"/>
              </a:endParaRPr>
            </a:p>
          </p:txBody>
        </p:sp>
        <p:sp>
          <p:nvSpPr>
            <p:cNvPr id="836" name="Google Shape;836;p14"/>
            <p:cNvSpPr txBox="1"/>
            <p:nvPr/>
          </p:nvSpPr>
          <p:spPr>
            <a:xfrm>
              <a:off x="4862513" y="2324100"/>
              <a:ext cx="289560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onstantia"/>
                  <a:ea typeface="Constantia"/>
                  <a:cs typeface="Constantia"/>
                  <a:sym typeface="Constantia"/>
                </a:rPr>
                <a:t>Cơ chế phân tích</a:t>
              </a:r>
              <a:endParaRPr b="1" sz="1800">
                <a:solidFill>
                  <a:schemeClr val="dk1"/>
                </a:solidFill>
                <a:latin typeface="Constantia"/>
                <a:ea typeface="Constantia"/>
                <a:cs typeface="Constantia"/>
                <a:sym typeface="Constantia"/>
              </a:endParaRPr>
            </a:p>
          </p:txBody>
        </p:sp>
        <p:sp>
          <p:nvSpPr>
            <p:cNvPr id="837" name="Google Shape;837;p14"/>
            <p:cNvSpPr txBox="1"/>
            <p:nvPr/>
          </p:nvSpPr>
          <p:spPr>
            <a:xfrm>
              <a:off x="1473200" y="2795588"/>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Student</a:t>
              </a:r>
              <a:endParaRPr/>
            </a:p>
          </p:txBody>
        </p:sp>
        <p:cxnSp>
          <p:nvCxnSpPr>
            <p:cNvPr id="838" name="Google Shape;838;p14"/>
            <p:cNvCxnSpPr/>
            <p:nvPr/>
          </p:nvCxnSpPr>
          <p:spPr>
            <a:xfrm>
              <a:off x="1473200" y="3557588"/>
              <a:ext cx="6400800" cy="0"/>
            </a:xfrm>
            <a:prstGeom prst="straightConnector1">
              <a:avLst/>
            </a:prstGeom>
            <a:noFill/>
            <a:ln cap="flat" cmpd="sng" w="28575">
              <a:solidFill>
                <a:schemeClr val="dk1"/>
              </a:solidFill>
              <a:prstDash val="solid"/>
              <a:round/>
              <a:headEnd len="sm" w="sm" type="none"/>
              <a:tailEnd len="sm" w="sm" type="none"/>
            </a:ln>
          </p:spPr>
        </p:cxnSp>
        <p:sp>
          <p:nvSpPr>
            <p:cNvPr id="839" name="Google Shape;839;p14"/>
            <p:cNvSpPr txBox="1"/>
            <p:nvPr/>
          </p:nvSpPr>
          <p:spPr>
            <a:xfrm>
              <a:off x="1473200" y="3595688"/>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CourseOffering</a:t>
              </a:r>
              <a:endParaRPr/>
            </a:p>
          </p:txBody>
        </p:sp>
        <p:cxnSp>
          <p:nvCxnSpPr>
            <p:cNvPr id="840" name="Google Shape;840;p14"/>
            <p:cNvCxnSpPr/>
            <p:nvPr/>
          </p:nvCxnSpPr>
          <p:spPr>
            <a:xfrm>
              <a:off x="1473200" y="3962400"/>
              <a:ext cx="6400800" cy="0"/>
            </a:xfrm>
            <a:prstGeom prst="straightConnector1">
              <a:avLst/>
            </a:prstGeom>
            <a:noFill/>
            <a:ln cap="flat" cmpd="sng" w="28575">
              <a:solidFill>
                <a:schemeClr val="dk1"/>
              </a:solidFill>
              <a:prstDash val="solid"/>
              <a:round/>
              <a:headEnd len="sm" w="sm" type="none"/>
              <a:tailEnd len="sm" w="sm" type="none"/>
            </a:ln>
          </p:spPr>
        </p:cxnSp>
        <p:sp>
          <p:nvSpPr>
            <p:cNvPr id="841" name="Google Shape;841;p14"/>
            <p:cNvSpPr txBox="1"/>
            <p:nvPr/>
          </p:nvSpPr>
          <p:spPr>
            <a:xfrm>
              <a:off x="1473200" y="3962400"/>
              <a:ext cx="1905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Course</a:t>
              </a:r>
              <a:endParaRPr/>
            </a:p>
          </p:txBody>
        </p:sp>
        <p:cxnSp>
          <p:nvCxnSpPr>
            <p:cNvPr id="842" name="Google Shape;842;p14"/>
            <p:cNvCxnSpPr/>
            <p:nvPr/>
          </p:nvCxnSpPr>
          <p:spPr>
            <a:xfrm>
              <a:off x="1473200" y="4329113"/>
              <a:ext cx="6400800" cy="0"/>
            </a:xfrm>
            <a:prstGeom prst="straightConnector1">
              <a:avLst/>
            </a:prstGeom>
            <a:noFill/>
            <a:ln cap="flat" cmpd="sng" w="28575">
              <a:solidFill>
                <a:schemeClr val="dk1"/>
              </a:solidFill>
              <a:prstDash val="solid"/>
              <a:round/>
              <a:headEnd len="sm" w="sm" type="none"/>
              <a:tailEnd len="sm" w="sm" type="none"/>
            </a:ln>
          </p:spPr>
        </p:cxnSp>
        <p:sp>
          <p:nvSpPr>
            <p:cNvPr id="843" name="Google Shape;843;p14"/>
            <p:cNvSpPr txBox="1"/>
            <p:nvPr/>
          </p:nvSpPr>
          <p:spPr>
            <a:xfrm>
              <a:off x="1473200" y="4357688"/>
              <a:ext cx="2590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RegistrationController</a:t>
              </a:r>
              <a:endParaRPr/>
            </a:p>
          </p:txBody>
        </p:sp>
        <p:sp>
          <p:nvSpPr>
            <p:cNvPr id="844" name="Google Shape;844;p14"/>
            <p:cNvSpPr txBox="1"/>
            <p:nvPr/>
          </p:nvSpPr>
          <p:spPr>
            <a:xfrm>
              <a:off x="4673600" y="2795588"/>
              <a:ext cx="2667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Persistency, Security</a:t>
              </a:r>
              <a:endParaRPr/>
            </a:p>
          </p:txBody>
        </p:sp>
        <p:sp>
          <p:nvSpPr>
            <p:cNvPr id="845" name="Google Shape;845;p14"/>
            <p:cNvSpPr txBox="1"/>
            <p:nvPr/>
          </p:nvSpPr>
          <p:spPr>
            <a:xfrm>
              <a:off x="4673600" y="3595688"/>
              <a:ext cx="34686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Persistency, Legacy Interface</a:t>
              </a:r>
              <a:endParaRPr/>
            </a:p>
          </p:txBody>
        </p:sp>
        <p:sp>
          <p:nvSpPr>
            <p:cNvPr id="846" name="Google Shape;846;p14"/>
            <p:cNvSpPr txBox="1"/>
            <p:nvPr/>
          </p:nvSpPr>
          <p:spPr>
            <a:xfrm>
              <a:off x="4673600" y="3962400"/>
              <a:ext cx="346868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Persistency, Legacy Interface</a:t>
              </a:r>
              <a:endParaRPr/>
            </a:p>
          </p:txBody>
        </p:sp>
        <p:sp>
          <p:nvSpPr>
            <p:cNvPr id="847" name="Google Shape;847;p14"/>
            <p:cNvSpPr txBox="1"/>
            <p:nvPr/>
          </p:nvSpPr>
          <p:spPr>
            <a:xfrm>
              <a:off x="4673600" y="4357688"/>
              <a:ext cx="18684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CCFF"/>
                  </a:solidFill>
                  <a:latin typeface="Constantia"/>
                  <a:ea typeface="Constantia"/>
                  <a:cs typeface="Constantia"/>
                  <a:sym typeface="Constantia"/>
                </a:rPr>
                <a:t>Distribution</a:t>
              </a:r>
              <a:endParaRPr sz="1800">
                <a:solidFill>
                  <a:srgbClr val="00CCFF"/>
                </a:solidFill>
                <a:latin typeface="Constantia"/>
                <a:ea typeface="Constantia"/>
                <a:cs typeface="Constantia"/>
                <a:sym typeface="Constantia"/>
              </a:endParaRPr>
            </a:p>
          </p:txBody>
        </p:sp>
        <p:cxnSp>
          <p:nvCxnSpPr>
            <p:cNvPr id="848" name="Google Shape;848;p14"/>
            <p:cNvCxnSpPr/>
            <p:nvPr/>
          </p:nvCxnSpPr>
          <p:spPr>
            <a:xfrm>
              <a:off x="1473200" y="3151188"/>
              <a:ext cx="6400800" cy="0"/>
            </a:xfrm>
            <a:prstGeom prst="straightConnector1">
              <a:avLst/>
            </a:prstGeom>
            <a:noFill/>
            <a:ln cap="flat" cmpd="sng" w="28575">
              <a:solidFill>
                <a:schemeClr val="dk1"/>
              </a:solidFill>
              <a:prstDash val="solid"/>
              <a:round/>
              <a:headEnd len="sm" w="sm" type="none"/>
              <a:tailEnd len="sm" w="sm" type="none"/>
            </a:ln>
          </p:spPr>
        </p:cxnSp>
        <p:sp>
          <p:nvSpPr>
            <p:cNvPr id="849" name="Google Shape;849;p14"/>
            <p:cNvSpPr txBox="1"/>
            <p:nvPr/>
          </p:nvSpPr>
          <p:spPr>
            <a:xfrm>
              <a:off x="1473200" y="3151188"/>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Schedule</a:t>
              </a:r>
              <a:endParaRPr/>
            </a:p>
          </p:txBody>
        </p:sp>
        <p:sp>
          <p:nvSpPr>
            <p:cNvPr id="850" name="Google Shape;850;p14"/>
            <p:cNvSpPr txBox="1"/>
            <p:nvPr/>
          </p:nvSpPr>
          <p:spPr>
            <a:xfrm>
              <a:off x="4673600" y="3151188"/>
              <a:ext cx="2667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Persistency, Security</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Review: Incorporating RMI: Steps (cont.)</a:t>
            </a:r>
            <a:endParaRPr/>
          </a:p>
        </p:txBody>
      </p:sp>
      <p:sp>
        <p:nvSpPr>
          <p:cNvPr id="859" name="Google Shape;859;p1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Have classes for data passed to distributed objects realize the Serializable interface</a:t>
            </a:r>
            <a:endParaRPr/>
          </a:p>
          <a:p>
            <a:pPr indent="-246888" lvl="1" marL="640080" rtl="0" algn="l">
              <a:spcBef>
                <a:spcPts val="480"/>
              </a:spcBef>
              <a:spcAft>
                <a:spcPts val="0"/>
              </a:spcAft>
              <a:buSzPts val="2040"/>
              <a:buChar char="⚫"/>
            </a:pPr>
            <a:r>
              <a:rPr i="1" lang="en-US">
                <a:solidFill>
                  <a:srgbClr val="00CCFF"/>
                </a:solidFill>
              </a:rPr>
              <a:t>Core data types are in Business Services layer</a:t>
            </a:r>
            <a:endParaRPr/>
          </a:p>
          <a:p>
            <a:pPr indent="-246888" lvl="1" marL="640080" rtl="0" algn="l">
              <a:spcBef>
                <a:spcPts val="480"/>
              </a:spcBef>
              <a:spcAft>
                <a:spcPts val="0"/>
              </a:spcAft>
              <a:buSzPts val="2040"/>
              <a:buChar char="⚫"/>
            </a:pPr>
            <a:r>
              <a:rPr i="1" lang="en-US">
                <a:solidFill>
                  <a:srgbClr val="00CCFF"/>
                </a:solidFill>
              </a:rPr>
              <a:t>Dependency from Business Services layer to Middleware layer is needed to get access to java.rmi</a:t>
            </a:r>
            <a:endParaRPr/>
          </a:p>
          <a:p>
            <a:pPr indent="-246888" lvl="1" marL="640080" rtl="0" algn="l">
              <a:spcBef>
                <a:spcPts val="480"/>
              </a:spcBef>
              <a:spcAft>
                <a:spcPts val="0"/>
              </a:spcAft>
              <a:buSzPts val="2040"/>
              <a:buChar char="⚫"/>
            </a:pPr>
            <a:r>
              <a:rPr lang="en-US">
                <a:solidFill>
                  <a:schemeClr val="dk1"/>
                </a:solidFill>
              </a:rPr>
              <a:t>Add the realization relationships</a:t>
            </a:r>
            <a:endParaRPr/>
          </a:p>
          <a:p>
            <a:pPr indent="-274320" lvl="0" marL="274320" rtl="0" algn="l">
              <a:spcBef>
                <a:spcPts val="520"/>
              </a:spcBef>
              <a:spcAft>
                <a:spcPts val="0"/>
              </a:spcAft>
              <a:buSzPts val="2470"/>
              <a:buChar char="⚫"/>
            </a:pPr>
            <a:r>
              <a:rPr lang="en-US"/>
              <a:t>Run pre-processor – out of scope </a:t>
            </a:r>
            <a:endParaRPr/>
          </a:p>
        </p:txBody>
      </p:sp>
      <p:sp>
        <p:nvSpPr>
          <p:cNvPr id="860" name="Google Shape;860;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861" name="Google Shape;861;p15"/>
          <p:cNvSpPr txBox="1"/>
          <p:nvPr/>
        </p:nvSpPr>
        <p:spPr>
          <a:xfrm>
            <a:off x="381000" y="2633800"/>
            <a:ext cx="647700" cy="53498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b="1" lang="en-US" sz="2800">
                <a:solidFill>
                  <a:schemeClr val="hlink"/>
                </a:solidFill>
                <a:latin typeface="Noto Sans Symbols"/>
                <a:ea typeface="Noto Sans Symbols"/>
                <a:cs typeface="Noto Sans Symbols"/>
                <a:sym typeface="Noto Sans Symbols"/>
              </a:rPr>
              <a:t>√</a:t>
            </a:r>
            <a:endParaRPr/>
          </a:p>
        </p:txBody>
      </p:sp>
      <p:sp>
        <p:nvSpPr>
          <p:cNvPr id="862" name="Google Shape;862;p15"/>
          <p:cNvSpPr txBox="1"/>
          <p:nvPr/>
        </p:nvSpPr>
        <p:spPr>
          <a:xfrm>
            <a:off x="381000" y="3141800"/>
            <a:ext cx="647700" cy="53498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b="1" lang="en-US" sz="2800">
                <a:solidFill>
                  <a:schemeClr val="hlink"/>
                </a:solidFill>
                <a:latin typeface="Noto Sans Symbols"/>
                <a:ea typeface="Noto Sans Symbols"/>
                <a:cs typeface="Noto Sans Symbols"/>
                <a:sym typeface="Noto Sans Symbols"/>
              </a:rPr>
              <a:t>√</a:t>
            </a:r>
            <a:endParaRPr/>
          </a:p>
        </p:txBody>
      </p:sp>
      <p:sp>
        <p:nvSpPr>
          <p:cNvPr id="863" name="Google Shape;863;p15"/>
          <p:cNvSpPr txBox="1"/>
          <p:nvPr/>
        </p:nvSpPr>
        <p:spPr>
          <a:xfrm>
            <a:off x="3251200" y="5930900"/>
            <a:ext cx="2057400" cy="53498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b="1" lang="en-US" sz="2800">
                <a:solidFill>
                  <a:schemeClr val="hlink"/>
                </a:solidFill>
                <a:latin typeface="Noto Sans Symbols"/>
                <a:ea typeface="Noto Sans Symbols"/>
                <a:cs typeface="Noto Sans Symbols"/>
                <a:sym typeface="Noto Sans Symbols"/>
              </a:rPr>
              <a:t>√ </a:t>
            </a:r>
            <a:r>
              <a:rPr b="1" i="1" lang="en-US" sz="2800">
                <a:solidFill>
                  <a:schemeClr val="hlink"/>
                </a:solidFill>
                <a:latin typeface="Constantia"/>
                <a:ea typeface="Constantia"/>
                <a:cs typeface="Constantia"/>
                <a:sym typeface="Constantia"/>
              </a:rPr>
              <a:t>- Done</a:t>
            </a:r>
            <a:endParaRPr b="1" sz="2800">
              <a:solidFill>
                <a:schemeClr val="hlink"/>
              </a:solidFill>
              <a:latin typeface="Noto Sans Symbols"/>
              <a:ea typeface="Noto Sans Symbols"/>
              <a:cs typeface="Noto Sans Symbols"/>
              <a:sym typeface="Noto Sans Symbol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Review: Incorporating RMI: Steps (cont.)</a:t>
            </a:r>
            <a:endParaRPr/>
          </a:p>
        </p:txBody>
      </p:sp>
      <p:sp>
        <p:nvSpPr>
          <p:cNvPr id="872" name="Google Shape;872;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Have distributed class clients look up the remote objects using the Naming service</a:t>
            </a:r>
            <a:endParaRPr/>
          </a:p>
          <a:p>
            <a:pPr indent="-246888" lvl="1" marL="640080" rtl="0" algn="l">
              <a:spcBef>
                <a:spcPts val="480"/>
              </a:spcBef>
              <a:spcAft>
                <a:spcPts val="0"/>
              </a:spcAft>
              <a:buSzPts val="2040"/>
              <a:buChar char="⚫"/>
            </a:pPr>
            <a:r>
              <a:rPr i="1" lang="en-US">
                <a:solidFill>
                  <a:srgbClr val="00CCFF"/>
                </a:solidFill>
              </a:rPr>
              <a:t>Most Distributed Class Clients are forms</a:t>
            </a:r>
            <a:endParaRPr/>
          </a:p>
          <a:p>
            <a:pPr indent="-246888" lvl="1" marL="640080" rtl="0" algn="l">
              <a:spcBef>
                <a:spcPts val="480"/>
              </a:spcBef>
              <a:spcAft>
                <a:spcPts val="0"/>
              </a:spcAft>
              <a:buSzPts val="2040"/>
              <a:buChar char="⚫"/>
            </a:pPr>
            <a:r>
              <a:rPr i="1" lang="en-US">
                <a:solidFill>
                  <a:srgbClr val="00CCFF"/>
                </a:solidFill>
              </a:rPr>
              <a:t>Forms are in Application layer</a:t>
            </a:r>
            <a:endParaRPr/>
          </a:p>
          <a:p>
            <a:pPr indent="-246888" lvl="1" marL="640080" rtl="0" algn="l">
              <a:spcBef>
                <a:spcPts val="480"/>
              </a:spcBef>
              <a:spcAft>
                <a:spcPts val="0"/>
              </a:spcAft>
              <a:buSzPts val="2040"/>
              <a:buChar char="⚫"/>
            </a:pPr>
            <a:r>
              <a:rPr i="1" lang="en-US">
                <a:solidFill>
                  <a:srgbClr val="00CCFF"/>
                </a:solidFill>
              </a:rPr>
              <a:t>Dependency from Application layer to Middleware layer is needed to get access to java.rmi</a:t>
            </a:r>
            <a:endParaRPr/>
          </a:p>
          <a:p>
            <a:pPr indent="-246888" lvl="1" marL="640080" rtl="0" algn="l">
              <a:spcBef>
                <a:spcPts val="480"/>
              </a:spcBef>
              <a:spcAft>
                <a:spcPts val="0"/>
              </a:spcAft>
              <a:buSzPts val="2040"/>
              <a:buChar char="⚫"/>
            </a:pPr>
            <a:r>
              <a:rPr lang="en-US">
                <a:solidFill>
                  <a:schemeClr val="dk1"/>
                </a:solidFill>
              </a:rPr>
              <a:t>Add relationship from Distributed Class Clients  to Naming Service</a:t>
            </a:r>
            <a:endParaRPr/>
          </a:p>
          <a:p>
            <a:pPr indent="-274320" lvl="0" marL="274320" rtl="0" algn="l">
              <a:spcBef>
                <a:spcPts val="520"/>
              </a:spcBef>
              <a:spcAft>
                <a:spcPts val="0"/>
              </a:spcAft>
              <a:buSzPts val="2470"/>
              <a:buChar char="⚫"/>
            </a:pPr>
            <a:r>
              <a:rPr lang="en-US"/>
              <a:t>Create/update interaction diagrams with distribution processing (optional)</a:t>
            </a:r>
            <a:endParaRPr/>
          </a:p>
        </p:txBody>
      </p:sp>
      <p:sp>
        <p:nvSpPr>
          <p:cNvPr id="873" name="Google Shape;873;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874" name="Google Shape;874;p16"/>
          <p:cNvSpPr txBox="1"/>
          <p:nvPr/>
        </p:nvSpPr>
        <p:spPr>
          <a:xfrm>
            <a:off x="336550" y="2295780"/>
            <a:ext cx="647700" cy="53498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b="1" lang="en-US" sz="2800">
                <a:solidFill>
                  <a:schemeClr val="hlink"/>
                </a:solidFill>
                <a:latin typeface="Noto Sans Symbols"/>
                <a:ea typeface="Noto Sans Symbols"/>
                <a:cs typeface="Noto Sans Symbols"/>
                <a:sym typeface="Noto Sans Symbols"/>
              </a:rPr>
              <a:t>√</a:t>
            </a:r>
            <a:endParaRPr/>
          </a:p>
        </p:txBody>
      </p:sp>
      <p:sp>
        <p:nvSpPr>
          <p:cNvPr id="875" name="Google Shape;875;p16"/>
          <p:cNvSpPr txBox="1"/>
          <p:nvPr/>
        </p:nvSpPr>
        <p:spPr>
          <a:xfrm>
            <a:off x="336550" y="2841880"/>
            <a:ext cx="647700" cy="53498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b="1" lang="en-US" sz="2800">
                <a:solidFill>
                  <a:schemeClr val="hlink"/>
                </a:solidFill>
                <a:latin typeface="Noto Sans Symbols"/>
                <a:ea typeface="Noto Sans Symbols"/>
                <a:cs typeface="Noto Sans Symbols"/>
                <a:sym typeface="Noto Sans Symbols"/>
              </a:rPr>
              <a:t>√</a:t>
            </a:r>
            <a:endParaRPr/>
          </a:p>
        </p:txBody>
      </p:sp>
      <p:sp>
        <p:nvSpPr>
          <p:cNvPr id="876" name="Google Shape;876;p16"/>
          <p:cNvSpPr txBox="1"/>
          <p:nvPr/>
        </p:nvSpPr>
        <p:spPr>
          <a:xfrm>
            <a:off x="336550" y="3299080"/>
            <a:ext cx="647700" cy="53498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b="1" lang="en-US" sz="2800">
                <a:solidFill>
                  <a:schemeClr val="hlink"/>
                </a:solidFill>
                <a:latin typeface="Noto Sans Symbols"/>
                <a:ea typeface="Noto Sans Symbols"/>
                <a:cs typeface="Noto Sans Symbols"/>
                <a:sym typeface="Noto Sans Symbols"/>
              </a:rPr>
              <a:t>√</a:t>
            </a:r>
            <a:endParaRPr/>
          </a:p>
        </p:txBody>
      </p:sp>
      <p:sp>
        <p:nvSpPr>
          <p:cNvPr id="877" name="Google Shape;877;p16"/>
          <p:cNvSpPr txBox="1"/>
          <p:nvPr/>
        </p:nvSpPr>
        <p:spPr>
          <a:xfrm>
            <a:off x="3251200" y="6029376"/>
            <a:ext cx="2057400" cy="53498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b="1" lang="en-US" sz="2800">
                <a:solidFill>
                  <a:schemeClr val="hlink"/>
                </a:solidFill>
                <a:latin typeface="Noto Sans Symbols"/>
                <a:ea typeface="Noto Sans Symbols"/>
                <a:cs typeface="Noto Sans Symbols"/>
                <a:sym typeface="Noto Sans Symbols"/>
              </a:rPr>
              <a:t>√ </a:t>
            </a:r>
            <a:r>
              <a:rPr b="1" i="1" lang="en-US" sz="2800">
                <a:solidFill>
                  <a:schemeClr val="hlink"/>
                </a:solidFill>
                <a:latin typeface="Constantia"/>
                <a:ea typeface="Constantia"/>
                <a:cs typeface="Constantia"/>
                <a:sym typeface="Constantia"/>
              </a:rPr>
              <a:t>- Done</a:t>
            </a:r>
            <a:endParaRPr b="1" sz="2800">
              <a:solidFill>
                <a:schemeClr val="hlink"/>
              </a:solidFill>
              <a:latin typeface="Noto Sans Symbols"/>
              <a:ea typeface="Noto Sans Symbols"/>
              <a:cs typeface="Noto Sans Symbols"/>
              <a:sym typeface="Noto Sans Symbol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bước thiết kế ca sử dụng</a:t>
            </a:r>
            <a:endParaRPr/>
          </a:p>
        </p:txBody>
      </p:sp>
      <p:sp>
        <p:nvSpPr>
          <p:cNvPr id="885" name="Google Shape;885;p1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Mô tả </a:t>
            </a:r>
            <a:r>
              <a:rPr lang="en-US">
                <a:latin typeface="Calibri"/>
                <a:ea typeface="Calibri"/>
                <a:cs typeface="Calibri"/>
                <a:sym typeface="Calibri"/>
              </a:rPr>
              <a:t>sự tương tác giữa các đối tượng thiết kế </a:t>
            </a:r>
            <a:endParaRPr/>
          </a:p>
          <a:p>
            <a:pPr indent="-274320" lvl="0" marL="274320" rtl="0" algn="l">
              <a:spcBef>
                <a:spcPts val="520"/>
              </a:spcBef>
              <a:spcAft>
                <a:spcPts val="0"/>
              </a:spcAft>
              <a:buSzPts val="2470"/>
              <a:buChar char="⚫"/>
            </a:pPr>
            <a:r>
              <a:rPr lang="en-US">
                <a:solidFill>
                  <a:srgbClr val="7030A0"/>
                </a:solidFill>
                <a:latin typeface="Calibri"/>
                <a:ea typeface="Calibri"/>
                <a:cs typeface="Calibri"/>
                <a:sym typeface="Calibri"/>
              </a:rPr>
              <a:t>Đơn giản hoá biểu đồ tuần tự sử dụng hệ thống con </a:t>
            </a:r>
            <a:endParaRPr>
              <a:solidFill>
                <a:srgbClr val="7030A0"/>
              </a:solidFill>
              <a:latin typeface="Calibri"/>
              <a:ea typeface="Calibri"/>
              <a:cs typeface="Calibri"/>
              <a:sym typeface="Calibri"/>
            </a:endParaRPr>
          </a:p>
          <a:p>
            <a:pPr indent="-274320" lvl="0" marL="274320" rtl="0" algn="l">
              <a:spcBef>
                <a:spcPts val="520"/>
              </a:spcBef>
              <a:spcAft>
                <a:spcPts val="0"/>
              </a:spcAft>
              <a:buSzPts val="2470"/>
              <a:buChar char="⚫"/>
            </a:pPr>
            <a:r>
              <a:rPr lang="en-US"/>
              <a:t>Mô tả các hành vi liên quan dữ liệu bền vững</a:t>
            </a:r>
            <a:endParaRPr/>
          </a:p>
          <a:p>
            <a:pPr indent="-274320" lvl="0" marL="274320" rtl="0" algn="l">
              <a:spcBef>
                <a:spcPts val="520"/>
              </a:spcBef>
              <a:spcAft>
                <a:spcPts val="0"/>
              </a:spcAft>
              <a:buSzPts val="2470"/>
              <a:buChar char="⚫"/>
            </a:pPr>
            <a:r>
              <a:rPr lang="en-US"/>
              <a:t>Làm mịn sự mô tả luồng các sự kiện</a:t>
            </a:r>
            <a:endParaRPr/>
          </a:p>
          <a:p>
            <a:pPr indent="-274320" lvl="0" marL="274320" rtl="0" algn="l">
              <a:spcBef>
                <a:spcPts val="520"/>
              </a:spcBef>
              <a:spcAft>
                <a:spcPts val="0"/>
              </a:spcAft>
              <a:buSzPts val="2470"/>
              <a:buChar char="⚫"/>
            </a:pPr>
            <a:r>
              <a:rPr lang="en-US"/>
              <a:t>Thống nhất các lớp và các hệ thống con</a:t>
            </a:r>
            <a:endParaRPr/>
          </a:p>
        </p:txBody>
      </p:sp>
      <p:sp>
        <p:nvSpPr>
          <p:cNvPr id="886" name="Google Shape;886;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8"/>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4000"/>
              <a:t>Đóng gói sự các tương tác vào trong các hệ thống con</a:t>
            </a:r>
            <a:endParaRPr sz="4800"/>
          </a:p>
        </p:txBody>
      </p:sp>
      <p:sp>
        <p:nvSpPr>
          <p:cNvPr id="894" name="Google Shape;894;p1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Sự tương tác có thể được mô tả ở một số cấp độ</a:t>
            </a:r>
            <a:endParaRPr/>
          </a:p>
          <a:p>
            <a:pPr indent="-274320" lvl="0" marL="274320" rtl="0" algn="l">
              <a:spcBef>
                <a:spcPts val="520"/>
              </a:spcBef>
              <a:spcAft>
                <a:spcPts val="0"/>
              </a:spcAft>
              <a:buSzPts val="2470"/>
              <a:buChar char="⚫"/>
            </a:pPr>
            <a:r>
              <a:rPr lang="en-US"/>
              <a:t>Các tương tác hệ thống con có thể được mô tả trong các lược đồ tương tác của riêng chúng</a:t>
            </a:r>
            <a:endParaRPr/>
          </a:p>
        </p:txBody>
      </p:sp>
      <p:sp>
        <p:nvSpPr>
          <p:cNvPr id="895" name="Google Shape;895;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cxnSp>
        <p:nvCxnSpPr>
          <p:cNvPr id="896" name="Google Shape;896;p18"/>
          <p:cNvCxnSpPr/>
          <p:nvPr/>
        </p:nvCxnSpPr>
        <p:spPr>
          <a:xfrm>
            <a:off x="3898900" y="3556000"/>
            <a:ext cx="0" cy="1358900"/>
          </a:xfrm>
          <a:prstGeom prst="straightConnector1">
            <a:avLst/>
          </a:prstGeom>
          <a:noFill/>
          <a:ln cap="flat" cmpd="sng" w="63500">
            <a:solidFill>
              <a:schemeClr val="dk1"/>
            </a:solidFill>
            <a:prstDash val="dot"/>
            <a:round/>
            <a:headEnd len="med" w="med" type="none"/>
            <a:tailEnd len="med" w="med" type="none"/>
          </a:ln>
        </p:spPr>
      </p:cxnSp>
      <p:cxnSp>
        <p:nvCxnSpPr>
          <p:cNvPr id="897" name="Google Shape;897;p18"/>
          <p:cNvCxnSpPr/>
          <p:nvPr/>
        </p:nvCxnSpPr>
        <p:spPr>
          <a:xfrm>
            <a:off x="4572000" y="4294188"/>
            <a:ext cx="0" cy="620712"/>
          </a:xfrm>
          <a:prstGeom prst="straightConnector1">
            <a:avLst/>
          </a:prstGeom>
          <a:noFill/>
          <a:ln cap="flat" cmpd="sng" w="28575">
            <a:solidFill>
              <a:schemeClr val="dk1"/>
            </a:solidFill>
            <a:prstDash val="dot"/>
            <a:round/>
            <a:headEnd len="med" w="med" type="none"/>
            <a:tailEnd len="med" w="med" type="none"/>
          </a:ln>
        </p:spPr>
      </p:cxnSp>
      <p:cxnSp>
        <p:nvCxnSpPr>
          <p:cNvPr id="898" name="Google Shape;898;p18"/>
          <p:cNvCxnSpPr/>
          <p:nvPr/>
        </p:nvCxnSpPr>
        <p:spPr>
          <a:xfrm>
            <a:off x="5207000" y="3556000"/>
            <a:ext cx="0" cy="754063"/>
          </a:xfrm>
          <a:prstGeom prst="straightConnector1">
            <a:avLst/>
          </a:prstGeom>
          <a:noFill/>
          <a:ln cap="flat" cmpd="sng" w="28575">
            <a:solidFill>
              <a:schemeClr val="dk1"/>
            </a:solidFill>
            <a:prstDash val="dot"/>
            <a:round/>
            <a:headEnd len="med" w="med" type="none"/>
            <a:tailEnd len="med" w="med" type="none"/>
          </a:ln>
        </p:spPr>
      </p:cxnSp>
      <p:sp>
        <p:nvSpPr>
          <p:cNvPr id="899" name="Google Shape;899;p18"/>
          <p:cNvSpPr/>
          <p:nvPr/>
        </p:nvSpPr>
        <p:spPr>
          <a:xfrm>
            <a:off x="4478338" y="3835400"/>
            <a:ext cx="174625" cy="457200"/>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900" name="Google Shape;900;p18"/>
          <p:cNvCxnSpPr/>
          <p:nvPr/>
        </p:nvCxnSpPr>
        <p:spPr>
          <a:xfrm>
            <a:off x="4572000" y="3556000"/>
            <a:ext cx="0" cy="279400"/>
          </a:xfrm>
          <a:prstGeom prst="straightConnector1">
            <a:avLst/>
          </a:prstGeom>
          <a:noFill/>
          <a:ln cap="flat" cmpd="sng" w="28575">
            <a:solidFill>
              <a:schemeClr val="dk1"/>
            </a:solidFill>
            <a:prstDash val="dot"/>
            <a:round/>
            <a:headEnd len="med" w="med" type="none"/>
            <a:tailEnd len="med" w="med" type="none"/>
          </a:ln>
        </p:spPr>
      </p:cxnSp>
      <p:sp>
        <p:nvSpPr>
          <p:cNvPr id="901" name="Google Shape;901;p18"/>
          <p:cNvSpPr/>
          <p:nvPr/>
        </p:nvSpPr>
        <p:spPr>
          <a:xfrm>
            <a:off x="5108575" y="4298950"/>
            <a:ext cx="174625" cy="361950"/>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902" name="Google Shape;902;p18"/>
          <p:cNvCxnSpPr/>
          <p:nvPr/>
        </p:nvCxnSpPr>
        <p:spPr>
          <a:xfrm>
            <a:off x="5207000" y="4660900"/>
            <a:ext cx="0" cy="254000"/>
          </a:xfrm>
          <a:prstGeom prst="straightConnector1">
            <a:avLst/>
          </a:prstGeom>
          <a:noFill/>
          <a:ln cap="flat" cmpd="sng" w="28575">
            <a:solidFill>
              <a:schemeClr val="dk1"/>
            </a:solidFill>
            <a:prstDash val="dot"/>
            <a:round/>
            <a:headEnd len="med" w="med" type="none"/>
            <a:tailEnd len="med" w="med" type="none"/>
          </a:ln>
        </p:spPr>
      </p:cxnSp>
      <p:cxnSp>
        <p:nvCxnSpPr>
          <p:cNvPr id="903" name="Google Shape;903;p18"/>
          <p:cNvCxnSpPr/>
          <p:nvPr/>
        </p:nvCxnSpPr>
        <p:spPr>
          <a:xfrm>
            <a:off x="3886200" y="3822700"/>
            <a:ext cx="584200" cy="0"/>
          </a:xfrm>
          <a:prstGeom prst="straightConnector1">
            <a:avLst/>
          </a:prstGeom>
          <a:noFill/>
          <a:ln cap="flat" cmpd="sng" w="19050">
            <a:solidFill>
              <a:schemeClr val="dk1"/>
            </a:solidFill>
            <a:prstDash val="solid"/>
            <a:round/>
            <a:headEnd len="med" w="med" type="none"/>
            <a:tailEnd len="med" w="med" type="triangle"/>
          </a:ln>
        </p:spPr>
      </p:cxnSp>
      <p:cxnSp>
        <p:nvCxnSpPr>
          <p:cNvPr id="904" name="Google Shape;904;p18"/>
          <p:cNvCxnSpPr/>
          <p:nvPr/>
        </p:nvCxnSpPr>
        <p:spPr>
          <a:xfrm>
            <a:off x="4521200" y="4295775"/>
            <a:ext cx="584200" cy="0"/>
          </a:xfrm>
          <a:prstGeom prst="straightConnector1">
            <a:avLst/>
          </a:prstGeom>
          <a:noFill/>
          <a:ln cap="flat" cmpd="sng" w="19050">
            <a:solidFill>
              <a:schemeClr val="dk1"/>
            </a:solidFill>
            <a:prstDash val="solid"/>
            <a:round/>
            <a:headEnd len="med" w="med" type="none"/>
            <a:tailEnd len="med" w="med" type="triangle"/>
          </a:ln>
        </p:spPr>
      </p:cxnSp>
      <p:cxnSp>
        <p:nvCxnSpPr>
          <p:cNvPr id="905" name="Google Shape;905;p18"/>
          <p:cNvCxnSpPr/>
          <p:nvPr/>
        </p:nvCxnSpPr>
        <p:spPr>
          <a:xfrm rot="10800000">
            <a:off x="3922713" y="4673600"/>
            <a:ext cx="1376362" cy="1588"/>
          </a:xfrm>
          <a:prstGeom prst="straightConnector1">
            <a:avLst/>
          </a:prstGeom>
          <a:noFill/>
          <a:ln cap="flat" cmpd="sng" w="19050">
            <a:solidFill>
              <a:schemeClr val="dk1"/>
            </a:solidFill>
            <a:prstDash val="solid"/>
            <a:round/>
            <a:headEnd len="med" w="med" type="none"/>
            <a:tailEnd len="med" w="med" type="triangle"/>
          </a:ln>
        </p:spPr>
      </p:cxnSp>
      <p:sp>
        <p:nvSpPr>
          <p:cNvPr id="906" name="Google Shape;906;p18"/>
          <p:cNvSpPr/>
          <p:nvPr/>
        </p:nvSpPr>
        <p:spPr>
          <a:xfrm>
            <a:off x="977900" y="3086100"/>
            <a:ext cx="1955800" cy="1955800"/>
          </a:xfrm>
          <a:prstGeom prst="ellipse">
            <a:avLst/>
          </a:prstGeom>
          <a:noFill/>
          <a:ln cap="flat" cmpd="sng" w="28575">
            <a:solidFill>
              <a:srgbClr val="00CC66"/>
            </a:solidFill>
            <a:prstDash val="dash"/>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907" name="Google Shape;907;p18"/>
          <p:cNvCxnSpPr/>
          <p:nvPr/>
        </p:nvCxnSpPr>
        <p:spPr>
          <a:xfrm flipH="1">
            <a:off x="2165350" y="4302125"/>
            <a:ext cx="2300288" cy="722313"/>
          </a:xfrm>
          <a:prstGeom prst="straightConnector1">
            <a:avLst/>
          </a:prstGeom>
          <a:noFill/>
          <a:ln cap="flat" cmpd="sng" w="28575">
            <a:solidFill>
              <a:srgbClr val="00CC66"/>
            </a:solidFill>
            <a:prstDash val="dash"/>
            <a:round/>
            <a:headEnd len="med" w="med" type="none"/>
            <a:tailEnd len="med" w="med" type="none"/>
          </a:ln>
        </p:spPr>
      </p:cxnSp>
      <p:cxnSp>
        <p:nvCxnSpPr>
          <p:cNvPr id="908" name="Google Shape;908;p18"/>
          <p:cNvCxnSpPr/>
          <p:nvPr/>
        </p:nvCxnSpPr>
        <p:spPr>
          <a:xfrm rot="10800000">
            <a:off x="2181225" y="3114675"/>
            <a:ext cx="2279650" cy="706438"/>
          </a:xfrm>
          <a:prstGeom prst="straightConnector1">
            <a:avLst/>
          </a:prstGeom>
          <a:noFill/>
          <a:ln cap="flat" cmpd="sng" w="28575">
            <a:solidFill>
              <a:srgbClr val="00CC66"/>
            </a:solidFill>
            <a:prstDash val="dash"/>
            <a:round/>
            <a:headEnd len="med" w="med" type="none"/>
            <a:tailEnd len="med" w="med" type="none"/>
          </a:ln>
        </p:spPr>
      </p:cxnSp>
      <p:sp>
        <p:nvSpPr>
          <p:cNvPr id="909" name="Google Shape;909;p18"/>
          <p:cNvSpPr/>
          <p:nvPr/>
        </p:nvSpPr>
        <p:spPr>
          <a:xfrm>
            <a:off x="6197600" y="3492500"/>
            <a:ext cx="1955800" cy="1955800"/>
          </a:xfrm>
          <a:prstGeom prst="ellipse">
            <a:avLst/>
          </a:prstGeom>
          <a:noFill/>
          <a:ln cap="flat" cmpd="sng" w="28575">
            <a:solidFill>
              <a:srgbClr val="CC9900"/>
            </a:solidFill>
            <a:prstDash val="dash"/>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910" name="Google Shape;910;p18"/>
          <p:cNvCxnSpPr/>
          <p:nvPr/>
        </p:nvCxnSpPr>
        <p:spPr>
          <a:xfrm flipH="1">
            <a:off x="5297488" y="3597275"/>
            <a:ext cx="1436687" cy="688975"/>
          </a:xfrm>
          <a:prstGeom prst="straightConnector1">
            <a:avLst/>
          </a:prstGeom>
          <a:noFill/>
          <a:ln cap="flat" cmpd="sng" w="28575">
            <a:solidFill>
              <a:srgbClr val="CC9900"/>
            </a:solidFill>
            <a:prstDash val="dash"/>
            <a:round/>
            <a:headEnd len="med" w="med" type="none"/>
            <a:tailEnd len="med" w="med" type="none"/>
          </a:ln>
        </p:spPr>
      </p:cxnSp>
      <p:cxnSp>
        <p:nvCxnSpPr>
          <p:cNvPr id="911" name="Google Shape;911;p18"/>
          <p:cNvCxnSpPr/>
          <p:nvPr/>
        </p:nvCxnSpPr>
        <p:spPr>
          <a:xfrm rot="10800000">
            <a:off x="5295900" y="4684713"/>
            <a:ext cx="1466850" cy="669925"/>
          </a:xfrm>
          <a:prstGeom prst="straightConnector1">
            <a:avLst/>
          </a:prstGeom>
          <a:noFill/>
          <a:ln cap="flat" cmpd="sng" w="28575">
            <a:solidFill>
              <a:srgbClr val="CC9900"/>
            </a:solidFill>
            <a:prstDash val="dash"/>
            <a:round/>
            <a:headEnd len="med" w="med" type="none"/>
            <a:tailEnd len="med" w="med" type="none"/>
          </a:ln>
        </p:spPr>
      </p:cxnSp>
      <p:cxnSp>
        <p:nvCxnSpPr>
          <p:cNvPr id="912" name="Google Shape;912;p18"/>
          <p:cNvCxnSpPr/>
          <p:nvPr/>
        </p:nvCxnSpPr>
        <p:spPr>
          <a:xfrm>
            <a:off x="1260475" y="3495675"/>
            <a:ext cx="0" cy="1114425"/>
          </a:xfrm>
          <a:prstGeom prst="straightConnector1">
            <a:avLst/>
          </a:prstGeom>
          <a:noFill/>
          <a:ln cap="flat" cmpd="sng" w="57150">
            <a:solidFill>
              <a:schemeClr val="dk1"/>
            </a:solidFill>
            <a:prstDash val="dot"/>
            <a:round/>
            <a:headEnd len="med" w="med" type="none"/>
            <a:tailEnd len="med" w="med" type="none"/>
          </a:ln>
        </p:spPr>
      </p:cxnSp>
      <p:cxnSp>
        <p:nvCxnSpPr>
          <p:cNvPr id="913" name="Google Shape;913;p18"/>
          <p:cNvCxnSpPr/>
          <p:nvPr/>
        </p:nvCxnSpPr>
        <p:spPr>
          <a:xfrm>
            <a:off x="2670175" y="3495675"/>
            <a:ext cx="0" cy="1114425"/>
          </a:xfrm>
          <a:prstGeom prst="straightConnector1">
            <a:avLst/>
          </a:prstGeom>
          <a:noFill/>
          <a:ln cap="flat" cmpd="sng" w="28575">
            <a:solidFill>
              <a:schemeClr val="dk1"/>
            </a:solidFill>
            <a:prstDash val="dot"/>
            <a:round/>
            <a:headEnd len="med" w="med" type="none"/>
            <a:tailEnd len="med" w="med" type="none"/>
          </a:ln>
        </p:spPr>
      </p:cxnSp>
      <p:cxnSp>
        <p:nvCxnSpPr>
          <p:cNvPr id="914" name="Google Shape;914;p18"/>
          <p:cNvCxnSpPr/>
          <p:nvPr/>
        </p:nvCxnSpPr>
        <p:spPr>
          <a:xfrm>
            <a:off x="1730375" y="3495675"/>
            <a:ext cx="0" cy="1114425"/>
          </a:xfrm>
          <a:prstGeom prst="straightConnector1">
            <a:avLst/>
          </a:prstGeom>
          <a:noFill/>
          <a:ln cap="flat" cmpd="sng" w="28575">
            <a:solidFill>
              <a:schemeClr val="dk1"/>
            </a:solidFill>
            <a:prstDash val="dot"/>
            <a:round/>
            <a:headEnd len="med" w="med" type="none"/>
            <a:tailEnd len="med" w="med" type="none"/>
          </a:ln>
        </p:spPr>
      </p:cxnSp>
      <p:cxnSp>
        <p:nvCxnSpPr>
          <p:cNvPr id="915" name="Google Shape;915;p18"/>
          <p:cNvCxnSpPr/>
          <p:nvPr/>
        </p:nvCxnSpPr>
        <p:spPr>
          <a:xfrm>
            <a:off x="2200275" y="3495675"/>
            <a:ext cx="0" cy="1114425"/>
          </a:xfrm>
          <a:prstGeom prst="straightConnector1">
            <a:avLst/>
          </a:prstGeom>
          <a:noFill/>
          <a:ln cap="flat" cmpd="sng" w="28575">
            <a:solidFill>
              <a:schemeClr val="dk1"/>
            </a:solidFill>
            <a:prstDash val="dot"/>
            <a:round/>
            <a:headEnd len="med" w="med" type="none"/>
            <a:tailEnd len="med" w="med" type="none"/>
          </a:ln>
        </p:spPr>
      </p:cxnSp>
      <p:cxnSp>
        <p:nvCxnSpPr>
          <p:cNvPr id="916" name="Google Shape;916;p18"/>
          <p:cNvCxnSpPr/>
          <p:nvPr/>
        </p:nvCxnSpPr>
        <p:spPr>
          <a:xfrm>
            <a:off x="1270000" y="3594100"/>
            <a:ext cx="431800" cy="0"/>
          </a:xfrm>
          <a:prstGeom prst="straightConnector1">
            <a:avLst/>
          </a:prstGeom>
          <a:noFill/>
          <a:ln cap="flat" cmpd="sng" w="19050">
            <a:solidFill>
              <a:schemeClr val="dk1"/>
            </a:solidFill>
            <a:prstDash val="solid"/>
            <a:round/>
            <a:headEnd len="med" w="med" type="none"/>
            <a:tailEnd len="med" w="med" type="triangle"/>
          </a:ln>
        </p:spPr>
      </p:cxnSp>
      <p:cxnSp>
        <p:nvCxnSpPr>
          <p:cNvPr id="917" name="Google Shape;917;p18"/>
          <p:cNvCxnSpPr/>
          <p:nvPr/>
        </p:nvCxnSpPr>
        <p:spPr>
          <a:xfrm>
            <a:off x="1739900" y="3784600"/>
            <a:ext cx="431800" cy="0"/>
          </a:xfrm>
          <a:prstGeom prst="straightConnector1">
            <a:avLst/>
          </a:prstGeom>
          <a:noFill/>
          <a:ln cap="flat" cmpd="sng" w="19050">
            <a:solidFill>
              <a:schemeClr val="dk1"/>
            </a:solidFill>
            <a:prstDash val="solid"/>
            <a:round/>
            <a:headEnd len="med" w="med" type="none"/>
            <a:tailEnd len="med" w="med" type="triangle"/>
          </a:ln>
        </p:spPr>
      </p:cxnSp>
      <p:cxnSp>
        <p:nvCxnSpPr>
          <p:cNvPr id="918" name="Google Shape;918;p18"/>
          <p:cNvCxnSpPr/>
          <p:nvPr/>
        </p:nvCxnSpPr>
        <p:spPr>
          <a:xfrm>
            <a:off x="2209800" y="3975100"/>
            <a:ext cx="431800" cy="0"/>
          </a:xfrm>
          <a:prstGeom prst="straightConnector1">
            <a:avLst/>
          </a:prstGeom>
          <a:noFill/>
          <a:ln cap="flat" cmpd="sng" w="19050">
            <a:solidFill>
              <a:schemeClr val="dk1"/>
            </a:solidFill>
            <a:prstDash val="solid"/>
            <a:round/>
            <a:headEnd len="med" w="med" type="none"/>
            <a:tailEnd len="med" w="med" type="triangle"/>
          </a:ln>
        </p:spPr>
      </p:cxnSp>
      <p:cxnSp>
        <p:nvCxnSpPr>
          <p:cNvPr id="919" name="Google Shape;919;p18"/>
          <p:cNvCxnSpPr/>
          <p:nvPr/>
        </p:nvCxnSpPr>
        <p:spPr>
          <a:xfrm rot="10800000">
            <a:off x="2209800" y="4267200"/>
            <a:ext cx="457200" cy="0"/>
          </a:xfrm>
          <a:prstGeom prst="straightConnector1">
            <a:avLst/>
          </a:prstGeom>
          <a:noFill/>
          <a:ln cap="flat" cmpd="sng" w="19050">
            <a:solidFill>
              <a:schemeClr val="dk1"/>
            </a:solidFill>
            <a:prstDash val="solid"/>
            <a:round/>
            <a:headEnd len="med" w="med" type="none"/>
            <a:tailEnd len="med" w="med" type="triangle"/>
          </a:ln>
        </p:spPr>
      </p:cxnSp>
      <p:cxnSp>
        <p:nvCxnSpPr>
          <p:cNvPr id="920" name="Google Shape;920;p18"/>
          <p:cNvCxnSpPr/>
          <p:nvPr/>
        </p:nvCxnSpPr>
        <p:spPr>
          <a:xfrm rot="10800000">
            <a:off x="1282700" y="4445000"/>
            <a:ext cx="914400" cy="0"/>
          </a:xfrm>
          <a:prstGeom prst="straightConnector1">
            <a:avLst/>
          </a:prstGeom>
          <a:noFill/>
          <a:ln cap="flat" cmpd="sng" w="19050">
            <a:solidFill>
              <a:schemeClr val="dk1"/>
            </a:solidFill>
            <a:prstDash val="solid"/>
            <a:round/>
            <a:headEnd len="med" w="med" type="none"/>
            <a:tailEnd len="med" w="med" type="triangle"/>
          </a:ln>
        </p:spPr>
      </p:cxnSp>
      <p:cxnSp>
        <p:nvCxnSpPr>
          <p:cNvPr id="921" name="Google Shape;921;p18"/>
          <p:cNvCxnSpPr/>
          <p:nvPr/>
        </p:nvCxnSpPr>
        <p:spPr>
          <a:xfrm>
            <a:off x="6480175" y="3914775"/>
            <a:ext cx="0" cy="1114425"/>
          </a:xfrm>
          <a:prstGeom prst="straightConnector1">
            <a:avLst/>
          </a:prstGeom>
          <a:noFill/>
          <a:ln cap="flat" cmpd="sng" w="57150">
            <a:solidFill>
              <a:schemeClr val="dk1"/>
            </a:solidFill>
            <a:prstDash val="dot"/>
            <a:round/>
            <a:headEnd len="med" w="med" type="none"/>
            <a:tailEnd len="med" w="med" type="none"/>
          </a:ln>
        </p:spPr>
      </p:cxnSp>
      <p:cxnSp>
        <p:nvCxnSpPr>
          <p:cNvPr id="922" name="Google Shape;922;p18"/>
          <p:cNvCxnSpPr/>
          <p:nvPr/>
        </p:nvCxnSpPr>
        <p:spPr>
          <a:xfrm>
            <a:off x="7889875" y="3914775"/>
            <a:ext cx="0" cy="1114425"/>
          </a:xfrm>
          <a:prstGeom prst="straightConnector1">
            <a:avLst/>
          </a:prstGeom>
          <a:noFill/>
          <a:ln cap="flat" cmpd="sng" w="28575">
            <a:solidFill>
              <a:schemeClr val="dk1"/>
            </a:solidFill>
            <a:prstDash val="dot"/>
            <a:round/>
            <a:headEnd len="med" w="med" type="none"/>
            <a:tailEnd len="med" w="med" type="none"/>
          </a:ln>
        </p:spPr>
      </p:cxnSp>
      <p:cxnSp>
        <p:nvCxnSpPr>
          <p:cNvPr id="923" name="Google Shape;923;p18"/>
          <p:cNvCxnSpPr/>
          <p:nvPr/>
        </p:nvCxnSpPr>
        <p:spPr>
          <a:xfrm>
            <a:off x="6950075" y="3914775"/>
            <a:ext cx="0" cy="1114425"/>
          </a:xfrm>
          <a:prstGeom prst="straightConnector1">
            <a:avLst/>
          </a:prstGeom>
          <a:noFill/>
          <a:ln cap="flat" cmpd="sng" w="28575">
            <a:solidFill>
              <a:schemeClr val="dk1"/>
            </a:solidFill>
            <a:prstDash val="dot"/>
            <a:round/>
            <a:headEnd len="med" w="med" type="none"/>
            <a:tailEnd len="med" w="med" type="none"/>
          </a:ln>
        </p:spPr>
      </p:cxnSp>
      <p:cxnSp>
        <p:nvCxnSpPr>
          <p:cNvPr id="924" name="Google Shape;924;p18"/>
          <p:cNvCxnSpPr/>
          <p:nvPr/>
        </p:nvCxnSpPr>
        <p:spPr>
          <a:xfrm>
            <a:off x="7419975" y="3914775"/>
            <a:ext cx="0" cy="1114425"/>
          </a:xfrm>
          <a:prstGeom prst="straightConnector1">
            <a:avLst/>
          </a:prstGeom>
          <a:noFill/>
          <a:ln cap="flat" cmpd="sng" w="28575">
            <a:solidFill>
              <a:schemeClr val="dk1"/>
            </a:solidFill>
            <a:prstDash val="dot"/>
            <a:round/>
            <a:headEnd len="med" w="med" type="none"/>
            <a:tailEnd len="med" w="med" type="none"/>
          </a:ln>
        </p:spPr>
      </p:cxnSp>
      <p:cxnSp>
        <p:nvCxnSpPr>
          <p:cNvPr id="925" name="Google Shape;925;p18"/>
          <p:cNvCxnSpPr/>
          <p:nvPr/>
        </p:nvCxnSpPr>
        <p:spPr>
          <a:xfrm>
            <a:off x="6489700" y="4013200"/>
            <a:ext cx="431800" cy="0"/>
          </a:xfrm>
          <a:prstGeom prst="straightConnector1">
            <a:avLst/>
          </a:prstGeom>
          <a:noFill/>
          <a:ln cap="flat" cmpd="sng" w="19050">
            <a:solidFill>
              <a:schemeClr val="dk1"/>
            </a:solidFill>
            <a:prstDash val="solid"/>
            <a:round/>
            <a:headEnd len="med" w="med" type="none"/>
            <a:tailEnd len="med" w="med" type="triangle"/>
          </a:ln>
        </p:spPr>
      </p:cxnSp>
      <p:cxnSp>
        <p:nvCxnSpPr>
          <p:cNvPr id="926" name="Google Shape;926;p18"/>
          <p:cNvCxnSpPr/>
          <p:nvPr/>
        </p:nvCxnSpPr>
        <p:spPr>
          <a:xfrm>
            <a:off x="6959600" y="4203700"/>
            <a:ext cx="901700" cy="0"/>
          </a:xfrm>
          <a:prstGeom prst="straightConnector1">
            <a:avLst/>
          </a:prstGeom>
          <a:noFill/>
          <a:ln cap="flat" cmpd="sng" w="19050">
            <a:solidFill>
              <a:schemeClr val="dk1"/>
            </a:solidFill>
            <a:prstDash val="solid"/>
            <a:round/>
            <a:headEnd len="med" w="med" type="none"/>
            <a:tailEnd len="med" w="med" type="triangle"/>
          </a:ln>
        </p:spPr>
      </p:cxnSp>
      <p:cxnSp>
        <p:nvCxnSpPr>
          <p:cNvPr id="927" name="Google Shape;927;p18"/>
          <p:cNvCxnSpPr/>
          <p:nvPr/>
        </p:nvCxnSpPr>
        <p:spPr>
          <a:xfrm rot="10800000">
            <a:off x="7429500" y="4432300"/>
            <a:ext cx="431800" cy="0"/>
          </a:xfrm>
          <a:prstGeom prst="straightConnector1">
            <a:avLst/>
          </a:prstGeom>
          <a:noFill/>
          <a:ln cap="flat" cmpd="sng" w="19050">
            <a:solidFill>
              <a:schemeClr val="dk1"/>
            </a:solidFill>
            <a:prstDash val="solid"/>
            <a:round/>
            <a:headEnd len="med" w="med" type="none"/>
            <a:tailEnd len="med" w="med" type="triangle"/>
          </a:ln>
        </p:spPr>
      </p:cxnSp>
      <p:cxnSp>
        <p:nvCxnSpPr>
          <p:cNvPr id="928" name="Google Shape;928;p18"/>
          <p:cNvCxnSpPr/>
          <p:nvPr/>
        </p:nvCxnSpPr>
        <p:spPr>
          <a:xfrm rot="10800000">
            <a:off x="6946900" y="4648200"/>
            <a:ext cx="457200" cy="0"/>
          </a:xfrm>
          <a:prstGeom prst="straightConnector1">
            <a:avLst/>
          </a:prstGeom>
          <a:noFill/>
          <a:ln cap="flat" cmpd="sng" w="19050">
            <a:solidFill>
              <a:schemeClr val="dk1"/>
            </a:solidFill>
            <a:prstDash val="solid"/>
            <a:round/>
            <a:headEnd len="med" w="med" type="none"/>
            <a:tailEnd len="med" w="med" type="triangle"/>
          </a:ln>
        </p:spPr>
      </p:cxnSp>
      <p:cxnSp>
        <p:nvCxnSpPr>
          <p:cNvPr id="929" name="Google Shape;929;p18"/>
          <p:cNvCxnSpPr/>
          <p:nvPr/>
        </p:nvCxnSpPr>
        <p:spPr>
          <a:xfrm rot="10800000">
            <a:off x="6502400" y="4864100"/>
            <a:ext cx="431800" cy="0"/>
          </a:xfrm>
          <a:prstGeom prst="straightConnector1">
            <a:avLst/>
          </a:prstGeom>
          <a:noFill/>
          <a:ln cap="flat" cmpd="sng" w="19050">
            <a:solidFill>
              <a:schemeClr val="dk1"/>
            </a:solidFill>
            <a:prstDash val="solid"/>
            <a:round/>
            <a:headEnd len="med" w="med" type="none"/>
            <a:tailEnd len="med" w="med" type="triangle"/>
          </a:ln>
        </p:spPr>
      </p:cxnSp>
      <p:sp>
        <p:nvSpPr>
          <p:cNvPr id="930" name="Google Shape;930;p18"/>
          <p:cNvSpPr txBox="1"/>
          <p:nvPr/>
        </p:nvSpPr>
        <p:spPr>
          <a:xfrm>
            <a:off x="2379663" y="5340350"/>
            <a:ext cx="4378325"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rgbClr val="00CCFF"/>
                </a:solidFill>
                <a:latin typeface="Constantia"/>
                <a:ea typeface="Constantia"/>
                <a:cs typeface="Constantia"/>
                <a:sym typeface="Constantia"/>
              </a:rPr>
              <a:t>Nâng mức trừu tượng hóa</a:t>
            </a:r>
            <a:endParaRPr i="1" sz="2400">
              <a:solidFill>
                <a:srgbClr val="00CCFF"/>
              </a:solidFill>
              <a:latin typeface="Constantia"/>
              <a:ea typeface="Constantia"/>
              <a:cs typeface="Constantia"/>
              <a:sym typeface="Constant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Khi nào thì đóng gói các luồng con vào trong một hệ thống con</a:t>
            </a:r>
            <a:endParaRPr sz="4500"/>
          </a:p>
        </p:txBody>
      </p:sp>
      <p:sp>
        <p:nvSpPr>
          <p:cNvPr id="939" name="Google Shape;939;p19"/>
          <p:cNvSpPr txBox="1"/>
          <p:nvPr>
            <p:ph idx="1" type="body"/>
          </p:nvPr>
        </p:nvSpPr>
        <p:spPr>
          <a:xfrm>
            <a:off x="361950" y="1404213"/>
            <a:ext cx="8489950" cy="423068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Font typeface="Noto Sans Symbols"/>
              <a:buNone/>
            </a:pPr>
            <a:r>
              <a:rPr lang="en-US"/>
              <a:t>Đóng gói một luồng con vào trong một hệ thống con khi:</a:t>
            </a:r>
            <a:endParaRPr/>
          </a:p>
          <a:p>
            <a:pPr indent="-246888" lvl="1" marL="640080" rtl="0" algn="l">
              <a:spcBef>
                <a:spcPts val="480"/>
              </a:spcBef>
              <a:spcAft>
                <a:spcPts val="0"/>
              </a:spcAft>
              <a:buSzPts val="2040"/>
              <a:buChar char="⚫"/>
            </a:pPr>
            <a:r>
              <a:rPr lang="en-US"/>
              <a:t>Xuấ hiện trong nhiều hiện thực hóa ca sử dụng</a:t>
            </a:r>
            <a:endParaRPr/>
          </a:p>
          <a:p>
            <a:pPr indent="-246888" lvl="1" marL="640080" rtl="0" algn="l">
              <a:spcBef>
                <a:spcPts val="480"/>
              </a:spcBef>
              <a:spcAft>
                <a:spcPts val="0"/>
              </a:spcAft>
              <a:buSzPts val="2040"/>
              <a:buChar char="⚫"/>
            </a:pPr>
            <a:r>
              <a:rPr lang="en-US"/>
              <a:t>Có tiềm năng tái sử dụng</a:t>
            </a:r>
            <a:endParaRPr/>
          </a:p>
          <a:p>
            <a:pPr indent="-246888" lvl="1" marL="640080" rtl="0" algn="l">
              <a:spcBef>
                <a:spcPts val="480"/>
              </a:spcBef>
              <a:spcAft>
                <a:spcPts val="0"/>
              </a:spcAft>
              <a:buSzPts val="2040"/>
              <a:buChar char="⚫"/>
            </a:pPr>
            <a:r>
              <a:rPr lang="en-US"/>
              <a:t>Phức tạp và dễ dàng đóng gói</a:t>
            </a:r>
            <a:endParaRPr/>
          </a:p>
          <a:p>
            <a:pPr indent="-246888" lvl="1" marL="640080" rtl="0" algn="l">
              <a:spcBef>
                <a:spcPts val="480"/>
              </a:spcBef>
              <a:spcAft>
                <a:spcPts val="0"/>
              </a:spcAft>
              <a:buSzPts val="2040"/>
              <a:buChar char="⚫"/>
            </a:pPr>
            <a:r>
              <a:rPr lang="en-US"/>
              <a:t>Tương ứng với lượng công việc của một người hoặc một đội</a:t>
            </a:r>
            <a:endParaRPr/>
          </a:p>
          <a:p>
            <a:pPr indent="-246888" lvl="1" marL="640080" rtl="0" algn="l">
              <a:spcBef>
                <a:spcPts val="480"/>
              </a:spcBef>
              <a:spcAft>
                <a:spcPts val="0"/>
              </a:spcAft>
              <a:buSzPts val="2040"/>
              <a:buChar char="⚫"/>
            </a:pPr>
            <a:r>
              <a:rPr lang="en-US"/>
              <a:t>Tạo ra một kế quả có cấu trúc tốt</a:t>
            </a:r>
            <a:endParaRPr/>
          </a:p>
          <a:p>
            <a:pPr indent="-246888" lvl="1" marL="640080" rtl="0" algn="l">
              <a:spcBef>
                <a:spcPts val="480"/>
              </a:spcBef>
              <a:spcAft>
                <a:spcPts val="0"/>
              </a:spcAft>
              <a:buSzPts val="2040"/>
              <a:buChar char="⚫"/>
            </a:pPr>
            <a:r>
              <a:rPr lang="en-US"/>
              <a:t>Được đóng gói trong một thành phần mô hình cài đặt đơn lẻ (a single Implementation Model component)</a:t>
            </a:r>
            <a:endParaRPr/>
          </a:p>
        </p:txBody>
      </p:sp>
      <p:sp>
        <p:nvSpPr>
          <p:cNvPr id="940" name="Google Shape;940;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941" name="Google Shape;941;p19"/>
          <p:cNvGrpSpPr/>
          <p:nvPr/>
        </p:nvGrpSpPr>
        <p:grpSpPr>
          <a:xfrm>
            <a:off x="6342063" y="5084441"/>
            <a:ext cx="2319337" cy="1617663"/>
            <a:chOff x="2033" y="3660"/>
            <a:chExt cx="645" cy="499"/>
          </a:xfrm>
        </p:grpSpPr>
        <p:sp>
          <p:nvSpPr>
            <p:cNvPr id="942" name="Google Shape;942;p19"/>
            <p:cNvSpPr/>
            <p:nvPr/>
          </p:nvSpPr>
          <p:spPr>
            <a:xfrm>
              <a:off x="2033" y="3660"/>
              <a:ext cx="645" cy="499"/>
            </a:xfrm>
            <a:custGeom>
              <a:rect b="b" l="l" r="r" t="t"/>
              <a:pathLst>
                <a:path extrusionOk="0" h="999" w="1291">
                  <a:moveTo>
                    <a:pt x="1162" y="490"/>
                  </a:moveTo>
                  <a:lnTo>
                    <a:pt x="1203" y="463"/>
                  </a:lnTo>
                  <a:lnTo>
                    <a:pt x="1236" y="429"/>
                  </a:lnTo>
                  <a:lnTo>
                    <a:pt x="1263" y="391"/>
                  </a:lnTo>
                  <a:lnTo>
                    <a:pt x="1280" y="347"/>
                  </a:lnTo>
                  <a:lnTo>
                    <a:pt x="1291" y="302"/>
                  </a:lnTo>
                  <a:lnTo>
                    <a:pt x="1291" y="255"/>
                  </a:lnTo>
                  <a:lnTo>
                    <a:pt x="1282" y="208"/>
                  </a:lnTo>
                  <a:lnTo>
                    <a:pt x="1264" y="162"/>
                  </a:lnTo>
                  <a:lnTo>
                    <a:pt x="1248" y="131"/>
                  </a:lnTo>
                  <a:lnTo>
                    <a:pt x="1235" y="109"/>
                  </a:lnTo>
                  <a:lnTo>
                    <a:pt x="1221" y="89"/>
                  </a:lnTo>
                  <a:lnTo>
                    <a:pt x="1205" y="72"/>
                  </a:lnTo>
                  <a:lnTo>
                    <a:pt x="1187" y="56"/>
                  </a:lnTo>
                  <a:lnTo>
                    <a:pt x="1168" y="42"/>
                  </a:lnTo>
                  <a:lnTo>
                    <a:pt x="1149" y="29"/>
                  </a:lnTo>
                  <a:lnTo>
                    <a:pt x="1127" y="20"/>
                  </a:lnTo>
                  <a:lnTo>
                    <a:pt x="1105" y="12"/>
                  </a:lnTo>
                  <a:lnTo>
                    <a:pt x="1083" y="6"/>
                  </a:lnTo>
                  <a:lnTo>
                    <a:pt x="1060" y="2"/>
                  </a:lnTo>
                  <a:lnTo>
                    <a:pt x="1037" y="0"/>
                  </a:lnTo>
                  <a:lnTo>
                    <a:pt x="1013" y="2"/>
                  </a:lnTo>
                  <a:lnTo>
                    <a:pt x="990" y="4"/>
                  </a:lnTo>
                  <a:lnTo>
                    <a:pt x="967" y="10"/>
                  </a:lnTo>
                  <a:lnTo>
                    <a:pt x="944" y="18"/>
                  </a:lnTo>
                  <a:lnTo>
                    <a:pt x="921" y="28"/>
                  </a:lnTo>
                  <a:lnTo>
                    <a:pt x="168" y="303"/>
                  </a:lnTo>
                  <a:lnTo>
                    <a:pt x="141" y="319"/>
                  </a:lnTo>
                  <a:lnTo>
                    <a:pt x="116" y="338"/>
                  </a:lnTo>
                  <a:lnTo>
                    <a:pt x="93" y="359"/>
                  </a:lnTo>
                  <a:lnTo>
                    <a:pt x="72" y="382"/>
                  </a:lnTo>
                  <a:lnTo>
                    <a:pt x="54" y="407"/>
                  </a:lnTo>
                  <a:lnTo>
                    <a:pt x="39" y="435"/>
                  </a:lnTo>
                  <a:lnTo>
                    <a:pt x="25" y="463"/>
                  </a:lnTo>
                  <a:lnTo>
                    <a:pt x="15" y="493"/>
                  </a:lnTo>
                  <a:lnTo>
                    <a:pt x="6" y="524"/>
                  </a:lnTo>
                  <a:lnTo>
                    <a:pt x="2" y="555"/>
                  </a:lnTo>
                  <a:lnTo>
                    <a:pt x="0" y="589"/>
                  </a:lnTo>
                  <a:lnTo>
                    <a:pt x="1" y="621"/>
                  </a:lnTo>
                  <a:lnTo>
                    <a:pt x="5" y="655"/>
                  </a:lnTo>
                  <a:lnTo>
                    <a:pt x="12" y="688"/>
                  </a:lnTo>
                  <a:lnTo>
                    <a:pt x="24" y="721"/>
                  </a:lnTo>
                  <a:lnTo>
                    <a:pt x="39" y="754"/>
                  </a:lnTo>
                  <a:lnTo>
                    <a:pt x="63" y="798"/>
                  </a:lnTo>
                  <a:lnTo>
                    <a:pt x="80" y="830"/>
                  </a:lnTo>
                  <a:lnTo>
                    <a:pt x="101" y="858"/>
                  </a:lnTo>
                  <a:lnTo>
                    <a:pt x="123" y="885"/>
                  </a:lnTo>
                  <a:lnTo>
                    <a:pt x="146" y="908"/>
                  </a:lnTo>
                  <a:lnTo>
                    <a:pt x="171" y="930"/>
                  </a:lnTo>
                  <a:lnTo>
                    <a:pt x="198" y="948"/>
                  </a:lnTo>
                  <a:lnTo>
                    <a:pt x="226" y="964"/>
                  </a:lnTo>
                  <a:lnTo>
                    <a:pt x="254" y="977"/>
                  </a:lnTo>
                  <a:lnTo>
                    <a:pt x="284" y="987"/>
                  </a:lnTo>
                  <a:lnTo>
                    <a:pt x="314" y="994"/>
                  </a:lnTo>
                  <a:lnTo>
                    <a:pt x="344" y="998"/>
                  </a:lnTo>
                  <a:lnTo>
                    <a:pt x="374" y="999"/>
                  </a:lnTo>
                  <a:lnTo>
                    <a:pt x="404" y="996"/>
                  </a:lnTo>
                  <a:lnTo>
                    <a:pt x="433" y="991"/>
                  </a:lnTo>
                  <a:lnTo>
                    <a:pt x="462" y="982"/>
                  </a:lnTo>
                  <a:lnTo>
                    <a:pt x="490" y="969"/>
                  </a:lnTo>
                  <a:lnTo>
                    <a:pt x="1162" y="49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43" name="Google Shape;943;p19"/>
            <p:cNvSpPr/>
            <p:nvPr/>
          </p:nvSpPr>
          <p:spPr>
            <a:xfrm>
              <a:off x="2086" y="3698"/>
              <a:ext cx="563" cy="407"/>
            </a:xfrm>
            <a:custGeom>
              <a:rect b="b" l="l" r="r" t="t"/>
              <a:pathLst>
                <a:path extrusionOk="0" h="815" w="1128">
                  <a:moveTo>
                    <a:pt x="1028" y="352"/>
                  </a:moveTo>
                  <a:lnTo>
                    <a:pt x="1059" y="331"/>
                  </a:lnTo>
                  <a:lnTo>
                    <a:pt x="1085" y="306"/>
                  </a:lnTo>
                  <a:lnTo>
                    <a:pt x="1105" y="276"/>
                  </a:lnTo>
                  <a:lnTo>
                    <a:pt x="1120" y="242"/>
                  </a:lnTo>
                  <a:lnTo>
                    <a:pt x="1127" y="208"/>
                  </a:lnTo>
                  <a:lnTo>
                    <a:pt x="1128" y="172"/>
                  </a:lnTo>
                  <a:lnTo>
                    <a:pt x="1121" y="135"/>
                  </a:lnTo>
                  <a:lnTo>
                    <a:pt x="1107" y="101"/>
                  </a:lnTo>
                  <a:lnTo>
                    <a:pt x="1107" y="101"/>
                  </a:lnTo>
                  <a:lnTo>
                    <a:pt x="1097" y="85"/>
                  </a:lnTo>
                  <a:lnTo>
                    <a:pt x="1086" y="70"/>
                  </a:lnTo>
                  <a:lnTo>
                    <a:pt x="1074" y="56"/>
                  </a:lnTo>
                  <a:lnTo>
                    <a:pt x="1060" y="43"/>
                  </a:lnTo>
                  <a:lnTo>
                    <a:pt x="1046" y="33"/>
                  </a:lnTo>
                  <a:lnTo>
                    <a:pt x="1030" y="24"/>
                  </a:lnTo>
                  <a:lnTo>
                    <a:pt x="1014" y="15"/>
                  </a:lnTo>
                  <a:lnTo>
                    <a:pt x="998" y="10"/>
                  </a:lnTo>
                  <a:lnTo>
                    <a:pt x="981" y="5"/>
                  </a:lnTo>
                  <a:lnTo>
                    <a:pt x="962" y="2"/>
                  </a:lnTo>
                  <a:lnTo>
                    <a:pt x="945" y="0"/>
                  </a:lnTo>
                  <a:lnTo>
                    <a:pt x="926" y="2"/>
                  </a:lnTo>
                  <a:lnTo>
                    <a:pt x="908" y="4"/>
                  </a:lnTo>
                  <a:lnTo>
                    <a:pt x="891" y="9"/>
                  </a:lnTo>
                  <a:lnTo>
                    <a:pt x="872" y="14"/>
                  </a:lnTo>
                  <a:lnTo>
                    <a:pt x="855" y="22"/>
                  </a:lnTo>
                  <a:lnTo>
                    <a:pt x="117" y="301"/>
                  </a:lnTo>
                  <a:lnTo>
                    <a:pt x="78" y="329"/>
                  </a:lnTo>
                  <a:lnTo>
                    <a:pt x="45" y="365"/>
                  </a:lnTo>
                  <a:lnTo>
                    <a:pt x="21" y="408"/>
                  </a:lnTo>
                  <a:lnTo>
                    <a:pt x="6" y="456"/>
                  </a:lnTo>
                  <a:lnTo>
                    <a:pt x="0" y="508"/>
                  </a:lnTo>
                  <a:lnTo>
                    <a:pt x="4" y="560"/>
                  </a:lnTo>
                  <a:lnTo>
                    <a:pt x="18" y="612"/>
                  </a:lnTo>
                  <a:lnTo>
                    <a:pt x="43" y="660"/>
                  </a:lnTo>
                  <a:lnTo>
                    <a:pt x="43" y="660"/>
                  </a:lnTo>
                  <a:lnTo>
                    <a:pt x="57" y="684"/>
                  </a:lnTo>
                  <a:lnTo>
                    <a:pt x="72" y="706"/>
                  </a:lnTo>
                  <a:lnTo>
                    <a:pt x="89" y="726"/>
                  </a:lnTo>
                  <a:lnTo>
                    <a:pt x="108" y="744"/>
                  </a:lnTo>
                  <a:lnTo>
                    <a:pt x="126" y="760"/>
                  </a:lnTo>
                  <a:lnTo>
                    <a:pt x="147" y="775"/>
                  </a:lnTo>
                  <a:lnTo>
                    <a:pt x="167" y="787"/>
                  </a:lnTo>
                  <a:lnTo>
                    <a:pt x="191" y="797"/>
                  </a:lnTo>
                  <a:lnTo>
                    <a:pt x="212" y="805"/>
                  </a:lnTo>
                  <a:lnTo>
                    <a:pt x="235" y="810"/>
                  </a:lnTo>
                  <a:lnTo>
                    <a:pt x="258" y="813"/>
                  </a:lnTo>
                  <a:lnTo>
                    <a:pt x="281" y="815"/>
                  </a:lnTo>
                  <a:lnTo>
                    <a:pt x="305" y="812"/>
                  </a:lnTo>
                  <a:lnTo>
                    <a:pt x="328" y="808"/>
                  </a:lnTo>
                  <a:lnTo>
                    <a:pt x="349" y="801"/>
                  </a:lnTo>
                  <a:lnTo>
                    <a:pt x="371" y="792"/>
                  </a:lnTo>
                  <a:lnTo>
                    <a:pt x="1028" y="352"/>
                  </a:lnTo>
                  <a:close/>
                </a:path>
              </a:pathLst>
            </a:custGeom>
            <a:solidFill>
              <a:srgbClr val="3FF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44" name="Google Shape;944;p19"/>
            <p:cNvSpPr/>
            <p:nvPr/>
          </p:nvSpPr>
          <p:spPr>
            <a:xfrm>
              <a:off x="2349" y="3697"/>
              <a:ext cx="299" cy="272"/>
            </a:xfrm>
            <a:custGeom>
              <a:rect b="b" l="l" r="r" t="t"/>
              <a:pathLst>
                <a:path extrusionOk="0" h="544" w="596">
                  <a:moveTo>
                    <a:pt x="496" y="351"/>
                  </a:moveTo>
                  <a:lnTo>
                    <a:pt x="527" y="331"/>
                  </a:lnTo>
                  <a:lnTo>
                    <a:pt x="554" y="305"/>
                  </a:lnTo>
                  <a:lnTo>
                    <a:pt x="573" y="275"/>
                  </a:lnTo>
                  <a:lnTo>
                    <a:pt x="588" y="242"/>
                  </a:lnTo>
                  <a:lnTo>
                    <a:pt x="595" y="207"/>
                  </a:lnTo>
                  <a:lnTo>
                    <a:pt x="596" y="172"/>
                  </a:lnTo>
                  <a:lnTo>
                    <a:pt x="590" y="135"/>
                  </a:lnTo>
                  <a:lnTo>
                    <a:pt x="576" y="100"/>
                  </a:lnTo>
                  <a:lnTo>
                    <a:pt x="576" y="100"/>
                  </a:lnTo>
                  <a:lnTo>
                    <a:pt x="565" y="84"/>
                  </a:lnTo>
                  <a:lnTo>
                    <a:pt x="555" y="69"/>
                  </a:lnTo>
                  <a:lnTo>
                    <a:pt x="542" y="55"/>
                  </a:lnTo>
                  <a:lnTo>
                    <a:pt x="529" y="43"/>
                  </a:lnTo>
                  <a:lnTo>
                    <a:pt x="515" y="32"/>
                  </a:lnTo>
                  <a:lnTo>
                    <a:pt x="499" y="23"/>
                  </a:lnTo>
                  <a:lnTo>
                    <a:pt x="482" y="15"/>
                  </a:lnTo>
                  <a:lnTo>
                    <a:pt x="466" y="9"/>
                  </a:lnTo>
                  <a:lnTo>
                    <a:pt x="449" y="5"/>
                  </a:lnTo>
                  <a:lnTo>
                    <a:pt x="432" y="1"/>
                  </a:lnTo>
                  <a:lnTo>
                    <a:pt x="413" y="0"/>
                  </a:lnTo>
                  <a:lnTo>
                    <a:pt x="395" y="1"/>
                  </a:lnTo>
                  <a:lnTo>
                    <a:pt x="378" y="4"/>
                  </a:lnTo>
                  <a:lnTo>
                    <a:pt x="359" y="8"/>
                  </a:lnTo>
                  <a:lnTo>
                    <a:pt x="342" y="14"/>
                  </a:lnTo>
                  <a:lnTo>
                    <a:pt x="325" y="22"/>
                  </a:lnTo>
                  <a:lnTo>
                    <a:pt x="0" y="144"/>
                  </a:lnTo>
                  <a:lnTo>
                    <a:pt x="1" y="144"/>
                  </a:lnTo>
                  <a:lnTo>
                    <a:pt x="6" y="144"/>
                  </a:lnTo>
                  <a:lnTo>
                    <a:pt x="13" y="144"/>
                  </a:lnTo>
                  <a:lnTo>
                    <a:pt x="22" y="145"/>
                  </a:lnTo>
                  <a:lnTo>
                    <a:pt x="32" y="146"/>
                  </a:lnTo>
                  <a:lnTo>
                    <a:pt x="45" y="149"/>
                  </a:lnTo>
                  <a:lnTo>
                    <a:pt x="60" y="153"/>
                  </a:lnTo>
                  <a:lnTo>
                    <a:pt x="75" y="159"/>
                  </a:lnTo>
                  <a:lnTo>
                    <a:pt x="91" y="166"/>
                  </a:lnTo>
                  <a:lnTo>
                    <a:pt x="108" y="176"/>
                  </a:lnTo>
                  <a:lnTo>
                    <a:pt x="127" y="188"/>
                  </a:lnTo>
                  <a:lnTo>
                    <a:pt x="144" y="203"/>
                  </a:lnTo>
                  <a:lnTo>
                    <a:pt x="162" y="220"/>
                  </a:lnTo>
                  <a:lnTo>
                    <a:pt x="180" y="242"/>
                  </a:lnTo>
                  <a:lnTo>
                    <a:pt x="197" y="266"/>
                  </a:lnTo>
                  <a:lnTo>
                    <a:pt x="213" y="294"/>
                  </a:lnTo>
                  <a:lnTo>
                    <a:pt x="216" y="303"/>
                  </a:lnTo>
                  <a:lnTo>
                    <a:pt x="227" y="326"/>
                  </a:lnTo>
                  <a:lnTo>
                    <a:pt x="239" y="361"/>
                  </a:lnTo>
                  <a:lnTo>
                    <a:pt x="250" y="401"/>
                  </a:lnTo>
                  <a:lnTo>
                    <a:pt x="258" y="445"/>
                  </a:lnTo>
                  <a:lnTo>
                    <a:pt x="257" y="485"/>
                  </a:lnTo>
                  <a:lnTo>
                    <a:pt x="246" y="519"/>
                  </a:lnTo>
                  <a:lnTo>
                    <a:pt x="221" y="544"/>
                  </a:lnTo>
                  <a:lnTo>
                    <a:pt x="496" y="351"/>
                  </a:lnTo>
                  <a:close/>
                </a:path>
              </a:pathLst>
            </a:custGeom>
            <a:solidFill>
              <a:srgbClr val="FFF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45" name="Google Shape;945;p19"/>
            <p:cNvSpPr/>
            <p:nvPr/>
          </p:nvSpPr>
          <p:spPr>
            <a:xfrm>
              <a:off x="2112" y="3720"/>
              <a:ext cx="472" cy="354"/>
            </a:xfrm>
            <a:custGeom>
              <a:rect b="b" l="l" r="r" t="t"/>
              <a:pathLst>
                <a:path extrusionOk="0" h="709" w="946">
                  <a:moveTo>
                    <a:pt x="124" y="607"/>
                  </a:moveTo>
                  <a:lnTo>
                    <a:pt x="103" y="568"/>
                  </a:lnTo>
                  <a:lnTo>
                    <a:pt x="92" y="525"/>
                  </a:lnTo>
                  <a:lnTo>
                    <a:pt x="91" y="481"/>
                  </a:lnTo>
                  <a:lnTo>
                    <a:pt x="99" y="438"/>
                  </a:lnTo>
                  <a:lnTo>
                    <a:pt x="114" y="396"/>
                  </a:lnTo>
                  <a:lnTo>
                    <a:pt x="137" y="359"/>
                  </a:lnTo>
                  <a:lnTo>
                    <a:pt x="167" y="327"/>
                  </a:lnTo>
                  <a:lnTo>
                    <a:pt x="203" y="303"/>
                  </a:lnTo>
                  <a:lnTo>
                    <a:pt x="877" y="38"/>
                  </a:lnTo>
                  <a:lnTo>
                    <a:pt x="886" y="33"/>
                  </a:lnTo>
                  <a:lnTo>
                    <a:pt x="894" y="30"/>
                  </a:lnTo>
                  <a:lnTo>
                    <a:pt x="903" y="27"/>
                  </a:lnTo>
                  <a:lnTo>
                    <a:pt x="911" y="24"/>
                  </a:lnTo>
                  <a:lnTo>
                    <a:pt x="920" y="22"/>
                  </a:lnTo>
                  <a:lnTo>
                    <a:pt x="929" y="20"/>
                  </a:lnTo>
                  <a:lnTo>
                    <a:pt x="938" y="19"/>
                  </a:lnTo>
                  <a:lnTo>
                    <a:pt x="946" y="17"/>
                  </a:lnTo>
                  <a:lnTo>
                    <a:pt x="927" y="9"/>
                  </a:lnTo>
                  <a:lnTo>
                    <a:pt x="909" y="5"/>
                  </a:lnTo>
                  <a:lnTo>
                    <a:pt x="889" y="1"/>
                  </a:lnTo>
                  <a:lnTo>
                    <a:pt x="869" y="0"/>
                  </a:lnTo>
                  <a:lnTo>
                    <a:pt x="848" y="2"/>
                  </a:lnTo>
                  <a:lnTo>
                    <a:pt x="827" y="6"/>
                  </a:lnTo>
                  <a:lnTo>
                    <a:pt x="806" y="13"/>
                  </a:lnTo>
                  <a:lnTo>
                    <a:pt x="786" y="22"/>
                  </a:lnTo>
                  <a:lnTo>
                    <a:pt x="113" y="287"/>
                  </a:lnTo>
                  <a:lnTo>
                    <a:pt x="77" y="311"/>
                  </a:lnTo>
                  <a:lnTo>
                    <a:pt x="48" y="343"/>
                  </a:lnTo>
                  <a:lnTo>
                    <a:pt x="23" y="380"/>
                  </a:lnTo>
                  <a:lnTo>
                    <a:pt x="8" y="422"/>
                  </a:lnTo>
                  <a:lnTo>
                    <a:pt x="0" y="465"/>
                  </a:lnTo>
                  <a:lnTo>
                    <a:pt x="1" y="509"/>
                  </a:lnTo>
                  <a:lnTo>
                    <a:pt x="12" y="552"/>
                  </a:lnTo>
                  <a:lnTo>
                    <a:pt x="33" y="591"/>
                  </a:lnTo>
                  <a:lnTo>
                    <a:pt x="41" y="605"/>
                  </a:lnTo>
                  <a:lnTo>
                    <a:pt x="50" y="618"/>
                  </a:lnTo>
                  <a:lnTo>
                    <a:pt x="60" y="631"/>
                  </a:lnTo>
                  <a:lnTo>
                    <a:pt x="71" y="643"/>
                  </a:lnTo>
                  <a:lnTo>
                    <a:pt x="81" y="654"/>
                  </a:lnTo>
                  <a:lnTo>
                    <a:pt x="94" y="663"/>
                  </a:lnTo>
                  <a:lnTo>
                    <a:pt x="106" y="673"/>
                  </a:lnTo>
                  <a:lnTo>
                    <a:pt x="119" y="681"/>
                  </a:lnTo>
                  <a:lnTo>
                    <a:pt x="132" y="688"/>
                  </a:lnTo>
                  <a:lnTo>
                    <a:pt x="145" y="694"/>
                  </a:lnTo>
                  <a:lnTo>
                    <a:pt x="160" y="699"/>
                  </a:lnTo>
                  <a:lnTo>
                    <a:pt x="174" y="704"/>
                  </a:lnTo>
                  <a:lnTo>
                    <a:pt x="189" y="706"/>
                  </a:lnTo>
                  <a:lnTo>
                    <a:pt x="204" y="708"/>
                  </a:lnTo>
                  <a:lnTo>
                    <a:pt x="219" y="709"/>
                  </a:lnTo>
                  <a:lnTo>
                    <a:pt x="234" y="709"/>
                  </a:lnTo>
                  <a:lnTo>
                    <a:pt x="217" y="701"/>
                  </a:lnTo>
                  <a:lnTo>
                    <a:pt x="201" y="692"/>
                  </a:lnTo>
                  <a:lnTo>
                    <a:pt x="186" y="682"/>
                  </a:lnTo>
                  <a:lnTo>
                    <a:pt x="171" y="669"/>
                  </a:lnTo>
                  <a:lnTo>
                    <a:pt x="157" y="655"/>
                  </a:lnTo>
                  <a:lnTo>
                    <a:pt x="145" y="640"/>
                  </a:lnTo>
                  <a:lnTo>
                    <a:pt x="134" y="624"/>
                  </a:lnTo>
                  <a:lnTo>
                    <a:pt x="124" y="60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46" name="Google Shape;946;p19"/>
            <p:cNvSpPr/>
            <p:nvPr/>
          </p:nvSpPr>
          <p:spPr>
            <a:xfrm>
              <a:off x="2276" y="3836"/>
              <a:ext cx="339" cy="214"/>
            </a:xfrm>
            <a:custGeom>
              <a:rect b="b" l="l" r="r" t="t"/>
              <a:pathLst>
                <a:path extrusionOk="0" h="428" w="679">
                  <a:moveTo>
                    <a:pt x="679" y="0"/>
                  </a:moveTo>
                  <a:lnTo>
                    <a:pt x="5" y="387"/>
                  </a:lnTo>
                  <a:lnTo>
                    <a:pt x="4" y="390"/>
                  </a:lnTo>
                  <a:lnTo>
                    <a:pt x="2" y="397"/>
                  </a:lnTo>
                  <a:lnTo>
                    <a:pt x="0" y="407"/>
                  </a:lnTo>
                  <a:lnTo>
                    <a:pt x="0" y="417"/>
                  </a:lnTo>
                  <a:lnTo>
                    <a:pt x="4" y="425"/>
                  </a:lnTo>
                  <a:lnTo>
                    <a:pt x="14" y="428"/>
                  </a:lnTo>
                  <a:lnTo>
                    <a:pt x="33" y="425"/>
                  </a:lnTo>
                  <a:lnTo>
                    <a:pt x="61" y="412"/>
                  </a:lnTo>
                  <a:lnTo>
                    <a:pt x="74" y="404"/>
                  </a:lnTo>
                  <a:lnTo>
                    <a:pt x="101" y="388"/>
                  </a:lnTo>
                  <a:lnTo>
                    <a:pt x="135" y="366"/>
                  </a:lnTo>
                  <a:lnTo>
                    <a:pt x="178" y="338"/>
                  </a:lnTo>
                  <a:lnTo>
                    <a:pt x="228" y="307"/>
                  </a:lnTo>
                  <a:lnTo>
                    <a:pt x="281" y="271"/>
                  </a:lnTo>
                  <a:lnTo>
                    <a:pt x="337" y="236"/>
                  </a:lnTo>
                  <a:lnTo>
                    <a:pt x="395" y="198"/>
                  </a:lnTo>
                  <a:lnTo>
                    <a:pt x="450" y="161"/>
                  </a:lnTo>
                  <a:lnTo>
                    <a:pt x="504" y="125"/>
                  </a:lnTo>
                  <a:lnTo>
                    <a:pt x="553" y="92"/>
                  </a:lnTo>
                  <a:lnTo>
                    <a:pt x="597" y="62"/>
                  </a:lnTo>
                  <a:lnTo>
                    <a:pt x="633" y="37"/>
                  </a:lnTo>
                  <a:lnTo>
                    <a:pt x="661" y="17"/>
                  </a:lnTo>
                  <a:lnTo>
                    <a:pt x="676" y="4"/>
                  </a:lnTo>
                  <a:lnTo>
                    <a:pt x="67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cxnSp>
        <p:nvCxnSpPr>
          <p:cNvPr id="953" name="Google Shape;953;p20"/>
          <p:cNvCxnSpPr/>
          <p:nvPr/>
        </p:nvCxnSpPr>
        <p:spPr>
          <a:xfrm>
            <a:off x="1209675" y="5065713"/>
            <a:ext cx="852488" cy="0"/>
          </a:xfrm>
          <a:prstGeom prst="straightConnector1">
            <a:avLst/>
          </a:prstGeom>
          <a:noFill/>
          <a:ln cap="flat" cmpd="sng" w="12700">
            <a:solidFill>
              <a:schemeClr val="hlink"/>
            </a:solidFill>
            <a:prstDash val="solid"/>
            <a:round/>
            <a:headEnd len="sm" w="sm" type="none"/>
            <a:tailEnd len="sm" w="sm" type="none"/>
          </a:ln>
        </p:spPr>
      </p:cxnSp>
      <p:sp>
        <p:nvSpPr>
          <p:cNvPr id="954" name="Google Shape;954;p20"/>
          <p:cNvSpPr txBox="1"/>
          <p:nvPr/>
        </p:nvSpPr>
        <p:spPr>
          <a:xfrm>
            <a:off x="134938" y="5465763"/>
            <a:ext cx="1816100" cy="6429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InterfaceA</a:t>
            </a:r>
            <a:endParaRPr/>
          </a:p>
          <a:p>
            <a:pPr indent="0" lvl="0" marL="0" marR="0" rtl="0" algn="ctr">
              <a:lnSpc>
                <a:spcPct val="50000"/>
              </a:lnSpc>
              <a:spcBef>
                <a:spcPts val="900"/>
              </a:spcBef>
              <a:spcAft>
                <a:spcPts val="0"/>
              </a:spcAft>
              <a:buNone/>
            </a:pPr>
            <a:r>
              <a:rPr lang="en-US" sz="1800">
                <a:solidFill>
                  <a:schemeClr val="dk1"/>
                </a:solidFill>
                <a:latin typeface="Constantia"/>
                <a:ea typeface="Constantia"/>
                <a:cs typeface="Constantia"/>
                <a:sym typeface="Constantia"/>
              </a:rPr>
              <a:t>op1()</a:t>
            </a:r>
            <a:endParaRPr/>
          </a:p>
        </p:txBody>
      </p:sp>
      <p:grpSp>
        <p:nvGrpSpPr>
          <p:cNvPr id="955" name="Google Shape;955;p20"/>
          <p:cNvGrpSpPr/>
          <p:nvPr/>
        </p:nvGrpSpPr>
        <p:grpSpPr>
          <a:xfrm>
            <a:off x="4435475" y="4132263"/>
            <a:ext cx="377825" cy="504825"/>
            <a:chOff x="7654" y="3380"/>
            <a:chExt cx="554" cy="754"/>
          </a:xfrm>
        </p:grpSpPr>
        <p:sp>
          <p:nvSpPr>
            <p:cNvPr id="956" name="Google Shape;956;p20"/>
            <p:cNvSpPr/>
            <p:nvPr/>
          </p:nvSpPr>
          <p:spPr>
            <a:xfrm>
              <a:off x="7805" y="3380"/>
              <a:ext cx="253" cy="248"/>
            </a:xfrm>
            <a:prstGeom prst="ellipse">
              <a:avLst/>
            </a:prstGeom>
            <a:noFill/>
            <a:ln cap="flat" cmpd="sng" w="28575">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957" name="Google Shape;957;p20"/>
            <p:cNvCxnSpPr/>
            <p:nvPr/>
          </p:nvCxnSpPr>
          <p:spPr>
            <a:xfrm>
              <a:off x="7931" y="3630"/>
              <a:ext cx="1" cy="232"/>
            </a:xfrm>
            <a:prstGeom prst="straightConnector1">
              <a:avLst/>
            </a:prstGeom>
            <a:noFill/>
            <a:ln cap="flat" cmpd="sng" w="28575">
              <a:solidFill>
                <a:srgbClr val="00CCFF"/>
              </a:solidFill>
              <a:prstDash val="solid"/>
              <a:round/>
              <a:headEnd len="med" w="med" type="none"/>
              <a:tailEnd len="med" w="med" type="none"/>
            </a:ln>
          </p:spPr>
        </p:cxnSp>
        <p:cxnSp>
          <p:nvCxnSpPr>
            <p:cNvPr id="958" name="Google Shape;958;p20"/>
            <p:cNvCxnSpPr/>
            <p:nvPr/>
          </p:nvCxnSpPr>
          <p:spPr>
            <a:xfrm>
              <a:off x="7731" y="3695"/>
              <a:ext cx="401" cy="1"/>
            </a:xfrm>
            <a:prstGeom prst="straightConnector1">
              <a:avLst/>
            </a:prstGeom>
            <a:noFill/>
            <a:ln cap="flat" cmpd="sng" w="28575">
              <a:solidFill>
                <a:srgbClr val="00CCFF"/>
              </a:solidFill>
              <a:prstDash val="solid"/>
              <a:round/>
              <a:headEnd len="med" w="med" type="none"/>
              <a:tailEnd len="med" w="med" type="none"/>
            </a:ln>
          </p:spPr>
        </p:cxnSp>
        <p:sp>
          <p:nvSpPr>
            <p:cNvPr id="959" name="Google Shape;959;p20"/>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CC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cxnSp>
        <p:nvCxnSpPr>
          <p:cNvPr id="960" name="Google Shape;960;p20"/>
          <p:cNvCxnSpPr/>
          <p:nvPr/>
        </p:nvCxnSpPr>
        <p:spPr>
          <a:xfrm>
            <a:off x="4595813" y="4935538"/>
            <a:ext cx="952500" cy="0"/>
          </a:xfrm>
          <a:prstGeom prst="straightConnector1">
            <a:avLst/>
          </a:prstGeom>
          <a:noFill/>
          <a:ln cap="flat" cmpd="sng" w="28575">
            <a:solidFill>
              <a:srgbClr val="00CCFF"/>
            </a:solidFill>
            <a:prstDash val="solid"/>
            <a:round/>
            <a:headEnd len="sm" w="sm" type="none"/>
            <a:tailEnd len="med" w="med" type="triangle"/>
          </a:ln>
        </p:spPr>
      </p:cxnSp>
      <p:cxnSp>
        <p:nvCxnSpPr>
          <p:cNvPr id="961" name="Google Shape;961;p20"/>
          <p:cNvCxnSpPr/>
          <p:nvPr/>
        </p:nvCxnSpPr>
        <p:spPr>
          <a:xfrm>
            <a:off x="6526213" y="5576888"/>
            <a:ext cx="747712" cy="0"/>
          </a:xfrm>
          <a:prstGeom prst="straightConnector1">
            <a:avLst/>
          </a:prstGeom>
          <a:noFill/>
          <a:ln cap="flat" cmpd="sng" w="28575">
            <a:solidFill>
              <a:srgbClr val="00CCFF"/>
            </a:solidFill>
            <a:prstDash val="solid"/>
            <a:round/>
            <a:headEnd len="sm" w="sm" type="none"/>
            <a:tailEnd len="med" w="med" type="triangle"/>
          </a:ln>
        </p:spPr>
      </p:cxnSp>
      <p:cxnSp>
        <p:nvCxnSpPr>
          <p:cNvPr id="962" name="Google Shape;962;p20"/>
          <p:cNvCxnSpPr/>
          <p:nvPr/>
        </p:nvCxnSpPr>
        <p:spPr>
          <a:xfrm>
            <a:off x="5613400" y="5240338"/>
            <a:ext cx="801688" cy="0"/>
          </a:xfrm>
          <a:prstGeom prst="straightConnector1">
            <a:avLst/>
          </a:prstGeom>
          <a:noFill/>
          <a:ln cap="flat" cmpd="sng" w="28575">
            <a:solidFill>
              <a:srgbClr val="00CCFF"/>
            </a:solidFill>
            <a:prstDash val="solid"/>
            <a:round/>
            <a:headEnd len="sm" w="sm" type="none"/>
            <a:tailEnd len="med" w="med" type="triangle"/>
          </a:ln>
        </p:spPr>
      </p:cxnSp>
      <p:cxnSp>
        <p:nvCxnSpPr>
          <p:cNvPr id="963" name="Google Shape;963;p20"/>
          <p:cNvCxnSpPr/>
          <p:nvPr/>
        </p:nvCxnSpPr>
        <p:spPr>
          <a:xfrm>
            <a:off x="4616450" y="6142038"/>
            <a:ext cx="0" cy="276225"/>
          </a:xfrm>
          <a:prstGeom prst="straightConnector1">
            <a:avLst/>
          </a:prstGeom>
          <a:noFill/>
          <a:ln cap="flat" cmpd="sng" w="28575">
            <a:solidFill>
              <a:srgbClr val="00CCFF"/>
            </a:solidFill>
            <a:prstDash val="dash"/>
            <a:round/>
            <a:headEnd len="sm" w="sm" type="none"/>
            <a:tailEnd len="sm" w="sm" type="none"/>
          </a:ln>
        </p:spPr>
      </p:cxnSp>
      <p:cxnSp>
        <p:nvCxnSpPr>
          <p:cNvPr id="964" name="Google Shape;964;p20"/>
          <p:cNvCxnSpPr/>
          <p:nvPr/>
        </p:nvCxnSpPr>
        <p:spPr>
          <a:xfrm>
            <a:off x="5573713" y="4775200"/>
            <a:ext cx="0" cy="176213"/>
          </a:xfrm>
          <a:prstGeom prst="straightConnector1">
            <a:avLst/>
          </a:prstGeom>
          <a:noFill/>
          <a:ln cap="flat" cmpd="sng" w="28575">
            <a:solidFill>
              <a:srgbClr val="00CCFF"/>
            </a:solidFill>
            <a:prstDash val="dash"/>
            <a:round/>
            <a:headEnd len="sm" w="sm" type="none"/>
            <a:tailEnd len="sm" w="sm" type="none"/>
          </a:ln>
        </p:spPr>
      </p:cxnSp>
      <p:cxnSp>
        <p:nvCxnSpPr>
          <p:cNvPr id="965" name="Google Shape;965;p20"/>
          <p:cNvCxnSpPr/>
          <p:nvPr/>
        </p:nvCxnSpPr>
        <p:spPr>
          <a:xfrm>
            <a:off x="6454775" y="4775200"/>
            <a:ext cx="0" cy="474663"/>
          </a:xfrm>
          <a:prstGeom prst="straightConnector1">
            <a:avLst/>
          </a:prstGeom>
          <a:noFill/>
          <a:ln cap="flat" cmpd="sng" w="28575">
            <a:solidFill>
              <a:srgbClr val="00CCFF"/>
            </a:solidFill>
            <a:prstDash val="dash"/>
            <a:round/>
            <a:headEnd len="sm" w="sm" type="none"/>
            <a:tailEnd len="sm" w="sm" type="none"/>
          </a:ln>
        </p:spPr>
      </p:cxnSp>
      <p:cxnSp>
        <p:nvCxnSpPr>
          <p:cNvPr id="966" name="Google Shape;966;p20"/>
          <p:cNvCxnSpPr/>
          <p:nvPr/>
        </p:nvCxnSpPr>
        <p:spPr>
          <a:xfrm>
            <a:off x="7319963" y="5816600"/>
            <a:ext cx="0" cy="596900"/>
          </a:xfrm>
          <a:prstGeom prst="straightConnector1">
            <a:avLst/>
          </a:prstGeom>
          <a:noFill/>
          <a:ln cap="flat" cmpd="sng" w="28575">
            <a:solidFill>
              <a:srgbClr val="00CCFF"/>
            </a:solidFill>
            <a:prstDash val="dash"/>
            <a:round/>
            <a:headEnd len="sm" w="sm" type="none"/>
            <a:tailEnd len="sm" w="sm" type="none"/>
          </a:ln>
        </p:spPr>
      </p:cxnSp>
      <p:cxnSp>
        <p:nvCxnSpPr>
          <p:cNvPr id="967" name="Google Shape;967;p20"/>
          <p:cNvCxnSpPr/>
          <p:nvPr/>
        </p:nvCxnSpPr>
        <p:spPr>
          <a:xfrm>
            <a:off x="8121650" y="4775200"/>
            <a:ext cx="0" cy="1638300"/>
          </a:xfrm>
          <a:prstGeom prst="straightConnector1">
            <a:avLst/>
          </a:prstGeom>
          <a:noFill/>
          <a:ln cap="flat" cmpd="sng" w="28575">
            <a:solidFill>
              <a:srgbClr val="00CCFF"/>
            </a:solidFill>
            <a:prstDash val="dash"/>
            <a:round/>
            <a:headEnd len="sm" w="sm" type="none"/>
            <a:tailEnd len="sm" w="sm" type="none"/>
          </a:ln>
        </p:spPr>
      </p:cxnSp>
      <p:sp>
        <p:nvSpPr>
          <p:cNvPr id="968" name="Google Shape;968;p20"/>
          <p:cNvSpPr/>
          <p:nvPr/>
        </p:nvSpPr>
        <p:spPr>
          <a:xfrm>
            <a:off x="889000" y="4892675"/>
            <a:ext cx="342900" cy="346075"/>
          </a:xfrm>
          <a:prstGeom prst="ellipse">
            <a:avLst/>
          </a:prstGeom>
          <a:solidFill>
            <a:srgbClr val="FFFFCC"/>
          </a:solidFill>
          <a:ln cap="flat" cmpd="sng" w="12700">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69" name="Google Shape;969;p20"/>
          <p:cNvSpPr/>
          <p:nvPr/>
        </p:nvSpPr>
        <p:spPr>
          <a:xfrm>
            <a:off x="2060575" y="4827588"/>
            <a:ext cx="1620838" cy="896937"/>
          </a:xfrm>
          <a:prstGeom prst="rect">
            <a:avLst/>
          </a:prstGeom>
          <a:solidFill>
            <a:srgbClr val="FFFFCC"/>
          </a:solidFill>
          <a:ln cap="flat" cmpd="sng" w="12700">
            <a:solidFill>
              <a:schemeClr va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0" name="Google Shape;970;p20"/>
          <p:cNvSpPr/>
          <p:nvPr/>
        </p:nvSpPr>
        <p:spPr>
          <a:xfrm>
            <a:off x="2060575" y="4559300"/>
            <a:ext cx="606425" cy="268288"/>
          </a:xfrm>
          <a:prstGeom prst="rect">
            <a:avLst/>
          </a:prstGeom>
          <a:solidFill>
            <a:srgbClr val="FFFFCC"/>
          </a:solidFill>
          <a:ln cap="flat" cmpd="sng" w="12700">
            <a:solidFill>
              <a:schemeClr va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1" name="Google Shape;971;p20"/>
          <p:cNvSpPr txBox="1"/>
          <p:nvPr/>
        </p:nvSpPr>
        <p:spPr>
          <a:xfrm>
            <a:off x="2028825" y="4783138"/>
            <a:ext cx="1708150" cy="581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&lt;&lt;subsystem&gt;&gt;</a:t>
            </a:r>
            <a:endParaRPr/>
          </a:p>
          <a:p>
            <a:pPr indent="0" lvl="0" marL="0" marR="0" rtl="0" algn="ctr">
              <a:spcBef>
                <a:spcPts val="0"/>
              </a:spcBef>
              <a:spcAft>
                <a:spcPts val="0"/>
              </a:spcAft>
              <a:buNone/>
            </a:pPr>
            <a:r>
              <a:rPr b="1" lang="en-US" sz="1600">
                <a:solidFill>
                  <a:schemeClr val="dk1"/>
                </a:solidFill>
                <a:latin typeface="Constantia"/>
                <a:ea typeface="Constantia"/>
                <a:cs typeface="Constantia"/>
                <a:sym typeface="Constantia"/>
              </a:rPr>
              <a:t>MySubsystem</a:t>
            </a:r>
            <a:endParaRPr/>
          </a:p>
        </p:txBody>
      </p:sp>
      <p:sp>
        <p:nvSpPr>
          <p:cNvPr id="972" name="Google Shape;972;p20"/>
          <p:cNvSpPr txBox="1"/>
          <p:nvPr/>
        </p:nvSpPr>
        <p:spPr>
          <a:xfrm>
            <a:off x="6578600" y="5619750"/>
            <a:ext cx="7175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op1()</a:t>
            </a:r>
            <a:endParaRPr/>
          </a:p>
        </p:txBody>
      </p:sp>
      <p:sp>
        <p:nvSpPr>
          <p:cNvPr id="973" name="Google Shape;973;p20"/>
          <p:cNvSpPr txBox="1"/>
          <p:nvPr>
            <p:ph type="title"/>
          </p:nvPr>
        </p:nvSpPr>
        <p:spPr>
          <a:xfrm>
            <a:off x="509587" y="76201"/>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Hướng dẫn: Đóng gói các tương tác trong hệ thống con</a:t>
            </a:r>
            <a:endParaRPr sz="4500"/>
          </a:p>
        </p:txBody>
      </p:sp>
      <p:sp>
        <p:nvSpPr>
          <p:cNvPr id="974" name="Google Shape;974;p20"/>
          <p:cNvSpPr txBox="1"/>
          <p:nvPr>
            <p:ph idx="1" type="body"/>
          </p:nvPr>
        </p:nvSpPr>
        <p:spPr>
          <a:xfrm>
            <a:off x="361950" y="1277363"/>
            <a:ext cx="8489950" cy="341788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t>Các hệt hống con nên được biểu diễn bởi giao diện của chúng trong các lược đồ tương tác</a:t>
            </a:r>
            <a:endParaRPr sz="2800"/>
          </a:p>
          <a:p>
            <a:pPr indent="-274320" lvl="0" marL="274320" rtl="0" algn="l">
              <a:spcBef>
                <a:spcPts val="560"/>
              </a:spcBef>
              <a:spcAft>
                <a:spcPts val="0"/>
              </a:spcAft>
              <a:buSzPts val="2660"/>
              <a:buChar char="⚫"/>
            </a:pPr>
            <a:r>
              <a:rPr lang="en-US" sz="2800"/>
              <a:t>Thông điệp tới hệ thống con tương ứng với hoạt động (operations) của giao diện hệ thống con đó</a:t>
            </a:r>
            <a:endParaRPr sz="2800"/>
          </a:p>
          <a:p>
            <a:pPr indent="-274320" lvl="0" marL="274320" rtl="0" algn="l">
              <a:spcBef>
                <a:spcPts val="560"/>
              </a:spcBef>
              <a:spcAft>
                <a:spcPts val="0"/>
              </a:spcAft>
              <a:buSzPts val="2660"/>
              <a:buChar char="⚫"/>
            </a:pPr>
            <a:r>
              <a:rPr lang="en-US" sz="2800"/>
              <a:t>Tương tác bên trong hệ thống con được mô hình hóa trong Thiết kế hệ thống con (Subsystem Design)</a:t>
            </a:r>
            <a:endParaRPr sz="2800"/>
          </a:p>
        </p:txBody>
      </p:sp>
      <p:sp>
        <p:nvSpPr>
          <p:cNvPr id="975" name="Google Shape;975;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976" name="Google Shape;976;p20"/>
          <p:cNvSpPr/>
          <p:nvPr/>
        </p:nvSpPr>
        <p:spPr>
          <a:xfrm rot="-5400000">
            <a:off x="4023518" y="5469732"/>
            <a:ext cx="1185863" cy="120650"/>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977" name="Google Shape;977;p20"/>
          <p:cNvCxnSpPr/>
          <p:nvPr/>
        </p:nvCxnSpPr>
        <p:spPr>
          <a:xfrm>
            <a:off x="4616450" y="4770438"/>
            <a:ext cx="0" cy="174625"/>
          </a:xfrm>
          <a:prstGeom prst="straightConnector1">
            <a:avLst/>
          </a:prstGeom>
          <a:noFill/>
          <a:ln cap="flat" cmpd="sng" w="28575">
            <a:solidFill>
              <a:srgbClr val="00CCFF"/>
            </a:solidFill>
            <a:prstDash val="dash"/>
            <a:round/>
            <a:headEnd len="sm" w="sm" type="none"/>
            <a:tailEnd len="sm" w="sm" type="none"/>
          </a:ln>
        </p:spPr>
      </p:cxnSp>
      <p:sp>
        <p:nvSpPr>
          <p:cNvPr id="978" name="Google Shape;978;p20"/>
          <p:cNvSpPr/>
          <p:nvPr/>
        </p:nvSpPr>
        <p:spPr>
          <a:xfrm rot="-5400000">
            <a:off x="5094288" y="5367337"/>
            <a:ext cx="952500" cy="123825"/>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979" name="Google Shape;979;p20"/>
          <p:cNvCxnSpPr/>
          <p:nvPr/>
        </p:nvCxnSpPr>
        <p:spPr>
          <a:xfrm>
            <a:off x="5573713" y="5922963"/>
            <a:ext cx="0" cy="490537"/>
          </a:xfrm>
          <a:prstGeom prst="straightConnector1">
            <a:avLst/>
          </a:prstGeom>
          <a:noFill/>
          <a:ln cap="flat" cmpd="sng" w="28575">
            <a:solidFill>
              <a:srgbClr val="00CCFF"/>
            </a:solidFill>
            <a:prstDash val="dash"/>
            <a:round/>
            <a:headEnd len="sm" w="sm" type="none"/>
            <a:tailEnd len="sm" w="sm" type="none"/>
          </a:ln>
        </p:spPr>
      </p:cxnSp>
      <p:sp>
        <p:nvSpPr>
          <p:cNvPr id="980" name="Google Shape;980;p20"/>
          <p:cNvSpPr/>
          <p:nvPr/>
        </p:nvSpPr>
        <p:spPr>
          <a:xfrm rot="-5400000">
            <a:off x="6188075" y="5457825"/>
            <a:ext cx="530225" cy="123825"/>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981" name="Google Shape;981;p20"/>
          <p:cNvCxnSpPr/>
          <p:nvPr/>
        </p:nvCxnSpPr>
        <p:spPr>
          <a:xfrm>
            <a:off x="6451600" y="5784850"/>
            <a:ext cx="3175" cy="625475"/>
          </a:xfrm>
          <a:prstGeom prst="straightConnector1">
            <a:avLst/>
          </a:prstGeom>
          <a:noFill/>
          <a:ln cap="flat" cmpd="sng" w="28575">
            <a:solidFill>
              <a:srgbClr val="00CCFF"/>
            </a:solidFill>
            <a:prstDash val="dash"/>
            <a:round/>
            <a:headEnd len="sm" w="sm" type="none"/>
            <a:tailEnd len="sm" w="sm" type="none"/>
          </a:ln>
        </p:spPr>
      </p:cxnSp>
      <p:sp>
        <p:nvSpPr>
          <p:cNvPr id="982" name="Google Shape;982;p20"/>
          <p:cNvSpPr/>
          <p:nvPr/>
        </p:nvSpPr>
        <p:spPr>
          <a:xfrm rot="-5400000">
            <a:off x="7212806" y="5638007"/>
            <a:ext cx="200025" cy="112712"/>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983" name="Google Shape;983;p20"/>
          <p:cNvCxnSpPr/>
          <p:nvPr/>
        </p:nvCxnSpPr>
        <p:spPr>
          <a:xfrm>
            <a:off x="7319963" y="4773613"/>
            <a:ext cx="0" cy="819150"/>
          </a:xfrm>
          <a:prstGeom prst="straightConnector1">
            <a:avLst/>
          </a:prstGeom>
          <a:noFill/>
          <a:ln cap="flat" cmpd="sng" w="28575">
            <a:solidFill>
              <a:srgbClr val="00CCFF"/>
            </a:solidFill>
            <a:prstDash val="dash"/>
            <a:round/>
            <a:headEnd len="sm" w="sm" type="none"/>
            <a:tailEnd len="sm" w="sm" type="none"/>
          </a:ln>
        </p:spPr>
      </p:cxnSp>
      <p:sp>
        <p:nvSpPr>
          <p:cNvPr id="984" name="Google Shape;984;p20"/>
          <p:cNvSpPr txBox="1"/>
          <p:nvPr/>
        </p:nvSpPr>
        <p:spPr>
          <a:xfrm>
            <a:off x="6750050" y="4294188"/>
            <a:ext cx="1046163" cy="3889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CCFF"/>
                </a:solidFill>
                <a:latin typeface="Constantia"/>
                <a:ea typeface="Constantia"/>
                <a:cs typeface="Constantia"/>
                <a:sym typeface="Constantia"/>
              </a:rPr>
              <a:t>&lt;&lt;interface&gt;&gt;</a:t>
            </a:r>
            <a:endParaRPr/>
          </a:p>
          <a:p>
            <a:pPr indent="0" lvl="0" marL="0" marR="0" rtl="0" algn="ctr">
              <a:lnSpc>
                <a:spcPct val="45000"/>
              </a:lnSpc>
              <a:spcBef>
                <a:spcPts val="900"/>
              </a:spcBef>
              <a:spcAft>
                <a:spcPts val="0"/>
              </a:spcAft>
              <a:buNone/>
            </a:pPr>
            <a:r>
              <a:rPr lang="en-US" sz="1800" u="sng">
                <a:solidFill>
                  <a:srgbClr val="00CCFF"/>
                </a:solidFill>
                <a:latin typeface="Constantia"/>
                <a:ea typeface="Constantia"/>
                <a:cs typeface="Constantia"/>
                <a:sym typeface="Constantia"/>
              </a:rPr>
              <a:t>:InterfaceA</a:t>
            </a:r>
            <a:endParaRPr/>
          </a:p>
        </p:txBody>
      </p:sp>
      <p:sp>
        <p:nvSpPr>
          <p:cNvPr id="985" name="Google Shape;985;p20"/>
          <p:cNvSpPr/>
          <p:nvPr/>
        </p:nvSpPr>
        <p:spPr>
          <a:xfrm>
            <a:off x="6056313" y="4321175"/>
            <a:ext cx="684212" cy="387350"/>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86" name="Google Shape;986;p20"/>
          <p:cNvSpPr/>
          <p:nvPr/>
        </p:nvSpPr>
        <p:spPr>
          <a:xfrm>
            <a:off x="7804150" y="4321175"/>
            <a:ext cx="684213" cy="387350"/>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87" name="Google Shape;987;p20"/>
          <p:cNvSpPr/>
          <p:nvPr/>
        </p:nvSpPr>
        <p:spPr>
          <a:xfrm>
            <a:off x="6837363" y="4321175"/>
            <a:ext cx="869950" cy="387350"/>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88" name="Google Shape;988;p20"/>
          <p:cNvSpPr/>
          <p:nvPr/>
        </p:nvSpPr>
        <p:spPr>
          <a:xfrm>
            <a:off x="5265738" y="4321175"/>
            <a:ext cx="684212" cy="387350"/>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2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500"/>
              <a:buFont typeface="Calibri"/>
              <a:buNone/>
            </a:pPr>
            <a:r>
              <a:rPr lang="en-US" sz="3500"/>
              <a:t>Ưu điểm của đóng gói sự tương tác trong các hệ thống con</a:t>
            </a:r>
            <a:endParaRPr/>
          </a:p>
        </p:txBody>
      </p:sp>
      <p:sp>
        <p:nvSpPr>
          <p:cNvPr id="997" name="Google Shape;997;p2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Font typeface="Noto Sans Symbols"/>
              <a:buNone/>
            </a:pPr>
            <a:r>
              <a:rPr lang="en-US"/>
              <a:t>Hiện thực hóa ca sử dụng: </a:t>
            </a:r>
            <a:endParaRPr/>
          </a:p>
          <a:p>
            <a:pPr indent="-246888" lvl="1" marL="640080" rtl="0" algn="l">
              <a:spcBef>
                <a:spcPts val="480"/>
              </a:spcBef>
              <a:spcAft>
                <a:spcPts val="0"/>
              </a:spcAft>
              <a:buSzPts val="2040"/>
              <a:buChar char="⚫"/>
            </a:pPr>
            <a:r>
              <a:rPr lang="en-US"/>
              <a:t>Hiện thực hoá (realization) ca sử dụng trở nên ít nhầm lẫn, đặc biệt với thiết kế bên trong của các hệ thống phức tạp.</a:t>
            </a:r>
            <a:endParaRPr/>
          </a:p>
          <a:p>
            <a:pPr indent="-246888" lvl="1" marL="640080" rtl="0" algn="l">
              <a:spcBef>
                <a:spcPts val="480"/>
              </a:spcBef>
              <a:spcAft>
                <a:spcPts val="0"/>
              </a:spcAft>
              <a:buSzPts val="2040"/>
              <a:buChar char="⚫"/>
            </a:pPr>
            <a:r>
              <a:rPr lang="en-US"/>
              <a:t>Hiện thực hoá ca sử dụng có thể được tạo ra trước các thiết kế bên trong của các hệ thống con (tạo khả năng phát triển đồng thời)</a:t>
            </a:r>
            <a:endParaRPr/>
          </a:p>
          <a:p>
            <a:pPr indent="-246888" lvl="1" marL="640080" rtl="0" algn="l">
              <a:spcBef>
                <a:spcPts val="480"/>
              </a:spcBef>
              <a:spcAft>
                <a:spcPts val="0"/>
              </a:spcAft>
              <a:buSzPts val="2040"/>
              <a:buChar char="⚫"/>
            </a:pPr>
            <a:r>
              <a:rPr lang="en-US"/>
              <a:t>Hiện thực hoá ca sử dụng trở nên dễ dàng thay đổi, đặc biệt nếu hệ thống con cần thay thế cho hệ thống con khác.</a:t>
            </a:r>
            <a:endParaRPr/>
          </a:p>
        </p:txBody>
      </p:sp>
      <p:sp>
        <p:nvSpPr>
          <p:cNvPr id="998" name="Google Shape;998;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2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Phát triển hệ thống con một cách đồng thời</a:t>
            </a:r>
            <a:endParaRPr sz="4500"/>
          </a:p>
        </p:txBody>
      </p:sp>
      <p:sp>
        <p:nvSpPr>
          <p:cNvPr id="1007" name="Google Shape;1007;p2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5"/>
              <a:buChar char="⚫"/>
            </a:pPr>
            <a:r>
              <a:rPr lang="en-US" sz="2405"/>
              <a:t>Tập trung vào những yêu cầu ảnh hưởng tới giao diện hệ thống</a:t>
            </a:r>
            <a:endParaRPr sz="2405"/>
          </a:p>
          <a:p>
            <a:pPr indent="-274320" lvl="0" marL="274320" rtl="0" algn="l">
              <a:spcBef>
                <a:spcPts val="481"/>
              </a:spcBef>
              <a:spcAft>
                <a:spcPts val="0"/>
              </a:spcAft>
              <a:buSzPts val="2285"/>
              <a:buChar char="⚫"/>
            </a:pPr>
            <a:r>
              <a:rPr lang="en-US" sz="2405"/>
              <a:t>Phác thảo giao diện được yêu cầu</a:t>
            </a:r>
            <a:endParaRPr sz="2405"/>
          </a:p>
          <a:p>
            <a:pPr indent="-274320" lvl="0" marL="274320" rtl="0" algn="l">
              <a:spcBef>
                <a:spcPts val="481"/>
              </a:spcBef>
              <a:spcAft>
                <a:spcPts val="0"/>
              </a:spcAft>
              <a:buSzPts val="2285"/>
              <a:buChar char="⚫"/>
            </a:pPr>
            <a:r>
              <a:rPr lang="en-US" sz="2405"/>
              <a:t>Mô hình hóa thông điệp giữa các của các hệ thống con</a:t>
            </a:r>
            <a:endParaRPr/>
          </a:p>
          <a:p>
            <a:pPr indent="-274320" lvl="0" marL="274320" rtl="0" algn="l">
              <a:spcBef>
                <a:spcPts val="481"/>
              </a:spcBef>
              <a:spcAft>
                <a:spcPts val="0"/>
              </a:spcAft>
              <a:buSzPts val="2285"/>
              <a:buChar char="⚫"/>
            </a:pPr>
            <a:r>
              <a:rPr lang="en-US" sz="2405"/>
              <a:t>Vẽ các lược đồ tương tác ở góc độ giao diện hệ thống con cho mỗi ca sử dụng</a:t>
            </a:r>
            <a:endParaRPr sz="2405"/>
          </a:p>
          <a:p>
            <a:pPr indent="-274320" lvl="0" marL="274320" rtl="0" algn="l">
              <a:spcBef>
                <a:spcPts val="481"/>
              </a:spcBef>
              <a:spcAft>
                <a:spcPts val="0"/>
              </a:spcAft>
              <a:buSzPts val="2285"/>
              <a:buChar char="⚫"/>
            </a:pPr>
            <a:r>
              <a:rPr lang="en-US" sz="2405"/>
              <a:t>Làm mịn giao diện cần thiết để cung cấp các thông điệp</a:t>
            </a:r>
            <a:endParaRPr sz="2405"/>
          </a:p>
          <a:p>
            <a:pPr indent="-274320" lvl="0" marL="274320" rtl="0" algn="l">
              <a:spcBef>
                <a:spcPts val="481"/>
              </a:spcBef>
              <a:spcAft>
                <a:spcPts val="0"/>
              </a:spcAft>
              <a:buSzPts val="2285"/>
              <a:buChar char="⚫"/>
            </a:pPr>
            <a:r>
              <a:rPr lang="en-US" sz="2405"/>
              <a:t>Phát triển các hệ thống con một cách song song</a:t>
            </a:r>
            <a:endParaRPr sz="2405"/>
          </a:p>
          <a:p>
            <a:pPr indent="-274320" lvl="0" marL="274320" rtl="0" algn="l">
              <a:spcBef>
                <a:spcPts val="481"/>
              </a:spcBef>
              <a:spcAft>
                <a:spcPts val="0"/>
              </a:spcAft>
              <a:buSzPts val="2285"/>
              <a:buChar char="⚫"/>
            </a:pPr>
            <a:r>
              <a:rPr lang="en-US" sz="2405"/>
              <a:t>Refine the interfaces needed to provide messages</a:t>
            </a:r>
            <a:endParaRPr/>
          </a:p>
          <a:p>
            <a:pPr indent="-274320" lvl="0" marL="274320" rtl="0" algn="l">
              <a:spcBef>
                <a:spcPts val="481"/>
              </a:spcBef>
              <a:spcAft>
                <a:spcPts val="0"/>
              </a:spcAft>
              <a:buSzPts val="2285"/>
              <a:buChar char="⚫"/>
            </a:pPr>
            <a:r>
              <a:rPr lang="en-US" sz="2405"/>
              <a:t>Develop each subsystem in parallel</a:t>
            </a:r>
            <a:endParaRPr/>
          </a:p>
        </p:txBody>
      </p:sp>
      <p:sp>
        <p:nvSpPr>
          <p:cNvPr id="1008" name="Google Shape;1008;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009" name="Google Shape;1009;p22"/>
          <p:cNvSpPr txBox="1"/>
          <p:nvPr/>
        </p:nvSpPr>
        <p:spPr>
          <a:xfrm>
            <a:off x="381000" y="5882745"/>
            <a:ext cx="8262938" cy="5032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700">
                <a:solidFill>
                  <a:srgbClr val="00CCFF"/>
                </a:solidFill>
                <a:latin typeface="Constantia"/>
                <a:ea typeface="Constantia"/>
                <a:cs typeface="Constantia"/>
                <a:sym typeface="Constantia"/>
              </a:rPr>
              <a:t>Sử dụng giao diện hệ thống con như điểm đồng bộ</a:t>
            </a:r>
            <a:endParaRPr sz="2700">
              <a:solidFill>
                <a:srgbClr val="00CCFF"/>
              </a:solidFill>
              <a:latin typeface="Constantia"/>
              <a:ea typeface="Constantia"/>
              <a:cs typeface="Constantia"/>
              <a:sym typeface="Constant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2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bước thiết kế ca sử dụng</a:t>
            </a:r>
            <a:endParaRPr/>
          </a:p>
        </p:txBody>
      </p:sp>
      <p:sp>
        <p:nvSpPr>
          <p:cNvPr id="1017" name="Google Shape;1017;p2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Mô tả </a:t>
            </a:r>
            <a:r>
              <a:rPr lang="en-US">
                <a:latin typeface="Calibri"/>
                <a:ea typeface="Calibri"/>
                <a:cs typeface="Calibri"/>
                <a:sym typeface="Calibri"/>
              </a:rPr>
              <a:t>sự tương tác giữa các đối tượng thiết kế </a:t>
            </a:r>
            <a:endParaRPr/>
          </a:p>
          <a:p>
            <a:pPr indent="-274320" lvl="0" marL="274320" rtl="0" algn="l">
              <a:spcBef>
                <a:spcPts val="520"/>
              </a:spcBef>
              <a:spcAft>
                <a:spcPts val="0"/>
              </a:spcAft>
              <a:buSzPts val="2470"/>
              <a:buChar char="⚫"/>
            </a:pPr>
            <a:r>
              <a:rPr lang="en-US">
                <a:latin typeface="Calibri"/>
                <a:ea typeface="Calibri"/>
                <a:cs typeface="Calibri"/>
                <a:sym typeface="Calibri"/>
              </a:rPr>
              <a:t>Đơn giản hoá biểu đồ tuần tự sử dụng hệ thống con </a:t>
            </a:r>
            <a:endParaRPr>
              <a:latin typeface="Calibri"/>
              <a:ea typeface="Calibri"/>
              <a:cs typeface="Calibri"/>
              <a:sym typeface="Calibri"/>
            </a:endParaRPr>
          </a:p>
          <a:p>
            <a:pPr indent="-274320" lvl="0" marL="274320" rtl="0" algn="l">
              <a:spcBef>
                <a:spcPts val="520"/>
              </a:spcBef>
              <a:spcAft>
                <a:spcPts val="0"/>
              </a:spcAft>
              <a:buSzPts val="2470"/>
              <a:buChar char="⚫"/>
            </a:pPr>
            <a:r>
              <a:rPr lang="en-US">
                <a:solidFill>
                  <a:srgbClr val="7030A0"/>
                </a:solidFill>
              </a:rPr>
              <a:t>Mô tả các hành vi liên quan dữ liệu bền vững</a:t>
            </a:r>
            <a:endParaRPr>
              <a:solidFill>
                <a:srgbClr val="7030A0"/>
              </a:solidFill>
            </a:endParaRPr>
          </a:p>
          <a:p>
            <a:pPr indent="-274320" lvl="0" marL="274320" rtl="0" algn="l">
              <a:spcBef>
                <a:spcPts val="520"/>
              </a:spcBef>
              <a:spcAft>
                <a:spcPts val="0"/>
              </a:spcAft>
              <a:buSzPts val="2470"/>
              <a:buChar char="⚫"/>
            </a:pPr>
            <a:r>
              <a:rPr lang="en-US"/>
              <a:t>Làm mịn sự mô tả luồng các sự kiện</a:t>
            </a:r>
            <a:endParaRPr/>
          </a:p>
          <a:p>
            <a:pPr indent="-274320" lvl="0" marL="274320" rtl="0" algn="l">
              <a:spcBef>
                <a:spcPts val="520"/>
              </a:spcBef>
              <a:spcAft>
                <a:spcPts val="0"/>
              </a:spcAft>
              <a:buSzPts val="2470"/>
              <a:buChar char="⚫"/>
            </a:pPr>
            <a:r>
              <a:rPr lang="en-US"/>
              <a:t>Thống nhất các lớp và các hệ thống con</a:t>
            </a:r>
            <a:endParaRPr/>
          </a:p>
        </p:txBody>
      </p:sp>
      <p:sp>
        <p:nvSpPr>
          <p:cNvPr id="1018" name="Google Shape;1018;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24"/>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US" sz="3600"/>
              <a:t>Các bước thiết kế ca sử dụng: Mô tả hành vi liên quan tới sự bền vững</a:t>
            </a:r>
            <a:endParaRPr sz="5400"/>
          </a:p>
        </p:txBody>
      </p:sp>
      <p:sp>
        <p:nvSpPr>
          <p:cNvPr id="1027" name="Google Shape;1027;p2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Mô tả hành vi liên quan tới sự bền vững</a:t>
            </a:r>
            <a:endParaRPr/>
          </a:p>
          <a:p>
            <a:pPr indent="-246888" lvl="1" marL="640080" rtl="0" algn="l">
              <a:spcBef>
                <a:spcPts val="480"/>
              </a:spcBef>
              <a:spcAft>
                <a:spcPts val="0"/>
              </a:spcAft>
              <a:buSzPts val="2040"/>
              <a:buChar char="⚫"/>
            </a:pPr>
            <a:r>
              <a:rPr lang="en-US"/>
              <a:t>Mô hình hóa các giao dịch (Modeling Transactions) </a:t>
            </a:r>
            <a:endParaRPr/>
          </a:p>
          <a:p>
            <a:pPr indent="-246888" lvl="1" marL="640080" rtl="0" algn="l">
              <a:spcBef>
                <a:spcPts val="480"/>
              </a:spcBef>
              <a:spcAft>
                <a:spcPts val="0"/>
              </a:spcAft>
              <a:buSzPts val="2040"/>
              <a:buChar char="⚫"/>
            </a:pPr>
            <a:r>
              <a:rPr lang="en-US"/>
              <a:t>Viết ra các đối tượng dữ liệu bền vững (Writing Persistent Objects)</a:t>
            </a:r>
            <a:endParaRPr/>
          </a:p>
          <a:p>
            <a:pPr indent="-246888" lvl="1" marL="640080" rtl="0" algn="l">
              <a:spcBef>
                <a:spcPts val="480"/>
              </a:spcBef>
              <a:spcAft>
                <a:spcPts val="0"/>
              </a:spcAft>
              <a:buSzPts val="2040"/>
              <a:buChar char="⚫"/>
            </a:pPr>
            <a:r>
              <a:rPr lang="en-US"/>
              <a:t>Đọc đối tượng bền vững (Reading Persistent Objects)</a:t>
            </a:r>
            <a:endParaRPr/>
          </a:p>
          <a:p>
            <a:pPr indent="-246888" lvl="1" marL="640080" rtl="0" algn="l">
              <a:spcBef>
                <a:spcPts val="480"/>
              </a:spcBef>
              <a:spcAft>
                <a:spcPts val="0"/>
              </a:spcAft>
              <a:buSzPts val="2040"/>
              <a:buChar char="⚫"/>
            </a:pPr>
            <a:r>
              <a:rPr lang="en-US"/>
              <a:t>Xóa đối tượng dữ liệu bền vững (Deleting Persistent Objects)</a:t>
            </a:r>
            <a:endParaRPr/>
          </a:p>
        </p:txBody>
      </p:sp>
      <p:sp>
        <p:nvSpPr>
          <p:cNvPr id="1028" name="Google Shape;1028;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029" name="Google Shape;1029;p24"/>
          <p:cNvGrpSpPr/>
          <p:nvPr/>
        </p:nvGrpSpPr>
        <p:grpSpPr>
          <a:xfrm>
            <a:off x="2585855" y="4325463"/>
            <a:ext cx="3975100" cy="2011362"/>
            <a:chOff x="1616" y="2329"/>
            <a:chExt cx="2504" cy="1267"/>
          </a:xfrm>
        </p:grpSpPr>
        <p:grpSp>
          <p:nvGrpSpPr>
            <p:cNvPr id="1030" name="Google Shape;1030;p24"/>
            <p:cNvGrpSpPr/>
            <p:nvPr/>
          </p:nvGrpSpPr>
          <p:grpSpPr>
            <a:xfrm>
              <a:off x="2701" y="2582"/>
              <a:ext cx="1211" cy="608"/>
              <a:chOff x="3007" y="3064"/>
              <a:chExt cx="1211" cy="608"/>
            </a:xfrm>
          </p:grpSpPr>
          <p:sp>
            <p:nvSpPr>
              <p:cNvPr id="1031" name="Google Shape;1031;p24"/>
              <p:cNvSpPr/>
              <p:nvPr/>
            </p:nvSpPr>
            <p:spPr>
              <a:xfrm>
                <a:off x="3328" y="3064"/>
                <a:ext cx="569" cy="608"/>
              </a:xfrm>
              <a:prstGeom prst="can">
                <a:avLst>
                  <a:gd fmla="val 26714" name="adj"/>
                </a:avLst>
              </a:prstGeom>
              <a:solidFill>
                <a:srgbClr val="FFFFCC"/>
              </a:solidFill>
              <a:ln cap="flat" cmpd="sng" w="19050">
                <a:solidFill>
                  <a:srgbClr val="8A0E5E"/>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032" name="Google Shape;1032;p24"/>
              <p:cNvGrpSpPr/>
              <p:nvPr/>
            </p:nvGrpSpPr>
            <p:grpSpPr>
              <a:xfrm>
                <a:off x="3007" y="3111"/>
                <a:ext cx="1211" cy="307"/>
                <a:chOff x="3007" y="3111"/>
                <a:chExt cx="1211" cy="307"/>
              </a:xfrm>
            </p:grpSpPr>
            <p:sp>
              <p:nvSpPr>
                <p:cNvPr id="1033" name="Google Shape;1033;p24"/>
                <p:cNvSpPr/>
                <p:nvPr/>
              </p:nvSpPr>
              <p:spPr>
                <a:xfrm flipH="1">
                  <a:off x="3900" y="3178"/>
                  <a:ext cx="311" cy="201"/>
                </a:xfrm>
                <a:custGeom>
                  <a:rect b="b" l="l" r="r" t="t"/>
                  <a:pathLst>
                    <a:path extrusionOk="0" h="159" w="210">
                      <a:moveTo>
                        <a:pt x="0" y="0"/>
                      </a:moveTo>
                      <a:lnTo>
                        <a:pt x="210" y="108"/>
                      </a:lnTo>
                      <a:lnTo>
                        <a:pt x="210" y="159"/>
                      </a:lnTo>
                      <a:lnTo>
                        <a:pt x="0" y="51"/>
                      </a:lnTo>
                      <a:lnTo>
                        <a:pt x="0" y="0"/>
                      </a:lnTo>
                      <a:close/>
                    </a:path>
                  </a:pathLst>
                </a:custGeom>
                <a:solidFill>
                  <a:srgbClr val="996633"/>
                </a:solidFill>
                <a:ln cap="flat" cmpd="sng" w="38100">
                  <a:solidFill>
                    <a:srgbClr val="996633"/>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34" name="Google Shape;1034;p24"/>
                <p:cNvSpPr/>
                <p:nvPr/>
              </p:nvSpPr>
              <p:spPr>
                <a:xfrm>
                  <a:off x="3014" y="3178"/>
                  <a:ext cx="311" cy="201"/>
                </a:xfrm>
                <a:custGeom>
                  <a:rect b="b" l="l" r="r" t="t"/>
                  <a:pathLst>
                    <a:path extrusionOk="0" h="159" w="210">
                      <a:moveTo>
                        <a:pt x="0" y="0"/>
                      </a:moveTo>
                      <a:lnTo>
                        <a:pt x="210" y="108"/>
                      </a:lnTo>
                      <a:lnTo>
                        <a:pt x="210" y="159"/>
                      </a:lnTo>
                      <a:lnTo>
                        <a:pt x="0" y="51"/>
                      </a:lnTo>
                      <a:lnTo>
                        <a:pt x="0" y="0"/>
                      </a:lnTo>
                      <a:close/>
                    </a:path>
                  </a:pathLst>
                </a:custGeom>
                <a:solidFill>
                  <a:srgbClr val="996633"/>
                </a:solidFill>
                <a:ln cap="flat" cmpd="sng" w="38100">
                  <a:solidFill>
                    <a:srgbClr val="996633"/>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035" name="Google Shape;1035;p24"/>
                <p:cNvGrpSpPr/>
                <p:nvPr/>
              </p:nvGrpSpPr>
              <p:grpSpPr>
                <a:xfrm>
                  <a:off x="3007" y="3111"/>
                  <a:ext cx="1211" cy="307"/>
                  <a:chOff x="3872" y="2392"/>
                  <a:chExt cx="949" cy="240"/>
                </a:xfrm>
              </p:grpSpPr>
              <p:grpSp>
                <p:nvGrpSpPr>
                  <p:cNvPr id="1036" name="Google Shape;1036;p24"/>
                  <p:cNvGrpSpPr/>
                  <p:nvPr/>
                </p:nvGrpSpPr>
                <p:grpSpPr>
                  <a:xfrm>
                    <a:off x="3944" y="2392"/>
                    <a:ext cx="808" cy="240"/>
                    <a:chOff x="3944" y="2392"/>
                    <a:chExt cx="808" cy="240"/>
                  </a:xfrm>
                </p:grpSpPr>
                <p:sp>
                  <p:nvSpPr>
                    <p:cNvPr id="1037" name="Google Shape;1037;p24"/>
                    <p:cNvSpPr/>
                    <p:nvPr/>
                  </p:nvSpPr>
                  <p:spPr>
                    <a:xfrm>
                      <a:off x="3944" y="2392"/>
                      <a:ext cx="336" cy="240"/>
                    </a:xfrm>
                    <a:prstGeom prst="ellipse">
                      <a:avLst/>
                    </a:prstGeom>
                    <a:noFill/>
                    <a:ln cap="flat" cmpd="sng" w="76200">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38" name="Google Shape;1038;p24"/>
                    <p:cNvSpPr/>
                    <p:nvPr/>
                  </p:nvSpPr>
                  <p:spPr>
                    <a:xfrm>
                      <a:off x="4416" y="2392"/>
                      <a:ext cx="336" cy="240"/>
                    </a:xfrm>
                    <a:prstGeom prst="ellipse">
                      <a:avLst/>
                    </a:prstGeom>
                    <a:noFill/>
                    <a:ln cap="flat" cmpd="sng" w="76200">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39" name="Google Shape;1039;p24"/>
                    <p:cNvSpPr/>
                    <p:nvPr/>
                  </p:nvSpPr>
                  <p:spPr>
                    <a:xfrm rot="-6300000">
                      <a:off x="4301" y="2423"/>
                      <a:ext cx="91" cy="112"/>
                    </a:xfrm>
                    <a:custGeom>
                      <a:rect b="b" l="l" r="r" t="t"/>
                      <a:pathLst>
                        <a:path extrusionOk="0" fill="none" h="43200" w="34958">
                          <a:moveTo>
                            <a:pt x="13357" y="0"/>
                          </a:moveTo>
                          <a:cubicBezTo>
                            <a:pt x="25287" y="0"/>
                            <a:pt x="34958" y="9670"/>
                            <a:pt x="34958" y="21600"/>
                          </a:cubicBezTo>
                          <a:cubicBezTo>
                            <a:pt x="34958" y="33529"/>
                            <a:pt x="25287" y="43200"/>
                            <a:pt x="13358" y="43200"/>
                          </a:cubicBezTo>
                          <a:cubicBezTo>
                            <a:pt x="8512" y="43200"/>
                            <a:pt x="3808" y="41570"/>
                            <a:pt x="0" y="38574"/>
                          </a:cubicBezTo>
                        </a:path>
                        <a:path extrusionOk="0" h="43200" w="34958">
                          <a:moveTo>
                            <a:pt x="13357" y="0"/>
                          </a:moveTo>
                          <a:cubicBezTo>
                            <a:pt x="25287" y="0"/>
                            <a:pt x="34958" y="9670"/>
                            <a:pt x="34958" y="21600"/>
                          </a:cubicBezTo>
                          <a:cubicBezTo>
                            <a:pt x="34958" y="33529"/>
                            <a:pt x="25287" y="43200"/>
                            <a:pt x="13358" y="43200"/>
                          </a:cubicBezTo>
                          <a:cubicBezTo>
                            <a:pt x="8512" y="43200"/>
                            <a:pt x="3808" y="41570"/>
                            <a:pt x="0" y="38574"/>
                          </a:cubicBezTo>
                          <a:lnTo>
                            <a:pt x="13358" y="21600"/>
                          </a:lnTo>
                          <a:close/>
                        </a:path>
                      </a:pathLst>
                    </a:custGeom>
                    <a:noFill/>
                    <a:ln cap="flat" cmpd="sng" w="76200">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1040" name="Google Shape;1040;p24"/>
                  <p:cNvSpPr/>
                  <p:nvPr/>
                </p:nvSpPr>
                <p:spPr>
                  <a:xfrm>
                    <a:off x="3872" y="2445"/>
                    <a:ext cx="91" cy="47"/>
                  </a:xfrm>
                  <a:custGeom>
                    <a:rect b="b" l="l" r="r" t="t"/>
                    <a:pathLst>
                      <a:path extrusionOk="0" h="47" w="91">
                        <a:moveTo>
                          <a:pt x="0" y="47"/>
                        </a:moveTo>
                        <a:lnTo>
                          <a:pt x="0" y="0"/>
                        </a:lnTo>
                        <a:lnTo>
                          <a:pt x="91" y="0"/>
                        </a:lnTo>
                        <a:lnTo>
                          <a:pt x="64" y="47"/>
                        </a:lnTo>
                        <a:lnTo>
                          <a:pt x="0" y="47"/>
                        </a:lnTo>
                        <a:close/>
                      </a:path>
                    </a:pathLst>
                  </a:custGeom>
                  <a:solidFill>
                    <a:srgbClr val="CC9900"/>
                  </a:solidFill>
                  <a:ln cap="flat" cmpd="sng" w="76200">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41" name="Google Shape;1041;p24"/>
                  <p:cNvSpPr/>
                  <p:nvPr/>
                </p:nvSpPr>
                <p:spPr>
                  <a:xfrm flipH="1">
                    <a:off x="4730" y="2445"/>
                    <a:ext cx="91" cy="47"/>
                  </a:xfrm>
                  <a:custGeom>
                    <a:rect b="b" l="l" r="r" t="t"/>
                    <a:pathLst>
                      <a:path extrusionOk="0" h="47" w="91">
                        <a:moveTo>
                          <a:pt x="0" y="47"/>
                        </a:moveTo>
                        <a:lnTo>
                          <a:pt x="0" y="0"/>
                        </a:lnTo>
                        <a:lnTo>
                          <a:pt x="91" y="0"/>
                        </a:lnTo>
                        <a:lnTo>
                          <a:pt x="64" y="47"/>
                        </a:lnTo>
                        <a:lnTo>
                          <a:pt x="0" y="47"/>
                        </a:lnTo>
                        <a:close/>
                      </a:path>
                    </a:pathLst>
                  </a:custGeom>
                  <a:solidFill>
                    <a:srgbClr val="CC9900"/>
                  </a:solidFill>
                  <a:ln cap="flat" cmpd="sng" w="76200">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042" name="Google Shape;1042;p24"/>
                <p:cNvGrpSpPr/>
                <p:nvPr/>
              </p:nvGrpSpPr>
              <p:grpSpPr>
                <a:xfrm>
                  <a:off x="3007" y="3111"/>
                  <a:ext cx="1211" cy="307"/>
                  <a:chOff x="3872" y="2392"/>
                  <a:chExt cx="949" cy="240"/>
                </a:xfrm>
              </p:grpSpPr>
              <p:grpSp>
                <p:nvGrpSpPr>
                  <p:cNvPr id="1043" name="Google Shape;1043;p24"/>
                  <p:cNvGrpSpPr/>
                  <p:nvPr/>
                </p:nvGrpSpPr>
                <p:grpSpPr>
                  <a:xfrm>
                    <a:off x="3944" y="2392"/>
                    <a:ext cx="808" cy="240"/>
                    <a:chOff x="3944" y="2392"/>
                    <a:chExt cx="808" cy="240"/>
                  </a:xfrm>
                </p:grpSpPr>
                <p:sp>
                  <p:nvSpPr>
                    <p:cNvPr id="1044" name="Google Shape;1044;p24"/>
                    <p:cNvSpPr/>
                    <p:nvPr/>
                  </p:nvSpPr>
                  <p:spPr>
                    <a:xfrm>
                      <a:off x="3944" y="2392"/>
                      <a:ext cx="336" cy="240"/>
                    </a:xfrm>
                    <a:prstGeom prst="ellipse">
                      <a:avLst/>
                    </a:prstGeom>
                    <a:noFill/>
                    <a:ln cap="flat" cmpd="sng" w="38100">
                      <a:solidFill>
                        <a:srgbClr val="CC9900"/>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45" name="Google Shape;1045;p24"/>
                    <p:cNvSpPr/>
                    <p:nvPr/>
                  </p:nvSpPr>
                  <p:spPr>
                    <a:xfrm>
                      <a:off x="4416" y="2392"/>
                      <a:ext cx="336" cy="240"/>
                    </a:xfrm>
                    <a:prstGeom prst="ellipse">
                      <a:avLst/>
                    </a:prstGeom>
                    <a:noFill/>
                    <a:ln cap="flat" cmpd="sng" w="38100">
                      <a:solidFill>
                        <a:srgbClr val="CC9900"/>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46" name="Google Shape;1046;p24"/>
                    <p:cNvSpPr/>
                    <p:nvPr/>
                  </p:nvSpPr>
                  <p:spPr>
                    <a:xfrm rot="-6300000">
                      <a:off x="4301" y="2423"/>
                      <a:ext cx="91" cy="112"/>
                    </a:xfrm>
                    <a:custGeom>
                      <a:rect b="b" l="l" r="r" t="t"/>
                      <a:pathLst>
                        <a:path extrusionOk="0" fill="none" h="43200" w="34958">
                          <a:moveTo>
                            <a:pt x="13357" y="0"/>
                          </a:moveTo>
                          <a:cubicBezTo>
                            <a:pt x="25287" y="0"/>
                            <a:pt x="34958" y="9670"/>
                            <a:pt x="34958" y="21600"/>
                          </a:cubicBezTo>
                          <a:cubicBezTo>
                            <a:pt x="34958" y="33529"/>
                            <a:pt x="25287" y="43200"/>
                            <a:pt x="13358" y="43200"/>
                          </a:cubicBezTo>
                          <a:cubicBezTo>
                            <a:pt x="8512" y="43200"/>
                            <a:pt x="3808" y="41570"/>
                            <a:pt x="0" y="38574"/>
                          </a:cubicBezTo>
                        </a:path>
                        <a:path extrusionOk="0" h="43200" w="34958">
                          <a:moveTo>
                            <a:pt x="13357" y="0"/>
                          </a:moveTo>
                          <a:cubicBezTo>
                            <a:pt x="25287" y="0"/>
                            <a:pt x="34958" y="9670"/>
                            <a:pt x="34958" y="21600"/>
                          </a:cubicBezTo>
                          <a:cubicBezTo>
                            <a:pt x="34958" y="33529"/>
                            <a:pt x="25287" y="43200"/>
                            <a:pt x="13358" y="43200"/>
                          </a:cubicBezTo>
                          <a:cubicBezTo>
                            <a:pt x="8512" y="43200"/>
                            <a:pt x="3808" y="41570"/>
                            <a:pt x="0" y="38574"/>
                          </a:cubicBezTo>
                          <a:lnTo>
                            <a:pt x="13358" y="21600"/>
                          </a:lnTo>
                          <a:close/>
                        </a:path>
                      </a:pathLst>
                    </a:custGeom>
                    <a:noFill/>
                    <a:ln cap="flat" cmpd="sng" w="38100">
                      <a:solidFill>
                        <a:srgbClr val="CC9900"/>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1047" name="Google Shape;1047;p24"/>
                  <p:cNvSpPr/>
                  <p:nvPr/>
                </p:nvSpPr>
                <p:spPr>
                  <a:xfrm>
                    <a:off x="3872" y="2445"/>
                    <a:ext cx="91" cy="47"/>
                  </a:xfrm>
                  <a:custGeom>
                    <a:rect b="b" l="l" r="r" t="t"/>
                    <a:pathLst>
                      <a:path extrusionOk="0" h="47" w="91">
                        <a:moveTo>
                          <a:pt x="0" y="47"/>
                        </a:moveTo>
                        <a:lnTo>
                          <a:pt x="0" y="0"/>
                        </a:lnTo>
                        <a:lnTo>
                          <a:pt x="91" y="0"/>
                        </a:lnTo>
                        <a:lnTo>
                          <a:pt x="64" y="47"/>
                        </a:lnTo>
                        <a:lnTo>
                          <a:pt x="0" y="47"/>
                        </a:lnTo>
                        <a:close/>
                      </a:path>
                    </a:pathLst>
                  </a:custGeom>
                  <a:solidFill>
                    <a:srgbClr val="CC9900"/>
                  </a:solidFill>
                  <a:ln cap="flat" cmpd="sng" w="9525">
                    <a:solidFill>
                      <a:srgbClr val="CC9900"/>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48" name="Google Shape;1048;p24"/>
                  <p:cNvSpPr/>
                  <p:nvPr/>
                </p:nvSpPr>
                <p:spPr>
                  <a:xfrm flipH="1">
                    <a:off x="4730" y="2445"/>
                    <a:ext cx="91" cy="47"/>
                  </a:xfrm>
                  <a:custGeom>
                    <a:rect b="b" l="l" r="r" t="t"/>
                    <a:pathLst>
                      <a:path extrusionOk="0" h="47" w="91">
                        <a:moveTo>
                          <a:pt x="0" y="47"/>
                        </a:moveTo>
                        <a:lnTo>
                          <a:pt x="0" y="0"/>
                        </a:lnTo>
                        <a:lnTo>
                          <a:pt x="91" y="0"/>
                        </a:lnTo>
                        <a:lnTo>
                          <a:pt x="64" y="47"/>
                        </a:lnTo>
                        <a:lnTo>
                          <a:pt x="0" y="47"/>
                        </a:lnTo>
                        <a:close/>
                      </a:path>
                    </a:pathLst>
                  </a:custGeom>
                  <a:solidFill>
                    <a:srgbClr val="CC9900"/>
                  </a:solidFill>
                  <a:ln cap="flat" cmpd="sng" w="9525">
                    <a:solidFill>
                      <a:srgbClr val="CC9900"/>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grpSp>
        <p:pic>
          <p:nvPicPr>
            <p:cNvPr descr="\\reba\office 2000\09prood02\PFiles\MSOffice\Clipart\standard\stddir4\sy01191_.wmf" id="1049" name="Google Shape;1049;p24"/>
            <p:cNvPicPr preferRelativeResize="0"/>
            <p:nvPr/>
          </p:nvPicPr>
          <p:blipFill rotWithShape="1">
            <a:blip r:embed="rId3">
              <a:alphaModFix/>
            </a:blip>
            <a:srcRect b="0" l="0" r="0" t="0"/>
            <a:stretch/>
          </p:blipFill>
          <p:spPr>
            <a:xfrm>
              <a:off x="1616" y="2329"/>
              <a:ext cx="979" cy="1144"/>
            </a:xfrm>
            <a:prstGeom prst="rect">
              <a:avLst/>
            </a:prstGeom>
            <a:noFill/>
            <a:ln>
              <a:noFill/>
            </a:ln>
          </p:spPr>
        </p:pic>
        <p:grpSp>
          <p:nvGrpSpPr>
            <p:cNvPr id="1050" name="Google Shape;1050;p24"/>
            <p:cNvGrpSpPr/>
            <p:nvPr/>
          </p:nvGrpSpPr>
          <p:grpSpPr>
            <a:xfrm>
              <a:off x="2363" y="2824"/>
              <a:ext cx="885" cy="772"/>
              <a:chOff x="2067" y="2924"/>
              <a:chExt cx="885" cy="772"/>
            </a:xfrm>
          </p:grpSpPr>
          <p:sp>
            <p:nvSpPr>
              <p:cNvPr id="1051" name="Google Shape;1051;p24"/>
              <p:cNvSpPr/>
              <p:nvPr/>
            </p:nvSpPr>
            <p:spPr>
              <a:xfrm>
                <a:off x="2184" y="3088"/>
                <a:ext cx="569" cy="608"/>
              </a:xfrm>
              <a:prstGeom prst="can">
                <a:avLst>
                  <a:gd fmla="val 26714" name="adj"/>
                </a:avLst>
              </a:prstGeom>
              <a:solidFill>
                <a:srgbClr val="FFFFCC"/>
              </a:solidFill>
              <a:ln cap="flat" cmpd="sng" w="19050">
                <a:solidFill>
                  <a:srgbClr val="8A0E5E"/>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052" name="Google Shape;1052;p24"/>
              <p:cNvGrpSpPr/>
              <p:nvPr/>
            </p:nvGrpSpPr>
            <p:grpSpPr>
              <a:xfrm rot="-1490075">
                <a:off x="2123" y="3066"/>
                <a:ext cx="772" cy="438"/>
                <a:chOff x="3662" y="2910"/>
                <a:chExt cx="901" cy="512"/>
              </a:xfrm>
            </p:grpSpPr>
            <p:grpSp>
              <p:nvGrpSpPr>
                <p:cNvPr id="1053" name="Google Shape;1053;p24"/>
                <p:cNvGrpSpPr/>
                <p:nvPr/>
              </p:nvGrpSpPr>
              <p:grpSpPr>
                <a:xfrm>
                  <a:off x="3662" y="2910"/>
                  <a:ext cx="901" cy="512"/>
                  <a:chOff x="3638" y="2544"/>
                  <a:chExt cx="1404" cy="798"/>
                </a:xfrm>
              </p:grpSpPr>
              <p:sp>
                <p:nvSpPr>
                  <p:cNvPr id="1054" name="Google Shape;1054;p24"/>
                  <p:cNvSpPr/>
                  <p:nvPr/>
                </p:nvSpPr>
                <p:spPr>
                  <a:xfrm>
                    <a:off x="4387" y="2572"/>
                    <a:ext cx="655" cy="408"/>
                  </a:xfrm>
                  <a:custGeom>
                    <a:rect b="b" l="l" r="r" t="t"/>
                    <a:pathLst>
                      <a:path extrusionOk="0" h="825" w="1326">
                        <a:moveTo>
                          <a:pt x="1044" y="403"/>
                        </a:moveTo>
                        <a:lnTo>
                          <a:pt x="992" y="430"/>
                        </a:lnTo>
                        <a:lnTo>
                          <a:pt x="940" y="457"/>
                        </a:lnTo>
                        <a:lnTo>
                          <a:pt x="888" y="484"/>
                        </a:lnTo>
                        <a:lnTo>
                          <a:pt x="838" y="511"/>
                        </a:lnTo>
                        <a:lnTo>
                          <a:pt x="788" y="539"/>
                        </a:lnTo>
                        <a:lnTo>
                          <a:pt x="738" y="566"/>
                        </a:lnTo>
                        <a:lnTo>
                          <a:pt x="687" y="595"/>
                        </a:lnTo>
                        <a:lnTo>
                          <a:pt x="637" y="622"/>
                        </a:lnTo>
                        <a:lnTo>
                          <a:pt x="587" y="649"/>
                        </a:lnTo>
                        <a:lnTo>
                          <a:pt x="537" y="676"/>
                        </a:lnTo>
                        <a:lnTo>
                          <a:pt x="487" y="703"/>
                        </a:lnTo>
                        <a:lnTo>
                          <a:pt x="435" y="729"/>
                        </a:lnTo>
                        <a:lnTo>
                          <a:pt x="383" y="754"/>
                        </a:lnTo>
                        <a:lnTo>
                          <a:pt x="332" y="779"/>
                        </a:lnTo>
                        <a:lnTo>
                          <a:pt x="278" y="802"/>
                        </a:lnTo>
                        <a:lnTo>
                          <a:pt x="224" y="825"/>
                        </a:lnTo>
                        <a:lnTo>
                          <a:pt x="180" y="825"/>
                        </a:lnTo>
                        <a:lnTo>
                          <a:pt x="184" y="779"/>
                        </a:lnTo>
                        <a:lnTo>
                          <a:pt x="186" y="731"/>
                        </a:lnTo>
                        <a:lnTo>
                          <a:pt x="186" y="681"/>
                        </a:lnTo>
                        <a:lnTo>
                          <a:pt x="182" y="633"/>
                        </a:lnTo>
                        <a:lnTo>
                          <a:pt x="172" y="586"/>
                        </a:lnTo>
                        <a:lnTo>
                          <a:pt x="155" y="541"/>
                        </a:lnTo>
                        <a:lnTo>
                          <a:pt x="130" y="501"/>
                        </a:lnTo>
                        <a:lnTo>
                          <a:pt x="92" y="467"/>
                        </a:lnTo>
                        <a:lnTo>
                          <a:pt x="82" y="453"/>
                        </a:lnTo>
                        <a:lnTo>
                          <a:pt x="69" y="445"/>
                        </a:lnTo>
                        <a:lnTo>
                          <a:pt x="55" y="440"/>
                        </a:lnTo>
                        <a:lnTo>
                          <a:pt x="40" y="434"/>
                        </a:lnTo>
                        <a:lnTo>
                          <a:pt x="25" y="430"/>
                        </a:lnTo>
                        <a:lnTo>
                          <a:pt x="13" y="426"/>
                        </a:lnTo>
                        <a:lnTo>
                          <a:pt x="3" y="421"/>
                        </a:lnTo>
                        <a:lnTo>
                          <a:pt x="0" y="411"/>
                        </a:lnTo>
                        <a:lnTo>
                          <a:pt x="251" y="275"/>
                        </a:lnTo>
                        <a:lnTo>
                          <a:pt x="238" y="304"/>
                        </a:lnTo>
                        <a:lnTo>
                          <a:pt x="220" y="336"/>
                        </a:lnTo>
                        <a:lnTo>
                          <a:pt x="209" y="374"/>
                        </a:lnTo>
                        <a:lnTo>
                          <a:pt x="211" y="411"/>
                        </a:lnTo>
                        <a:lnTo>
                          <a:pt x="224" y="424"/>
                        </a:lnTo>
                        <a:lnTo>
                          <a:pt x="241" y="432"/>
                        </a:lnTo>
                        <a:lnTo>
                          <a:pt x="259" y="438"/>
                        </a:lnTo>
                        <a:lnTo>
                          <a:pt x="278" y="438"/>
                        </a:lnTo>
                        <a:lnTo>
                          <a:pt x="297" y="436"/>
                        </a:lnTo>
                        <a:lnTo>
                          <a:pt x="318" y="434"/>
                        </a:lnTo>
                        <a:lnTo>
                          <a:pt x="335" y="432"/>
                        </a:lnTo>
                        <a:lnTo>
                          <a:pt x="353" y="430"/>
                        </a:lnTo>
                        <a:lnTo>
                          <a:pt x="368" y="421"/>
                        </a:lnTo>
                        <a:lnTo>
                          <a:pt x="383" y="411"/>
                        </a:lnTo>
                        <a:lnTo>
                          <a:pt x="397" y="401"/>
                        </a:lnTo>
                        <a:lnTo>
                          <a:pt x="408" y="390"/>
                        </a:lnTo>
                        <a:lnTo>
                          <a:pt x="420" y="376"/>
                        </a:lnTo>
                        <a:lnTo>
                          <a:pt x="431" y="363"/>
                        </a:lnTo>
                        <a:lnTo>
                          <a:pt x="441" y="350"/>
                        </a:lnTo>
                        <a:lnTo>
                          <a:pt x="449" y="334"/>
                        </a:lnTo>
                        <a:lnTo>
                          <a:pt x="1101" y="33"/>
                        </a:lnTo>
                        <a:lnTo>
                          <a:pt x="1115" y="52"/>
                        </a:lnTo>
                        <a:lnTo>
                          <a:pt x="1130" y="64"/>
                        </a:lnTo>
                        <a:lnTo>
                          <a:pt x="1147" y="66"/>
                        </a:lnTo>
                        <a:lnTo>
                          <a:pt x="1166" y="64"/>
                        </a:lnTo>
                        <a:lnTo>
                          <a:pt x="1186" y="58"/>
                        </a:lnTo>
                        <a:lnTo>
                          <a:pt x="1205" y="50"/>
                        </a:lnTo>
                        <a:lnTo>
                          <a:pt x="1224" y="41"/>
                        </a:lnTo>
                        <a:lnTo>
                          <a:pt x="1241" y="33"/>
                        </a:lnTo>
                        <a:lnTo>
                          <a:pt x="1255" y="20"/>
                        </a:lnTo>
                        <a:lnTo>
                          <a:pt x="1268" y="6"/>
                        </a:lnTo>
                        <a:lnTo>
                          <a:pt x="1282" y="0"/>
                        </a:lnTo>
                        <a:lnTo>
                          <a:pt x="1297" y="14"/>
                        </a:lnTo>
                        <a:lnTo>
                          <a:pt x="1320" y="50"/>
                        </a:lnTo>
                        <a:lnTo>
                          <a:pt x="1326" y="93"/>
                        </a:lnTo>
                        <a:lnTo>
                          <a:pt x="1322" y="139"/>
                        </a:lnTo>
                        <a:lnTo>
                          <a:pt x="1310" y="179"/>
                        </a:lnTo>
                        <a:lnTo>
                          <a:pt x="1282" y="215"/>
                        </a:lnTo>
                        <a:lnTo>
                          <a:pt x="1253" y="248"/>
                        </a:lnTo>
                        <a:lnTo>
                          <a:pt x="1220" y="279"/>
                        </a:lnTo>
                        <a:lnTo>
                          <a:pt x="1188" y="305"/>
                        </a:lnTo>
                        <a:lnTo>
                          <a:pt x="1153" y="330"/>
                        </a:lnTo>
                        <a:lnTo>
                          <a:pt x="1117" y="355"/>
                        </a:lnTo>
                        <a:lnTo>
                          <a:pt x="1080" y="378"/>
                        </a:lnTo>
                        <a:lnTo>
                          <a:pt x="1044" y="403"/>
                        </a:lnTo>
                        <a:close/>
                      </a:path>
                    </a:pathLst>
                  </a:custGeom>
                  <a:solidFill>
                    <a:schemeClr val="lt2"/>
                  </a:solidFill>
                  <a:ln cap="flat" cmpd="sng" w="2857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55" name="Google Shape;1055;p24"/>
                  <p:cNvSpPr/>
                  <p:nvPr/>
                </p:nvSpPr>
                <p:spPr>
                  <a:xfrm>
                    <a:off x="4511" y="2544"/>
                    <a:ext cx="485" cy="225"/>
                  </a:xfrm>
                  <a:custGeom>
                    <a:rect b="b" l="l" r="r" t="t"/>
                    <a:pathLst>
                      <a:path extrusionOk="0" h="456" w="983">
                        <a:moveTo>
                          <a:pt x="916" y="77"/>
                        </a:moveTo>
                        <a:lnTo>
                          <a:pt x="916" y="32"/>
                        </a:lnTo>
                        <a:lnTo>
                          <a:pt x="868" y="52"/>
                        </a:lnTo>
                        <a:lnTo>
                          <a:pt x="818" y="69"/>
                        </a:lnTo>
                        <a:lnTo>
                          <a:pt x="770" y="90"/>
                        </a:lnTo>
                        <a:lnTo>
                          <a:pt x="722" y="109"/>
                        </a:lnTo>
                        <a:lnTo>
                          <a:pt x="674" y="128"/>
                        </a:lnTo>
                        <a:lnTo>
                          <a:pt x="626" y="150"/>
                        </a:lnTo>
                        <a:lnTo>
                          <a:pt x="578" y="171"/>
                        </a:lnTo>
                        <a:lnTo>
                          <a:pt x="530" y="192"/>
                        </a:lnTo>
                        <a:lnTo>
                          <a:pt x="482" y="211"/>
                        </a:lnTo>
                        <a:lnTo>
                          <a:pt x="436" y="232"/>
                        </a:lnTo>
                        <a:lnTo>
                          <a:pt x="388" y="251"/>
                        </a:lnTo>
                        <a:lnTo>
                          <a:pt x="338" y="272"/>
                        </a:lnTo>
                        <a:lnTo>
                          <a:pt x="290" y="291"/>
                        </a:lnTo>
                        <a:lnTo>
                          <a:pt x="242" y="311"/>
                        </a:lnTo>
                        <a:lnTo>
                          <a:pt x="194" y="328"/>
                        </a:lnTo>
                        <a:lnTo>
                          <a:pt x="144" y="345"/>
                        </a:lnTo>
                        <a:lnTo>
                          <a:pt x="136" y="355"/>
                        </a:lnTo>
                        <a:lnTo>
                          <a:pt x="134" y="366"/>
                        </a:lnTo>
                        <a:lnTo>
                          <a:pt x="138" y="376"/>
                        </a:lnTo>
                        <a:lnTo>
                          <a:pt x="142" y="384"/>
                        </a:lnTo>
                        <a:lnTo>
                          <a:pt x="148" y="393"/>
                        </a:lnTo>
                        <a:lnTo>
                          <a:pt x="148" y="403"/>
                        </a:lnTo>
                        <a:lnTo>
                          <a:pt x="146" y="412"/>
                        </a:lnTo>
                        <a:lnTo>
                          <a:pt x="134" y="422"/>
                        </a:lnTo>
                        <a:lnTo>
                          <a:pt x="121" y="430"/>
                        </a:lnTo>
                        <a:lnTo>
                          <a:pt x="106" y="437"/>
                        </a:lnTo>
                        <a:lnTo>
                          <a:pt x="90" y="445"/>
                        </a:lnTo>
                        <a:lnTo>
                          <a:pt x="75" y="451"/>
                        </a:lnTo>
                        <a:lnTo>
                          <a:pt x="60" y="455"/>
                        </a:lnTo>
                        <a:lnTo>
                          <a:pt x="42" y="456"/>
                        </a:lnTo>
                        <a:lnTo>
                          <a:pt x="25" y="455"/>
                        </a:lnTo>
                        <a:lnTo>
                          <a:pt x="8" y="449"/>
                        </a:lnTo>
                        <a:lnTo>
                          <a:pt x="0" y="424"/>
                        </a:lnTo>
                        <a:lnTo>
                          <a:pt x="8" y="403"/>
                        </a:lnTo>
                        <a:lnTo>
                          <a:pt x="19" y="382"/>
                        </a:lnTo>
                        <a:lnTo>
                          <a:pt x="25" y="359"/>
                        </a:lnTo>
                        <a:lnTo>
                          <a:pt x="71" y="330"/>
                        </a:lnTo>
                        <a:lnTo>
                          <a:pt x="115" y="303"/>
                        </a:lnTo>
                        <a:lnTo>
                          <a:pt x="163" y="278"/>
                        </a:lnTo>
                        <a:lnTo>
                          <a:pt x="209" y="253"/>
                        </a:lnTo>
                        <a:lnTo>
                          <a:pt x="257" y="230"/>
                        </a:lnTo>
                        <a:lnTo>
                          <a:pt x="303" y="209"/>
                        </a:lnTo>
                        <a:lnTo>
                          <a:pt x="351" y="188"/>
                        </a:lnTo>
                        <a:lnTo>
                          <a:pt x="399" y="167"/>
                        </a:lnTo>
                        <a:lnTo>
                          <a:pt x="447" y="148"/>
                        </a:lnTo>
                        <a:lnTo>
                          <a:pt x="497" y="128"/>
                        </a:lnTo>
                        <a:lnTo>
                          <a:pt x="545" y="107"/>
                        </a:lnTo>
                        <a:lnTo>
                          <a:pt x="593" y="90"/>
                        </a:lnTo>
                        <a:lnTo>
                          <a:pt x="643" y="71"/>
                        </a:lnTo>
                        <a:lnTo>
                          <a:pt x="691" y="52"/>
                        </a:lnTo>
                        <a:lnTo>
                          <a:pt x="741" y="31"/>
                        </a:lnTo>
                        <a:lnTo>
                          <a:pt x="789" y="11"/>
                        </a:lnTo>
                        <a:lnTo>
                          <a:pt x="814" y="4"/>
                        </a:lnTo>
                        <a:lnTo>
                          <a:pt x="839" y="0"/>
                        </a:lnTo>
                        <a:lnTo>
                          <a:pt x="864" y="0"/>
                        </a:lnTo>
                        <a:lnTo>
                          <a:pt x="889" y="0"/>
                        </a:lnTo>
                        <a:lnTo>
                          <a:pt x="912" y="4"/>
                        </a:lnTo>
                        <a:lnTo>
                          <a:pt x="937" y="9"/>
                        </a:lnTo>
                        <a:lnTo>
                          <a:pt x="960" y="17"/>
                        </a:lnTo>
                        <a:lnTo>
                          <a:pt x="983" y="25"/>
                        </a:lnTo>
                        <a:lnTo>
                          <a:pt x="981" y="38"/>
                        </a:lnTo>
                        <a:lnTo>
                          <a:pt x="975" y="48"/>
                        </a:lnTo>
                        <a:lnTo>
                          <a:pt x="967" y="56"/>
                        </a:lnTo>
                        <a:lnTo>
                          <a:pt x="958" y="61"/>
                        </a:lnTo>
                        <a:lnTo>
                          <a:pt x="948" y="67"/>
                        </a:lnTo>
                        <a:lnTo>
                          <a:pt x="937" y="69"/>
                        </a:lnTo>
                        <a:lnTo>
                          <a:pt x="925" y="73"/>
                        </a:lnTo>
                        <a:lnTo>
                          <a:pt x="916" y="77"/>
                        </a:lnTo>
                        <a:close/>
                      </a:path>
                    </a:pathLst>
                  </a:custGeom>
                  <a:solidFill>
                    <a:schemeClr val="lt2"/>
                  </a:solidFill>
                  <a:ln cap="flat" cmpd="sng" w="2857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56" name="Google Shape;1056;p24"/>
                  <p:cNvSpPr/>
                  <p:nvPr/>
                </p:nvSpPr>
                <p:spPr>
                  <a:xfrm>
                    <a:off x="4376" y="2802"/>
                    <a:ext cx="88" cy="178"/>
                  </a:xfrm>
                  <a:custGeom>
                    <a:rect b="b" l="l" r="r" t="t"/>
                    <a:pathLst>
                      <a:path extrusionOk="0" h="360" w="178">
                        <a:moveTo>
                          <a:pt x="159" y="360"/>
                        </a:moveTo>
                        <a:lnTo>
                          <a:pt x="159" y="310"/>
                        </a:lnTo>
                        <a:lnTo>
                          <a:pt x="153" y="259"/>
                        </a:lnTo>
                        <a:lnTo>
                          <a:pt x="142" y="207"/>
                        </a:lnTo>
                        <a:lnTo>
                          <a:pt x="126" y="157"/>
                        </a:lnTo>
                        <a:lnTo>
                          <a:pt x="103" y="111"/>
                        </a:lnTo>
                        <a:lnTo>
                          <a:pt x="74" y="69"/>
                        </a:lnTo>
                        <a:lnTo>
                          <a:pt x="40" y="32"/>
                        </a:lnTo>
                        <a:lnTo>
                          <a:pt x="0" y="2"/>
                        </a:lnTo>
                        <a:lnTo>
                          <a:pt x="13" y="0"/>
                        </a:lnTo>
                        <a:lnTo>
                          <a:pt x="26" y="0"/>
                        </a:lnTo>
                        <a:lnTo>
                          <a:pt x="38" y="3"/>
                        </a:lnTo>
                        <a:lnTo>
                          <a:pt x="51" y="9"/>
                        </a:lnTo>
                        <a:lnTo>
                          <a:pt x="63" y="17"/>
                        </a:lnTo>
                        <a:lnTo>
                          <a:pt x="74" y="27"/>
                        </a:lnTo>
                        <a:lnTo>
                          <a:pt x="86" y="34"/>
                        </a:lnTo>
                        <a:lnTo>
                          <a:pt x="95" y="42"/>
                        </a:lnTo>
                        <a:lnTo>
                          <a:pt x="117" y="76"/>
                        </a:lnTo>
                        <a:lnTo>
                          <a:pt x="136" y="113"/>
                        </a:lnTo>
                        <a:lnTo>
                          <a:pt x="153" y="153"/>
                        </a:lnTo>
                        <a:lnTo>
                          <a:pt x="168" y="191"/>
                        </a:lnTo>
                        <a:lnTo>
                          <a:pt x="176" y="234"/>
                        </a:lnTo>
                        <a:lnTo>
                          <a:pt x="178" y="276"/>
                        </a:lnTo>
                        <a:lnTo>
                          <a:pt x="174" y="318"/>
                        </a:lnTo>
                        <a:lnTo>
                          <a:pt x="159" y="360"/>
                        </a:lnTo>
                        <a:close/>
                      </a:path>
                    </a:pathLst>
                  </a:custGeom>
                  <a:solidFill>
                    <a:schemeClr val="lt2"/>
                  </a:solidFill>
                  <a:ln cap="flat" cmpd="sng" w="2857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57" name="Google Shape;1057;p24"/>
                  <p:cNvSpPr/>
                  <p:nvPr/>
                </p:nvSpPr>
                <p:spPr>
                  <a:xfrm>
                    <a:off x="3842" y="2825"/>
                    <a:ext cx="588" cy="399"/>
                  </a:xfrm>
                  <a:custGeom>
                    <a:rect b="b" l="l" r="r" t="t"/>
                    <a:pathLst>
                      <a:path extrusionOk="0" h="805" w="1192">
                        <a:moveTo>
                          <a:pt x="1184" y="331"/>
                        </a:moveTo>
                        <a:lnTo>
                          <a:pt x="1127" y="362"/>
                        </a:lnTo>
                        <a:lnTo>
                          <a:pt x="1069" y="393"/>
                        </a:lnTo>
                        <a:lnTo>
                          <a:pt x="1013" y="422"/>
                        </a:lnTo>
                        <a:lnTo>
                          <a:pt x="956" y="452"/>
                        </a:lnTo>
                        <a:lnTo>
                          <a:pt x="898" y="481"/>
                        </a:lnTo>
                        <a:lnTo>
                          <a:pt x="841" y="512"/>
                        </a:lnTo>
                        <a:lnTo>
                          <a:pt x="783" y="541"/>
                        </a:lnTo>
                        <a:lnTo>
                          <a:pt x="726" y="569"/>
                        </a:lnTo>
                        <a:lnTo>
                          <a:pt x="668" y="598"/>
                        </a:lnTo>
                        <a:lnTo>
                          <a:pt x="610" y="627"/>
                        </a:lnTo>
                        <a:lnTo>
                          <a:pt x="553" y="656"/>
                        </a:lnTo>
                        <a:lnTo>
                          <a:pt x="495" y="683"/>
                        </a:lnTo>
                        <a:lnTo>
                          <a:pt x="436" y="711"/>
                        </a:lnTo>
                        <a:lnTo>
                          <a:pt x="378" y="738"/>
                        </a:lnTo>
                        <a:lnTo>
                          <a:pt x="321" y="765"/>
                        </a:lnTo>
                        <a:lnTo>
                          <a:pt x="261" y="792"/>
                        </a:lnTo>
                        <a:lnTo>
                          <a:pt x="192" y="805"/>
                        </a:lnTo>
                        <a:lnTo>
                          <a:pt x="217" y="794"/>
                        </a:lnTo>
                        <a:lnTo>
                          <a:pt x="232" y="777"/>
                        </a:lnTo>
                        <a:lnTo>
                          <a:pt x="240" y="757"/>
                        </a:lnTo>
                        <a:lnTo>
                          <a:pt x="242" y="736"/>
                        </a:lnTo>
                        <a:lnTo>
                          <a:pt x="240" y="713"/>
                        </a:lnTo>
                        <a:lnTo>
                          <a:pt x="230" y="690"/>
                        </a:lnTo>
                        <a:lnTo>
                          <a:pt x="219" y="671"/>
                        </a:lnTo>
                        <a:lnTo>
                          <a:pt x="205" y="652"/>
                        </a:lnTo>
                        <a:lnTo>
                          <a:pt x="190" y="633"/>
                        </a:lnTo>
                        <a:lnTo>
                          <a:pt x="173" y="613"/>
                        </a:lnTo>
                        <a:lnTo>
                          <a:pt x="154" y="596"/>
                        </a:lnTo>
                        <a:lnTo>
                          <a:pt x="134" y="579"/>
                        </a:lnTo>
                        <a:lnTo>
                          <a:pt x="115" y="565"/>
                        </a:lnTo>
                        <a:lnTo>
                          <a:pt x="94" y="554"/>
                        </a:lnTo>
                        <a:lnTo>
                          <a:pt x="73" y="544"/>
                        </a:lnTo>
                        <a:lnTo>
                          <a:pt x="50" y="537"/>
                        </a:lnTo>
                        <a:lnTo>
                          <a:pt x="35" y="550"/>
                        </a:lnTo>
                        <a:lnTo>
                          <a:pt x="29" y="569"/>
                        </a:lnTo>
                        <a:lnTo>
                          <a:pt x="21" y="585"/>
                        </a:lnTo>
                        <a:lnTo>
                          <a:pt x="0" y="583"/>
                        </a:lnTo>
                        <a:lnTo>
                          <a:pt x="27" y="529"/>
                        </a:lnTo>
                        <a:lnTo>
                          <a:pt x="86" y="491"/>
                        </a:lnTo>
                        <a:lnTo>
                          <a:pt x="148" y="452"/>
                        </a:lnTo>
                        <a:lnTo>
                          <a:pt x="209" y="414"/>
                        </a:lnTo>
                        <a:lnTo>
                          <a:pt x="271" y="379"/>
                        </a:lnTo>
                        <a:lnTo>
                          <a:pt x="332" y="343"/>
                        </a:lnTo>
                        <a:lnTo>
                          <a:pt x="395" y="310"/>
                        </a:lnTo>
                        <a:lnTo>
                          <a:pt x="457" y="276"/>
                        </a:lnTo>
                        <a:lnTo>
                          <a:pt x="520" y="243"/>
                        </a:lnTo>
                        <a:lnTo>
                          <a:pt x="584" y="211"/>
                        </a:lnTo>
                        <a:lnTo>
                          <a:pt x="647" y="180"/>
                        </a:lnTo>
                        <a:lnTo>
                          <a:pt x="710" y="149"/>
                        </a:lnTo>
                        <a:lnTo>
                          <a:pt x="774" y="119"/>
                        </a:lnTo>
                        <a:lnTo>
                          <a:pt x="837" y="88"/>
                        </a:lnTo>
                        <a:lnTo>
                          <a:pt x="900" y="59"/>
                        </a:lnTo>
                        <a:lnTo>
                          <a:pt x="965" y="28"/>
                        </a:lnTo>
                        <a:lnTo>
                          <a:pt x="1029" y="0"/>
                        </a:lnTo>
                        <a:lnTo>
                          <a:pt x="1052" y="5"/>
                        </a:lnTo>
                        <a:lnTo>
                          <a:pt x="1071" y="13"/>
                        </a:lnTo>
                        <a:lnTo>
                          <a:pt x="1090" y="26"/>
                        </a:lnTo>
                        <a:lnTo>
                          <a:pt x="1107" y="40"/>
                        </a:lnTo>
                        <a:lnTo>
                          <a:pt x="1123" y="57"/>
                        </a:lnTo>
                        <a:lnTo>
                          <a:pt x="1136" y="74"/>
                        </a:lnTo>
                        <a:lnTo>
                          <a:pt x="1148" y="94"/>
                        </a:lnTo>
                        <a:lnTo>
                          <a:pt x="1157" y="113"/>
                        </a:lnTo>
                        <a:lnTo>
                          <a:pt x="1173" y="165"/>
                        </a:lnTo>
                        <a:lnTo>
                          <a:pt x="1186" y="218"/>
                        </a:lnTo>
                        <a:lnTo>
                          <a:pt x="1192" y="274"/>
                        </a:lnTo>
                        <a:lnTo>
                          <a:pt x="1184" y="331"/>
                        </a:lnTo>
                        <a:close/>
                      </a:path>
                    </a:pathLst>
                  </a:custGeom>
                  <a:solidFill>
                    <a:schemeClr val="lt2"/>
                  </a:solidFill>
                  <a:ln cap="flat" cmpd="sng" w="2857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58" name="Google Shape;1058;p24"/>
                  <p:cNvSpPr/>
                  <p:nvPr/>
                </p:nvSpPr>
                <p:spPr>
                  <a:xfrm>
                    <a:off x="3638" y="3118"/>
                    <a:ext cx="305" cy="224"/>
                  </a:xfrm>
                  <a:custGeom>
                    <a:rect b="b" l="l" r="r" t="t"/>
                    <a:pathLst>
                      <a:path extrusionOk="0" h="455" w="616">
                        <a:moveTo>
                          <a:pt x="513" y="225"/>
                        </a:moveTo>
                        <a:lnTo>
                          <a:pt x="496" y="242"/>
                        </a:lnTo>
                        <a:lnTo>
                          <a:pt x="480" y="261"/>
                        </a:lnTo>
                        <a:lnTo>
                          <a:pt x="467" y="280"/>
                        </a:lnTo>
                        <a:lnTo>
                          <a:pt x="453" y="300"/>
                        </a:lnTo>
                        <a:lnTo>
                          <a:pt x="442" y="319"/>
                        </a:lnTo>
                        <a:lnTo>
                          <a:pt x="432" y="340"/>
                        </a:lnTo>
                        <a:lnTo>
                          <a:pt x="421" y="359"/>
                        </a:lnTo>
                        <a:lnTo>
                          <a:pt x="411" y="380"/>
                        </a:lnTo>
                        <a:lnTo>
                          <a:pt x="390" y="384"/>
                        </a:lnTo>
                        <a:lnTo>
                          <a:pt x="367" y="386"/>
                        </a:lnTo>
                        <a:lnTo>
                          <a:pt x="346" y="390"/>
                        </a:lnTo>
                        <a:lnTo>
                          <a:pt x="325" y="394"/>
                        </a:lnTo>
                        <a:lnTo>
                          <a:pt x="304" y="397"/>
                        </a:lnTo>
                        <a:lnTo>
                          <a:pt x="282" y="401"/>
                        </a:lnTo>
                        <a:lnTo>
                          <a:pt x="259" y="407"/>
                        </a:lnTo>
                        <a:lnTo>
                          <a:pt x="240" y="411"/>
                        </a:lnTo>
                        <a:lnTo>
                          <a:pt x="219" y="417"/>
                        </a:lnTo>
                        <a:lnTo>
                          <a:pt x="198" y="420"/>
                        </a:lnTo>
                        <a:lnTo>
                          <a:pt x="177" y="426"/>
                        </a:lnTo>
                        <a:lnTo>
                          <a:pt x="156" y="432"/>
                        </a:lnTo>
                        <a:lnTo>
                          <a:pt x="135" y="438"/>
                        </a:lnTo>
                        <a:lnTo>
                          <a:pt x="114" y="443"/>
                        </a:lnTo>
                        <a:lnTo>
                          <a:pt x="94" y="449"/>
                        </a:lnTo>
                        <a:lnTo>
                          <a:pt x="73" y="455"/>
                        </a:lnTo>
                        <a:lnTo>
                          <a:pt x="54" y="438"/>
                        </a:lnTo>
                        <a:lnTo>
                          <a:pt x="87" y="413"/>
                        </a:lnTo>
                        <a:lnTo>
                          <a:pt x="119" y="388"/>
                        </a:lnTo>
                        <a:lnTo>
                          <a:pt x="156" y="367"/>
                        </a:lnTo>
                        <a:lnTo>
                          <a:pt x="192" y="346"/>
                        </a:lnTo>
                        <a:lnTo>
                          <a:pt x="229" y="328"/>
                        </a:lnTo>
                        <a:lnTo>
                          <a:pt x="269" y="313"/>
                        </a:lnTo>
                        <a:lnTo>
                          <a:pt x="307" y="303"/>
                        </a:lnTo>
                        <a:lnTo>
                          <a:pt x="348" y="298"/>
                        </a:lnTo>
                        <a:lnTo>
                          <a:pt x="367" y="280"/>
                        </a:lnTo>
                        <a:lnTo>
                          <a:pt x="378" y="257"/>
                        </a:lnTo>
                        <a:lnTo>
                          <a:pt x="378" y="231"/>
                        </a:lnTo>
                        <a:lnTo>
                          <a:pt x="375" y="206"/>
                        </a:lnTo>
                        <a:lnTo>
                          <a:pt x="365" y="196"/>
                        </a:lnTo>
                        <a:lnTo>
                          <a:pt x="355" y="186"/>
                        </a:lnTo>
                        <a:lnTo>
                          <a:pt x="344" y="179"/>
                        </a:lnTo>
                        <a:lnTo>
                          <a:pt x="332" y="173"/>
                        </a:lnTo>
                        <a:lnTo>
                          <a:pt x="319" y="169"/>
                        </a:lnTo>
                        <a:lnTo>
                          <a:pt x="307" y="169"/>
                        </a:lnTo>
                        <a:lnTo>
                          <a:pt x="294" y="175"/>
                        </a:lnTo>
                        <a:lnTo>
                          <a:pt x="282" y="183"/>
                        </a:lnTo>
                        <a:lnTo>
                          <a:pt x="273" y="188"/>
                        </a:lnTo>
                        <a:lnTo>
                          <a:pt x="263" y="196"/>
                        </a:lnTo>
                        <a:lnTo>
                          <a:pt x="252" y="206"/>
                        </a:lnTo>
                        <a:lnTo>
                          <a:pt x="242" y="215"/>
                        </a:lnTo>
                        <a:lnTo>
                          <a:pt x="235" y="227"/>
                        </a:lnTo>
                        <a:lnTo>
                          <a:pt x="231" y="238"/>
                        </a:lnTo>
                        <a:lnTo>
                          <a:pt x="233" y="252"/>
                        </a:lnTo>
                        <a:lnTo>
                          <a:pt x="238" y="265"/>
                        </a:lnTo>
                        <a:lnTo>
                          <a:pt x="211" y="284"/>
                        </a:lnTo>
                        <a:lnTo>
                          <a:pt x="185" y="303"/>
                        </a:lnTo>
                        <a:lnTo>
                          <a:pt x="156" y="325"/>
                        </a:lnTo>
                        <a:lnTo>
                          <a:pt x="127" y="344"/>
                        </a:lnTo>
                        <a:lnTo>
                          <a:pt x="98" y="361"/>
                        </a:lnTo>
                        <a:lnTo>
                          <a:pt x="68" y="376"/>
                        </a:lnTo>
                        <a:lnTo>
                          <a:pt x="39" y="390"/>
                        </a:lnTo>
                        <a:lnTo>
                          <a:pt x="8" y="397"/>
                        </a:lnTo>
                        <a:lnTo>
                          <a:pt x="4" y="397"/>
                        </a:lnTo>
                        <a:lnTo>
                          <a:pt x="2" y="390"/>
                        </a:lnTo>
                        <a:lnTo>
                          <a:pt x="2" y="382"/>
                        </a:lnTo>
                        <a:lnTo>
                          <a:pt x="0" y="374"/>
                        </a:lnTo>
                        <a:lnTo>
                          <a:pt x="37" y="351"/>
                        </a:lnTo>
                        <a:lnTo>
                          <a:pt x="68" y="323"/>
                        </a:lnTo>
                        <a:lnTo>
                          <a:pt x="96" y="290"/>
                        </a:lnTo>
                        <a:lnTo>
                          <a:pt x="121" y="255"/>
                        </a:lnTo>
                        <a:lnTo>
                          <a:pt x="146" y="221"/>
                        </a:lnTo>
                        <a:lnTo>
                          <a:pt x="169" y="185"/>
                        </a:lnTo>
                        <a:lnTo>
                          <a:pt x="190" y="150"/>
                        </a:lnTo>
                        <a:lnTo>
                          <a:pt x="213" y="117"/>
                        </a:lnTo>
                        <a:lnTo>
                          <a:pt x="248" y="108"/>
                        </a:lnTo>
                        <a:lnTo>
                          <a:pt x="282" y="98"/>
                        </a:lnTo>
                        <a:lnTo>
                          <a:pt x="317" y="87"/>
                        </a:lnTo>
                        <a:lnTo>
                          <a:pt x="350" y="75"/>
                        </a:lnTo>
                        <a:lnTo>
                          <a:pt x="384" y="62"/>
                        </a:lnTo>
                        <a:lnTo>
                          <a:pt x="415" y="44"/>
                        </a:lnTo>
                        <a:lnTo>
                          <a:pt x="446" y="23"/>
                        </a:lnTo>
                        <a:lnTo>
                          <a:pt x="474" y="0"/>
                        </a:lnTo>
                        <a:lnTo>
                          <a:pt x="499" y="10"/>
                        </a:lnTo>
                        <a:lnTo>
                          <a:pt x="522" y="23"/>
                        </a:lnTo>
                        <a:lnTo>
                          <a:pt x="545" y="39"/>
                        </a:lnTo>
                        <a:lnTo>
                          <a:pt x="567" y="56"/>
                        </a:lnTo>
                        <a:lnTo>
                          <a:pt x="584" y="77"/>
                        </a:lnTo>
                        <a:lnTo>
                          <a:pt x="599" y="100"/>
                        </a:lnTo>
                        <a:lnTo>
                          <a:pt x="611" y="123"/>
                        </a:lnTo>
                        <a:lnTo>
                          <a:pt x="616" y="150"/>
                        </a:lnTo>
                        <a:lnTo>
                          <a:pt x="513" y="225"/>
                        </a:lnTo>
                        <a:close/>
                      </a:path>
                    </a:pathLst>
                  </a:custGeom>
                  <a:solidFill>
                    <a:schemeClr val="lt2"/>
                  </a:solidFill>
                  <a:ln cap="flat" cmpd="sng" w="2857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59" name="Google Shape;1059;p24"/>
                  <p:cNvSpPr/>
                  <p:nvPr/>
                </p:nvSpPr>
                <p:spPr>
                  <a:xfrm>
                    <a:off x="3772" y="3221"/>
                    <a:ext cx="36" cy="31"/>
                  </a:xfrm>
                  <a:custGeom>
                    <a:rect b="b" l="l" r="r" t="t"/>
                    <a:pathLst>
                      <a:path extrusionOk="0" h="65" w="75">
                        <a:moveTo>
                          <a:pt x="65" y="63"/>
                        </a:moveTo>
                        <a:lnTo>
                          <a:pt x="54" y="65"/>
                        </a:lnTo>
                        <a:lnTo>
                          <a:pt x="44" y="63"/>
                        </a:lnTo>
                        <a:lnTo>
                          <a:pt x="35" y="59"/>
                        </a:lnTo>
                        <a:lnTo>
                          <a:pt x="25" y="55"/>
                        </a:lnTo>
                        <a:lnTo>
                          <a:pt x="17" y="47"/>
                        </a:lnTo>
                        <a:lnTo>
                          <a:pt x="12" y="40"/>
                        </a:lnTo>
                        <a:lnTo>
                          <a:pt x="6" y="32"/>
                        </a:lnTo>
                        <a:lnTo>
                          <a:pt x="0" y="24"/>
                        </a:lnTo>
                        <a:lnTo>
                          <a:pt x="8" y="9"/>
                        </a:lnTo>
                        <a:lnTo>
                          <a:pt x="23" y="0"/>
                        </a:lnTo>
                        <a:lnTo>
                          <a:pt x="38" y="0"/>
                        </a:lnTo>
                        <a:lnTo>
                          <a:pt x="54" y="5"/>
                        </a:lnTo>
                        <a:lnTo>
                          <a:pt x="67" y="15"/>
                        </a:lnTo>
                        <a:lnTo>
                          <a:pt x="75" y="28"/>
                        </a:lnTo>
                        <a:lnTo>
                          <a:pt x="75" y="46"/>
                        </a:lnTo>
                        <a:lnTo>
                          <a:pt x="65" y="63"/>
                        </a:lnTo>
                        <a:close/>
                      </a:path>
                    </a:pathLst>
                  </a:custGeom>
                  <a:solidFill>
                    <a:schemeClr val="lt2"/>
                  </a:solidFill>
                  <a:ln cap="flat" cmpd="sng" w="2857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1060" name="Google Shape;1060;p24"/>
                <p:cNvSpPr/>
                <p:nvPr/>
              </p:nvSpPr>
              <p:spPr>
                <a:xfrm>
                  <a:off x="4143" y="2928"/>
                  <a:ext cx="420" cy="262"/>
                </a:xfrm>
                <a:custGeom>
                  <a:rect b="b" l="l" r="r" t="t"/>
                  <a:pathLst>
                    <a:path extrusionOk="0" h="825" w="1326">
                      <a:moveTo>
                        <a:pt x="1044" y="403"/>
                      </a:moveTo>
                      <a:lnTo>
                        <a:pt x="992" y="430"/>
                      </a:lnTo>
                      <a:lnTo>
                        <a:pt x="940" y="457"/>
                      </a:lnTo>
                      <a:lnTo>
                        <a:pt x="888" y="484"/>
                      </a:lnTo>
                      <a:lnTo>
                        <a:pt x="838" y="511"/>
                      </a:lnTo>
                      <a:lnTo>
                        <a:pt x="788" y="539"/>
                      </a:lnTo>
                      <a:lnTo>
                        <a:pt x="738" y="566"/>
                      </a:lnTo>
                      <a:lnTo>
                        <a:pt x="687" y="595"/>
                      </a:lnTo>
                      <a:lnTo>
                        <a:pt x="637" y="622"/>
                      </a:lnTo>
                      <a:lnTo>
                        <a:pt x="587" y="649"/>
                      </a:lnTo>
                      <a:lnTo>
                        <a:pt x="537" y="676"/>
                      </a:lnTo>
                      <a:lnTo>
                        <a:pt x="487" y="703"/>
                      </a:lnTo>
                      <a:lnTo>
                        <a:pt x="435" y="729"/>
                      </a:lnTo>
                      <a:lnTo>
                        <a:pt x="383" y="754"/>
                      </a:lnTo>
                      <a:lnTo>
                        <a:pt x="332" y="779"/>
                      </a:lnTo>
                      <a:lnTo>
                        <a:pt x="278" y="802"/>
                      </a:lnTo>
                      <a:lnTo>
                        <a:pt x="224" y="825"/>
                      </a:lnTo>
                      <a:lnTo>
                        <a:pt x="180" y="825"/>
                      </a:lnTo>
                      <a:lnTo>
                        <a:pt x="184" y="779"/>
                      </a:lnTo>
                      <a:lnTo>
                        <a:pt x="186" y="731"/>
                      </a:lnTo>
                      <a:lnTo>
                        <a:pt x="186" y="681"/>
                      </a:lnTo>
                      <a:lnTo>
                        <a:pt x="182" y="633"/>
                      </a:lnTo>
                      <a:lnTo>
                        <a:pt x="172" y="586"/>
                      </a:lnTo>
                      <a:lnTo>
                        <a:pt x="155" y="541"/>
                      </a:lnTo>
                      <a:lnTo>
                        <a:pt x="130" y="501"/>
                      </a:lnTo>
                      <a:lnTo>
                        <a:pt x="92" y="467"/>
                      </a:lnTo>
                      <a:lnTo>
                        <a:pt x="82" y="453"/>
                      </a:lnTo>
                      <a:lnTo>
                        <a:pt x="69" y="445"/>
                      </a:lnTo>
                      <a:lnTo>
                        <a:pt x="55" y="440"/>
                      </a:lnTo>
                      <a:lnTo>
                        <a:pt x="40" y="434"/>
                      </a:lnTo>
                      <a:lnTo>
                        <a:pt x="25" y="430"/>
                      </a:lnTo>
                      <a:lnTo>
                        <a:pt x="13" y="426"/>
                      </a:lnTo>
                      <a:lnTo>
                        <a:pt x="3" y="421"/>
                      </a:lnTo>
                      <a:lnTo>
                        <a:pt x="0" y="411"/>
                      </a:lnTo>
                      <a:lnTo>
                        <a:pt x="251" y="275"/>
                      </a:lnTo>
                      <a:lnTo>
                        <a:pt x="238" y="304"/>
                      </a:lnTo>
                      <a:lnTo>
                        <a:pt x="220" y="336"/>
                      </a:lnTo>
                      <a:lnTo>
                        <a:pt x="209" y="374"/>
                      </a:lnTo>
                      <a:lnTo>
                        <a:pt x="211" y="411"/>
                      </a:lnTo>
                      <a:lnTo>
                        <a:pt x="224" y="424"/>
                      </a:lnTo>
                      <a:lnTo>
                        <a:pt x="241" y="432"/>
                      </a:lnTo>
                      <a:lnTo>
                        <a:pt x="259" y="438"/>
                      </a:lnTo>
                      <a:lnTo>
                        <a:pt x="278" y="438"/>
                      </a:lnTo>
                      <a:lnTo>
                        <a:pt x="297" y="436"/>
                      </a:lnTo>
                      <a:lnTo>
                        <a:pt x="318" y="434"/>
                      </a:lnTo>
                      <a:lnTo>
                        <a:pt x="335" y="432"/>
                      </a:lnTo>
                      <a:lnTo>
                        <a:pt x="353" y="430"/>
                      </a:lnTo>
                      <a:lnTo>
                        <a:pt x="368" y="421"/>
                      </a:lnTo>
                      <a:lnTo>
                        <a:pt x="383" y="411"/>
                      </a:lnTo>
                      <a:lnTo>
                        <a:pt x="397" y="401"/>
                      </a:lnTo>
                      <a:lnTo>
                        <a:pt x="408" y="390"/>
                      </a:lnTo>
                      <a:lnTo>
                        <a:pt x="420" y="376"/>
                      </a:lnTo>
                      <a:lnTo>
                        <a:pt x="431" y="363"/>
                      </a:lnTo>
                      <a:lnTo>
                        <a:pt x="441" y="350"/>
                      </a:lnTo>
                      <a:lnTo>
                        <a:pt x="449" y="334"/>
                      </a:lnTo>
                      <a:lnTo>
                        <a:pt x="1101" y="33"/>
                      </a:lnTo>
                      <a:lnTo>
                        <a:pt x="1115" y="52"/>
                      </a:lnTo>
                      <a:lnTo>
                        <a:pt x="1130" y="64"/>
                      </a:lnTo>
                      <a:lnTo>
                        <a:pt x="1147" y="66"/>
                      </a:lnTo>
                      <a:lnTo>
                        <a:pt x="1166" y="64"/>
                      </a:lnTo>
                      <a:lnTo>
                        <a:pt x="1186" y="58"/>
                      </a:lnTo>
                      <a:lnTo>
                        <a:pt x="1205" y="50"/>
                      </a:lnTo>
                      <a:lnTo>
                        <a:pt x="1224" y="41"/>
                      </a:lnTo>
                      <a:lnTo>
                        <a:pt x="1241" y="33"/>
                      </a:lnTo>
                      <a:lnTo>
                        <a:pt x="1255" y="20"/>
                      </a:lnTo>
                      <a:lnTo>
                        <a:pt x="1268" y="6"/>
                      </a:lnTo>
                      <a:lnTo>
                        <a:pt x="1282" y="0"/>
                      </a:lnTo>
                      <a:lnTo>
                        <a:pt x="1297" y="14"/>
                      </a:lnTo>
                      <a:lnTo>
                        <a:pt x="1320" y="50"/>
                      </a:lnTo>
                      <a:lnTo>
                        <a:pt x="1326" y="93"/>
                      </a:lnTo>
                      <a:lnTo>
                        <a:pt x="1322" y="139"/>
                      </a:lnTo>
                      <a:lnTo>
                        <a:pt x="1310" y="179"/>
                      </a:lnTo>
                      <a:lnTo>
                        <a:pt x="1282" y="215"/>
                      </a:lnTo>
                      <a:lnTo>
                        <a:pt x="1253" y="248"/>
                      </a:lnTo>
                      <a:lnTo>
                        <a:pt x="1220" y="279"/>
                      </a:lnTo>
                      <a:lnTo>
                        <a:pt x="1188" y="305"/>
                      </a:lnTo>
                      <a:lnTo>
                        <a:pt x="1153" y="330"/>
                      </a:lnTo>
                      <a:lnTo>
                        <a:pt x="1117" y="355"/>
                      </a:lnTo>
                      <a:lnTo>
                        <a:pt x="1080" y="378"/>
                      </a:lnTo>
                      <a:lnTo>
                        <a:pt x="1044" y="403"/>
                      </a:lnTo>
                      <a:close/>
                    </a:path>
                  </a:pathLst>
                </a:custGeom>
                <a:solidFill>
                  <a:srgbClr val="00CC66"/>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61" name="Google Shape;1061;p24"/>
                <p:cNvSpPr/>
                <p:nvPr/>
              </p:nvSpPr>
              <p:spPr>
                <a:xfrm>
                  <a:off x="4223" y="2910"/>
                  <a:ext cx="311" cy="144"/>
                </a:xfrm>
                <a:custGeom>
                  <a:rect b="b" l="l" r="r" t="t"/>
                  <a:pathLst>
                    <a:path extrusionOk="0" h="456" w="983">
                      <a:moveTo>
                        <a:pt x="916" y="77"/>
                      </a:moveTo>
                      <a:lnTo>
                        <a:pt x="916" y="32"/>
                      </a:lnTo>
                      <a:lnTo>
                        <a:pt x="868" y="52"/>
                      </a:lnTo>
                      <a:lnTo>
                        <a:pt x="818" y="69"/>
                      </a:lnTo>
                      <a:lnTo>
                        <a:pt x="770" y="90"/>
                      </a:lnTo>
                      <a:lnTo>
                        <a:pt x="722" y="109"/>
                      </a:lnTo>
                      <a:lnTo>
                        <a:pt x="674" y="128"/>
                      </a:lnTo>
                      <a:lnTo>
                        <a:pt x="626" y="150"/>
                      </a:lnTo>
                      <a:lnTo>
                        <a:pt x="578" y="171"/>
                      </a:lnTo>
                      <a:lnTo>
                        <a:pt x="530" y="192"/>
                      </a:lnTo>
                      <a:lnTo>
                        <a:pt x="482" y="211"/>
                      </a:lnTo>
                      <a:lnTo>
                        <a:pt x="436" y="232"/>
                      </a:lnTo>
                      <a:lnTo>
                        <a:pt x="388" y="251"/>
                      </a:lnTo>
                      <a:lnTo>
                        <a:pt x="338" y="272"/>
                      </a:lnTo>
                      <a:lnTo>
                        <a:pt x="290" y="291"/>
                      </a:lnTo>
                      <a:lnTo>
                        <a:pt x="242" y="311"/>
                      </a:lnTo>
                      <a:lnTo>
                        <a:pt x="194" y="328"/>
                      </a:lnTo>
                      <a:lnTo>
                        <a:pt x="144" y="345"/>
                      </a:lnTo>
                      <a:lnTo>
                        <a:pt x="136" y="355"/>
                      </a:lnTo>
                      <a:lnTo>
                        <a:pt x="134" y="366"/>
                      </a:lnTo>
                      <a:lnTo>
                        <a:pt x="138" y="376"/>
                      </a:lnTo>
                      <a:lnTo>
                        <a:pt x="142" y="384"/>
                      </a:lnTo>
                      <a:lnTo>
                        <a:pt x="148" y="393"/>
                      </a:lnTo>
                      <a:lnTo>
                        <a:pt x="148" y="403"/>
                      </a:lnTo>
                      <a:lnTo>
                        <a:pt x="146" y="412"/>
                      </a:lnTo>
                      <a:lnTo>
                        <a:pt x="134" y="422"/>
                      </a:lnTo>
                      <a:lnTo>
                        <a:pt x="121" y="430"/>
                      </a:lnTo>
                      <a:lnTo>
                        <a:pt x="106" y="437"/>
                      </a:lnTo>
                      <a:lnTo>
                        <a:pt x="90" y="445"/>
                      </a:lnTo>
                      <a:lnTo>
                        <a:pt x="75" y="451"/>
                      </a:lnTo>
                      <a:lnTo>
                        <a:pt x="60" y="455"/>
                      </a:lnTo>
                      <a:lnTo>
                        <a:pt x="42" y="456"/>
                      </a:lnTo>
                      <a:lnTo>
                        <a:pt x="25" y="455"/>
                      </a:lnTo>
                      <a:lnTo>
                        <a:pt x="8" y="449"/>
                      </a:lnTo>
                      <a:lnTo>
                        <a:pt x="0" y="424"/>
                      </a:lnTo>
                      <a:lnTo>
                        <a:pt x="8" y="403"/>
                      </a:lnTo>
                      <a:lnTo>
                        <a:pt x="19" y="382"/>
                      </a:lnTo>
                      <a:lnTo>
                        <a:pt x="25" y="359"/>
                      </a:lnTo>
                      <a:lnTo>
                        <a:pt x="71" y="330"/>
                      </a:lnTo>
                      <a:lnTo>
                        <a:pt x="115" y="303"/>
                      </a:lnTo>
                      <a:lnTo>
                        <a:pt x="163" y="278"/>
                      </a:lnTo>
                      <a:lnTo>
                        <a:pt x="209" y="253"/>
                      </a:lnTo>
                      <a:lnTo>
                        <a:pt x="257" y="230"/>
                      </a:lnTo>
                      <a:lnTo>
                        <a:pt x="303" y="209"/>
                      </a:lnTo>
                      <a:lnTo>
                        <a:pt x="351" y="188"/>
                      </a:lnTo>
                      <a:lnTo>
                        <a:pt x="399" y="167"/>
                      </a:lnTo>
                      <a:lnTo>
                        <a:pt x="447" y="148"/>
                      </a:lnTo>
                      <a:lnTo>
                        <a:pt x="497" y="128"/>
                      </a:lnTo>
                      <a:lnTo>
                        <a:pt x="545" y="107"/>
                      </a:lnTo>
                      <a:lnTo>
                        <a:pt x="593" y="90"/>
                      </a:lnTo>
                      <a:lnTo>
                        <a:pt x="643" y="71"/>
                      </a:lnTo>
                      <a:lnTo>
                        <a:pt x="691" y="52"/>
                      </a:lnTo>
                      <a:lnTo>
                        <a:pt x="741" y="31"/>
                      </a:lnTo>
                      <a:lnTo>
                        <a:pt x="789" y="11"/>
                      </a:lnTo>
                      <a:lnTo>
                        <a:pt x="814" y="4"/>
                      </a:lnTo>
                      <a:lnTo>
                        <a:pt x="839" y="0"/>
                      </a:lnTo>
                      <a:lnTo>
                        <a:pt x="864" y="0"/>
                      </a:lnTo>
                      <a:lnTo>
                        <a:pt x="889" y="0"/>
                      </a:lnTo>
                      <a:lnTo>
                        <a:pt x="912" y="4"/>
                      </a:lnTo>
                      <a:lnTo>
                        <a:pt x="937" y="9"/>
                      </a:lnTo>
                      <a:lnTo>
                        <a:pt x="960" y="17"/>
                      </a:lnTo>
                      <a:lnTo>
                        <a:pt x="983" y="25"/>
                      </a:lnTo>
                      <a:lnTo>
                        <a:pt x="981" y="38"/>
                      </a:lnTo>
                      <a:lnTo>
                        <a:pt x="975" y="48"/>
                      </a:lnTo>
                      <a:lnTo>
                        <a:pt x="967" y="56"/>
                      </a:lnTo>
                      <a:lnTo>
                        <a:pt x="958" y="61"/>
                      </a:lnTo>
                      <a:lnTo>
                        <a:pt x="948" y="67"/>
                      </a:lnTo>
                      <a:lnTo>
                        <a:pt x="937" y="69"/>
                      </a:lnTo>
                      <a:lnTo>
                        <a:pt x="925" y="73"/>
                      </a:lnTo>
                      <a:lnTo>
                        <a:pt x="916" y="77"/>
                      </a:lnTo>
                      <a:close/>
                    </a:path>
                  </a:pathLst>
                </a:custGeom>
                <a:solidFill>
                  <a:srgbClr val="FFC4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62" name="Google Shape;1062;p24"/>
                <p:cNvSpPr/>
                <p:nvPr/>
              </p:nvSpPr>
              <p:spPr>
                <a:xfrm>
                  <a:off x="4136" y="3076"/>
                  <a:ext cx="56" cy="114"/>
                </a:xfrm>
                <a:custGeom>
                  <a:rect b="b" l="l" r="r" t="t"/>
                  <a:pathLst>
                    <a:path extrusionOk="0" h="360" w="178">
                      <a:moveTo>
                        <a:pt x="159" y="360"/>
                      </a:moveTo>
                      <a:lnTo>
                        <a:pt x="159" y="310"/>
                      </a:lnTo>
                      <a:lnTo>
                        <a:pt x="153" y="259"/>
                      </a:lnTo>
                      <a:lnTo>
                        <a:pt x="142" y="207"/>
                      </a:lnTo>
                      <a:lnTo>
                        <a:pt x="126" y="157"/>
                      </a:lnTo>
                      <a:lnTo>
                        <a:pt x="103" y="111"/>
                      </a:lnTo>
                      <a:lnTo>
                        <a:pt x="74" y="69"/>
                      </a:lnTo>
                      <a:lnTo>
                        <a:pt x="40" y="32"/>
                      </a:lnTo>
                      <a:lnTo>
                        <a:pt x="0" y="2"/>
                      </a:lnTo>
                      <a:lnTo>
                        <a:pt x="13" y="0"/>
                      </a:lnTo>
                      <a:lnTo>
                        <a:pt x="26" y="0"/>
                      </a:lnTo>
                      <a:lnTo>
                        <a:pt x="38" y="3"/>
                      </a:lnTo>
                      <a:lnTo>
                        <a:pt x="51" y="9"/>
                      </a:lnTo>
                      <a:lnTo>
                        <a:pt x="63" y="17"/>
                      </a:lnTo>
                      <a:lnTo>
                        <a:pt x="74" y="27"/>
                      </a:lnTo>
                      <a:lnTo>
                        <a:pt x="86" y="34"/>
                      </a:lnTo>
                      <a:lnTo>
                        <a:pt x="95" y="42"/>
                      </a:lnTo>
                      <a:lnTo>
                        <a:pt x="117" y="76"/>
                      </a:lnTo>
                      <a:lnTo>
                        <a:pt x="136" y="113"/>
                      </a:lnTo>
                      <a:lnTo>
                        <a:pt x="153" y="153"/>
                      </a:lnTo>
                      <a:lnTo>
                        <a:pt x="168" y="191"/>
                      </a:lnTo>
                      <a:lnTo>
                        <a:pt x="176" y="234"/>
                      </a:lnTo>
                      <a:lnTo>
                        <a:pt x="178" y="276"/>
                      </a:lnTo>
                      <a:lnTo>
                        <a:pt x="174" y="318"/>
                      </a:lnTo>
                      <a:lnTo>
                        <a:pt x="159" y="360"/>
                      </a:lnTo>
                      <a:close/>
                    </a:path>
                  </a:pathLst>
                </a:custGeom>
                <a:solidFill>
                  <a:srgbClr val="FFC4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63" name="Google Shape;1063;p24"/>
                <p:cNvSpPr/>
                <p:nvPr/>
              </p:nvSpPr>
              <p:spPr>
                <a:xfrm>
                  <a:off x="3793" y="3090"/>
                  <a:ext cx="378" cy="256"/>
                </a:xfrm>
                <a:custGeom>
                  <a:rect b="b" l="l" r="r" t="t"/>
                  <a:pathLst>
                    <a:path extrusionOk="0" h="805" w="1192">
                      <a:moveTo>
                        <a:pt x="1184" y="331"/>
                      </a:moveTo>
                      <a:lnTo>
                        <a:pt x="1127" y="362"/>
                      </a:lnTo>
                      <a:lnTo>
                        <a:pt x="1069" y="393"/>
                      </a:lnTo>
                      <a:lnTo>
                        <a:pt x="1013" y="422"/>
                      </a:lnTo>
                      <a:lnTo>
                        <a:pt x="956" y="452"/>
                      </a:lnTo>
                      <a:lnTo>
                        <a:pt x="898" y="481"/>
                      </a:lnTo>
                      <a:lnTo>
                        <a:pt x="841" y="512"/>
                      </a:lnTo>
                      <a:lnTo>
                        <a:pt x="783" y="541"/>
                      </a:lnTo>
                      <a:lnTo>
                        <a:pt x="726" y="569"/>
                      </a:lnTo>
                      <a:lnTo>
                        <a:pt x="668" y="598"/>
                      </a:lnTo>
                      <a:lnTo>
                        <a:pt x="610" y="627"/>
                      </a:lnTo>
                      <a:lnTo>
                        <a:pt x="553" y="656"/>
                      </a:lnTo>
                      <a:lnTo>
                        <a:pt x="495" y="683"/>
                      </a:lnTo>
                      <a:lnTo>
                        <a:pt x="436" y="711"/>
                      </a:lnTo>
                      <a:lnTo>
                        <a:pt x="378" y="738"/>
                      </a:lnTo>
                      <a:lnTo>
                        <a:pt x="321" y="765"/>
                      </a:lnTo>
                      <a:lnTo>
                        <a:pt x="261" y="792"/>
                      </a:lnTo>
                      <a:lnTo>
                        <a:pt x="192" y="805"/>
                      </a:lnTo>
                      <a:lnTo>
                        <a:pt x="217" y="794"/>
                      </a:lnTo>
                      <a:lnTo>
                        <a:pt x="232" y="777"/>
                      </a:lnTo>
                      <a:lnTo>
                        <a:pt x="240" y="757"/>
                      </a:lnTo>
                      <a:lnTo>
                        <a:pt x="242" y="736"/>
                      </a:lnTo>
                      <a:lnTo>
                        <a:pt x="240" y="713"/>
                      </a:lnTo>
                      <a:lnTo>
                        <a:pt x="230" y="690"/>
                      </a:lnTo>
                      <a:lnTo>
                        <a:pt x="219" y="671"/>
                      </a:lnTo>
                      <a:lnTo>
                        <a:pt x="205" y="652"/>
                      </a:lnTo>
                      <a:lnTo>
                        <a:pt x="190" y="633"/>
                      </a:lnTo>
                      <a:lnTo>
                        <a:pt x="173" y="613"/>
                      </a:lnTo>
                      <a:lnTo>
                        <a:pt x="154" y="596"/>
                      </a:lnTo>
                      <a:lnTo>
                        <a:pt x="134" y="579"/>
                      </a:lnTo>
                      <a:lnTo>
                        <a:pt x="115" y="565"/>
                      </a:lnTo>
                      <a:lnTo>
                        <a:pt x="94" y="554"/>
                      </a:lnTo>
                      <a:lnTo>
                        <a:pt x="73" y="544"/>
                      </a:lnTo>
                      <a:lnTo>
                        <a:pt x="50" y="537"/>
                      </a:lnTo>
                      <a:lnTo>
                        <a:pt x="35" y="550"/>
                      </a:lnTo>
                      <a:lnTo>
                        <a:pt x="29" y="569"/>
                      </a:lnTo>
                      <a:lnTo>
                        <a:pt x="21" y="585"/>
                      </a:lnTo>
                      <a:lnTo>
                        <a:pt x="0" y="583"/>
                      </a:lnTo>
                      <a:lnTo>
                        <a:pt x="27" y="529"/>
                      </a:lnTo>
                      <a:lnTo>
                        <a:pt x="86" y="491"/>
                      </a:lnTo>
                      <a:lnTo>
                        <a:pt x="148" y="452"/>
                      </a:lnTo>
                      <a:lnTo>
                        <a:pt x="209" y="414"/>
                      </a:lnTo>
                      <a:lnTo>
                        <a:pt x="271" y="379"/>
                      </a:lnTo>
                      <a:lnTo>
                        <a:pt x="332" y="343"/>
                      </a:lnTo>
                      <a:lnTo>
                        <a:pt x="395" y="310"/>
                      </a:lnTo>
                      <a:lnTo>
                        <a:pt x="457" y="276"/>
                      </a:lnTo>
                      <a:lnTo>
                        <a:pt x="520" y="243"/>
                      </a:lnTo>
                      <a:lnTo>
                        <a:pt x="584" y="211"/>
                      </a:lnTo>
                      <a:lnTo>
                        <a:pt x="647" y="180"/>
                      </a:lnTo>
                      <a:lnTo>
                        <a:pt x="710" y="149"/>
                      </a:lnTo>
                      <a:lnTo>
                        <a:pt x="774" y="119"/>
                      </a:lnTo>
                      <a:lnTo>
                        <a:pt x="837" y="88"/>
                      </a:lnTo>
                      <a:lnTo>
                        <a:pt x="900" y="59"/>
                      </a:lnTo>
                      <a:lnTo>
                        <a:pt x="965" y="28"/>
                      </a:lnTo>
                      <a:lnTo>
                        <a:pt x="1029" y="0"/>
                      </a:lnTo>
                      <a:lnTo>
                        <a:pt x="1052" y="5"/>
                      </a:lnTo>
                      <a:lnTo>
                        <a:pt x="1071" y="13"/>
                      </a:lnTo>
                      <a:lnTo>
                        <a:pt x="1090" y="26"/>
                      </a:lnTo>
                      <a:lnTo>
                        <a:pt x="1107" y="40"/>
                      </a:lnTo>
                      <a:lnTo>
                        <a:pt x="1123" y="57"/>
                      </a:lnTo>
                      <a:lnTo>
                        <a:pt x="1136" y="74"/>
                      </a:lnTo>
                      <a:lnTo>
                        <a:pt x="1148" y="94"/>
                      </a:lnTo>
                      <a:lnTo>
                        <a:pt x="1157" y="113"/>
                      </a:lnTo>
                      <a:lnTo>
                        <a:pt x="1173" y="165"/>
                      </a:lnTo>
                      <a:lnTo>
                        <a:pt x="1186" y="218"/>
                      </a:lnTo>
                      <a:lnTo>
                        <a:pt x="1192" y="274"/>
                      </a:lnTo>
                      <a:lnTo>
                        <a:pt x="1184" y="331"/>
                      </a:lnTo>
                      <a:close/>
                    </a:path>
                  </a:pathLst>
                </a:custGeom>
                <a:solidFill>
                  <a:srgbClr val="00CC66"/>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64" name="Google Shape;1064;p24"/>
                <p:cNvSpPr/>
                <p:nvPr/>
              </p:nvSpPr>
              <p:spPr>
                <a:xfrm>
                  <a:off x="3662" y="3278"/>
                  <a:ext cx="196" cy="144"/>
                </a:xfrm>
                <a:custGeom>
                  <a:rect b="b" l="l" r="r" t="t"/>
                  <a:pathLst>
                    <a:path extrusionOk="0" h="455" w="616">
                      <a:moveTo>
                        <a:pt x="513" y="225"/>
                      </a:moveTo>
                      <a:lnTo>
                        <a:pt x="496" y="242"/>
                      </a:lnTo>
                      <a:lnTo>
                        <a:pt x="480" y="261"/>
                      </a:lnTo>
                      <a:lnTo>
                        <a:pt x="467" y="280"/>
                      </a:lnTo>
                      <a:lnTo>
                        <a:pt x="453" y="300"/>
                      </a:lnTo>
                      <a:lnTo>
                        <a:pt x="442" y="319"/>
                      </a:lnTo>
                      <a:lnTo>
                        <a:pt x="432" y="340"/>
                      </a:lnTo>
                      <a:lnTo>
                        <a:pt x="421" y="359"/>
                      </a:lnTo>
                      <a:lnTo>
                        <a:pt x="411" y="380"/>
                      </a:lnTo>
                      <a:lnTo>
                        <a:pt x="390" y="384"/>
                      </a:lnTo>
                      <a:lnTo>
                        <a:pt x="367" y="386"/>
                      </a:lnTo>
                      <a:lnTo>
                        <a:pt x="346" y="390"/>
                      </a:lnTo>
                      <a:lnTo>
                        <a:pt x="325" y="394"/>
                      </a:lnTo>
                      <a:lnTo>
                        <a:pt x="304" y="397"/>
                      </a:lnTo>
                      <a:lnTo>
                        <a:pt x="282" y="401"/>
                      </a:lnTo>
                      <a:lnTo>
                        <a:pt x="259" y="407"/>
                      </a:lnTo>
                      <a:lnTo>
                        <a:pt x="240" y="411"/>
                      </a:lnTo>
                      <a:lnTo>
                        <a:pt x="219" y="417"/>
                      </a:lnTo>
                      <a:lnTo>
                        <a:pt x="198" y="420"/>
                      </a:lnTo>
                      <a:lnTo>
                        <a:pt x="177" y="426"/>
                      </a:lnTo>
                      <a:lnTo>
                        <a:pt x="156" y="432"/>
                      </a:lnTo>
                      <a:lnTo>
                        <a:pt x="135" y="438"/>
                      </a:lnTo>
                      <a:lnTo>
                        <a:pt x="114" y="443"/>
                      </a:lnTo>
                      <a:lnTo>
                        <a:pt x="94" y="449"/>
                      </a:lnTo>
                      <a:lnTo>
                        <a:pt x="73" y="455"/>
                      </a:lnTo>
                      <a:lnTo>
                        <a:pt x="54" y="438"/>
                      </a:lnTo>
                      <a:lnTo>
                        <a:pt x="87" y="413"/>
                      </a:lnTo>
                      <a:lnTo>
                        <a:pt x="119" y="388"/>
                      </a:lnTo>
                      <a:lnTo>
                        <a:pt x="156" y="367"/>
                      </a:lnTo>
                      <a:lnTo>
                        <a:pt x="192" y="346"/>
                      </a:lnTo>
                      <a:lnTo>
                        <a:pt x="229" y="328"/>
                      </a:lnTo>
                      <a:lnTo>
                        <a:pt x="269" y="313"/>
                      </a:lnTo>
                      <a:lnTo>
                        <a:pt x="307" y="303"/>
                      </a:lnTo>
                      <a:lnTo>
                        <a:pt x="348" y="298"/>
                      </a:lnTo>
                      <a:lnTo>
                        <a:pt x="367" y="280"/>
                      </a:lnTo>
                      <a:lnTo>
                        <a:pt x="378" y="257"/>
                      </a:lnTo>
                      <a:lnTo>
                        <a:pt x="378" y="231"/>
                      </a:lnTo>
                      <a:lnTo>
                        <a:pt x="375" y="206"/>
                      </a:lnTo>
                      <a:lnTo>
                        <a:pt x="365" y="196"/>
                      </a:lnTo>
                      <a:lnTo>
                        <a:pt x="355" y="186"/>
                      </a:lnTo>
                      <a:lnTo>
                        <a:pt x="344" y="179"/>
                      </a:lnTo>
                      <a:lnTo>
                        <a:pt x="332" y="173"/>
                      </a:lnTo>
                      <a:lnTo>
                        <a:pt x="319" y="169"/>
                      </a:lnTo>
                      <a:lnTo>
                        <a:pt x="307" y="169"/>
                      </a:lnTo>
                      <a:lnTo>
                        <a:pt x="294" y="175"/>
                      </a:lnTo>
                      <a:lnTo>
                        <a:pt x="282" y="183"/>
                      </a:lnTo>
                      <a:lnTo>
                        <a:pt x="273" y="188"/>
                      </a:lnTo>
                      <a:lnTo>
                        <a:pt x="263" y="196"/>
                      </a:lnTo>
                      <a:lnTo>
                        <a:pt x="252" y="206"/>
                      </a:lnTo>
                      <a:lnTo>
                        <a:pt x="242" y="215"/>
                      </a:lnTo>
                      <a:lnTo>
                        <a:pt x="235" y="227"/>
                      </a:lnTo>
                      <a:lnTo>
                        <a:pt x="231" y="238"/>
                      </a:lnTo>
                      <a:lnTo>
                        <a:pt x="233" y="252"/>
                      </a:lnTo>
                      <a:lnTo>
                        <a:pt x="238" y="265"/>
                      </a:lnTo>
                      <a:lnTo>
                        <a:pt x="211" y="284"/>
                      </a:lnTo>
                      <a:lnTo>
                        <a:pt x="185" y="303"/>
                      </a:lnTo>
                      <a:lnTo>
                        <a:pt x="156" y="325"/>
                      </a:lnTo>
                      <a:lnTo>
                        <a:pt x="127" y="344"/>
                      </a:lnTo>
                      <a:lnTo>
                        <a:pt x="98" y="361"/>
                      </a:lnTo>
                      <a:lnTo>
                        <a:pt x="68" y="376"/>
                      </a:lnTo>
                      <a:lnTo>
                        <a:pt x="39" y="390"/>
                      </a:lnTo>
                      <a:lnTo>
                        <a:pt x="8" y="397"/>
                      </a:lnTo>
                      <a:lnTo>
                        <a:pt x="4" y="397"/>
                      </a:lnTo>
                      <a:lnTo>
                        <a:pt x="2" y="390"/>
                      </a:lnTo>
                      <a:lnTo>
                        <a:pt x="2" y="382"/>
                      </a:lnTo>
                      <a:lnTo>
                        <a:pt x="0" y="374"/>
                      </a:lnTo>
                      <a:lnTo>
                        <a:pt x="37" y="351"/>
                      </a:lnTo>
                      <a:lnTo>
                        <a:pt x="68" y="323"/>
                      </a:lnTo>
                      <a:lnTo>
                        <a:pt x="96" y="290"/>
                      </a:lnTo>
                      <a:lnTo>
                        <a:pt x="121" y="255"/>
                      </a:lnTo>
                      <a:lnTo>
                        <a:pt x="146" y="221"/>
                      </a:lnTo>
                      <a:lnTo>
                        <a:pt x="169" y="185"/>
                      </a:lnTo>
                      <a:lnTo>
                        <a:pt x="190" y="150"/>
                      </a:lnTo>
                      <a:lnTo>
                        <a:pt x="213" y="117"/>
                      </a:lnTo>
                      <a:lnTo>
                        <a:pt x="248" y="108"/>
                      </a:lnTo>
                      <a:lnTo>
                        <a:pt x="282" y="98"/>
                      </a:lnTo>
                      <a:lnTo>
                        <a:pt x="317" y="87"/>
                      </a:lnTo>
                      <a:lnTo>
                        <a:pt x="350" y="75"/>
                      </a:lnTo>
                      <a:lnTo>
                        <a:pt x="384" y="62"/>
                      </a:lnTo>
                      <a:lnTo>
                        <a:pt x="415" y="44"/>
                      </a:lnTo>
                      <a:lnTo>
                        <a:pt x="446" y="23"/>
                      </a:lnTo>
                      <a:lnTo>
                        <a:pt x="474" y="0"/>
                      </a:lnTo>
                      <a:lnTo>
                        <a:pt x="499" y="10"/>
                      </a:lnTo>
                      <a:lnTo>
                        <a:pt x="522" y="23"/>
                      </a:lnTo>
                      <a:lnTo>
                        <a:pt x="545" y="39"/>
                      </a:lnTo>
                      <a:lnTo>
                        <a:pt x="567" y="56"/>
                      </a:lnTo>
                      <a:lnTo>
                        <a:pt x="584" y="77"/>
                      </a:lnTo>
                      <a:lnTo>
                        <a:pt x="599" y="100"/>
                      </a:lnTo>
                      <a:lnTo>
                        <a:pt x="611" y="123"/>
                      </a:lnTo>
                      <a:lnTo>
                        <a:pt x="616" y="150"/>
                      </a:lnTo>
                      <a:lnTo>
                        <a:pt x="513" y="225"/>
                      </a:lnTo>
                      <a:close/>
                    </a:path>
                  </a:pathLst>
                </a:custGeom>
                <a:solidFill>
                  <a:srgbClr val="FFC400"/>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65" name="Google Shape;1065;p24"/>
                <p:cNvSpPr/>
                <p:nvPr/>
              </p:nvSpPr>
              <p:spPr>
                <a:xfrm>
                  <a:off x="3748" y="3344"/>
                  <a:ext cx="23" cy="20"/>
                </a:xfrm>
                <a:custGeom>
                  <a:rect b="b" l="l" r="r" t="t"/>
                  <a:pathLst>
                    <a:path extrusionOk="0" h="65" w="75">
                      <a:moveTo>
                        <a:pt x="65" y="63"/>
                      </a:moveTo>
                      <a:lnTo>
                        <a:pt x="54" y="65"/>
                      </a:lnTo>
                      <a:lnTo>
                        <a:pt x="44" y="63"/>
                      </a:lnTo>
                      <a:lnTo>
                        <a:pt x="35" y="59"/>
                      </a:lnTo>
                      <a:lnTo>
                        <a:pt x="25" y="55"/>
                      </a:lnTo>
                      <a:lnTo>
                        <a:pt x="17" y="47"/>
                      </a:lnTo>
                      <a:lnTo>
                        <a:pt x="12" y="40"/>
                      </a:lnTo>
                      <a:lnTo>
                        <a:pt x="6" y="32"/>
                      </a:lnTo>
                      <a:lnTo>
                        <a:pt x="0" y="24"/>
                      </a:lnTo>
                      <a:lnTo>
                        <a:pt x="8" y="9"/>
                      </a:lnTo>
                      <a:lnTo>
                        <a:pt x="23" y="0"/>
                      </a:lnTo>
                      <a:lnTo>
                        <a:pt x="38" y="0"/>
                      </a:lnTo>
                      <a:lnTo>
                        <a:pt x="54" y="5"/>
                      </a:lnTo>
                      <a:lnTo>
                        <a:pt x="67" y="15"/>
                      </a:lnTo>
                      <a:lnTo>
                        <a:pt x="75" y="28"/>
                      </a:lnTo>
                      <a:lnTo>
                        <a:pt x="75" y="46"/>
                      </a:lnTo>
                      <a:lnTo>
                        <a:pt x="65" y="63"/>
                      </a:lnTo>
                      <a:close/>
                    </a:path>
                  </a:pathLst>
                </a:custGeom>
                <a:solidFill>
                  <a:srgbClr val="FFFFBF"/>
                </a:solid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grpSp>
          <p:nvGrpSpPr>
            <p:cNvPr id="1066" name="Google Shape;1066;p24"/>
            <p:cNvGrpSpPr/>
            <p:nvPr/>
          </p:nvGrpSpPr>
          <p:grpSpPr>
            <a:xfrm>
              <a:off x="3380" y="2944"/>
              <a:ext cx="740" cy="640"/>
              <a:chOff x="4246" y="2950"/>
              <a:chExt cx="740" cy="640"/>
            </a:xfrm>
          </p:grpSpPr>
          <p:sp>
            <p:nvSpPr>
              <p:cNvPr id="1067" name="Google Shape;1067;p24"/>
              <p:cNvSpPr/>
              <p:nvPr/>
            </p:nvSpPr>
            <p:spPr>
              <a:xfrm>
                <a:off x="4312" y="2976"/>
                <a:ext cx="569" cy="608"/>
              </a:xfrm>
              <a:prstGeom prst="can">
                <a:avLst>
                  <a:gd fmla="val 26714" name="adj"/>
                </a:avLst>
              </a:prstGeom>
              <a:solidFill>
                <a:srgbClr val="FFFFCC"/>
              </a:solidFill>
              <a:ln cap="flat" cmpd="sng" w="19050">
                <a:solidFill>
                  <a:srgbClr val="8A0E5E"/>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068" name="Google Shape;1068;p24"/>
              <p:cNvGrpSpPr/>
              <p:nvPr/>
            </p:nvGrpSpPr>
            <p:grpSpPr>
              <a:xfrm>
                <a:off x="4246" y="2950"/>
                <a:ext cx="740" cy="640"/>
                <a:chOff x="4792" y="3012"/>
                <a:chExt cx="740" cy="640"/>
              </a:xfrm>
            </p:grpSpPr>
            <p:sp>
              <p:nvSpPr>
                <p:cNvPr id="1069" name="Google Shape;1069;p24"/>
                <p:cNvSpPr/>
                <p:nvPr/>
              </p:nvSpPr>
              <p:spPr>
                <a:xfrm>
                  <a:off x="4792" y="3012"/>
                  <a:ext cx="740" cy="640"/>
                </a:xfrm>
                <a:custGeom>
                  <a:rect b="b" l="l" r="r" t="t"/>
                  <a:pathLst>
                    <a:path extrusionOk="0" h="640" w="740">
                      <a:moveTo>
                        <a:pt x="0" y="640"/>
                      </a:moveTo>
                      <a:lnTo>
                        <a:pt x="644" y="0"/>
                      </a:lnTo>
                      <a:lnTo>
                        <a:pt x="740" y="0"/>
                      </a:lnTo>
                      <a:lnTo>
                        <a:pt x="100" y="640"/>
                      </a:lnTo>
                      <a:lnTo>
                        <a:pt x="0" y="640"/>
                      </a:lnTo>
                      <a:close/>
                    </a:path>
                  </a:pathLst>
                </a:custGeom>
                <a:solidFill>
                  <a:schemeClr val="hlink"/>
                </a:solidFill>
                <a:ln cap="flat" cmpd="sng" w="9525">
                  <a:solidFill>
                    <a:schemeClr val="hlink"/>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070" name="Google Shape;1070;p24"/>
                <p:cNvSpPr/>
                <p:nvPr/>
              </p:nvSpPr>
              <p:spPr>
                <a:xfrm flipH="1">
                  <a:off x="4792" y="3012"/>
                  <a:ext cx="740" cy="640"/>
                </a:xfrm>
                <a:custGeom>
                  <a:rect b="b" l="l" r="r" t="t"/>
                  <a:pathLst>
                    <a:path extrusionOk="0" h="640" w="740">
                      <a:moveTo>
                        <a:pt x="0" y="640"/>
                      </a:moveTo>
                      <a:lnTo>
                        <a:pt x="644" y="0"/>
                      </a:lnTo>
                      <a:lnTo>
                        <a:pt x="740" y="0"/>
                      </a:lnTo>
                      <a:lnTo>
                        <a:pt x="100" y="640"/>
                      </a:lnTo>
                      <a:lnTo>
                        <a:pt x="0" y="640"/>
                      </a:lnTo>
                      <a:close/>
                    </a:path>
                  </a:pathLst>
                </a:custGeom>
                <a:solidFill>
                  <a:schemeClr val="hlink"/>
                </a:solidFill>
                <a:ln cap="flat" cmpd="sng" w="9525">
                  <a:solidFill>
                    <a:schemeClr val="hlink"/>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Mô hình hóa các giao dịch</a:t>
            </a:r>
            <a:endParaRPr/>
          </a:p>
        </p:txBody>
      </p:sp>
      <p:sp>
        <p:nvSpPr>
          <p:cNvPr id="1078" name="Google Shape;1078;p2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61"/>
              <a:buChar char="⚫"/>
            </a:pPr>
            <a:r>
              <a:rPr lang="en-US" sz="2590"/>
              <a:t>Giao dịch là gì?</a:t>
            </a:r>
            <a:endParaRPr/>
          </a:p>
          <a:p>
            <a:pPr indent="-246888" lvl="1" marL="640080" rtl="0" algn="l">
              <a:lnSpc>
                <a:spcPct val="90000"/>
              </a:lnSpc>
              <a:spcBef>
                <a:spcPts val="444"/>
              </a:spcBef>
              <a:spcAft>
                <a:spcPts val="0"/>
              </a:spcAft>
              <a:buSzPts val="1887"/>
              <a:buChar char="⚫"/>
            </a:pPr>
            <a:r>
              <a:rPr lang="en-US" sz="2220"/>
              <a:t>Là việc gọi các phép toán nguyên tử (atomic operation)</a:t>
            </a:r>
            <a:endParaRPr/>
          </a:p>
          <a:p>
            <a:pPr indent="-246888" lvl="1" marL="640080" rtl="0" algn="l">
              <a:lnSpc>
                <a:spcPct val="90000"/>
              </a:lnSpc>
              <a:spcBef>
                <a:spcPts val="444"/>
              </a:spcBef>
              <a:spcAft>
                <a:spcPts val="0"/>
              </a:spcAft>
              <a:buSzPts val="1887"/>
              <a:buChar char="⚫"/>
            </a:pPr>
            <a:r>
              <a:rPr lang="en-US" sz="2220"/>
              <a:t>“All or nothing”</a:t>
            </a:r>
            <a:endParaRPr/>
          </a:p>
          <a:p>
            <a:pPr indent="-246888" lvl="1" marL="640080" rtl="0" algn="l">
              <a:lnSpc>
                <a:spcPct val="90000"/>
              </a:lnSpc>
              <a:spcBef>
                <a:spcPts val="444"/>
              </a:spcBef>
              <a:spcAft>
                <a:spcPts val="0"/>
              </a:spcAft>
              <a:buSzPts val="1887"/>
              <a:buChar char="⚫"/>
            </a:pPr>
            <a:r>
              <a:rPr lang="en-US" sz="2220"/>
              <a:t>Cung cấp sự nhất quán (provide consistency)</a:t>
            </a:r>
            <a:endParaRPr/>
          </a:p>
          <a:p>
            <a:pPr indent="-274320" lvl="0" marL="274320" rtl="0" algn="l">
              <a:lnSpc>
                <a:spcPct val="90000"/>
              </a:lnSpc>
              <a:spcBef>
                <a:spcPts val="518"/>
              </a:spcBef>
              <a:spcAft>
                <a:spcPts val="0"/>
              </a:spcAft>
              <a:buSzPts val="2461"/>
              <a:buChar char="⚫"/>
            </a:pPr>
            <a:r>
              <a:rPr lang="en-US" sz="2590"/>
              <a:t>Mô hình hóa các tùy chọn</a:t>
            </a:r>
            <a:endParaRPr sz="2590"/>
          </a:p>
          <a:p>
            <a:pPr indent="-246888" lvl="1" marL="640080" rtl="0" algn="l">
              <a:lnSpc>
                <a:spcPct val="90000"/>
              </a:lnSpc>
              <a:spcBef>
                <a:spcPts val="444"/>
              </a:spcBef>
              <a:spcAft>
                <a:spcPts val="0"/>
              </a:spcAft>
              <a:buSzPts val="1887"/>
              <a:buChar char="⚫"/>
            </a:pPr>
            <a:r>
              <a:rPr lang="en-US" sz="2220"/>
              <a:t>Theo đúng nguyên bản (textually scripts)</a:t>
            </a:r>
            <a:endParaRPr/>
          </a:p>
          <a:p>
            <a:pPr indent="-246888" lvl="1" marL="640080" rtl="0" algn="l">
              <a:lnSpc>
                <a:spcPct val="90000"/>
              </a:lnSpc>
              <a:spcBef>
                <a:spcPts val="444"/>
              </a:spcBef>
              <a:spcAft>
                <a:spcPts val="0"/>
              </a:spcAft>
              <a:buSzPts val="1887"/>
              <a:buChar char="⚫"/>
            </a:pPr>
            <a:r>
              <a:rPr lang="en-US" sz="2220"/>
              <a:t>Các thông điệp tường minh (explicit messages)</a:t>
            </a:r>
            <a:endParaRPr/>
          </a:p>
          <a:p>
            <a:pPr indent="-274320" lvl="0" marL="274320" rtl="0" algn="l">
              <a:lnSpc>
                <a:spcPct val="90000"/>
              </a:lnSpc>
              <a:spcBef>
                <a:spcPts val="518"/>
              </a:spcBef>
              <a:spcAft>
                <a:spcPts val="0"/>
              </a:spcAft>
              <a:buSzPts val="2461"/>
              <a:buChar char="⚫"/>
            </a:pPr>
            <a:r>
              <a:rPr lang="en-US" sz="2590"/>
              <a:t>Những điều kiện lỗi (error conditions)</a:t>
            </a:r>
            <a:endParaRPr/>
          </a:p>
          <a:p>
            <a:pPr indent="-246888" lvl="1" marL="640080" rtl="0" algn="l">
              <a:lnSpc>
                <a:spcPct val="90000"/>
              </a:lnSpc>
              <a:spcBef>
                <a:spcPts val="444"/>
              </a:spcBef>
              <a:spcAft>
                <a:spcPts val="0"/>
              </a:spcAft>
              <a:buSzPts val="1887"/>
              <a:buChar char="⚫"/>
            </a:pPr>
            <a:r>
              <a:rPr lang="en-US" sz="2220"/>
              <a:t>Khôi phụ (Rollback)</a:t>
            </a:r>
            <a:endParaRPr/>
          </a:p>
          <a:p>
            <a:pPr indent="-246888" lvl="1" marL="640080" rtl="0" algn="l">
              <a:lnSpc>
                <a:spcPct val="90000"/>
              </a:lnSpc>
              <a:spcBef>
                <a:spcPts val="444"/>
              </a:spcBef>
              <a:spcAft>
                <a:spcPts val="0"/>
              </a:spcAft>
              <a:buSzPts val="1887"/>
              <a:buChar char="⚫"/>
            </a:pPr>
            <a:r>
              <a:rPr lang="en-US" sz="2220"/>
              <a:t>Các chế độ lỗi (Failure mode)</a:t>
            </a:r>
            <a:endParaRPr/>
          </a:p>
          <a:p>
            <a:pPr indent="-246888" lvl="1" marL="640080" rtl="0" algn="l">
              <a:lnSpc>
                <a:spcPct val="90000"/>
              </a:lnSpc>
              <a:spcBef>
                <a:spcPts val="444"/>
              </a:spcBef>
              <a:spcAft>
                <a:spcPts val="0"/>
              </a:spcAft>
              <a:buSzPts val="1887"/>
              <a:buChar char="⚫"/>
            </a:pPr>
            <a:r>
              <a:rPr lang="en-US" sz="2220"/>
              <a:t>Có thể đòi hỏi các lược đồ tương tác riêng biệt</a:t>
            </a:r>
            <a:endParaRPr sz="2220"/>
          </a:p>
        </p:txBody>
      </p:sp>
      <p:sp>
        <p:nvSpPr>
          <p:cNvPr id="1079" name="Google Shape;1079;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reba\office 2000\09prood02\PFiles\MSOffice\Clipart\standard\stddir4\sy01191_.wmf" id="1080" name="Google Shape;1080;p25"/>
          <p:cNvPicPr preferRelativeResize="0"/>
          <p:nvPr/>
        </p:nvPicPr>
        <p:blipFill rotWithShape="1">
          <a:blip r:embed="rId3">
            <a:alphaModFix/>
          </a:blip>
          <a:srcRect b="0" l="0" r="0" t="0"/>
          <a:stretch/>
        </p:blipFill>
        <p:spPr>
          <a:xfrm>
            <a:off x="6978138" y="2262188"/>
            <a:ext cx="2095500" cy="244951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26"/>
          <p:cNvSpPr txBox="1"/>
          <p:nvPr>
            <p:ph type="title"/>
          </p:nvPr>
        </p:nvSpPr>
        <p:spPr>
          <a:xfrm>
            <a:off x="381000" y="256926"/>
            <a:ext cx="8229600" cy="5171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970"/>
              <a:buFont typeface="Calibri"/>
              <a:buNone/>
            </a:pPr>
            <a:r>
              <a:rPr lang="en-US" sz="2970"/>
              <a:t>Kết hợp các cơ chế kiến trúc: Lưu trữ bền vững</a:t>
            </a:r>
            <a:endParaRPr sz="3060"/>
          </a:p>
        </p:txBody>
      </p:sp>
      <p:sp>
        <p:nvSpPr>
          <p:cNvPr id="1089" name="Google Shape;1089;p26"/>
          <p:cNvSpPr txBox="1"/>
          <p:nvPr>
            <p:ph idx="1" type="body"/>
          </p:nvPr>
        </p:nvSpPr>
        <p:spPr>
          <a:xfrm>
            <a:off x="381000" y="1278931"/>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Analysis-Class-to-Architectural-Mechanism Map from Use-Case Analysis</a:t>
            </a:r>
            <a:endParaRPr/>
          </a:p>
        </p:txBody>
      </p:sp>
      <p:sp>
        <p:nvSpPr>
          <p:cNvPr id="1090" name="Google Shape;1090;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091" name="Google Shape;1091;p26"/>
          <p:cNvGrpSpPr/>
          <p:nvPr/>
        </p:nvGrpSpPr>
        <p:grpSpPr>
          <a:xfrm>
            <a:off x="477687" y="2396788"/>
            <a:ext cx="7138359" cy="2643890"/>
            <a:chOff x="733581" y="2396788"/>
            <a:chExt cx="6410169" cy="2643890"/>
          </a:xfrm>
        </p:grpSpPr>
        <p:cxnSp>
          <p:nvCxnSpPr>
            <p:cNvPr id="1092" name="Google Shape;1092;p26"/>
            <p:cNvCxnSpPr/>
            <p:nvPr/>
          </p:nvCxnSpPr>
          <p:spPr>
            <a:xfrm>
              <a:off x="3144821" y="2411778"/>
              <a:ext cx="0" cy="2628900"/>
            </a:xfrm>
            <a:prstGeom prst="straightConnector1">
              <a:avLst/>
            </a:prstGeom>
            <a:noFill/>
            <a:ln cap="flat" cmpd="sng" w="28575">
              <a:solidFill>
                <a:schemeClr val="dk1"/>
              </a:solidFill>
              <a:prstDash val="solid"/>
              <a:round/>
              <a:headEnd len="sm" w="sm" type="none"/>
              <a:tailEnd len="sm" w="sm" type="none"/>
            </a:ln>
          </p:spPr>
        </p:cxnSp>
        <p:sp>
          <p:nvSpPr>
            <p:cNvPr id="1093" name="Google Shape;1093;p26"/>
            <p:cNvSpPr/>
            <p:nvPr/>
          </p:nvSpPr>
          <p:spPr>
            <a:xfrm>
              <a:off x="742950" y="2396788"/>
              <a:ext cx="6400800" cy="262890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094" name="Google Shape;1094;p26"/>
            <p:cNvCxnSpPr/>
            <p:nvPr/>
          </p:nvCxnSpPr>
          <p:spPr>
            <a:xfrm>
              <a:off x="742950" y="3006388"/>
              <a:ext cx="6400800" cy="0"/>
            </a:xfrm>
            <a:prstGeom prst="straightConnector1">
              <a:avLst/>
            </a:prstGeom>
            <a:noFill/>
            <a:ln cap="flat" cmpd="sng" w="28575">
              <a:solidFill>
                <a:schemeClr val="dk1"/>
              </a:solidFill>
              <a:prstDash val="solid"/>
              <a:round/>
              <a:headEnd len="sm" w="sm" type="none"/>
              <a:tailEnd len="sm" w="sm" type="none"/>
            </a:ln>
          </p:spPr>
        </p:cxnSp>
        <p:sp>
          <p:nvSpPr>
            <p:cNvPr id="1095" name="Google Shape;1095;p26"/>
            <p:cNvSpPr txBox="1"/>
            <p:nvPr/>
          </p:nvSpPr>
          <p:spPr>
            <a:xfrm>
              <a:off x="733581" y="2534198"/>
              <a:ext cx="2398713"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onstantia"/>
                  <a:ea typeface="Constantia"/>
                  <a:cs typeface="Constantia"/>
                  <a:sym typeface="Constantia"/>
                </a:rPr>
                <a:t>Lớp phân tích</a:t>
              </a:r>
              <a:endParaRPr b="1" sz="1800">
                <a:solidFill>
                  <a:schemeClr val="dk1"/>
                </a:solidFill>
                <a:latin typeface="Constantia"/>
                <a:ea typeface="Constantia"/>
                <a:cs typeface="Constantia"/>
                <a:sym typeface="Constantia"/>
              </a:endParaRPr>
            </a:p>
          </p:txBody>
        </p:sp>
        <p:sp>
          <p:nvSpPr>
            <p:cNvPr id="1096" name="Google Shape;1096;p26"/>
            <p:cNvSpPr txBox="1"/>
            <p:nvPr/>
          </p:nvSpPr>
          <p:spPr>
            <a:xfrm>
              <a:off x="3405377" y="2549188"/>
              <a:ext cx="2895601"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onstantia"/>
                  <a:ea typeface="Constantia"/>
                  <a:cs typeface="Constantia"/>
                  <a:sym typeface="Constantia"/>
                </a:rPr>
                <a:t>Các cơ chế phân tích</a:t>
              </a:r>
              <a:endParaRPr b="1" sz="1800">
                <a:solidFill>
                  <a:schemeClr val="dk1"/>
                </a:solidFill>
                <a:latin typeface="Constantia"/>
                <a:ea typeface="Constantia"/>
                <a:cs typeface="Constantia"/>
                <a:sym typeface="Constantia"/>
              </a:endParaRPr>
            </a:p>
          </p:txBody>
        </p:sp>
        <p:sp>
          <p:nvSpPr>
            <p:cNvPr id="1097" name="Google Shape;1097;p26"/>
            <p:cNvSpPr txBox="1"/>
            <p:nvPr/>
          </p:nvSpPr>
          <p:spPr>
            <a:xfrm>
              <a:off x="742950" y="3020676"/>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Student</a:t>
              </a:r>
              <a:endParaRPr/>
            </a:p>
          </p:txBody>
        </p:sp>
        <p:cxnSp>
          <p:nvCxnSpPr>
            <p:cNvPr id="1098" name="Google Shape;1098;p26"/>
            <p:cNvCxnSpPr/>
            <p:nvPr/>
          </p:nvCxnSpPr>
          <p:spPr>
            <a:xfrm>
              <a:off x="742950" y="3782676"/>
              <a:ext cx="6400800" cy="0"/>
            </a:xfrm>
            <a:prstGeom prst="straightConnector1">
              <a:avLst/>
            </a:prstGeom>
            <a:noFill/>
            <a:ln cap="flat" cmpd="sng" w="28575">
              <a:solidFill>
                <a:schemeClr val="dk1"/>
              </a:solidFill>
              <a:prstDash val="solid"/>
              <a:round/>
              <a:headEnd len="sm" w="sm" type="none"/>
              <a:tailEnd len="sm" w="sm" type="none"/>
            </a:ln>
          </p:spPr>
        </p:cxnSp>
        <p:sp>
          <p:nvSpPr>
            <p:cNvPr id="1099" name="Google Shape;1099;p26"/>
            <p:cNvSpPr txBox="1"/>
            <p:nvPr/>
          </p:nvSpPr>
          <p:spPr>
            <a:xfrm>
              <a:off x="742950" y="3820776"/>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CourseOffering</a:t>
              </a:r>
              <a:endParaRPr/>
            </a:p>
          </p:txBody>
        </p:sp>
        <p:cxnSp>
          <p:nvCxnSpPr>
            <p:cNvPr id="1100" name="Google Shape;1100;p26"/>
            <p:cNvCxnSpPr/>
            <p:nvPr/>
          </p:nvCxnSpPr>
          <p:spPr>
            <a:xfrm>
              <a:off x="742950" y="4187488"/>
              <a:ext cx="6400800" cy="0"/>
            </a:xfrm>
            <a:prstGeom prst="straightConnector1">
              <a:avLst/>
            </a:prstGeom>
            <a:noFill/>
            <a:ln cap="flat" cmpd="sng" w="28575">
              <a:solidFill>
                <a:schemeClr val="dk1"/>
              </a:solidFill>
              <a:prstDash val="solid"/>
              <a:round/>
              <a:headEnd len="sm" w="sm" type="none"/>
              <a:tailEnd len="sm" w="sm" type="none"/>
            </a:ln>
          </p:spPr>
        </p:cxnSp>
        <p:sp>
          <p:nvSpPr>
            <p:cNvPr id="1101" name="Google Shape;1101;p26"/>
            <p:cNvSpPr txBox="1"/>
            <p:nvPr/>
          </p:nvSpPr>
          <p:spPr>
            <a:xfrm>
              <a:off x="742950" y="4187488"/>
              <a:ext cx="1905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Course</a:t>
              </a:r>
              <a:endParaRPr/>
            </a:p>
          </p:txBody>
        </p:sp>
        <p:cxnSp>
          <p:nvCxnSpPr>
            <p:cNvPr id="1102" name="Google Shape;1102;p26"/>
            <p:cNvCxnSpPr/>
            <p:nvPr/>
          </p:nvCxnSpPr>
          <p:spPr>
            <a:xfrm>
              <a:off x="742950" y="4554201"/>
              <a:ext cx="6400800" cy="0"/>
            </a:xfrm>
            <a:prstGeom prst="straightConnector1">
              <a:avLst/>
            </a:prstGeom>
            <a:noFill/>
            <a:ln cap="flat" cmpd="sng" w="28575">
              <a:solidFill>
                <a:schemeClr val="dk1"/>
              </a:solidFill>
              <a:prstDash val="solid"/>
              <a:round/>
              <a:headEnd len="sm" w="sm" type="none"/>
              <a:tailEnd len="sm" w="sm" type="none"/>
            </a:ln>
          </p:spPr>
        </p:cxnSp>
        <p:sp>
          <p:nvSpPr>
            <p:cNvPr id="1103" name="Google Shape;1103;p26"/>
            <p:cNvSpPr txBox="1"/>
            <p:nvPr/>
          </p:nvSpPr>
          <p:spPr>
            <a:xfrm>
              <a:off x="742950" y="4582776"/>
              <a:ext cx="2590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RegistrationController</a:t>
              </a:r>
              <a:endParaRPr/>
            </a:p>
          </p:txBody>
        </p:sp>
        <p:sp>
          <p:nvSpPr>
            <p:cNvPr id="1104" name="Google Shape;1104;p26"/>
            <p:cNvSpPr txBox="1"/>
            <p:nvPr/>
          </p:nvSpPr>
          <p:spPr>
            <a:xfrm>
              <a:off x="3216463" y="3020676"/>
              <a:ext cx="2667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CCFF"/>
                  </a:solidFill>
                  <a:latin typeface="Constantia"/>
                  <a:ea typeface="Constantia"/>
                  <a:cs typeface="Constantia"/>
                  <a:sym typeface="Constantia"/>
                </a:rPr>
                <a:t>Lưu trữ bền vững</a:t>
              </a:r>
              <a:r>
                <a:rPr lang="en-US" sz="1800">
                  <a:solidFill>
                    <a:schemeClr val="dk1"/>
                  </a:solidFill>
                  <a:latin typeface="Constantia"/>
                  <a:ea typeface="Constantia"/>
                  <a:cs typeface="Constantia"/>
                  <a:sym typeface="Constantia"/>
                </a:rPr>
                <a:t>, an ninh</a:t>
              </a:r>
              <a:endParaRPr sz="1800">
                <a:solidFill>
                  <a:schemeClr val="dk1"/>
                </a:solidFill>
                <a:latin typeface="Constantia"/>
                <a:ea typeface="Constantia"/>
                <a:cs typeface="Constantia"/>
                <a:sym typeface="Constantia"/>
              </a:endParaRPr>
            </a:p>
          </p:txBody>
        </p:sp>
        <p:sp>
          <p:nvSpPr>
            <p:cNvPr id="1105" name="Google Shape;1105;p26"/>
            <p:cNvSpPr txBox="1"/>
            <p:nvPr/>
          </p:nvSpPr>
          <p:spPr>
            <a:xfrm>
              <a:off x="3229923" y="3820776"/>
              <a:ext cx="38321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folHlink"/>
                  </a:solidFill>
                  <a:latin typeface="Constantia"/>
                  <a:ea typeface="Constantia"/>
                  <a:cs typeface="Constantia"/>
                  <a:sym typeface="Constantia"/>
                </a:rPr>
                <a:t>Lưu trữ bền vững, kế thừa giao diên</a:t>
              </a:r>
              <a:endParaRPr sz="1800">
                <a:solidFill>
                  <a:schemeClr val="dk1"/>
                </a:solidFill>
                <a:latin typeface="Constantia"/>
                <a:ea typeface="Constantia"/>
                <a:cs typeface="Constantia"/>
                <a:sym typeface="Constantia"/>
              </a:endParaRPr>
            </a:p>
          </p:txBody>
        </p:sp>
        <p:sp>
          <p:nvSpPr>
            <p:cNvPr id="1106" name="Google Shape;1106;p26"/>
            <p:cNvSpPr txBox="1"/>
            <p:nvPr/>
          </p:nvSpPr>
          <p:spPr>
            <a:xfrm>
              <a:off x="3216463" y="4582776"/>
              <a:ext cx="18684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Phân tán</a:t>
              </a:r>
              <a:endParaRPr sz="1800">
                <a:solidFill>
                  <a:schemeClr val="dk1"/>
                </a:solidFill>
                <a:latin typeface="Constantia"/>
                <a:ea typeface="Constantia"/>
                <a:cs typeface="Constantia"/>
                <a:sym typeface="Constantia"/>
              </a:endParaRPr>
            </a:p>
          </p:txBody>
        </p:sp>
        <p:cxnSp>
          <p:nvCxnSpPr>
            <p:cNvPr id="1107" name="Google Shape;1107;p26"/>
            <p:cNvCxnSpPr/>
            <p:nvPr/>
          </p:nvCxnSpPr>
          <p:spPr>
            <a:xfrm>
              <a:off x="742950" y="3376276"/>
              <a:ext cx="6400800" cy="0"/>
            </a:xfrm>
            <a:prstGeom prst="straightConnector1">
              <a:avLst/>
            </a:prstGeom>
            <a:noFill/>
            <a:ln cap="flat" cmpd="sng" w="28575">
              <a:solidFill>
                <a:schemeClr val="dk1"/>
              </a:solidFill>
              <a:prstDash val="solid"/>
              <a:round/>
              <a:headEnd len="sm" w="sm" type="none"/>
              <a:tailEnd len="sm" w="sm" type="none"/>
            </a:ln>
          </p:spPr>
        </p:cxnSp>
        <p:sp>
          <p:nvSpPr>
            <p:cNvPr id="1108" name="Google Shape;1108;p26"/>
            <p:cNvSpPr txBox="1"/>
            <p:nvPr/>
          </p:nvSpPr>
          <p:spPr>
            <a:xfrm>
              <a:off x="742950" y="3376276"/>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Schedule</a:t>
              </a:r>
              <a:endParaRPr/>
            </a:p>
          </p:txBody>
        </p:sp>
        <p:sp>
          <p:nvSpPr>
            <p:cNvPr id="1109" name="Google Shape;1109;p26"/>
            <p:cNvSpPr txBox="1"/>
            <p:nvPr/>
          </p:nvSpPr>
          <p:spPr>
            <a:xfrm>
              <a:off x="3216463" y="3376276"/>
              <a:ext cx="2667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CCFF"/>
                  </a:solidFill>
                  <a:latin typeface="Constantia"/>
                  <a:ea typeface="Constantia"/>
                  <a:cs typeface="Constantia"/>
                  <a:sym typeface="Constantia"/>
                </a:rPr>
                <a:t>Lưu trữ bền vững</a:t>
              </a:r>
              <a:r>
                <a:rPr lang="en-US" sz="1800">
                  <a:solidFill>
                    <a:schemeClr val="dk1"/>
                  </a:solidFill>
                  <a:latin typeface="Constantia"/>
                  <a:ea typeface="Constantia"/>
                  <a:cs typeface="Constantia"/>
                  <a:sym typeface="Constantia"/>
                </a:rPr>
                <a:t>, an ninh</a:t>
              </a:r>
              <a:endParaRPr sz="1800">
                <a:solidFill>
                  <a:schemeClr val="dk1"/>
                </a:solidFill>
                <a:latin typeface="Constantia"/>
                <a:ea typeface="Constantia"/>
                <a:cs typeface="Constantia"/>
                <a:sym typeface="Constantia"/>
              </a:endParaRPr>
            </a:p>
          </p:txBody>
        </p:sp>
        <p:sp>
          <p:nvSpPr>
            <p:cNvPr id="1110" name="Google Shape;1110;p26"/>
            <p:cNvSpPr txBox="1"/>
            <p:nvPr/>
          </p:nvSpPr>
          <p:spPr>
            <a:xfrm>
              <a:off x="3229924" y="4195530"/>
              <a:ext cx="38321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folHlink"/>
                  </a:solidFill>
                  <a:latin typeface="Constantia"/>
                  <a:ea typeface="Constantia"/>
                  <a:cs typeface="Constantia"/>
                  <a:sym typeface="Constantia"/>
                </a:rPr>
                <a:t>Lưu trữ bền vững, kế thừa giao diên</a:t>
              </a:r>
              <a:endParaRPr sz="1800">
                <a:solidFill>
                  <a:schemeClr val="dk1"/>
                </a:solidFill>
                <a:latin typeface="Constantia"/>
                <a:ea typeface="Constantia"/>
                <a:cs typeface="Constantia"/>
                <a:sym typeface="Constantia"/>
              </a:endParaRPr>
            </a:p>
          </p:txBody>
        </p:sp>
      </p:grpSp>
      <p:sp>
        <p:nvSpPr>
          <p:cNvPr id="1111" name="Google Shape;1111;p26"/>
          <p:cNvSpPr txBox="1"/>
          <p:nvPr/>
        </p:nvSpPr>
        <p:spPr>
          <a:xfrm>
            <a:off x="2190750" y="5286038"/>
            <a:ext cx="3621088" cy="940001"/>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i="1" lang="en-US" sz="1800">
                <a:solidFill>
                  <a:srgbClr val="FF0000"/>
                </a:solidFill>
                <a:latin typeface="Constantia"/>
                <a:ea typeface="Constantia"/>
                <a:cs typeface="Constantia"/>
                <a:sym typeface="Constantia"/>
              </a:rPr>
              <a:t>Kế thừa giao diên (RDBMS ) sẽ được nói đến trong bài Subsystem Design.</a:t>
            </a:r>
            <a:endParaRPr/>
          </a:p>
        </p:txBody>
      </p:sp>
      <p:sp>
        <p:nvSpPr>
          <p:cNvPr id="1112" name="Google Shape;1112;p26"/>
          <p:cNvSpPr txBox="1"/>
          <p:nvPr/>
        </p:nvSpPr>
        <p:spPr>
          <a:xfrm>
            <a:off x="7565760" y="3046076"/>
            <a:ext cx="1578235" cy="65722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b="1" i="1" lang="en-US" sz="1800">
                <a:solidFill>
                  <a:srgbClr val="00CCFF"/>
                </a:solidFill>
                <a:latin typeface="Constantia"/>
                <a:ea typeface="Constantia"/>
                <a:cs typeface="Constantia"/>
                <a:sym typeface="Constantia"/>
              </a:rPr>
              <a:t>OODBMS Persistency</a:t>
            </a:r>
            <a:endParaRPr/>
          </a:p>
        </p:txBody>
      </p:sp>
      <p:sp>
        <p:nvSpPr>
          <p:cNvPr id="1113" name="Google Shape;1113;p26"/>
          <p:cNvSpPr txBox="1"/>
          <p:nvPr/>
        </p:nvSpPr>
        <p:spPr>
          <a:xfrm>
            <a:off x="7546424" y="3938407"/>
            <a:ext cx="1597576" cy="65722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b="1" i="1" lang="en-US" sz="1800">
                <a:solidFill>
                  <a:schemeClr val="folHlink"/>
                </a:solidFill>
                <a:latin typeface="Constantia"/>
                <a:ea typeface="Constantia"/>
                <a:cs typeface="Constantia"/>
                <a:sym typeface="Constantia"/>
              </a:rPr>
              <a:t>RDBMS Persistency</a:t>
            </a:r>
            <a:endParaRPr/>
          </a:p>
        </p:txBody>
      </p:sp>
      <p:sp>
        <p:nvSpPr>
          <p:cNvPr id="1114" name="Google Shape;1114;p26"/>
          <p:cNvSpPr txBox="1"/>
          <p:nvPr/>
        </p:nvSpPr>
        <p:spPr>
          <a:xfrm>
            <a:off x="3505200" y="6092488"/>
            <a:ext cx="5334000" cy="336550"/>
          </a:xfrm>
          <a:prstGeom prst="rect">
            <a:avLst/>
          </a:prstGeom>
          <a:noFill/>
          <a:ln>
            <a:noFill/>
          </a:ln>
        </p:spPr>
        <p:txBody>
          <a:bodyPr anchorCtr="0" anchor="t" bIns="53975" lIns="107950" spcFirstLastPara="1" rIns="107950" wrap="square" tIns="53975">
            <a:spAutoFit/>
          </a:bodyPr>
          <a:lstStyle/>
          <a:p>
            <a:pPr indent="0" lvl="0" marL="0" marR="0" rtl="0" algn="r">
              <a:spcBef>
                <a:spcPts val="0"/>
              </a:spcBef>
              <a:spcAft>
                <a:spcPts val="0"/>
              </a:spcAft>
              <a:buNone/>
            </a:pPr>
            <a:r>
              <a:rPr lang="en-US" sz="1500">
                <a:solidFill>
                  <a:srgbClr val="00CCFF"/>
                </a:solidFill>
                <a:latin typeface="Constantia"/>
                <a:ea typeface="Constantia"/>
                <a:cs typeface="Constantia"/>
                <a:sym typeface="Constantia"/>
              </a:rPr>
              <a:t>Details in Appendix</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2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bước thiết kế ca sử dụng</a:t>
            </a:r>
            <a:endParaRPr/>
          </a:p>
        </p:txBody>
      </p:sp>
      <p:sp>
        <p:nvSpPr>
          <p:cNvPr id="1122" name="Google Shape;1122;p2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Mô tả </a:t>
            </a:r>
            <a:r>
              <a:rPr lang="en-US">
                <a:latin typeface="Calibri"/>
                <a:ea typeface="Calibri"/>
                <a:cs typeface="Calibri"/>
                <a:sym typeface="Calibri"/>
              </a:rPr>
              <a:t>sự tương tác giữa các đối tượng thiết kế </a:t>
            </a:r>
            <a:endParaRPr/>
          </a:p>
          <a:p>
            <a:pPr indent="-274320" lvl="0" marL="274320" rtl="0" algn="l">
              <a:spcBef>
                <a:spcPts val="520"/>
              </a:spcBef>
              <a:spcAft>
                <a:spcPts val="0"/>
              </a:spcAft>
              <a:buSzPts val="2470"/>
              <a:buChar char="⚫"/>
            </a:pPr>
            <a:r>
              <a:rPr lang="en-US">
                <a:latin typeface="Calibri"/>
                <a:ea typeface="Calibri"/>
                <a:cs typeface="Calibri"/>
                <a:sym typeface="Calibri"/>
              </a:rPr>
              <a:t>Đơn giản hoá biểu đồ tuần tự sử dụng hệ thống con </a:t>
            </a:r>
            <a:endParaRPr>
              <a:latin typeface="Calibri"/>
              <a:ea typeface="Calibri"/>
              <a:cs typeface="Calibri"/>
              <a:sym typeface="Calibri"/>
            </a:endParaRPr>
          </a:p>
          <a:p>
            <a:pPr indent="-274320" lvl="0" marL="274320" rtl="0" algn="l">
              <a:spcBef>
                <a:spcPts val="520"/>
              </a:spcBef>
              <a:spcAft>
                <a:spcPts val="0"/>
              </a:spcAft>
              <a:buSzPts val="2470"/>
              <a:buChar char="⚫"/>
            </a:pPr>
            <a:r>
              <a:rPr lang="en-US"/>
              <a:t>Mô tả các hành vi liên quan dữ liệu bền vững</a:t>
            </a:r>
            <a:endParaRPr/>
          </a:p>
          <a:p>
            <a:pPr indent="-274320" lvl="0" marL="274320" rtl="0" algn="l">
              <a:spcBef>
                <a:spcPts val="520"/>
              </a:spcBef>
              <a:spcAft>
                <a:spcPts val="0"/>
              </a:spcAft>
              <a:buSzPts val="2470"/>
              <a:buChar char="⚫"/>
            </a:pPr>
            <a:r>
              <a:rPr lang="en-US">
                <a:solidFill>
                  <a:srgbClr val="7030A0"/>
                </a:solidFill>
              </a:rPr>
              <a:t>Làm mịn sự mô tả luồng các sự kiện</a:t>
            </a:r>
            <a:endParaRPr>
              <a:solidFill>
                <a:srgbClr val="7030A0"/>
              </a:solidFill>
            </a:endParaRPr>
          </a:p>
          <a:p>
            <a:pPr indent="-274320" lvl="0" marL="274320" rtl="0" algn="l">
              <a:spcBef>
                <a:spcPts val="520"/>
              </a:spcBef>
              <a:spcAft>
                <a:spcPts val="0"/>
              </a:spcAft>
              <a:buSzPts val="2470"/>
              <a:buChar char="⚫"/>
            </a:pPr>
            <a:r>
              <a:rPr lang="en-US"/>
              <a:t>Thống nhất các lớp và các hệ thống con</a:t>
            </a:r>
            <a:endParaRPr/>
          </a:p>
        </p:txBody>
      </p:sp>
      <p:sp>
        <p:nvSpPr>
          <p:cNvPr id="1123" name="Google Shape;1123;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28"/>
          <p:cNvSpPr txBox="1"/>
          <p:nvPr>
            <p:ph type="title"/>
          </p:nvPr>
        </p:nvSpPr>
        <p:spPr>
          <a:xfrm>
            <a:off x="339725" y="289492"/>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Những tùy chọn trong mô tả chi tiết luồng sự kiện</a:t>
            </a:r>
            <a:endParaRPr sz="4500"/>
          </a:p>
        </p:txBody>
      </p:sp>
      <p:sp>
        <p:nvSpPr>
          <p:cNvPr id="1132" name="Google Shape;1132;p28"/>
          <p:cNvSpPr txBox="1"/>
          <p:nvPr>
            <p:ph idx="1" type="body"/>
          </p:nvPr>
        </p:nvSpPr>
        <p:spPr>
          <a:xfrm>
            <a:off x="457200" y="1364545"/>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Chú giải về các lược đồ tương tác</a:t>
            </a:r>
            <a:endParaRPr/>
          </a:p>
        </p:txBody>
      </p:sp>
      <p:sp>
        <p:nvSpPr>
          <p:cNvPr id="1133" name="Google Shape;1133;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134" name="Google Shape;1134;p28"/>
          <p:cNvGrpSpPr/>
          <p:nvPr/>
        </p:nvGrpSpPr>
        <p:grpSpPr>
          <a:xfrm>
            <a:off x="3722688" y="1970370"/>
            <a:ext cx="520700" cy="812800"/>
            <a:chOff x="2425" y="1024"/>
            <a:chExt cx="328" cy="512"/>
          </a:xfrm>
        </p:grpSpPr>
        <p:sp>
          <p:nvSpPr>
            <p:cNvPr id="1135" name="Google Shape;1135;p28"/>
            <p:cNvSpPr/>
            <p:nvPr/>
          </p:nvSpPr>
          <p:spPr>
            <a:xfrm>
              <a:off x="2482" y="1024"/>
              <a:ext cx="183" cy="177"/>
            </a:xfrm>
            <a:prstGeom prst="ellipse">
              <a:avLst/>
            </a:prstGeom>
            <a:noFill/>
            <a:ln cap="flat" cmpd="sng" w="9525">
              <a:solidFill>
                <a:srgbClr val="00CC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136" name="Google Shape;1136;p28"/>
            <p:cNvCxnSpPr/>
            <p:nvPr/>
          </p:nvCxnSpPr>
          <p:spPr>
            <a:xfrm>
              <a:off x="2575" y="1203"/>
              <a:ext cx="0" cy="180"/>
            </a:xfrm>
            <a:prstGeom prst="straightConnector1">
              <a:avLst/>
            </a:prstGeom>
            <a:noFill/>
            <a:ln cap="flat" cmpd="sng" w="9525">
              <a:solidFill>
                <a:srgbClr val="00CCFF"/>
              </a:solidFill>
              <a:prstDash val="solid"/>
              <a:round/>
              <a:headEnd len="med" w="med" type="none"/>
              <a:tailEnd len="med" w="med" type="none"/>
            </a:ln>
          </p:spPr>
        </p:cxnSp>
        <p:cxnSp>
          <p:nvCxnSpPr>
            <p:cNvPr id="1137" name="Google Shape;1137;p28"/>
            <p:cNvCxnSpPr/>
            <p:nvPr/>
          </p:nvCxnSpPr>
          <p:spPr>
            <a:xfrm>
              <a:off x="2426" y="1252"/>
              <a:ext cx="327" cy="1"/>
            </a:xfrm>
            <a:prstGeom prst="straightConnector1">
              <a:avLst/>
            </a:prstGeom>
            <a:noFill/>
            <a:ln cap="flat" cmpd="sng" w="9525">
              <a:solidFill>
                <a:srgbClr val="00CCFF"/>
              </a:solidFill>
              <a:prstDash val="solid"/>
              <a:round/>
              <a:headEnd len="med" w="med" type="none"/>
              <a:tailEnd len="med" w="med" type="none"/>
            </a:ln>
          </p:spPr>
        </p:cxnSp>
        <p:sp>
          <p:nvSpPr>
            <p:cNvPr id="1138" name="Google Shape;1138;p28"/>
            <p:cNvSpPr/>
            <p:nvPr/>
          </p:nvSpPr>
          <p:spPr>
            <a:xfrm>
              <a:off x="2425" y="1383"/>
              <a:ext cx="302" cy="153"/>
            </a:xfrm>
            <a:custGeom>
              <a:rect b="b" l="l" r="r" t="t"/>
              <a:pathLst>
                <a:path extrusionOk="0" h="17" w="34">
                  <a:moveTo>
                    <a:pt x="0" y="17"/>
                  </a:moveTo>
                  <a:lnTo>
                    <a:pt x="17" y="0"/>
                  </a:lnTo>
                  <a:lnTo>
                    <a:pt x="34" y="17"/>
                  </a:lnTo>
                </a:path>
              </a:pathLst>
            </a:custGeom>
            <a:noFill/>
            <a:ln cap="flat" cmpd="sng" w="9525">
              <a:solidFill>
                <a:srgbClr val="00CC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1139" name="Google Shape;1139;p28"/>
          <p:cNvSpPr/>
          <p:nvPr/>
        </p:nvSpPr>
        <p:spPr>
          <a:xfrm>
            <a:off x="3617913" y="2849845"/>
            <a:ext cx="836612" cy="2746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u="sng">
                <a:solidFill>
                  <a:srgbClr val="00CCFF"/>
                </a:solidFill>
                <a:latin typeface="Constantia"/>
                <a:ea typeface="Constantia"/>
                <a:cs typeface="Constantia"/>
                <a:sym typeface="Constantia"/>
              </a:rPr>
              <a:t> </a:t>
            </a:r>
            <a:r>
              <a:rPr lang="en-US" sz="1800" u="sng">
                <a:solidFill>
                  <a:srgbClr val="00CCFF"/>
                </a:solidFill>
                <a:latin typeface="Constantia"/>
                <a:ea typeface="Constantia"/>
                <a:cs typeface="Constantia"/>
                <a:sym typeface="Constantia"/>
              </a:rPr>
              <a:t>: Actor1</a:t>
            </a:r>
            <a:endParaRPr sz="1800">
              <a:solidFill>
                <a:srgbClr val="00CCFF"/>
              </a:solidFill>
              <a:latin typeface="Constantia"/>
              <a:ea typeface="Constantia"/>
              <a:cs typeface="Constantia"/>
              <a:sym typeface="Constantia"/>
            </a:endParaRPr>
          </a:p>
        </p:txBody>
      </p:sp>
      <p:cxnSp>
        <p:nvCxnSpPr>
          <p:cNvPr id="1140" name="Google Shape;1140;p28"/>
          <p:cNvCxnSpPr/>
          <p:nvPr/>
        </p:nvCxnSpPr>
        <p:spPr>
          <a:xfrm>
            <a:off x="3956050" y="3419758"/>
            <a:ext cx="0" cy="196850"/>
          </a:xfrm>
          <a:prstGeom prst="straightConnector1">
            <a:avLst/>
          </a:prstGeom>
          <a:noFill/>
          <a:ln cap="flat" cmpd="sng" w="9525">
            <a:solidFill>
              <a:schemeClr val="dk1"/>
            </a:solidFill>
            <a:prstDash val="lgDash"/>
            <a:round/>
            <a:headEnd len="med" w="med" type="none"/>
            <a:tailEnd len="med" w="med" type="none"/>
          </a:ln>
        </p:spPr>
      </p:cxnSp>
      <p:sp>
        <p:nvSpPr>
          <p:cNvPr id="1141" name="Google Shape;1141;p28"/>
          <p:cNvSpPr/>
          <p:nvPr/>
        </p:nvSpPr>
        <p:spPr>
          <a:xfrm>
            <a:off x="4651375" y="2565683"/>
            <a:ext cx="1495425" cy="668337"/>
          </a:xfrm>
          <a:prstGeom prst="rect">
            <a:avLst/>
          </a:prstGeom>
          <a:noFill/>
          <a:ln cap="flat" cmpd="sng" w="9525">
            <a:solidFill>
              <a:srgbClr val="00CC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42" name="Google Shape;1142;p28"/>
          <p:cNvSpPr/>
          <p:nvPr/>
        </p:nvSpPr>
        <p:spPr>
          <a:xfrm>
            <a:off x="4910138" y="2760945"/>
            <a:ext cx="914400" cy="2746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u="sng">
                <a:solidFill>
                  <a:srgbClr val="00CCFF"/>
                </a:solidFill>
                <a:latin typeface="Constantia"/>
                <a:ea typeface="Constantia"/>
                <a:cs typeface="Constantia"/>
                <a:sym typeface="Constantia"/>
              </a:rPr>
              <a:t> : ClassA</a:t>
            </a:r>
            <a:endParaRPr sz="1800">
              <a:solidFill>
                <a:srgbClr val="00CCFF"/>
              </a:solidFill>
              <a:latin typeface="Constantia"/>
              <a:ea typeface="Constantia"/>
              <a:cs typeface="Constantia"/>
              <a:sym typeface="Constantia"/>
            </a:endParaRPr>
          </a:p>
        </p:txBody>
      </p:sp>
      <p:cxnSp>
        <p:nvCxnSpPr>
          <p:cNvPr id="1143" name="Google Shape;1143;p28"/>
          <p:cNvCxnSpPr/>
          <p:nvPr/>
        </p:nvCxnSpPr>
        <p:spPr>
          <a:xfrm>
            <a:off x="5478463" y="3419758"/>
            <a:ext cx="0" cy="400050"/>
          </a:xfrm>
          <a:prstGeom prst="straightConnector1">
            <a:avLst/>
          </a:prstGeom>
          <a:noFill/>
          <a:ln cap="flat" cmpd="sng" w="9525">
            <a:solidFill>
              <a:schemeClr val="dk1"/>
            </a:solidFill>
            <a:prstDash val="lgDash"/>
            <a:round/>
            <a:headEnd len="med" w="med" type="none"/>
            <a:tailEnd len="med" w="med" type="none"/>
          </a:ln>
        </p:spPr>
      </p:cxnSp>
      <p:sp>
        <p:nvSpPr>
          <p:cNvPr id="1144" name="Google Shape;1144;p28"/>
          <p:cNvSpPr/>
          <p:nvPr/>
        </p:nvSpPr>
        <p:spPr>
          <a:xfrm>
            <a:off x="6548438" y="2760945"/>
            <a:ext cx="914400" cy="2746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u="sng">
                <a:solidFill>
                  <a:srgbClr val="00CCFF"/>
                </a:solidFill>
                <a:latin typeface="Constantia"/>
                <a:ea typeface="Constantia"/>
                <a:cs typeface="Constantia"/>
                <a:sym typeface="Constantia"/>
              </a:rPr>
              <a:t> : ClassB</a:t>
            </a:r>
            <a:endParaRPr sz="1800">
              <a:solidFill>
                <a:srgbClr val="00CCFF"/>
              </a:solidFill>
              <a:latin typeface="Constantia"/>
              <a:ea typeface="Constantia"/>
              <a:cs typeface="Constantia"/>
              <a:sym typeface="Constantia"/>
            </a:endParaRPr>
          </a:p>
        </p:txBody>
      </p:sp>
      <p:cxnSp>
        <p:nvCxnSpPr>
          <p:cNvPr id="1145" name="Google Shape;1145;p28"/>
          <p:cNvCxnSpPr/>
          <p:nvPr/>
        </p:nvCxnSpPr>
        <p:spPr>
          <a:xfrm>
            <a:off x="6989763" y="3419758"/>
            <a:ext cx="1587" cy="844550"/>
          </a:xfrm>
          <a:prstGeom prst="straightConnector1">
            <a:avLst/>
          </a:prstGeom>
          <a:noFill/>
          <a:ln cap="flat" cmpd="sng" w="9525">
            <a:solidFill>
              <a:schemeClr val="dk1"/>
            </a:solidFill>
            <a:prstDash val="lgDash"/>
            <a:round/>
            <a:headEnd len="med" w="med" type="none"/>
            <a:tailEnd len="med" w="med" type="none"/>
          </a:ln>
        </p:spPr>
      </p:cxnSp>
      <p:cxnSp>
        <p:nvCxnSpPr>
          <p:cNvPr id="1146" name="Google Shape;1146;p28"/>
          <p:cNvCxnSpPr/>
          <p:nvPr/>
        </p:nvCxnSpPr>
        <p:spPr>
          <a:xfrm>
            <a:off x="3997325" y="3810283"/>
            <a:ext cx="1462088" cy="1587"/>
          </a:xfrm>
          <a:prstGeom prst="straightConnector1">
            <a:avLst/>
          </a:prstGeom>
          <a:noFill/>
          <a:ln cap="flat" cmpd="sng" w="9525">
            <a:solidFill>
              <a:srgbClr val="00CCFF"/>
            </a:solidFill>
            <a:prstDash val="solid"/>
            <a:round/>
            <a:headEnd len="med" w="med" type="none"/>
            <a:tailEnd len="lg" w="lg" type="triangle"/>
          </a:ln>
        </p:spPr>
      </p:cxnSp>
      <p:sp>
        <p:nvSpPr>
          <p:cNvPr id="1147" name="Google Shape;1147;p28"/>
          <p:cNvSpPr/>
          <p:nvPr/>
        </p:nvSpPr>
        <p:spPr>
          <a:xfrm>
            <a:off x="4029075" y="3495958"/>
            <a:ext cx="1701800" cy="2746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CCFF"/>
                </a:solidFill>
                <a:latin typeface="Constantia"/>
                <a:ea typeface="Constantia"/>
                <a:cs typeface="Constantia"/>
                <a:sym typeface="Constantia"/>
              </a:rPr>
              <a:t>1: Do Something</a:t>
            </a:r>
            <a:endParaRPr/>
          </a:p>
        </p:txBody>
      </p:sp>
      <p:sp>
        <p:nvSpPr>
          <p:cNvPr id="1148" name="Google Shape;1148;p28"/>
          <p:cNvSpPr/>
          <p:nvPr/>
        </p:nvSpPr>
        <p:spPr>
          <a:xfrm>
            <a:off x="5300663" y="3946808"/>
            <a:ext cx="2286000" cy="2746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CCFF"/>
                </a:solidFill>
                <a:latin typeface="Constantia"/>
                <a:ea typeface="Constantia"/>
                <a:cs typeface="Constantia"/>
                <a:sym typeface="Constantia"/>
              </a:rPr>
              <a:t>2: Do Something More</a:t>
            </a:r>
            <a:endParaRPr/>
          </a:p>
        </p:txBody>
      </p:sp>
      <p:sp>
        <p:nvSpPr>
          <p:cNvPr id="1149" name="Google Shape;1149;p28"/>
          <p:cNvSpPr/>
          <p:nvPr/>
        </p:nvSpPr>
        <p:spPr>
          <a:xfrm>
            <a:off x="2082800" y="3548345"/>
            <a:ext cx="1814513" cy="1661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Các kichj bản có thể được sử dụng để mô tả chi tiết xung quanh các thông điệp</a:t>
            </a:r>
            <a:endParaRPr sz="1800">
              <a:solidFill>
                <a:schemeClr val="dk1"/>
              </a:solidFill>
              <a:latin typeface="Constantia"/>
              <a:ea typeface="Constantia"/>
              <a:cs typeface="Constantia"/>
              <a:sym typeface="Constantia"/>
            </a:endParaRPr>
          </a:p>
        </p:txBody>
      </p:sp>
      <p:sp>
        <p:nvSpPr>
          <p:cNvPr id="1150" name="Google Shape;1150;p28"/>
          <p:cNvSpPr/>
          <p:nvPr/>
        </p:nvSpPr>
        <p:spPr>
          <a:xfrm>
            <a:off x="4184650" y="4869145"/>
            <a:ext cx="2305050" cy="1328738"/>
          </a:xfrm>
          <a:custGeom>
            <a:rect b="b" l="l" r="r" t="t"/>
            <a:pathLst>
              <a:path extrusionOk="0" h="973" w="1452">
                <a:moveTo>
                  <a:pt x="0" y="0"/>
                </a:moveTo>
                <a:lnTo>
                  <a:pt x="1318" y="0"/>
                </a:lnTo>
                <a:lnTo>
                  <a:pt x="1452" y="134"/>
                </a:lnTo>
                <a:lnTo>
                  <a:pt x="1452" y="973"/>
                </a:lnTo>
                <a:lnTo>
                  <a:pt x="0" y="973"/>
                </a:lnTo>
                <a:lnTo>
                  <a:pt x="0" y="0"/>
                </a:lnTo>
              </a:path>
            </a:pathLst>
          </a:custGeom>
          <a:noFill/>
          <a:ln cap="flat" cmpd="sng" w="9525">
            <a:solidFill>
              <a:srgbClr val="00CC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51" name="Google Shape;1151;p28"/>
          <p:cNvSpPr/>
          <p:nvPr/>
        </p:nvSpPr>
        <p:spPr>
          <a:xfrm>
            <a:off x="6273800" y="4872320"/>
            <a:ext cx="219075" cy="212725"/>
          </a:xfrm>
          <a:custGeom>
            <a:rect b="b" l="l" r="r" t="t"/>
            <a:pathLst>
              <a:path extrusionOk="0" h="12" w="12">
                <a:moveTo>
                  <a:pt x="0" y="0"/>
                </a:moveTo>
                <a:lnTo>
                  <a:pt x="0" y="12"/>
                </a:lnTo>
                <a:lnTo>
                  <a:pt x="12" y="12"/>
                </a:lnTo>
              </a:path>
            </a:pathLst>
          </a:custGeom>
          <a:noFill/>
          <a:ln cap="flat" cmpd="sng" w="9525">
            <a:solidFill>
              <a:srgbClr val="00CC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52" name="Google Shape;1152;p28"/>
          <p:cNvSpPr/>
          <p:nvPr/>
        </p:nvSpPr>
        <p:spPr>
          <a:xfrm>
            <a:off x="4279900" y="4973920"/>
            <a:ext cx="2041525" cy="11079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Chú thích có thể gồm nhiều thông tin về một phần tử mô hình cụ thể</a:t>
            </a:r>
            <a:endParaRPr sz="1400">
              <a:solidFill>
                <a:schemeClr val="dk1"/>
              </a:solidFill>
              <a:latin typeface="Constantia"/>
              <a:ea typeface="Constantia"/>
              <a:cs typeface="Constantia"/>
              <a:sym typeface="Constantia"/>
            </a:endParaRPr>
          </a:p>
        </p:txBody>
      </p:sp>
      <p:cxnSp>
        <p:nvCxnSpPr>
          <p:cNvPr id="1153" name="Google Shape;1153;p28"/>
          <p:cNvCxnSpPr/>
          <p:nvPr/>
        </p:nvCxnSpPr>
        <p:spPr>
          <a:xfrm flipH="1" rot="10800000">
            <a:off x="5638800" y="4273833"/>
            <a:ext cx="696913" cy="569912"/>
          </a:xfrm>
          <a:prstGeom prst="straightConnector1">
            <a:avLst/>
          </a:prstGeom>
          <a:noFill/>
          <a:ln cap="flat" cmpd="sng" w="9525">
            <a:solidFill>
              <a:schemeClr val="dk1"/>
            </a:solidFill>
            <a:prstDash val="lgDash"/>
            <a:round/>
            <a:headEnd len="med" w="med" type="none"/>
            <a:tailEnd len="med" w="med" type="none"/>
          </a:ln>
        </p:spPr>
      </p:cxnSp>
      <p:sp>
        <p:nvSpPr>
          <p:cNvPr id="1154" name="Google Shape;1154;p28"/>
          <p:cNvSpPr txBox="1"/>
          <p:nvPr/>
        </p:nvSpPr>
        <p:spPr>
          <a:xfrm>
            <a:off x="711200" y="3722970"/>
            <a:ext cx="9144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FF0000"/>
                </a:solidFill>
                <a:latin typeface="Constantia"/>
                <a:ea typeface="Constantia"/>
                <a:cs typeface="Constantia"/>
                <a:sym typeface="Constantia"/>
              </a:rPr>
              <a:t>Script</a:t>
            </a:r>
            <a:endParaRPr/>
          </a:p>
        </p:txBody>
      </p:sp>
      <p:sp>
        <p:nvSpPr>
          <p:cNvPr id="1155" name="Google Shape;1155;p28"/>
          <p:cNvSpPr txBox="1"/>
          <p:nvPr/>
        </p:nvSpPr>
        <p:spPr>
          <a:xfrm>
            <a:off x="2228850" y="5300945"/>
            <a:ext cx="7620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FF0000"/>
                </a:solidFill>
                <a:latin typeface="Constantia"/>
                <a:ea typeface="Constantia"/>
                <a:cs typeface="Constantia"/>
                <a:sym typeface="Constantia"/>
              </a:rPr>
              <a:t>Note</a:t>
            </a:r>
            <a:endParaRPr/>
          </a:p>
        </p:txBody>
      </p:sp>
      <p:cxnSp>
        <p:nvCxnSpPr>
          <p:cNvPr id="1156" name="Google Shape;1156;p28"/>
          <p:cNvCxnSpPr/>
          <p:nvPr/>
        </p:nvCxnSpPr>
        <p:spPr>
          <a:xfrm>
            <a:off x="1558925" y="3926170"/>
            <a:ext cx="457200" cy="0"/>
          </a:xfrm>
          <a:prstGeom prst="straightConnector1">
            <a:avLst/>
          </a:prstGeom>
          <a:noFill/>
          <a:ln cap="flat" cmpd="sng" w="19050">
            <a:solidFill>
              <a:schemeClr val="hlink"/>
            </a:solidFill>
            <a:prstDash val="solid"/>
            <a:round/>
            <a:headEnd len="sm" w="sm" type="none"/>
            <a:tailEnd len="lg" w="lg" type="triangle"/>
          </a:ln>
        </p:spPr>
      </p:cxnSp>
      <p:cxnSp>
        <p:nvCxnSpPr>
          <p:cNvPr id="1157" name="Google Shape;1157;p28"/>
          <p:cNvCxnSpPr/>
          <p:nvPr/>
        </p:nvCxnSpPr>
        <p:spPr>
          <a:xfrm>
            <a:off x="2921000" y="5516845"/>
            <a:ext cx="1219200" cy="0"/>
          </a:xfrm>
          <a:prstGeom prst="straightConnector1">
            <a:avLst/>
          </a:prstGeom>
          <a:noFill/>
          <a:ln cap="flat" cmpd="sng" w="19050">
            <a:solidFill>
              <a:schemeClr val="hlink"/>
            </a:solidFill>
            <a:prstDash val="solid"/>
            <a:round/>
            <a:headEnd len="sm" w="sm" type="none"/>
            <a:tailEnd len="lg" w="lg" type="triangle"/>
          </a:ln>
        </p:spPr>
      </p:cxnSp>
      <p:sp>
        <p:nvSpPr>
          <p:cNvPr id="1158" name="Google Shape;1158;p28"/>
          <p:cNvSpPr/>
          <p:nvPr/>
        </p:nvSpPr>
        <p:spPr>
          <a:xfrm>
            <a:off x="6238875" y="2565683"/>
            <a:ext cx="1495425" cy="668337"/>
          </a:xfrm>
          <a:prstGeom prst="rect">
            <a:avLst/>
          </a:prstGeom>
          <a:noFill/>
          <a:ln cap="flat" cmpd="sng" w="9525">
            <a:solidFill>
              <a:srgbClr val="00CC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159" name="Google Shape;1159;p28"/>
          <p:cNvCxnSpPr/>
          <p:nvPr/>
        </p:nvCxnSpPr>
        <p:spPr>
          <a:xfrm>
            <a:off x="5521325" y="4261133"/>
            <a:ext cx="1449388" cy="0"/>
          </a:xfrm>
          <a:prstGeom prst="straightConnector1">
            <a:avLst/>
          </a:prstGeom>
          <a:noFill/>
          <a:ln cap="flat" cmpd="sng" w="9525">
            <a:solidFill>
              <a:srgbClr val="00CCFF"/>
            </a:solidFill>
            <a:prstDash val="solid"/>
            <a:round/>
            <a:headEnd len="med" w="med" type="none"/>
            <a:tailEnd len="lg" w="lg" type="triangle"/>
          </a:ln>
        </p:spPr>
      </p:cxnSp>
      <p:sp>
        <p:nvSpPr>
          <p:cNvPr id="1160" name="Google Shape;1160;p28"/>
          <p:cNvSpPr/>
          <p:nvPr/>
        </p:nvSpPr>
        <p:spPr>
          <a:xfrm>
            <a:off x="3911600" y="3618195"/>
            <a:ext cx="88900" cy="1004888"/>
          </a:xfrm>
          <a:prstGeom prst="rect">
            <a:avLst/>
          </a:prstGeom>
          <a:noFill/>
          <a:ln cap="flat" cmpd="sng" w="9525">
            <a:solidFill>
              <a:srgbClr val="33CCFF"/>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61" name="Google Shape;1161;p28"/>
          <p:cNvSpPr/>
          <p:nvPr/>
        </p:nvSpPr>
        <p:spPr>
          <a:xfrm>
            <a:off x="6950075" y="4259545"/>
            <a:ext cx="88900" cy="274638"/>
          </a:xfrm>
          <a:prstGeom prst="rect">
            <a:avLst/>
          </a:prstGeom>
          <a:noFill/>
          <a:ln cap="flat" cmpd="sng" w="9525">
            <a:solidFill>
              <a:srgbClr val="33CCFF"/>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62" name="Google Shape;1162;p28"/>
          <p:cNvSpPr/>
          <p:nvPr/>
        </p:nvSpPr>
        <p:spPr>
          <a:xfrm>
            <a:off x="5426075" y="3808695"/>
            <a:ext cx="88900" cy="822325"/>
          </a:xfrm>
          <a:prstGeom prst="rect">
            <a:avLst/>
          </a:prstGeom>
          <a:noFill/>
          <a:ln cap="flat" cmpd="sng" w="9525">
            <a:solidFill>
              <a:srgbClr val="33CCFF"/>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163" name="Google Shape;1163;p28"/>
          <p:cNvCxnSpPr/>
          <p:nvPr/>
        </p:nvCxnSpPr>
        <p:spPr>
          <a:xfrm>
            <a:off x="3957638" y="4619908"/>
            <a:ext cx="0" cy="368300"/>
          </a:xfrm>
          <a:prstGeom prst="straightConnector1">
            <a:avLst/>
          </a:prstGeom>
          <a:noFill/>
          <a:ln cap="flat" cmpd="sng" w="9525">
            <a:solidFill>
              <a:schemeClr val="dk1"/>
            </a:solidFill>
            <a:prstDash val="lgDash"/>
            <a:round/>
            <a:headEnd len="med" w="med" type="none"/>
            <a:tailEnd len="med" w="med" type="none"/>
          </a:ln>
        </p:spPr>
      </p:cxnSp>
      <p:cxnSp>
        <p:nvCxnSpPr>
          <p:cNvPr id="1164" name="Google Shape;1164;p28"/>
          <p:cNvCxnSpPr/>
          <p:nvPr/>
        </p:nvCxnSpPr>
        <p:spPr>
          <a:xfrm>
            <a:off x="5478463" y="4629433"/>
            <a:ext cx="0" cy="238125"/>
          </a:xfrm>
          <a:prstGeom prst="straightConnector1">
            <a:avLst/>
          </a:prstGeom>
          <a:noFill/>
          <a:ln cap="flat" cmpd="sng" w="9525">
            <a:solidFill>
              <a:schemeClr val="dk1"/>
            </a:solidFill>
            <a:prstDash val="lgDash"/>
            <a:round/>
            <a:headEnd len="med" w="med" type="none"/>
            <a:tailEnd len="med" w="med" type="none"/>
          </a:ln>
        </p:spPr>
      </p:cxnSp>
      <p:cxnSp>
        <p:nvCxnSpPr>
          <p:cNvPr id="1165" name="Google Shape;1165;p28"/>
          <p:cNvCxnSpPr/>
          <p:nvPr/>
        </p:nvCxnSpPr>
        <p:spPr>
          <a:xfrm>
            <a:off x="6991350" y="4543708"/>
            <a:ext cx="0" cy="377825"/>
          </a:xfrm>
          <a:prstGeom prst="straightConnector1">
            <a:avLst/>
          </a:prstGeom>
          <a:noFill/>
          <a:ln cap="flat" cmpd="sng" w="9525">
            <a:solidFill>
              <a:schemeClr val="dk1"/>
            </a:solidFill>
            <a:prstDash val="lgDash"/>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2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Các bước thiết kế ca sử dụng</a:t>
            </a:r>
            <a:endParaRPr/>
          </a:p>
        </p:txBody>
      </p:sp>
      <p:sp>
        <p:nvSpPr>
          <p:cNvPr id="1174" name="Google Shape;1174;p2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Mô tả </a:t>
            </a:r>
            <a:r>
              <a:rPr lang="en-US">
                <a:latin typeface="Calibri"/>
                <a:ea typeface="Calibri"/>
                <a:cs typeface="Calibri"/>
                <a:sym typeface="Calibri"/>
              </a:rPr>
              <a:t>sự tương tác giữa các đối tượng thiết kế </a:t>
            </a:r>
            <a:endParaRPr/>
          </a:p>
          <a:p>
            <a:pPr indent="-274320" lvl="0" marL="274320" rtl="0" algn="l">
              <a:spcBef>
                <a:spcPts val="520"/>
              </a:spcBef>
              <a:spcAft>
                <a:spcPts val="0"/>
              </a:spcAft>
              <a:buSzPts val="2470"/>
              <a:buChar char="⚫"/>
            </a:pPr>
            <a:r>
              <a:rPr lang="en-US">
                <a:latin typeface="Calibri"/>
                <a:ea typeface="Calibri"/>
                <a:cs typeface="Calibri"/>
                <a:sym typeface="Calibri"/>
              </a:rPr>
              <a:t>Đơn giản hoá biểu đồ tuần tự sử dụng hệ thống con </a:t>
            </a:r>
            <a:endParaRPr>
              <a:latin typeface="Calibri"/>
              <a:ea typeface="Calibri"/>
              <a:cs typeface="Calibri"/>
              <a:sym typeface="Calibri"/>
            </a:endParaRPr>
          </a:p>
          <a:p>
            <a:pPr indent="-274320" lvl="0" marL="274320" rtl="0" algn="l">
              <a:spcBef>
                <a:spcPts val="520"/>
              </a:spcBef>
              <a:spcAft>
                <a:spcPts val="0"/>
              </a:spcAft>
              <a:buSzPts val="2470"/>
              <a:buChar char="⚫"/>
            </a:pPr>
            <a:r>
              <a:rPr lang="en-US"/>
              <a:t>Mô tả các hành vi liên quan dữ liệu bền vững</a:t>
            </a:r>
            <a:endParaRPr/>
          </a:p>
          <a:p>
            <a:pPr indent="-274320" lvl="0" marL="274320" rtl="0" algn="l">
              <a:spcBef>
                <a:spcPts val="520"/>
              </a:spcBef>
              <a:spcAft>
                <a:spcPts val="0"/>
              </a:spcAft>
              <a:buSzPts val="2470"/>
              <a:buChar char="⚫"/>
            </a:pPr>
            <a:r>
              <a:rPr lang="en-US"/>
              <a:t>Làm mịn sự mô tả luồng các sự kiện</a:t>
            </a:r>
            <a:endParaRPr/>
          </a:p>
          <a:p>
            <a:pPr indent="-274320" lvl="0" marL="274320" rtl="0" algn="l">
              <a:spcBef>
                <a:spcPts val="520"/>
              </a:spcBef>
              <a:spcAft>
                <a:spcPts val="0"/>
              </a:spcAft>
              <a:buSzPts val="2470"/>
              <a:buChar char="⚫"/>
            </a:pPr>
            <a:r>
              <a:rPr lang="en-US">
                <a:solidFill>
                  <a:srgbClr val="7030A0"/>
                </a:solidFill>
              </a:rPr>
              <a:t>Thống nhất các lớp và các hệ thống con</a:t>
            </a:r>
            <a:endParaRPr>
              <a:solidFill>
                <a:srgbClr val="7030A0"/>
              </a:solidFill>
            </a:endParaRPr>
          </a:p>
        </p:txBody>
      </p:sp>
      <p:sp>
        <p:nvSpPr>
          <p:cNvPr id="1175" name="Google Shape;1175;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176" name="Google Shape;1176;p29"/>
          <p:cNvSpPr/>
          <p:nvPr/>
        </p:nvSpPr>
        <p:spPr>
          <a:xfrm>
            <a:off x="361950" y="1052513"/>
            <a:ext cx="8489950" cy="5043487"/>
          </a:xfrm>
          <a:prstGeom prst="rect">
            <a:avLst/>
          </a:prstGeom>
          <a:noFill/>
          <a:ln>
            <a:noFill/>
          </a:ln>
        </p:spPr>
        <p:txBody>
          <a:bodyPr anchorCtr="0" anchor="t" bIns="53975" lIns="107950" spcFirstLastPara="1" rIns="107950" wrap="square" tIns="53975">
            <a:noAutofit/>
          </a:bodyPr>
          <a:lstStyle/>
          <a:p>
            <a:pPr indent="-136525" lvl="0" marL="339725" marR="0" rtl="0" algn="l">
              <a:lnSpc>
                <a:spcPct val="80000"/>
              </a:lnSpc>
              <a:spcBef>
                <a:spcPts val="0"/>
              </a:spcBef>
              <a:spcAft>
                <a:spcPts val="0"/>
              </a:spcAft>
              <a:buClr>
                <a:srgbClr val="FFFF99"/>
              </a:buClr>
              <a:buSzPts val="3200"/>
              <a:buFont typeface="Noto Sans Symbols"/>
              <a:buNone/>
            </a:pPr>
            <a:r>
              <a:t/>
            </a:r>
            <a:endParaRPr sz="3200">
              <a:solidFill>
                <a:srgbClr val="FFFF99"/>
              </a:solidFill>
              <a:latin typeface="Constantia"/>
              <a:ea typeface="Constantia"/>
              <a:cs typeface="Constantia"/>
              <a:sym typeface="Constant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30"/>
          <p:cNvSpPr txBox="1"/>
          <p:nvPr>
            <p:ph type="title"/>
          </p:nvPr>
        </p:nvSpPr>
        <p:spPr>
          <a:xfrm>
            <a:off x="430212" y="92203"/>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Những cân nhắc về việc thống nhất các mô hình thiết kế</a:t>
            </a:r>
            <a:endParaRPr sz="3600"/>
          </a:p>
        </p:txBody>
      </p:sp>
      <p:sp>
        <p:nvSpPr>
          <p:cNvPr id="1185" name="Google Shape;1185;p30"/>
          <p:cNvSpPr txBox="1"/>
          <p:nvPr>
            <p:ph idx="1" type="body"/>
          </p:nvPr>
        </p:nvSpPr>
        <p:spPr>
          <a:xfrm>
            <a:off x="361950" y="1292353"/>
            <a:ext cx="8489950" cy="3062287"/>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Tên các phần tử mô hình nên mô tả chức năng của chúng</a:t>
            </a:r>
            <a:endParaRPr/>
          </a:p>
          <a:p>
            <a:pPr indent="-274320" lvl="0" marL="274320" rtl="0" algn="l">
              <a:lnSpc>
                <a:spcPct val="90000"/>
              </a:lnSpc>
              <a:spcBef>
                <a:spcPts val="520"/>
              </a:spcBef>
              <a:spcAft>
                <a:spcPts val="0"/>
              </a:spcAft>
              <a:buSzPts val="2470"/>
              <a:buChar char="⚫"/>
            </a:pPr>
            <a:r>
              <a:rPr lang="en-US"/>
              <a:t>Hợp nhất các phần tử mô hình tương tự</a:t>
            </a:r>
            <a:endParaRPr/>
          </a:p>
          <a:p>
            <a:pPr indent="-274320" lvl="0" marL="274320" rtl="0" algn="l">
              <a:lnSpc>
                <a:spcPct val="90000"/>
              </a:lnSpc>
              <a:spcBef>
                <a:spcPts val="520"/>
              </a:spcBef>
              <a:spcAft>
                <a:spcPts val="0"/>
              </a:spcAft>
              <a:buSzPts val="2470"/>
              <a:buChar char="⚫"/>
            </a:pPr>
            <a:r>
              <a:rPr lang="en-US"/>
              <a:t>Sử dụng thừa kế để trừu tượng hóa các phần tử mô hình</a:t>
            </a:r>
            <a:endParaRPr/>
          </a:p>
          <a:p>
            <a:pPr indent="-274320" lvl="0" marL="274320" rtl="0" algn="l">
              <a:lnSpc>
                <a:spcPct val="90000"/>
              </a:lnSpc>
              <a:spcBef>
                <a:spcPts val="520"/>
              </a:spcBef>
              <a:spcAft>
                <a:spcPts val="0"/>
              </a:spcAft>
              <a:buSzPts val="2470"/>
              <a:buChar char="⚫"/>
            </a:pPr>
            <a:r>
              <a:rPr lang="en-US"/>
              <a:t>Giữ lại các phần tử mô hình và luồng sự kiện vững chắc (consistent)</a:t>
            </a:r>
            <a:endParaRPr/>
          </a:p>
        </p:txBody>
      </p:sp>
      <p:sp>
        <p:nvSpPr>
          <p:cNvPr id="1186" name="Google Shape;1186;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187" name="Google Shape;1187;p30"/>
          <p:cNvGrpSpPr/>
          <p:nvPr/>
        </p:nvGrpSpPr>
        <p:grpSpPr>
          <a:xfrm>
            <a:off x="3730625" y="4828080"/>
            <a:ext cx="1709738" cy="692150"/>
            <a:chOff x="144" y="1440"/>
            <a:chExt cx="881" cy="510"/>
          </a:xfrm>
        </p:grpSpPr>
        <p:sp>
          <p:nvSpPr>
            <p:cNvPr id="1188" name="Google Shape;1188;p30"/>
            <p:cNvSpPr/>
            <p:nvPr/>
          </p:nvSpPr>
          <p:spPr>
            <a:xfrm>
              <a:off x="144" y="1440"/>
              <a:ext cx="881" cy="510"/>
            </a:xfrm>
            <a:prstGeom prst="rect">
              <a:avLst/>
            </a:prstGeom>
            <a:noFill/>
            <a:ln cap="flat" cmpd="sng" w="38100">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189" name="Google Shape;1189;p30"/>
            <p:cNvCxnSpPr/>
            <p:nvPr/>
          </p:nvCxnSpPr>
          <p:spPr>
            <a:xfrm>
              <a:off x="144" y="1810"/>
              <a:ext cx="881" cy="0"/>
            </a:xfrm>
            <a:prstGeom prst="straightConnector1">
              <a:avLst/>
            </a:prstGeom>
            <a:noFill/>
            <a:ln cap="flat" cmpd="sng" w="38100">
              <a:solidFill>
                <a:srgbClr val="00CCFF"/>
              </a:solidFill>
              <a:prstDash val="solid"/>
              <a:round/>
              <a:headEnd len="sm" w="sm" type="none"/>
              <a:tailEnd len="sm" w="sm" type="none"/>
            </a:ln>
          </p:spPr>
        </p:cxnSp>
        <p:cxnSp>
          <p:nvCxnSpPr>
            <p:cNvPr id="1190" name="Google Shape;1190;p30"/>
            <p:cNvCxnSpPr/>
            <p:nvPr/>
          </p:nvCxnSpPr>
          <p:spPr>
            <a:xfrm>
              <a:off x="144" y="1680"/>
              <a:ext cx="881" cy="0"/>
            </a:xfrm>
            <a:prstGeom prst="straightConnector1">
              <a:avLst/>
            </a:prstGeom>
            <a:noFill/>
            <a:ln cap="flat" cmpd="sng" w="38100">
              <a:solidFill>
                <a:srgbClr val="00CCFF"/>
              </a:solidFill>
              <a:prstDash val="solid"/>
              <a:round/>
              <a:headEnd len="sm" w="sm" type="none"/>
              <a:tailEnd len="sm" w="sm" type="none"/>
            </a:ln>
          </p:spPr>
        </p:cxnSp>
      </p:grpSp>
      <p:grpSp>
        <p:nvGrpSpPr>
          <p:cNvPr id="1191" name="Google Shape;1191;p30"/>
          <p:cNvGrpSpPr/>
          <p:nvPr/>
        </p:nvGrpSpPr>
        <p:grpSpPr>
          <a:xfrm>
            <a:off x="1685925" y="5323380"/>
            <a:ext cx="925513" cy="865188"/>
            <a:chOff x="446" y="2208"/>
            <a:chExt cx="754" cy="1008"/>
          </a:xfrm>
        </p:grpSpPr>
        <p:sp>
          <p:nvSpPr>
            <p:cNvPr id="1192" name="Google Shape;1192;p30"/>
            <p:cNvSpPr/>
            <p:nvPr/>
          </p:nvSpPr>
          <p:spPr>
            <a:xfrm>
              <a:off x="446" y="2208"/>
              <a:ext cx="624" cy="288"/>
            </a:xfrm>
            <a:prstGeom prst="ellipse">
              <a:avLst/>
            </a:prstGeom>
            <a:noFill/>
            <a:ln cap="flat" cmpd="sng" w="28575">
              <a:solidFill>
                <a:srgbClr val="00CC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193" name="Google Shape;1193;p30"/>
            <p:cNvSpPr/>
            <p:nvPr/>
          </p:nvSpPr>
          <p:spPr>
            <a:xfrm>
              <a:off x="768" y="2496"/>
              <a:ext cx="432" cy="720"/>
            </a:xfrm>
            <a:prstGeom prst="rect">
              <a:avLst/>
            </a:prstGeom>
            <a:noFill/>
            <a:ln cap="flat" cmpd="sng" w="28575">
              <a:solidFill>
                <a:srgbClr val="00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194" name="Google Shape;1194;p30"/>
            <p:cNvCxnSpPr/>
            <p:nvPr/>
          </p:nvCxnSpPr>
          <p:spPr>
            <a:xfrm>
              <a:off x="1056" y="2496"/>
              <a:ext cx="144" cy="144"/>
            </a:xfrm>
            <a:prstGeom prst="straightConnector1">
              <a:avLst/>
            </a:prstGeom>
            <a:noFill/>
            <a:ln cap="flat" cmpd="sng" w="28575">
              <a:solidFill>
                <a:srgbClr val="00CCFF"/>
              </a:solidFill>
              <a:prstDash val="solid"/>
              <a:round/>
              <a:headEnd len="sm" w="sm" type="none"/>
              <a:tailEnd len="sm" w="sm" type="none"/>
            </a:ln>
          </p:spPr>
        </p:cxnSp>
        <p:cxnSp>
          <p:nvCxnSpPr>
            <p:cNvPr id="1195" name="Google Shape;1195;p30"/>
            <p:cNvCxnSpPr/>
            <p:nvPr/>
          </p:nvCxnSpPr>
          <p:spPr>
            <a:xfrm>
              <a:off x="1056" y="2496"/>
              <a:ext cx="0" cy="144"/>
            </a:xfrm>
            <a:prstGeom prst="straightConnector1">
              <a:avLst/>
            </a:prstGeom>
            <a:noFill/>
            <a:ln cap="flat" cmpd="sng" w="28575">
              <a:solidFill>
                <a:srgbClr val="00CCFF"/>
              </a:solidFill>
              <a:prstDash val="solid"/>
              <a:round/>
              <a:headEnd len="sm" w="sm" type="none"/>
              <a:tailEnd len="sm" w="sm" type="none"/>
            </a:ln>
          </p:spPr>
        </p:cxnSp>
        <p:cxnSp>
          <p:nvCxnSpPr>
            <p:cNvPr id="1196" name="Google Shape;1196;p30"/>
            <p:cNvCxnSpPr/>
            <p:nvPr/>
          </p:nvCxnSpPr>
          <p:spPr>
            <a:xfrm rot="10800000">
              <a:off x="1056" y="2640"/>
              <a:ext cx="144" cy="0"/>
            </a:xfrm>
            <a:prstGeom prst="straightConnector1">
              <a:avLst/>
            </a:prstGeom>
            <a:noFill/>
            <a:ln cap="flat" cmpd="sng" w="28575">
              <a:solidFill>
                <a:srgbClr val="00CCFF"/>
              </a:solidFill>
              <a:prstDash val="solid"/>
              <a:round/>
              <a:headEnd len="sm" w="sm" type="none"/>
              <a:tailEnd len="sm" w="sm" type="none"/>
            </a:ln>
          </p:spPr>
        </p:cxnSp>
        <p:cxnSp>
          <p:nvCxnSpPr>
            <p:cNvPr id="1197" name="Google Shape;1197;p30"/>
            <p:cNvCxnSpPr/>
            <p:nvPr/>
          </p:nvCxnSpPr>
          <p:spPr>
            <a:xfrm>
              <a:off x="816" y="2736"/>
              <a:ext cx="336" cy="0"/>
            </a:xfrm>
            <a:prstGeom prst="straightConnector1">
              <a:avLst/>
            </a:prstGeom>
            <a:noFill/>
            <a:ln cap="flat" cmpd="sng" w="28575">
              <a:solidFill>
                <a:srgbClr val="00CCFF"/>
              </a:solidFill>
              <a:prstDash val="solid"/>
              <a:round/>
              <a:headEnd len="sm" w="sm" type="none"/>
              <a:tailEnd len="sm" w="sm" type="none"/>
            </a:ln>
          </p:spPr>
        </p:cxnSp>
        <p:cxnSp>
          <p:nvCxnSpPr>
            <p:cNvPr id="1198" name="Google Shape;1198;p30"/>
            <p:cNvCxnSpPr/>
            <p:nvPr/>
          </p:nvCxnSpPr>
          <p:spPr>
            <a:xfrm>
              <a:off x="816" y="2784"/>
              <a:ext cx="336" cy="0"/>
            </a:xfrm>
            <a:prstGeom prst="straightConnector1">
              <a:avLst/>
            </a:prstGeom>
            <a:noFill/>
            <a:ln cap="flat" cmpd="sng" w="28575">
              <a:solidFill>
                <a:srgbClr val="00CCFF"/>
              </a:solidFill>
              <a:prstDash val="solid"/>
              <a:round/>
              <a:headEnd len="sm" w="sm" type="none"/>
              <a:tailEnd len="sm" w="sm" type="none"/>
            </a:ln>
          </p:spPr>
        </p:cxnSp>
        <p:cxnSp>
          <p:nvCxnSpPr>
            <p:cNvPr id="1199" name="Google Shape;1199;p30"/>
            <p:cNvCxnSpPr/>
            <p:nvPr/>
          </p:nvCxnSpPr>
          <p:spPr>
            <a:xfrm>
              <a:off x="816" y="2832"/>
              <a:ext cx="336" cy="0"/>
            </a:xfrm>
            <a:prstGeom prst="straightConnector1">
              <a:avLst/>
            </a:prstGeom>
            <a:noFill/>
            <a:ln cap="flat" cmpd="sng" w="28575">
              <a:solidFill>
                <a:srgbClr val="00CCFF"/>
              </a:solidFill>
              <a:prstDash val="solid"/>
              <a:round/>
              <a:headEnd len="sm" w="sm" type="none"/>
              <a:tailEnd len="sm" w="sm" type="none"/>
            </a:ln>
          </p:spPr>
        </p:cxnSp>
        <p:cxnSp>
          <p:nvCxnSpPr>
            <p:cNvPr id="1200" name="Google Shape;1200;p30"/>
            <p:cNvCxnSpPr/>
            <p:nvPr/>
          </p:nvCxnSpPr>
          <p:spPr>
            <a:xfrm>
              <a:off x="816" y="2928"/>
              <a:ext cx="336" cy="0"/>
            </a:xfrm>
            <a:prstGeom prst="straightConnector1">
              <a:avLst/>
            </a:prstGeom>
            <a:noFill/>
            <a:ln cap="flat" cmpd="sng" w="28575">
              <a:solidFill>
                <a:srgbClr val="00CCFF"/>
              </a:solidFill>
              <a:prstDash val="solid"/>
              <a:round/>
              <a:headEnd len="sm" w="sm" type="none"/>
              <a:tailEnd len="sm" w="sm" type="none"/>
            </a:ln>
          </p:spPr>
        </p:cxnSp>
        <p:cxnSp>
          <p:nvCxnSpPr>
            <p:cNvPr id="1201" name="Google Shape;1201;p30"/>
            <p:cNvCxnSpPr/>
            <p:nvPr/>
          </p:nvCxnSpPr>
          <p:spPr>
            <a:xfrm>
              <a:off x="816" y="2880"/>
              <a:ext cx="336" cy="0"/>
            </a:xfrm>
            <a:prstGeom prst="straightConnector1">
              <a:avLst/>
            </a:prstGeom>
            <a:noFill/>
            <a:ln cap="flat" cmpd="sng" w="28575">
              <a:solidFill>
                <a:srgbClr val="00CCFF"/>
              </a:solidFill>
              <a:prstDash val="solid"/>
              <a:round/>
              <a:headEnd len="sm" w="sm" type="none"/>
              <a:tailEnd len="sm" w="sm" type="none"/>
            </a:ln>
          </p:spPr>
        </p:cxnSp>
        <p:cxnSp>
          <p:nvCxnSpPr>
            <p:cNvPr id="1202" name="Google Shape;1202;p30"/>
            <p:cNvCxnSpPr/>
            <p:nvPr/>
          </p:nvCxnSpPr>
          <p:spPr>
            <a:xfrm>
              <a:off x="816" y="2976"/>
              <a:ext cx="336" cy="0"/>
            </a:xfrm>
            <a:prstGeom prst="straightConnector1">
              <a:avLst/>
            </a:prstGeom>
            <a:noFill/>
            <a:ln cap="flat" cmpd="sng" w="28575">
              <a:solidFill>
                <a:srgbClr val="00CCFF"/>
              </a:solidFill>
              <a:prstDash val="solid"/>
              <a:round/>
              <a:headEnd len="sm" w="sm" type="none"/>
              <a:tailEnd len="sm" w="sm" type="none"/>
            </a:ln>
          </p:spPr>
        </p:cxnSp>
        <p:cxnSp>
          <p:nvCxnSpPr>
            <p:cNvPr id="1203" name="Google Shape;1203;p30"/>
            <p:cNvCxnSpPr/>
            <p:nvPr/>
          </p:nvCxnSpPr>
          <p:spPr>
            <a:xfrm>
              <a:off x="816" y="3024"/>
              <a:ext cx="336" cy="0"/>
            </a:xfrm>
            <a:prstGeom prst="straightConnector1">
              <a:avLst/>
            </a:prstGeom>
            <a:noFill/>
            <a:ln cap="flat" cmpd="sng" w="28575">
              <a:solidFill>
                <a:srgbClr val="00CCFF"/>
              </a:solidFill>
              <a:prstDash val="solid"/>
              <a:round/>
              <a:headEnd len="sm" w="sm" type="none"/>
              <a:tailEnd len="sm" w="sm" type="none"/>
            </a:ln>
          </p:spPr>
        </p:cxnSp>
        <p:cxnSp>
          <p:nvCxnSpPr>
            <p:cNvPr id="1204" name="Google Shape;1204;p30"/>
            <p:cNvCxnSpPr/>
            <p:nvPr/>
          </p:nvCxnSpPr>
          <p:spPr>
            <a:xfrm>
              <a:off x="816" y="3072"/>
              <a:ext cx="336" cy="0"/>
            </a:xfrm>
            <a:prstGeom prst="straightConnector1">
              <a:avLst/>
            </a:prstGeom>
            <a:noFill/>
            <a:ln cap="flat" cmpd="sng" w="28575">
              <a:solidFill>
                <a:srgbClr val="00CCFF"/>
              </a:solidFill>
              <a:prstDash val="solid"/>
              <a:round/>
              <a:headEnd len="sm" w="sm" type="none"/>
              <a:tailEnd len="sm" w="sm" type="none"/>
            </a:ln>
          </p:spPr>
        </p:cxnSp>
        <p:cxnSp>
          <p:nvCxnSpPr>
            <p:cNvPr id="1205" name="Google Shape;1205;p30"/>
            <p:cNvCxnSpPr/>
            <p:nvPr/>
          </p:nvCxnSpPr>
          <p:spPr>
            <a:xfrm>
              <a:off x="816" y="3120"/>
              <a:ext cx="336" cy="0"/>
            </a:xfrm>
            <a:prstGeom prst="straightConnector1">
              <a:avLst/>
            </a:prstGeom>
            <a:noFill/>
            <a:ln cap="flat" cmpd="sng" w="28575">
              <a:solidFill>
                <a:srgbClr val="00CCFF"/>
              </a:solidFill>
              <a:prstDash val="solid"/>
              <a:round/>
              <a:headEnd len="sm" w="sm" type="none"/>
              <a:tailEnd len="sm" w="sm" type="none"/>
            </a:ln>
          </p:spPr>
        </p:cxnSp>
        <p:cxnSp>
          <p:nvCxnSpPr>
            <p:cNvPr id="1206" name="Google Shape;1206;p30"/>
            <p:cNvCxnSpPr/>
            <p:nvPr/>
          </p:nvCxnSpPr>
          <p:spPr>
            <a:xfrm>
              <a:off x="816" y="3168"/>
              <a:ext cx="336" cy="0"/>
            </a:xfrm>
            <a:prstGeom prst="straightConnector1">
              <a:avLst/>
            </a:prstGeom>
            <a:noFill/>
            <a:ln cap="flat" cmpd="sng" w="28575">
              <a:solidFill>
                <a:srgbClr val="00CCFF"/>
              </a:solidFill>
              <a:prstDash val="solid"/>
              <a:round/>
              <a:headEnd len="sm" w="sm" type="none"/>
              <a:tailEnd len="sm" w="sm" type="none"/>
            </a:ln>
          </p:spPr>
        </p:cxnSp>
        <p:cxnSp>
          <p:nvCxnSpPr>
            <p:cNvPr id="1207" name="Google Shape;1207;p30"/>
            <p:cNvCxnSpPr/>
            <p:nvPr/>
          </p:nvCxnSpPr>
          <p:spPr>
            <a:xfrm>
              <a:off x="816" y="2688"/>
              <a:ext cx="336" cy="0"/>
            </a:xfrm>
            <a:prstGeom prst="straightConnector1">
              <a:avLst/>
            </a:prstGeom>
            <a:noFill/>
            <a:ln cap="flat" cmpd="sng" w="28575">
              <a:solidFill>
                <a:srgbClr val="00CCFF"/>
              </a:solidFill>
              <a:prstDash val="solid"/>
              <a:round/>
              <a:headEnd len="sm" w="sm" type="none"/>
              <a:tailEnd len="sm" w="sm" type="none"/>
            </a:ln>
          </p:spPr>
        </p:cxnSp>
        <p:cxnSp>
          <p:nvCxnSpPr>
            <p:cNvPr id="1208" name="Google Shape;1208;p30"/>
            <p:cNvCxnSpPr/>
            <p:nvPr/>
          </p:nvCxnSpPr>
          <p:spPr>
            <a:xfrm>
              <a:off x="816" y="2592"/>
              <a:ext cx="209" cy="0"/>
            </a:xfrm>
            <a:prstGeom prst="straightConnector1">
              <a:avLst/>
            </a:prstGeom>
            <a:noFill/>
            <a:ln cap="flat" cmpd="sng" w="28575">
              <a:solidFill>
                <a:srgbClr val="00CCFF"/>
              </a:solidFill>
              <a:prstDash val="solid"/>
              <a:round/>
              <a:headEnd len="sm" w="sm" type="none"/>
              <a:tailEnd len="sm" w="sm" type="none"/>
            </a:ln>
          </p:spPr>
        </p:cxnSp>
        <p:cxnSp>
          <p:nvCxnSpPr>
            <p:cNvPr id="1209" name="Google Shape;1209;p30"/>
            <p:cNvCxnSpPr/>
            <p:nvPr/>
          </p:nvCxnSpPr>
          <p:spPr>
            <a:xfrm>
              <a:off x="816" y="2544"/>
              <a:ext cx="209" cy="0"/>
            </a:xfrm>
            <a:prstGeom prst="straightConnector1">
              <a:avLst/>
            </a:prstGeom>
            <a:noFill/>
            <a:ln cap="flat" cmpd="sng" w="28575">
              <a:solidFill>
                <a:srgbClr val="00CCFF"/>
              </a:solidFill>
              <a:prstDash val="solid"/>
              <a:round/>
              <a:headEnd len="sm" w="sm" type="none"/>
              <a:tailEnd len="sm" w="sm" type="none"/>
            </a:ln>
          </p:spPr>
        </p:cxnSp>
        <p:cxnSp>
          <p:nvCxnSpPr>
            <p:cNvPr id="1210" name="Google Shape;1210;p30"/>
            <p:cNvCxnSpPr/>
            <p:nvPr/>
          </p:nvCxnSpPr>
          <p:spPr>
            <a:xfrm>
              <a:off x="816" y="2640"/>
              <a:ext cx="209" cy="0"/>
            </a:xfrm>
            <a:prstGeom prst="straightConnector1">
              <a:avLst/>
            </a:prstGeom>
            <a:noFill/>
            <a:ln cap="flat" cmpd="sng" w="28575">
              <a:solidFill>
                <a:srgbClr val="00CCFF"/>
              </a:solidFill>
              <a:prstDash val="solid"/>
              <a:round/>
              <a:headEnd len="sm" w="sm" type="none"/>
              <a:tailEnd len="sm" w="sm" type="none"/>
            </a:ln>
          </p:spPr>
        </p:cxnSp>
      </p:grpSp>
      <p:grpSp>
        <p:nvGrpSpPr>
          <p:cNvPr id="1211" name="Google Shape;1211;p30"/>
          <p:cNvGrpSpPr/>
          <p:nvPr/>
        </p:nvGrpSpPr>
        <p:grpSpPr>
          <a:xfrm>
            <a:off x="1920875" y="4250230"/>
            <a:ext cx="927100" cy="866775"/>
            <a:chOff x="446" y="2208"/>
            <a:chExt cx="754" cy="1008"/>
          </a:xfrm>
        </p:grpSpPr>
        <p:sp>
          <p:nvSpPr>
            <p:cNvPr id="1212" name="Google Shape;1212;p30"/>
            <p:cNvSpPr/>
            <p:nvPr/>
          </p:nvSpPr>
          <p:spPr>
            <a:xfrm>
              <a:off x="446" y="2208"/>
              <a:ext cx="624" cy="288"/>
            </a:xfrm>
            <a:prstGeom prst="ellipse">
              <a:avLst/>
            </a:prstGeom>
            <a:noFill/>
            <a:ln cap="flat" cmpd="sng" w="28575">
              <a:solidFill>
                <a:srgbClr val="00CC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13" name="Google Shape;1213;p30"/>
            <p:cNvSpPr/>
            <p:nvPr/>
          </p:nvSpPr>
          <p:spPr>
            <a:xfrm>
              <a:off x="768" y="2496"/>
              <a:ext cx="432" cy="720"/>
            </a:xfrm>
            <a:prstGeom prst="rect">
              <a:avLst/>
            </a:prstGeom>
            <a:noFill/>
            <a:ln cap="flat" cmpd="sng" w="28575">
              <a:solidFill>
                <a:srgbClr val="00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214" name="Google Shape;1214;p30"/>
            <p:cNvCxnSpPr/>
            <p:nvPr/>
          </p:nvCxnSpPr>
          <p:spPr>
            <a:xfrm>
              <a:off x="1056" y="2496"/>
              <a:ext cx="144" cy="144"/>
            </a:xfrm>
            <a:prstGeom prst="straightConnector1">
              <a:avLst/>
            </a:prstGeom>
            <a:noFill/>
            <a:ln cap="flat" cmpd="sng" w="28575">
              <a:solidFill>
                <a:srgbClr val="00CCFF"/>
              </a:solidFill>
              <a:prstDash val="solid"/>
              <a:round/>
              <a:headEnd len="sm" w="sm" type="none"/>
              <a:tailEnd len="sm" w="sm" type="none"/>
            </a:ln>
          </p:spPr>
        </p:cxnSp>
        <p:cxnSp>
          <p:nvCxnSpPr>
            <p:cNvPr id="1215" name="Google Shape;1215;p30"/>
            <p:cNvCxnSpPr/>
            <p:nvPr/>
          </p:nvCxnSpPr>
          <p:spPr>
            <a:xfrm>
              <a:off x="1056" y="2496"/>
              <a:ext cx="0" cy="144"/>
            </a:xfrm>
            <a:prstGeom prst="straightConnector1">
              <a:avLst/>
            </a:prstGeom>
            <a:noFill/>
            <a:ln cap="flat" cmpd="sng" w="28575">
              <a:solidFill>
                <a:srgbClr val="00CCFF"/>
              </a:solidFill>
              <a:prstDash val="solid"/>
              <a:round/>
              <a:headEnd len="sm" w="sm" type="none"/>
              <a:tailEnd len="sm" w="sm" type="none"/>
            </a:ln>
          </p:spPr>
        </p:cxnSp>
        <p:cxnSp>
          <p:nvCxnSpPr>
            <p:cNvPr id="1216" name="Google Shape;1216;p30"/>
            <p:cNvCxnSpPr/>
            <p:nvPr/>
          </p:nvCxnSpPr>
          <p:spPr>
            <a:xfrm rot="10800000">
              <a:off x="1056" y="2640"/>
              <a:ext cx="144" cy="0"/>
            </a:xfrm>
            <a:prstGeom prst="straightConnector1">
              <a:avLst/>
            </a:prstGeom>
            <a:noFill/>
            <a:ln cap="flat" cmpd="sng" w="28575">
              <a:solidFill>
                <a:srgbClr val="00CCFF"/>
              </a:solidFill>
              <a:prstDash val="solid"/>
              <a:round/>
              <a:headEnd len="sm" w="sm" type="none"/>
              <a:tailEnd len="sm" w="sm" type="none"/>
            </a:ln>
          </p:spPr>
        </p:cxnSp>
        <p:cxnSp>
          <p:nvCxnSpPr>
            <p:cNvPr id="1217" name="Google Shape;1217;p30"/>
            <p:cNvCxnSpPr/>
            <p:nvPr/>
          </p:nvCxnSpPr>
          <p:spPr>
            <a:xfrm>
              <a:off x="816" y="2736"/>
              <a:ext cx="336" cy="0"/>
            </a:xfrm>
            <a:prstGeom prst="straightConnector1">
              <a:avLst/>
            </a:prstGeom>
            <a:noFill/>
            <a:ln cap="flat" cmpd="sng" w="28575">
              <a:solidFill>
                <a:srgbClr val="00CCFF"/>
              </a:solidFill>
              <a:prstDash val="solid"/>
              <a:round/>
              <a:headEnd len="sm" w="sm" type="none"/>
              <a:tailEnd len="sm" w="sm" type="none"/>
            </a:ln>
          </p:spPr>
        </p:cxnSp>
        <p:cxnSp>
          <p:nvCxnSpPr>
            <p:cNvPr id="1218" name="Google Shape;1218;p30"/>
            <p:cNvCxnSpPr/>
            <p:nvPr/>
          </p:nvCxnSpPr>
          <p:spPr>
            <a:xfrm>
              <a:off x="816" y="2784"/>
              <a:ext cx="336" cy="0"/>
            </a:xfrm>
            <a:prstGeom prst="straightConnector1">
              <a:avLst/>
            </a:prstGeom>
            <a:noFill/>
            <a:ln cap="flat" cmpd="sng" w="28575">
              <a:solidFill>
                <a:srgbClr val="00CCFF"/>
              </a:solidFill>
              <a:prstDash val="solid"/>
              <a:round/>
              <a:headEnd len="sm" w="sm" type="none"/>
              <a:tailEnd len="sm" w="sm" type="none"/>
            </a:ln>
          </p:spPr>
        </p:cxnSp>
        <p:cxnSp>
          <p:nvCxnSpPr>
            <p:cNvPr id="1219" name="Google Shape;1219;p30"/>
            <p:cNvCxnSpPr/>
            <p:nvPr/>
          </p:nvCxnSpPr>
          <p:spPr>
            <a:xfrm>
              <a:off x="816" y="2832"/>
              <a:ext cx="336" cy="0"/>
            </a:xfrm>
            <a:prstGeom prst="straightConnector1">
              <a:avLst/>
            </a:prstGeom>
            <a:noFill/>
            <a:ln cap="flat" cmpd="sng" w="28575">
              <a:solidFill>
                <a:srgbClr val="00CCFF"/>
              </a:solidFill>
              <a:prstDash val="solid"/>
              <a:round/>
              <a:headEnd len="sm" w="sm" type="none"/>
              <a:tailEnd len="sm" w="sm" type="none"/>
            </a:ln>
          </p:spPr>
        </p:cxnSp>
        <p:cxnSp>
          <p:nvCxnSpPr>
            <p:cNvPr id="1220" name="Google Shape;1220;p30"/>
            <p:cNvCxnSpPr/>
            <p:nvPr/>
          </p:nvCxnSpPr>
          <p:spPr>
            <a:xfrm>
              <a:off x="816" y="2928"/>
              <a:ext cx="336" cy="0"/>
            </a:xfrm>
            <a:prstGeom prst="straightConnector1">
              <a:avLst/>
            </a:prstGeom>
            <a:noFill/>
            <a:ln cap="flat" cmpd="sng" w="28575">
              <a:solidFill>
                <a:srgbClr val="00CCFF"/>
              </a:solidFill>
              <a:prstDash val="solid"/>
              <a:round/>
              <a:headEnd len="sm" w="sm" type="none"/>
              <a:tailEnd len="sm" w="sm" type="none"/>
            </a:ln>
          </p:spPr>
        </p:cxnSp>
        <p:cxnSp>
          <p:nvCxnSpPr>
            <p:cNvPr id="1221" name="Google Shape;1221;p30"/>
            <p:cNvCxnSpPr/>
            <p:nvPr/>
          </p:nvCxnSpPr>
          <p:spPr>
            <a:xfrm>
              <a:off x="816" y="2880"/>
              <a:ext cx="336" cy="0"/>
            </a:xfrm>
            <a:prstGeom prst="straightConnector1">
              <a:avLst/>
            </a:prstGeom>
            <a:noFill/>
            <a:ln cap="flat" cmpd="sng" w="28575">
              <a:solidFill>
                <a:srgbClr val="00CCFF"/>
              </a:solidFill>
              <a:prstDash val="solid"/>
              <a:round/>
              <a:headEnd len="sm" w="sm" type="none"/>
              <a:tailEnd len="sm" w="sm" type="none"/>
            </a:ln>
          </p:spPr>
        </p:cxnSp>
        <p:cxnSp>
          <p:nvCxnSpPr>
            <p:cNvPr id="1222" name="Google Shape;1222;p30"/>
            <p:cNvCxnSpPr/>
            <p:nvPr/>
          </p:nvCxnSpPr>
          <p:spPr>
            <a:xfrm>
              <a:off x="816" y="2976"/>
              <a:ext cx="336" cy="0"/>
            </a:xfrm>
            <a:prstGeom prst="straightConnector1">
              <a:avLst/>
            </a:prstGeom>
            <a:noFill/>
            <a:ln cap="flat" cmpd="sng" w="28575">
              <a:solidFill>
                <a:srgbClr val="00CCFF"/>
              </a:solidFill>
              <a:prstDash val="solid"/>
              <a:round/>
              <a:headEnd len="sm" w="sm" type="none"/>
              <a:tailEnd len="sm" w="sm" type="none"/>
            </a:ln>
          </p:spPr>
        </p:cxnSp>
        <p:cxnSp>
          <p:nvCxnSpPr>
            <p:cNvPr id="1223" name="Google Shape;1223;p30"/>
            <p:cNvCxnSpPr/>
            <p:nvPr/>
          </p:nvCxnSpPr>
          <p:spPr>
            <a:xfrm>
              <a:off x="816" y="3024"/>
              <a:ext cx="336" cy="0"/>
            </a:xfrm>
            <a:prstGeom prst="straightConnector1">
              <a:avLst/>
            </a:prstGeom>
            <a:noFill/>
            <a:ln cap="flat" cmpd="sng" w="28575">
              <a:solidFill>
                <a:srgbClr val="00CCFF"/>
              </a:solidFill>
              <a:prstDash val="solid"/>
              <a:round/>
              <a:headEnd len="sm" w="sm" type="none"/>
              <a:tailEnd len="sm" w="sm" type="none"/>
            </a:ln>
          </p:spPr>
        </p:cxnSp>
        <p:cxnSp>
          <p:nvCxnSpPr>
            <p:cNvPr id="1224" name="Google Shape;1224;p30"/>
            <p:cNvCxnSpPr/>
            <p:nvPr/>
          </p:nvCxnSpPr>
          <p:spPr>
            <a:xfrm>
              <a:off x="816" y="3072"/>
              <a:ext cx="336" cy="0"/>
            </a:xfrm>
            <a:prstGeom prst="straightConnector1">
              <a:avLst/>
            </a:prstGeom>
            <a:noFill/>
            <a:ln cap="flat" cmpd="sng" w="28575">
              <a:solidFill>
                <a:srgbClr val="00CCFF"/>
              </a:solidFill>
              <a:prstDash val="solid"/>
              <a:round/>
              <a:headEnd len="sm" w="sm" type="none"/>
              <a:tailEnd len="sm" w="sm" type="none"/>
            </a:ln>
          </p:spPr>
        </p:cxnSp>
        <p:cxnSp>
          <p:nvCxnSpPr>
            <p:cNvPr id="1225" name="Google Shape;1225;p30"/>
            <p:cNvCxnSpPr/>
            <p:nvPr/>
          </p:nvCxnSpPr>
          <p:spPr>
            <a:xfrm>
              <a:off x="816" y="3120"/>
              <a:ext cx="336" cy="0"/>
            </a:xfrm>
            <a:prstGeom prst="straightConnector1">
              <a:avLst/>
            </a:prstGeom>
            <a:noFill/>
            <a:ln cap="flat" cmpd="sng" w="28575">
              <a:solidFill>
                <a:srgbClr val="00CCFF"/>
              </a:solidFill>
              <a:prstDash val="solid"/>
              <a:round/>
              <a:headEnd len="sm" w="sm" type="none"/>
              <a:tailEnd len="sm" w="sm" type="none"/>
            </a:ln>
          </p:spPr>
        </p:cxnSp>
        <p:cxnSp>
          <p:nvCxnSpPr>
            <p:cNvPr id="1226" name="Google Shape;1226;p30"/>
            <p:cNvCxnSpPr/>
            <p:nvPr/>
          </p:nvCxnSpPr>
          <p:spPr>
            <a:xfrm>
              <a:off x="816" y="3168"/>
              <a:ext cx="336" cy="0"/>
            </a:xfrm>
            <a:prstGeom prst="straightConnector1">
              <a:avLst/>
            </a:prstGeom>
            <a:noFill/>
            <a:ln cap="flat" cmpd="sng" w="28575">
              <a:solidFill>
                <a:srgbClr val="00CCFF"/>
              </a:solidFill>
              <a:prstDash val="solid"/>
              <a:round/>
              <a:headEnd len="sm" w="sm" type="none"/>
              <a:tailEnd len="sm" w="sm" type="none"/>
            </a:ln>
          </p:spPr>
        </p:cxnSp>
        <p:cxnSp>
          <p:nvCxnSpPr>
            <p:cNvPr id="1227" name="Google Shape;1227;p30"/>
            <p:cNvCxnSpPr/>
            <p:nvPr/>
          </p:nvCxnSpPr>
          <p:spPr>
            <a:xfrm>
              <a:off x="816" y="2688"/>
              <a:ext cx="336" cy="0"/>
            </a:xfrm>
            <a:prstGeom prst="straightConnector1">
              <a:avLst/>
            </a:prstGeom>
            <a:noFill/>
            <a:ln cap="flat" cmpd="sng" w="28575">
              <a:solidFill>
                <a:srgbClr val="00CCFF"/>
              </a:solidFill>
              <a:prstDash val="solid"/>
              <a:round/>
              <a:headEnd len="sm" w="sm" type="none"/>
              <a:tailEnd len="sm" w="sm" type="none"/>
            </a:ln>
          </p:spPr>
        </p:cxnSp>
        <p:cxnSp>
          <p:nvCxnSpPr>
            <p:cNvPr id="1228" name="Google Shape;1228;p30"/>
            <p:cNvCxnSpPr/>
            <p:nvPr/>
          </p:nvCxnSpPr>
          <p:spPr>
            <a:xfrm>
              <a:off x="816" y="2592"/>
              <a:ext cx="209" cy="0"/>
            </a:xfrm>
            <a:prstGeom prst="straightConnector1">
              <a:avLst/>
            </a:prstGeom>
            <a:noFill/>
            <a:ln cap="flat" cmpd="sng" w="28575">
              <a:solidFill>
                <a:srgbClr val="00CCFF"/>
              </a:solidFill>
              <a:prstDash val="solid"/>
              <a:round/>
              <a:headEnd len="sm" w="sm" type="none"/>
              <a:tailEnd len="sm" w="sm" type="none"/>
            </a:ln>
          </p:spPr>
        </p:cxnSp>
        <p:cxnSp>
          <p:nvCxnSpPr>
            <p:cNvPr id="1229" name="Google Shape;1229;p30"/>
            <p:cNvCxnSpPr/>
            <p:nvPr/>
          </p:nvCxnSpPr>
          <p:spPr>
            <a:xfrm>
              <a:off x="816" y="2544"/>
              <a:ext cx="209" cy="0"/>
            </a:xfrm>
            <a:prstGeom prst="straightConnector1">
              <a:avLst/>
            </a:prstGeom>
            <a:noFill/>
            <a:ln cap="flat" cmpd="sng" w="28575">
              <a:solidFill>
                <a:srgbClr val="00CCFF"/>
              </a:solidFill>
              <a:prstDash val="solid"/>
              <a:round/>
              <a:headEnd len="sm" w="sm" type="none"/>
              <a:tailEnd len="sm" w="sm" type="none"/>
            </a:ln>
          </p:spPr>
        </p:cxnSp>
        <p:cxnSp>
          <p:nvCxnSpPr>
            <p:cNvPr id="1230" name="Google Shape;1230;p30"/>
            <p:cNvCxnSpPr/>
            <p:nvPr/>
          </p:nvCxnSpPr>
          <p:spPr>
            <a:xfrm>
              <a:off x="816" y="2640"/>
              <a:ext cx="209" cy="0"/>
            </a:xfrm>
            <a:prstGeom prst="straightConnector1">
              <a:avLst/>
            </a:prstGeom>
            <a:noFill/>
            <a:ln cap="flat" cmpd="sng" w="28575">
              <a:solidFill>
                <a:srgbClr val="00CCFF"/>
              </a:solidFill>
              <a:prstDash val="solid"/>
              <a:round/>
              <a:headEnd len="sm" w="sm" type="none"/>
              <a:tailEnd len="sm" w="sm" type="none"/>
            </a:ln>
          </p:spPr>
        </p:cxnSp>
      </p:grpSp>
      <p:grpSp>
        <p:nvGrpSpPr>
          <p:cNvPr id="1231" name="Google Shape;1231;p30"/>
          <p:cNvGrpSpPr/>
          <p:nvPr/>
        </p:nvGrpSpPr>
        <p:grpSpPr>
          <a:xfrm>
            <a:off x="6108700" y="5034455"/>
            <a:ext cx="925513" cy="866775"/>
            <a:chOff x="446" y="2208"/>
            <a:chExt cx="754" cy="1008"/>
          </a:xfrm>
        </p:grpSpPr>
        <p:sp>
          <p:nvSpPr>
            <p:cNvPr id="1232" name="Google Shape;1232;p30"/>
            <p:cNvSpPr/>
            <p:nvPr/>
          </p:nvSpPr>
          <p:spPr>
            <a:xfrm>
              <a:off x="446" y="2208"/>
              <a:ext cx="624" cy="288"/>
            </a:xfrm>
            <a:prstGeom prst="ellipse">
              <a:avLst/>
            </a:prstGeom>
            <a:noFill/>
            <a:ln cap="flat" cmpd="sng" w="28575">
              <a:solidFill>
                <a:srgbClr val="00CC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33" name="Google Shape;1233;p30"/>
            <p:cNvSpPr/>
            <p:nvPr/>
          </p:nvSpPr>
          <p:spPr>
            <a:xfrm>
              <a:off x="768" y="2496"/>
              <a:ext cx="432" cy="720"/>
            </a:xfrm>
            <a:prstGeom prst="rect">
              <a:avLst/>
            </a:prstGeom>
            <a:noFill/>
            <a:ln cap="flat" cmpd="sng" w="28575">
              <a:solidFill>
                <a:srgbClr val="00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234" name="Google Shape;1234;p30"/>
            <p:cNvCxnSpPr/>
            <p:nvPr/>
          </p:nvCxnSpPr>
          <p:spPr>
            <a:xfrm>
              <a:off x="1056" y="2496"/>
              <a:ext cx="144" cy="144"/>
            </a:xfrm>
            <a:prstGeom prst="straightConnector1">
              <a:avLst/>
            </a:prstGeom>
            <a:noFill/>
            <a:ln cap="flat" cmpd="sng" w="28575">
              <a:solidFill>
                <a:srgbClr val="00CCFF"/>
              </a:solidFill>
              <a:prstDash val="solid"/>
              <a:round/>
              <a:headEnd len="sm" w="sm" type="none"/>
              <a:tailEnd len="sm" w="sm" type="none"/>
            </a:ln>
          </p:spPr>
        </p:cxnSp>
        <p:cxnSp>
          <p:nvCxnSpPr>
            <p:cNvPr id="1235" name="Google Shape;1235;p30"/>
            <p:cNvCxnSpPr/>
            <p:nvPr/>
          </p:nvCxnSpPr>
          <p:spPr>
            <a:xfrm>
              <a:off x="1056" y="2496"/>
              <a:ext cx="0" cy="144"/>
            </a:xfrm>
            <a:prstGeom prst="straightConnector1">
              <a:avLst/>
            </a:prstGeom>
            <a:noFill/>
            <a:ln cap="flat" cmpd="sng" w="28575">
              <a:solidFill>
                <a:srgbClr val="00CCFF"/>
              </a:solidFill>
              <a:prstDash val="solid"/>
              <a:round/>
              <a:headEnd len="sm" w="sm" type="none"/>
              <a:tailEnd len="sm" w="sm" type="none"/>
            </a:ln>
          </p:spPr>
        </p:cxnSp>
        <p:cxnSp>
          <p:nvCxnSpPr>
            <p:cNvPr id="1236" name="Google Shape;1236;p30"/>
            <p:cNvCxnSpPr/>
            <p:nvPr/>
          </p:nvCxnSpPr>
          <p:spPr>
            <a:xfrm rot="10800000">
              <a:off x="1056" y="2640"/>
              <a:ext cx="144" cy="0"/>
            </a:xfrm>
            <a:prstGeom prst="straightConnector1">
              <a:avLst/>
            </a:prstGeom>
            <a:noFill/>
            <a:ln cap="flat" cmpd="sng" w="28575">
              <a:solidFill>
                <a:srgbClr val="00CCFF"/>
              </a:solidFill>
              <a:prstDash val="solid"/>
              <a:round/>
              <a:headEnd len="sm" w="sm" type="none"/>
              <a:tailEnd len="sm" w="sm" type="none"/>
            </a:ln>
          </p:spPr>
        </p:cxnSp>
        <p:cxnSp>
          <p:nvCxnSpPr>
            <p:cNvPr id="1237" name="Google Shape;1237;p30"/>
            <p:cNvCxnSpPr/>
            <p:nvPr/>
          </p:nvCxnSpPr>
          <p:spPr>
            <a:xfrm>
              <a:off x="816" y="2736"/>
              <a:ext cx="336" cy="0"/>
            </a:xfrm>
            <a:prstGeom prst="straightConnector1">
              <a:avLst/>
            </a:prstGeom>
            <a:noFill/>
            <a:ln cap="flat" cmpd="sng" w="28575">
              <a:solidFill>
                <a:srgbClr val="00CCFF"/>
              </a:solidFill>
              <a:prstDash val="solid"/>
              <a:round/>
              <a:headEnd len="sm" w="sm" type="none"/>
              <a:tailEnd len="sm" w="sm" type="none"/>
            </a:ln>
          </p:spPr>
        </p:cxnSp>
        <p:cxnSp>
          <p:nvCxnSpPr>
            <p:cNvPr id="1238" name="Google Shape;1238;p30"/>
            <p:cNvCxnSpPr/>
            <p:nvPr/>
          </p:nvCxnSpPr>
          <p:spPr>
            <a:xfrm>
              <a:off x="816" y="2784"/>
              <a:ext cx="336" cy="0"/>
            </a:xfrm>
            <a:prstGeom prst="straightConnector1">
              <a:avLst/>
            </a:prstGeom>
            <a:noFill/>
            <a:ln cap="flat" cmpd="sng" w="28575">
              <a:solidFill>
                <a:srgbClr val="00CCFF"/>
              </a:solidFill>
              <a:prstDash val="solid"/>
              <a:round/>
              <a:headEnd len="sm" w="sm" type="none"/>
              <a:tailEnd len="sm" w="sm" type="none"/>
            </a:ln>
          </p:spPr>
        </p:cxnSp>
        <p:cxnSp>
          <p:nvCxnSpPr>
            <p:cNvPr id="1239" name="Google Shape;1239;p30"/>
            <p:cNvCxnSpPr/>
            <p:nvPr/>
          </p:nvCxnSpPr>
          <p:spPr>
            <a:xfrm>
              <a:off x="816" y="2832"/>
              <a:ext cx="336" cy="0"/>
            </a:xfrm>
            <a:prstGeom prst="straightConnector1">
              <a:avLst/>
            </a:prstGeom>
            <a:noFill/>
            <a:ln cap="flat" cmpd="sng" w="28575">
              <a:solidFill>
                <a:srgbClr val="00CCFF"/>
              </a:solidFill>
              <a:prstDash val="solid"/>
              <a:round/>
              <a:headEnd len="sm" w="sm" type="none"/>
              <a:tailEnd len="sm" w="sm" type="none"/>
            </a:ln>
          </p:spPr>
        </p:cxnSp>
        <p:cxnSp>
          <p:nvCxnSpPr>
            <p:cNvPr id="1240" name="Google Shape;1240;p30"/>
            <p:cNvCxnSpPr/>
            <p:nvPr/>
          </p:nvCxnSpPr>
          <p:spPr>
            <a:xfrm>
              <a:off x="816" y="2928"/>
              <a:ext cx="336" cy="0"/>
            </a:xfrm>
            <a:prstGeom prst="straightConnector1">
              <a:avLst/>
            </a:prstGeom>
            <a:noFill/>
            <a:ln cap="flat" cmpd="sng" w="28575">
              <a:solidFill>
                <a:srgbClr val="00CCFF"/>
              </a:solidFill>
              <a:prstDash val="solid"/>
              <a:round/>
              <a:headEnd len="sm" w="sm" type="none"/>
              <a:tailEnd len="sm" w="sm" type="none"/>
            </a:ln>
          </p:spPr>
        </p:cxnSp>
        <p:cxnSp>
          <p:nvCxnSpPr>
            <p:cNvPr id="1241" name="Google Shape;1241;p30"/>
            <p:cNvCxnSpPr/>
            <p:nvPr/>
          </p:nvCxnSpPr>
          <p:spPr>
            <a:xfrm>
              <a:off x="816" y="2880"/>
              <a:ext cx="336" cy="0"/>
            </a:xfrm>
            <a:prstGeom prst="straightConnector1">
              <a:avLst/>
            </a:prstGeom>
            <a:noFill/>
            <a:ln cap="flat" cmpd="sng" w="28575">
              <a:solidFill>
                <a:srgbClr val="00CCFF"/>
              </a:solidFill>
              <a:prstDash val="solid"/>
              <a:round/>
              <a:headEnd len="sm" w="sm" type="none"/>
              <a:tailEnd len="sm" w="sm" type="none"/>
            </a:ln>
          </p:spPr>
        </p:cxnSp>
        <p:cxnSp>
          <p:nvCxnSpPr>
            <p:cNvPr id="1242" name="Google Shape;1242;p30"/>
            <p:cNvCxnSpPr/>
            <p:nvPr/>
          </p:nvCxnSpPr>
          <p:spPr>
            <a:xfrm>
              <a:off x="816" y="2976"/>
              <a:ext cx="336" cy="0"/>
            </a:xfrm>
            <a:prstGeom prst="straightConnector1">
              <a:avLst/>
            </a:prstGeom>
            <a:noFill/>
            <a:ln cap="flat" cmpd="sng" w="28575">
              <a:solidFill>
                <a:srgbClr val="00CCFF"/>
              </a:solidFill>
              <a:prstDash val="solid"/>
              <a:round/>
              <a:headEnd len="sm" w="sm" type="none"/>
              <a:tailEnd len="sm" w="sm" type="none"/>
            </a:ln>
          </p:spPr>
        </p:cxnSp>
        <p:cxnSp>
          <p:nvCxnSpPr>
            <p:cNvPr id="1243" name="Google Shape;1243;p30"/>
            <p:cNvCxnSpPr/>
            <p:nvPr/>
          </p:nvCxnSpPr>
          <p:spPr>
            <a:xfrm>
              <a:off x="816" y="3024"/>
              <a:ext cx="336" cy="0"/>
            </a:xfrm>
            <a:prstGeom prst="straightConnector1">
              <a:avLst/>
            </a:prstGeom>
            <a:noFill/>
            <a:ln cap="flat" cmpd="sng" w="28575">
              <a:solidFill>
                <a:srgbClr val="00CCFF"/>
              </a:solidFill>
              <a:prstDash val="solid"/>
              <a:round/>
              <a:headEnd len="sm" w="sm" type="none"/>
              <a:tailEnd len="sm" w="sm" type="none"/>
            </a:ln>
          </p:spPr>
        </p:cxnSp>
        <p:cxnSp>
          <p:nvCxnSpPr>
            <p:cNvPr id="1244" name="Google Shape;1244;p30"/>
            <p:cNvCxnSpPr/>
            <p:nvPr/>
          </p:nvCxnSpPr>
          <p:spPr>
            <a:xfrm>
              <a:off x="816" y="3072"/>
              <a:ext cx="336" cy="0"/>
            </a:xfrm>
            <a:prstGeom prst="straightConnector1">
              <a:avLst/>
            </a:prstGeom>
            <a:noFill/>
            <a:ln cap="flat" cmpd="sng" w="28575">
              <a:solidFill>
                <a:srgbClr val="00CCFF"/>
              </a:solidFill>
              <a:prstDash val="solid"/>
              <a:round/>
              <a:headEnd len="sm" w="sm" type="none"/>
              <a:tailEnd len="sm" w="sm" type="none"/>
            </a:ln>
          </p:spPr>
        </p:cxnSp>
        <p:cxnSp>
          <p:nvCxnSpPr>
            <p:cNvPr id="1245" name="Google Shape;1245;p30"/>
            <p:cNvCxnSpPr/>
            <p:nvPr/>
          </p:nvCxnSpPr>
          <p:spPr>
            <a:xfrm>
              <a:off x="816" y="3120"/>
              <a:ext cx="336" cy="0"/>
            </a:xfrm>
            <a:prstGeom prst="straightConnector1">
              <a:avLst/>
            </a:prstGeom>
            <a:noFill/>
            <a:ln cap="flat" cmpd="sng" w="28575">
              <a:solidFill>
                <a:srgbClr val="00CCFF"/>
              </a:solidFill>
              <a:prstDash val="solid"/>
              <a:round/>
              <a:headEnd len="sm" w="sm" type="none"/>
              <a:tailEnd len="sm" w="sm" type="none"/>
            </a:ln>
          </p:spPr>
        </p:cxnSp>
        <p:cxnSp>
          <p:nvCxnSpPr>
            <p:cNvPr id="1246" name="Google Shape;1246;p30"/>
            <p:cNvCxnSpPr/>
            <p:nvPr/>
          </p:nvCxnSpPr>
          <p:spPr>
            <a:xfrm>
              <a:off x="816" y="3168"/>
              <a:ext cx="336" cy="0"/>
            </a:xfrm>
            <a:prstGeom prst="straightConnector1">
              <a:avLst/>
            </a:prstGeom>
            <a:noFill/>
            <a:ln cap="flat" cmpd="sng" w="28575">
              <a:solidFill>
                <a:srgbClr val="00CCFF"/>
              </a:solidFill>
              <a:prstDash val="solid"/>
              <a:round/>
              <a:headEnd len="sm" w="sm" type="none"/>
              <a:tailEnd len="sm" w="sm" type="none"/>
            </a:ln>
          </p:spPr>
        </p:cxnSp>
        <p:cxnSp>
          <p:nvCxnSpPr>
            <p:cNvPr id="1247" name="Google Shape;1247;p30"/>
            <p:cNvCxnSpPr/>
            <p:nvPr/>
          </p:nvCxnSpPr>
          <p:spPr>
            <a:xfrm>
              <a:off x="816" y="2688"/>
              <a:ext cx="336" cy="0"/>
            </a:xfrm>
            <a:prstGeom prst="straightConnector1">
              <a:avLst/>
            </a:prstGeom>
            <a:noFill/>
            <a:ln cap="flat" cmpd="sng" w="28575">
              <a:solidFill>
                <a:srgbClr val="00CCFF"/>
              </a:solidFill>
              <a:prstDash val="solid"/>
              <a:round/>
              <a:headEnd len="sm" w="sm" type="none"/>
              <a:tailEnd len="sm" w="sm" type="none"/>
            </a:ln>
          </p:spPr>
        </p:cxnSp>
        <p:cxnSp>
          <p:nvCxnSpPr>
            <p:cNvPr id="1248" name="Google Shape;1248;p30"/>
            <p:cNvCxnSpPr/>
            <p:nvPr/>
          </p:nvCxnSpPr>
          <p:spPr>
            <a:xfrm>
              <a:off x="816" y="2592"/>
              <a:ext cx="209" cy="0"/>
            </a:xfrm>
            <a:prstGeom prst="straightConnector1">
              <a:avLst/>
            </a:prstGeom>
            <a:noFill/>
            <a:ln cap="flat" cmpd="sng" w="28575">
              <a:solidFill>
                <a:srgbClr val="00CCFF"/>
              </a:solidFill>
              <a:prstDash val="solid"/>
              <a:round/>
              <a:headEnd len="sm" w="sm" type="none"/>
              <a:tailEnd len="sm" w="sm" type="none"/>
            </a:ln>
          </p:spPr>
        </p:cxnSp>
        <p:cxnSp>
          <p:nvCxnSpPr>
            <p:cNvPr id="1249" name="Google Shape;1249;p30"/>
            <p:cNvCxnSpPr/>
            <p:nvPr/>
          </p:nvCxnSpPr>
          <p:spPr>
            <a:xfrm>
              <a:off x="816" y="2544"/>
              <a:ext cx="209" cy="0"/>
            </a:xfrm>
            <a:prstGeom prst="straightConnector1">
              <a:avLst/>
            </a:prstGeom>
            <a:noFill/>
            <a:ln cap="flat" cmpd="sng" w="28575">
              <a:solidFill>
                <a:srgbClr val="00CCFF"/>
              </a:solidFill>
              <a:prstDash val="solid"/>
              <a:round/>
              <a:headEnd len="sm" w="sm" type="none"/>
              <a:tailEnd len="sm" w="sm" type="none"/>
            </a:ln>
          </p:spPr>
        </p:cxnSp>
        <p:cxnSp>
          <p:nvCxnSpPr>
            <p:cNvPr id="1250" name="Google Shape;1250;p30"/>
            <p:cNvCxnSpPr/>
            <p:nvPr/>
          </p:nvCxnSpPr>
          <p:spPr>
            <a:xfrm>
              <a:off x="816" y="2640"/>
              <a:ext cx="209" cy="0"/>
            </a:xfrm>
            <a:prstGeom prst="straightConnector1">
              <a:avLst/>
            </a:prstGeom>
            <a:noFill/>
            <a:ln cap="flat" cmpd="sng" w="28575">
              <a:solidFill>
                <a:srgbClr val="00CCFF"/>
              </a:solidFill>
              <a:prstDash val="solid"/>
              <a:round/>
              <a:headEnd len="sm" w="sm" type="none"/>
              <a:tailEnd len="sm" w="sm" type="none"/>
            </a:ln>
          </p:spPr>
        </p:cxnSp>
      </p:grpSp>
      <p:cxnSp>
        <p:nvCxnSpPr>
          <p:cNvPr id="1251" name="Google Shape;1251;p30"/>
          <p:cNvCxnSpPr/>
          <p:nvPr/>
        </p:nvCxnSpPr>
        <p:spPr>
          <a:xfrm flipH="1" rot="10800000">
            <a:off x="2538413" y="5437680"/>
            <a:ext cx="1139825" cy="425450"/>
          </a:xfrm>
          <a:prstGeom prst="straightConnector1">
            <a:avLst/>
          </a:prstGeom>
          <a:noFill/>
          <a:ln cap="flat" cmpd="sng" w="28575">
            <a:solidFill>
              <a:schemeClr val="dk1"/>
            </a:solidFill>
            <a:prstDash val="solid"/>
            <a:round/>
            <a:headEnd len="sm" w="sm" type="none"/>
            <a:tailEnd len="lg" w="lg" type="triangle"/>
          </a:ln>
        </p:spPr>
      </p:cxnSp>
      <p:cxnSp>
        <p:nvCxnSpPr>
          <p:cNvPr id="1252" name="Google Shape;1252;p30"/>
          <p:cNvCxnSpPr/>
          <p:nvPr/>
        </p:nvCxnSpPr>
        <p:spPr>
          <a:xfrm>
            <a:off x="2570163" y="4951905"/>
            <a:ext cx="1095375" cy="228600"/>
          </a:xfrm>
          <a:prstGeom prst="straightConnector1">
            <a:avLst/>
          </a:prstGeom>
          <a:noFill/>
          <a:ln cap="flat" cmpd="sng" w="28575">
            <a:solidFill>
              <a:schemeClr val="dk1"/>
            </a:solidFill>
            <a:prstDash val="solid"/>
            <a:round/>
            <a:headEnd len="sm" w="sm" type="none"/>
            <a:tailEnd len="lg" w="lg" type="triangle"/>
          </a:ln>
        </p:spPr>
      </p:cxnSp>
      <p:cxnSp>
        <p:nvCxnSpPr>
          <p:cNvPr id="1253" name="Google Shape;1253;p30"/>
          <p:cNvCxnSpPr/>
          <p:nvPr/>
        </p:nvCxnSpPr>
        <p:spPr>
          <a:xfrm rot="10800000">
            <a:off x="5507038" y="5215430"/>
            <a:ext cx="1131887" cy="271463"/>
          </a:xfrm>
          <a:prstGeom prst="straightConnector1">
            <a:avLst/>
          </a:prstGeom>
          <a:noFill/>
          <a:ln cap="flat" cmpd="sng" w="28575">
            <a:solidFill>
              <a:schemeClr val="dk1"/>
            </a:solidFill>
            <a:prstDash val="solid"/>
            <a:round/>
            <a:headEnd len="sm" w="sm" type="none"/>
            <a:tailEnd len="lg" w="lg" type="triangle"/>
          </a:ln>
        </p:spPr>
      </p:cxnSp>
      <p:cxnSp>
        <p:nvCxnSpPr>
          <p:cNvPr id="1254" name="Google Shape;1254;p30"/>
          <p:cNvCxnSpPr/>
          <p:nvPr/>
        </p:nvCxnSpPr>
        <p:spPr>
          <a:xfrm rot="10800000">
            <a:off x="5507038" y="5434505"/>
            <a:ext cx="1093787" cy="400050"/>
          </a:xfrm>
          <a:prstGeom prst="straightConnector1">
            <a:avLst/>
          </a:prstGeom>
          <a:noFill/>
          <a:ln cap="flat" cmpd="sng" w="28575">
            <a:solidFill>
              <a:schemeClr val="dk1"/>
            </a:solidFill>
            <a:prstDash val="solid"/>
            <a:round/>
            <a:headEnd len="sm" w="sm" type="none"/>
            <a:tailEnd len="lg" w="lg" type="triangle"/>
          </a:ln>
        </p:spPr>
      </p:cxnSp>
      <p:cxnSp>
        <p:nvCxnSpPr>
          <p:cNvPr id="1255" name="Google Shape;1255;p30"/>
          <p:cNvCxnSpPr/>
          <p:nvPr/>
        </p:nvCxnSpPr>
        <p:spPr>
          <a:xfrm>
            <a:off x="2773363" y="4662980"/>
            <a:ext cx="904875" cy="317500"/>
          </a:xfrm>
          <a:prstGeom prst="straightConnector1">
            <a:avLst/>
          </a:prstGeom>
          <a:noFill/>
          <a:ln cap="flat" cmpd="sng" w="28575">
            <a:solidFill>
              <a:schemeClr val="dk1"/>
            </a:solidFill>
            <a:prstDash val="solid"/>
            <a:round/>
            <a:headEnd len="sm" w="sm" type="none"/>
            <a:tailEnd len="lg" w="lg" type="triangle"/>
          </a:ln>
        </p:spPr>
      </p:cxnSp>
      <p:grpSp>
        <p:nvGrpSpPr>
          <p:cNvPr id="1256" name="Google Shape;1256;p30"/>
          <p:cNvGrpSpPr/>
          <p:nvPr/>
        </p:nvGrpSpPr>
        <p:grpSpPr>
          <a:xfrm>
            <a:off x="5930900" y="4085130"/>
            <a:ext cx="927100" cy="866775"/>
            <a:chOff x="446" y="2208"/>
            <a:chExt cx="754" cy="1008"/>
          </a:xfrm>
        </p:grpSpPr>
        <p:sp>
          <p:nvSpPr>
            <p:cNvPr id="1257" name="Google Shape;1257;p30"/>
            <p:cNvSpPr/>
            <p:nvPr/>
          </p:nvSpPr>
          <p:spPr>
            <a:xfrm>
              <a:off x="446" y="2208"/>
              <a:ext cx="624" cy="288"/>
            </a:xfrm>
            <a:prstGeom prst="ellipse">
              <a:avLst/>
            </a:prstGeom>
            <a:noFill/>
            <a:ln cap="flat" cmpd="sng" w="28575">
              <a:solidFill>
                <a:srgbClr val="00CC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58" name="Google Shape;1258;p30"/>
            <p:cNvSpPr/>
            <p:nvPr/>
          </p:nvSpPr>
          <p:spPr>
            <a:xfrm>
              <a:off x="768" y="2496"/>
              <a:ext cx="432" cy="720"/>
            </a:xfrm>
            <a:prstGeom prst="rect">
              <a:avLst/>
            </a:prstGeom>
            <a:noFill/>
            <a:ln cap="flat" cmpd="sng" w="28575">
              <a:solidFill>
                <a:srgbClr val="00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259" name="Google Shape;1259;p30"/>
            <p:cNvCxnSpPr/>
            <p:nvPr/>
          </p:nvCxnSpPr>
          <p:spPr>
            <a:xfrm>
              <a:off x="1056" y="2496"/>
              <a:ext cx="144" cy="144"/>
            </a:xfrm>
            <a:prstGeom prst="straightConnector1">
              <a:avLst/>
            </a:prstGeom>
            <a:noFill/>
            <a:ln cap="flat" cmpd="sng" w="28575">
              <a:solidFill>
                <a:srgbClr val="00CCFF"/>
              </a:solidFill>
              <a:prstDash val="solid"/>
              <a:round/>
              <a:headEnd len="sm" w="sm" type="none"/>
              <a:tailEnd len="sm" w="sm" type="none"/>
            </a:ln>
          </p:spPr>
        </p:cxnSp>
        <p:cxnSp>
          <p:nvCxnSpPr>
            <p:cNvPr id="1260" name="Google Shape;1260;p30"/>
            <p:cNvCxnSpPr/>
            <p:nvPr/>
          </p:nvCxnSpPr>
          <p:spPr>
            <a:xfrm>
              <a:off x="1056" y="2496"/>
              <a:ext cx="0" cy="144"/>
            </a:xfrm>
            <a:prstGeom prst="straightConnector1">
              <a:avLst/>
            </a:prstGeom>
            <a:noFill/>
            <a:ln cap="flat" cmpd="sng" w="28575">
              <a:solidFill>
                <a:srgbClr val="00CCFF"/>
              </a:solidFill>
              <a:prstDash val="solid"/>
              <a:round/>
              <a:headEnd len="sm" w="sm" type="none"/>
              <a:tailEnd len="sm" w="sm" type="none"/>
            </a:ln>
          </p:spPr>
        </p:cxnSp>
        <p:cxnSp>
          <p:nvCxnSpPr>
            <p:cNvPr id="1261" name="Google Shape;1261;p30"/>
            <p:cNvCxnSpPr/>
            <p:nvPr/>
          </p:nvCxnSpPr>
          <p:spPr>
            <a:xfrm rot="10800000">
              <a:off x="1056" y="2640"/>
              <a:ext cx="144" cy="0"/>
            </a:xfrm>
            <a:prstGeom prst="straightConnector1">
              <a:avLst/>
            </a:prstGeom>
            <a:noFill/>
            <a:ln cap="flat" cmpd="sng" w="28575">
              <a:solidFill>
                <a:srgbClr val="00CCFF"/>
              </a:solidFill>
              <a:prstDash val="solid"/>
              <a:round/>
              <a:headEnd len="sm" w="sm" type="none"/>
              <a:tailEnd len="sm" w="sm" type="none"/>
            </a:ln>
          </p:spPr>
        </p:cxnSp>
        <p:cxnSp>
          <p:nvCxnSpPr>
            <p:cNvPr id="1262" name="Google Shape;1262;p30"/>
            <p:cNvCxnSpPr/>
            <p:nvPr/>
          </p:nvCxnSpPr>
          <p:spPr>
            <a:xfrm>
              <a:off x="816" y="2736"/>
              <a:ext cx="336" cy="0"/>
            </a:xfrm>
            <a:prstGeom prst="straightConnector1">
              <a:avLst/>
            </a:prstGeom>
            <a:noFill/>
            <a:ln cap="flat" cmpd="sng" w="28575">
              <a:solidFill>
                <a:srgbClr val="00CCFF"/>
              </a:solidFill>
              <a:prstDash val="solid"/>
              <a:round/>
              <a:headEnd len="sm" w="sm" type="none"/>
              <a:tailEnd len="sm" w="sm" type="none"/>
            </a:ln>
          </p:spPr>
        </p:cxnSp>
        <p:cxnSp>
          <p:nvCxnSpPr>
            <p:cNvPr id="1263" name="Google Shape;1263;p30"/>
            <p:cNvCxnSpPr/>
            <p:nvPr/>
          </p:nvCxnSpPr>
          <p:spPr>
            <a:xfrm>
              <a:off x="816" y="2784"/>
              <a:ext cx="336" cy="0"/>
            </a:xfrm>
            <a:prstGeom prst="straightConnector1">
              <a:avLst/>
            </a:prstGeom>
            <a:noFill/>
            <a:ln cap="flat" cmpd="sng" w="28575">
              <a:solidFill>
                <a:srgbClr val="00CCFF"/>
              </a:solidFill>
              <a:prstDash val="solid"/>
              <a:round/>
              <a:headEnd len="sm" w="sm" type="none"/>
              <a:tailEnd len="sm" w="sm" type="none"/>
            </a:ln>
          </p:spPr>
        </p:cxnSp>
        <p:cxnSp>
          <p:nvCxnSpPr>
            <p:cNvPr id="1264" name="Google Shape;1264;p30"/>
            <p:cNvCxnSpPr/>
            <p:nvPr/>
          </p:nvCxnSpPr>
          <p:spPr>
            <a:xfrm>
              <a:off x="816" y="2832"/>
              <a:ext cx="336" cy="0"/>
            </a:xfrm>
            <a:prstGeom prst="straightConnector1">
              <a:avLst/>
            </a:prstGeom>
            <a:noFill/>
            <a:ln cap="flat" cmpd="sng" w="28575">
              <a:solidFill>
                <a:srgbClr val="00CCFF"/>
              </a:solidFill>
              <a:prstDash val="solid"/>
              <a:round/>
              <a:headEnd len="sm" w="sm" type="none"/>
              <a:tailEnd len="sm" w="sm" type="none"/>
            </a:ln>
          </p:spPr>
        </p:cxnSp>
        <p:cxnSp>
          <p:nvCxnSpPr>
            <p:cNvPr id="1265" name="Google Shape;1265;p30"/>
            <p:cNvCxnSpPr/>
            <p:nvPr/>
          </p:nvCxnSpPr>
          <p:spPr>
            <a:xfrm>
              <a:off x="816" y="2928"/>
              <a:ext cx="336" cy="0"/>
            </a:xfrm>
            <a:prstGeom prst="straightConnector1">
              <a:avLst/>
            </a:prstGeom>
            <a:noFill/>
            <a:ln cap="flat" cmpd="sng" w="28575">
              <a:solidFill>
                <a:srgbClr val="00CCFF"/>
              </a:solidFill>
              <a:prstDash val="solid"/>
              <a:round/>
              <a:headEnd len="sm" w="sm" type="none"/>
              <a:tailEnd len="sm" w="sm" type="none"/>
            </a:ln>
          </p:spPr>
        </p:cxnSp>
        <p:cxnSp>
          <p:nvCxnSpPr>
            <p:cNvPr id="1266" name="Google Shape;1266;p30"/>
            <p:cNvCxnSpPr/>
            <p:nvPr/>
          </p:nvCxnSpPr>
          <p:spPr>
            <a:xfrm>
              <a:off x="816" y="2880"/>
              <a:ext cx="336" cy="0"/>
            </a:xfrm>
            <a:prstGeom prst="straightConnector1">
              <a:avLst/>
            </a:prstGeom>
            <a:noFill/>
            <a:ln cap="flat" cmpd="sng" w="28575">
              <a:solidFill>
                <a:srgbClr val="00CCFF"/>
              </a:solidFill>
              <a:prstDash val="solid"/>
              <a:round/>
              <a:headEnd len="sm" w="sm" type="none"/>
              <a:tailEnd len="sm" w="sm" type="none"/>
            </a:ln>
          </p:spPr>
        </p:cxnSp>
        <p:cxnSp>
          <p:nvCxnSpPr>
            <p:cNvPr id="1267" name="Google Shape;1267;p30"/>
            <p:cNvCxnSpPr/>
            <p:nvPr/>
          </p:nvCxnSpPr>
          <p:spPr>
            <a:xfrm>
              <a:off x="816" y="2976"/>
              <a:ext cx="336" cy="0"/>
            </a:xfrm>
            <a:prstGeom prst="straightConnector1">
              <a:avLst/>
            </a:prstGeom>
            <a:noFill/>
            <a:ln cap="flat" cmpd="sng" w="28575">
              <a:solidFill>
                <a:srgbClr val="00CCFF"/>
              </a:solidFill>
              <a:prstDash val="solid"/>
              <a:round/>
              <a:headEnd len="sm" w="sm" type="none"/>
              <a:tailEnd len="sm" w="sm" type="none"/>
            </a:ln>
          </p:spPr>
        </p:cxnSp>
        <p:cxnSp>
          <p:nvCxnSpPr>
            <p:cNvPr id="1268" name="Google Shape;1268;p30"/>
            <p:cNvCxnSpPr/>
            <p:nvPr/>
          </p:nvCxnSpPr>
          <p:spPr>
            <a:xfrm>
              <a:off x="816" y="3024"/>
              <a:ext cx="336" cy="0"/>
            </a:xfrm>
            <a:prstGeom prst="straightConnector1">
              <a:avLst/>
            </a:prstGeom>
            <a:noFill/>
            <a:ln cap="flat" cmpd="sng" w="28575">
              <a:solidFill>
                <a:srgbClr val="00CCFF"/>
              </a:solidFill>
              <a:prstDash val="solid"/>
              <a:round/>
              <a:headEnd len="sm" w="sm" type="none"/>
              <a:tailEnd len="sm" w="sm" type="none"/>
            </a:ln>
          </p:spPr>
        </p:cxnSp>
        <p:cxnSp>
          <p:nvCxnSpPr>
            <p:cNvPr id="1269" name="Google Shape;1269;p30"/>
            <p:cNvCxnSpPr/>
            <p:nvPr/>
          </p:nvCxnSpPr>
          <p:spPr>
            <a:xfrm>
              <a:off x="816" y="3072"/>
              <a:ext cx="336" cy="0"/>
            </a:xfrm>
            <a:prstGeom prst="straightConnector1">
              <a:avLst/>
            </a:prstGeom>
            <a:noFill/>
            <a:ln cap="flat" cmpd="sng" w="28575">
              <a:solidFill>
                <a:srgbClr val="00CCFF"/>
              </a:solidFill>
              <a:prstDash val="solid"/>
              <a:round/>
              <a:headEnd len="sm" w="sm" type="none"/>
              <a:tailEnd len="sm" w="sm" type="none"/>
            </a:ln>
          </p:spPr>
        </p:cxnSp>
        <p:cxnSp>
          <p:nvCxnSpPr>
            <p:cNvPr id="1270" name="Google Shape;1270;p30"/>
            <p:cNvCxnSpPr/>
            <p:nvPr/>
          </p:nvCxnSpPr>
          <p:spPr>
            <a:xfrm>
              <a:off x="816" y="3120"/>
              <a:ext cx="336" cy="0"/>
            </a:xfrm>
            <a:prstGeom prst="straightConnector1">
              <a:avLst/>
            </a:prstGeom>
            <a:noFill/>
            <a:ln cap="flat" cmpd="sng" w="28575">
              <a:solidFill>
                <a:srgbClr val="00CCFF"/>
              </a:solidFill>
              <a:prstDash val="solid"/>
              <a:round/>
              <a:headEnd len="sm" w="sm" type="none"/>
              <a:tailEnd len="sm" w="sm" type="none"/>
            </a:ln>
          </p:spPr>
        </p:cxnSp>
        <p:cxnSp>
          <p:nvCxnSpPr>
            <p:cNvPr id="1271" name="Google Shape;1271;p30"/>
            <p:cNvCxnSpPr/>
            <p:nvPr/>
          </p:nvCxnSpPr>
          <p:spPr>
            <a:xfrm>
              <a:off x="816" y="3168"/>
              <a:ext cx="336" cy="0"/>
            </a:xfrm>
            <a:prstGeom prst="straightConnector1">
              <a:avLst/>
            </a:prstGeom>
            <a:noFill/>
            <a:ln cap="flat" cmpd="sng" w="28575">
              <a:solidFill>
                <a:srgbClr val="00CCFF"/>
              </a:solidFill>
              <a:prstDash val="solid"/>
              <a:round/>
              <a:headEnd len="sm" w="sm" type="none"/>
              <a:tailEnd len="sm" w="sm" type="none"/>
            </a:ln>
          </p:spPr>
        </p:cxnSp>
        <p:cxnSp>
          <p:nvCxnSpPr>
            <p:cNvPr id="1272" name="Google Shape;1272;p30"/>
            <p:cNvCxnSpPr/>
            <p:nvPr/>
          </p:nvCxnSpPr>
          <p:spPr>
            <a:xfrm>
              <a:off x="816" y="2688"/>
              <a:ext cx="336" cy="0"/>
            </a:xfrm>
            <a:prstGeom prst="straightConnector1">
              <a:avLst/>
            </a:prstGeom>
            <a:noFill/>
            <a:ln cap="flat" cmpd="sng" w="28575">
              <a:solidFill>
                <a:srgbClr val="00CCFF"/>
              </a:solidFill>
              <a:prstDash val="solid"/>
              <a:round/>
              <a:headEnd len="sm" w="sm" type="none"/>
              <a:tailEnd len="sm" w="sm" type="none"/>
            </a:ln>
          </p:spPr>
        </p:cxnSp>
        <p:cxnSp>
          <p:nvCxnSpPr>
            <p:cNvPr id="1273" name="Google Shape;1273;p30"/>
            <p:cNvCxnSpPr/>
            <p:nvPr/>
          </p:nvCxnSpPr>
          <p:spPr>
            <a:xfrm>
              <a:off x="816" y="2592"/>
              <a:ext cx="209" cy="0"/>
            </a:xfrm>
            <a:prstGeom prst="straightConnector1">
              <a:avLst/>
            </a:prstGeom>
            <a:noFill/>
            <a:ln cap="flat" cmpd="sng" w="28575">
              <a:solidFill>
                <a:srgbClr val="00CCFF"/>
              </a:solidFill>
              <a:prstDash val="solid"/>
              <a:round/>
              <a:headEnd len="sm" w="sm" type="none"/>
              <a:tailEnd len="sm" w="sm" type="none"/>
            </a:ln>
          </p:spPr>
        </p:cxnSp>
        <p:cxnSp>
          <p:nvCxnSpPr>
            <p:cNvPr id="1274" name="Google Shape;1274;p30"/>
            <p:cNvCxnSpPr/>
            <p:nvPr/>
          </p:nvCxnSpPr>
          <p:spPr>
            <a:xfrm>
              <a:off x="816" y="2544"/>
              <a:ext cx="209" cy="0"/>
            </a:xfrm>
            <a:prstGeom prst="straightConnector1">
              <a:avLst/>
            </a:prstGeom>
            <a:noFill/>
            <a:ln cap="flat" cmpd="sng" w="28575">
              <a:solidFill>
                <a:srgbClr val="00CCFF"/>
              </a:solidFill>
              <a:prstDash val="solid"/>
              <a:round/>
              <a:headEnd len="sm" w="sm" type="none"/>
              <a:tailEnd len="sm" w="sm" type="none"/>
            </a:ln>
          </p:spPr>
        </p:cxnSp>
        <p:cxnSp>
          <p:nvCxnSpPr>
            <p:cNvPr id="1275" name="Google Shape;1275;p30"/>
            <p:cNvCxnSpPr/>
            <p:nvPr/>
          </p:nvCxnSpPr>
          <p:spPr>
            <a:xfrm>
              <a:off x="816" y="2640"/>
              <a:ext cx="209" cy="0"/>
            </a:xfrm>
            <a:prstGeom prst="straightConnector1">
              <a:avLst/>
            </a:prstGeom>
            <a:noFill/>
            <a:ln cap="flat" cmpd="sng" w="28575">
              <a:solidFill>
                <a:srgbClr val="00CCFF"/>
              </a:solidFill>
              <a:prstDash val="solid"/>
              <a:round/>
              <a:headEnd len="sm" w="sm" type="none"/>
              <a:tailEnd len="sm" w="sm" type="none"/>
            </a:ln>
          </p:spPr>
        </p:cxnSp>
      </p:grpSp>
      <p:cxnSp>
        <p:nvCxnSpPr>
          <p:cNvPr id="1276" name="Google Shape;1276;p30"/>
          <p:cNvCxnSpPr/>
          <p:nvPr/>
        </p:nvCxnSpPr>
        <p:spPr>
          <a:xfrm flipH="1">
            <a:off x="5468938" y="4621705"/>
            <a:ext cx="933450" cy="358775"/>
          </a:xfrm>
          <a:prstGeom prst="straightConnector1">
            <a:avLst/>
          </a:prstGeom>
          <a:noFill/>
          <a:ln cap="flat" cmpd="sng" w="28575">
            <a:solidFill>
              <a:schemeClr val="dk1"/>
            </a:solidFill>
            <a:prstDash val="solid"/>
            <a:round/>
            <a:headEnd len="sm" w="sm" type="none"/>
            <a:tailEnd len="lg" w="lg" type="triangle"/>
          </a:ln>
        </p:spPr>
      </p:cxnSp>
      <p:grpSp>
        <p:nvGrpSpPr>
          <p:cNvPr id="1277" name="Google Shape;1277;p30"/>
          <p:cNvGrpSpPr/>
          <p:nvPr/>
        </p:nvGrpSpPr>
        <p:grpSpPr>
          <a:xfrm>
            <a:off x="3219450" y="6025055"/>
            <a:ext cx="1081088" cy="438150"/>
            <a:chOff x="144" y="1440"/>
            <a:chExt cx="881" cy="510"/>
          </a:xfrm>
        </p:grpSpPr>
        <p:sp>
          <p:nvSpPr>
            <p:cNvPr id="1278" name="Google Shape;1278;p30"/>
            <p:cNvSpPr/>
            <p:nvPr/>
          </p:nvSpPr>
          <p:spPr>
            <a:xfrm>
              <a:off x="144" y="1440"/>
              <a:ext cx="881" cy="510"/>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279" name="Google Shape;1279;p30"/>
            <p:cNvCxnSpPr/>
            <p:nvPr/>
          </p:nvCxnSpPr>
          <p:spPr>
            <a:xfrm>
              <a:off x="144" y="1810"/>
              <a:ext cx="881" cy="0"/>
            </a:xfrm>
            <a:prstGeom prst="straightConnector1">
              <a:avLst/>
            </a:prstGeom>
            <a:noFill/>
            <a:ln cap="flat" cmpd="sng" w="28575">
              <a:solidFill>
                <a:srgbClr val="00CCFF"/>
              </a:solidFill>
              <a:prstDash val="solid"/>
              <a:round/>
              <a:headEnd len="sm" w="sm" type="none"/>
              <a:tailEnd len="sm" w="sm" type="none"/>
            </a:ln>
          </p:spPr>
        </p:cxnSp>
        <p:cxnSp>
          <p:nvCxnSpPr>
            <p:cNvPr id="1280" name="Google Shape;1280;p30"/>
            <p:cNvCxnSpPr/>
            <p:nvPr/>
          </p:nvCxnSpPr>
          <p:spPr>
            <a:xfrm>
              <a:off x="144" y="1680"/>
              <a:ext cx="881" cy="0"/>
            </a:xfrm>
            <a:prstGeom prst="straightConnector1">
              <a:avLst/>
            </a:prstGeom>
            <a:noFill/>
            <a:ln cap="flat" cmpd="sng" w="28575">
              <a:solidFill>
                <a:srgbClr val="00CCFF"/>
              </a:solidFill>
              <a:prstDash val="solid"/>
              <a:round/>
              <a:headEnd len="sm" w="sm" type="none"/>
              <a:tailEnd len="sm" w="sm" type="none"/>
            </a:ln>
          </p:spPr>
        </p:cxnSp>
      </p:grpSp>
      <p:grpSp>
        <p:nvGrpSpPr>
          <p:cNvPr id="1281" name="Google Shape;1281;p30"/>
          <p:cNvGrpSpPr/>
          <p:nvPr/>
        </p:nvGrpSpPr>
        <p:grpSpPr>
          <a:xfrm>
            <a:off x="4868863" y="6025055"/>
            <a:ext cx="1084262" cy="438150"/>
            <a:chOff x="144" y="1440"/>
            <a:chExt cx="881" cy="510"/>
          </a:xfrm>
        </p:grpSpPr>
        <p:sp>
          <p:nvSpPr>
            <p:cNvPr id="1282" name="Google Shape;1282;p30"/>
            <p:cNvSpPr/>
            <p:nvPr/>
          </p:nvSpPr>
          <p:spPr>
            <a:xfrm>
              <a:off x="144" y="1440"/>
              <a:ext cx="881" cy="510"/>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283" name="Google Shape;1283;p30"/>
            <p:cNvCxnSpPr/>
            <p:nvPr/>
          </p:nvCxnSpPr>
          <p:spPr>
            <a:xfrm>
              <a:off x="144" y="1810"/>
              <a:ext cx="881" cy="0"/>
            </a:xfrm>
            <a:prstGeom prst="straightConnector1">
              <a:avLst/>
            </a:prstGeom>
            <a:noFill/>
            <a:ln cap="flat" cmpd="sng" w="28575">
              <a:solidFill>
                <a:srgbClr val="00CCFF"/>
              </a:solidFill>
              <a:prstDash val="solid"/>
              <a:round/>
              <a:headEnd len="sm" w="sm" type="none"/>
              <a:tailEnd len="sm" w="sm" type="none"/>
            </a:ln>
          </p:spPr>
        </p:cxnSp>
        <p:cxnSp>
          <p:nvCxnSpPr>
            <p:cNvPr id="1284" name="Google Shape;1284;p30"/>
            <p:cNvCxnSpPr/>
            <p:nvPr/>
          </p:nvCxnSpPr>
          <p:spPr>
            <a:xfrm>
              <a:off x="144" y="1680"/>
              <a:ext cx="881" cy="0"/>
            </a:xfrm>
            <a:prstGeom prst="straightConnector1">
              <a:avLst/>
            </a:prstGeom>
            <a:noFill/>
            <a:ln cap="flat" cmpd="sng" w="28575">
              <a:solidFill>
                <a:srgbClr val="00CCFF"/>
              </a:solidFill>
              <a:prstDash val="solid"/>
              <a:round/>
              <a:headEnd len="sm" w="sm" type="none"/>
              <a:tailEnd len="sm" w="sm" type="none"/>
            </a:ln>
          </p:spPr>
        </p:cxnSp>
      </p:grpSp>
      <p:cxnSp>
        <p:nvCxnSpPr>
          <p:cNvPr id="1285" name="Google Shape;1285;p30"/>
          <p:cNvCxnSpPr/>
          <p:nvPr/>
        </p:nvCxnSpPr>
        <p:spPr>
          <a:xfrm>
            <a:off x="2503488" y="5888530"/>
            <a:ext cx="690562" cy="303213"/>
          </a:xfrm>
          <a:prstGeom prst="straightConnector1">
            <a:avLst/>
          </a:prstGeom>
          <a:noFill/>
          <a:ln cap="flat" cmpd="sng" w="28575">
            <a:solidFill>
              <a:schemeClr val="dk1"/>
            </a:solidFill>
            <a:prstDash val="solid"/>
            <a:round/>
            <a:headEnd len="sm" w="sm" type="none"/>
            <a:tailEnd len="lg" w="lg" type="triangle"/>
          </a:ln>
        </p:spPr>
      </p:cxnSp>
      <p:cxnSp>
        <p:nvCxnSpPr>
          <p:cNvPr id="1286" name="Google Shape;1286;p30"/>
          <p:cNvCxnSpPr/>
          <p:nvPr/>
        </p:nvCxnSpPr>
        <p:spPr>
          <a:xfrm rot="10800000">
            <a:off x="4868863" y="5555155"/>
            <a:ext cx="447675" cy="457200"/>
          </a:xfrm>
          <a:prstGeom prst="straightConnector1">
            <a:avLst/>
          </a:prstGeom>
          <a:noFill/>
          <a:ln cap="flat" cmpd="sng" w="28575">
            <a:solidFill>
              <a:schemeClr val="dk1"/>
            </a:solidFill>
            <a:prstDash val="solid"/>
            <a:round/>
            <a:headEnd len="sm" w="sm" type="none"/>
            <a:tailEnd len="lg" w="lg" type="triangle"/>
          </a:ln>
        </p:spPr>
      </p:cxnSp>
      <p:cxnSp>
        <p:nvCxnSpPr>
          <p:cNvPr id="1287" name="Google Shape;1287;p30"/>
          <p:cNvCxnSpPr/>
          <p:nvPr/>
        </p:nvCxnSpPr>
        <p:spPr>
          <a:xfrm flipH="1">
            <a:off x="5949950" y="5818680"/>
            <a:ext cx="688975" cy="412750"/>
          </a:xfrm>
          <a:prstGeom prst="straightConnector1">
            <a:avLst/>
          </a:prstGeom>
          <a:noFill/>
          <a:ln cap="flat" cmpd="sng" w="28575">
            <a:solidFill>
              <a:schemeClr val="dk1"/>
            </a:solidFill>
            <a:prstDash val="solid"/>
            <a:round/>
            <a:headEnd len="sm" w="sm" type="none"/>
            <a:tailEnd len="lg" w="lg" type="triangle"/>
          </a:ln>
        </p:spPr>
      </p:cxnSp>
      <p:grpSp>
        <p:nvGrpSpPr>
          <p:cNvPr id="1288" name="Google Shape;1288;p30"/>
          <p:cNvGrpSpPr/>
          <p:nvPr/>
        </p:nvGrpSpPr>
        <p:grpSpPr>
          <a:xfrm>
            <a:off x="4037013" y="4002580"/>
            <a:ext cx="1082675" cy="438150"/>
            <a:chOff x="144" y="1440"/>
            <a:chExt cx="881" cy="510"/>
          </a:xfrm>
        </p:grpSpPr>
        <p:sp>
          <p:nvSpPr>
            <p:cNvPr id="1289" name="Google Shape;1289;p30"/>
            <p:cNvSpPr/>
            <p:nvPr/>
          </p:nvSpPr>
          <p:spPr>
            <a:xfrm>
              <a:off x="144" y="1440"/>
              <a:ext cx="881" cy="510"/>
            </a:xfrm>
            <a:prstGeom prst="rect">
              <a:avLst/>
            </a:prstGeom>
            <a:noFill/>
            <a:ln cap="flat" cmpd="sng" w="28575">
              <a:solidFill>
                <a:srgbClr val="00CCFF"/>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290" name="Google Shape;1290;p30"/>
            <p:cNvCxnSpPr/>
            <p:nvPr/>
          </p:nvCxnSpPr>
          <p:spPr>
            <a:xfrm>
              <a:off x="144" y="1810"/>
              <a:ext cx="881" cy="0"/>
            </a:xfrm>
            <a:prstGeom prst="straightConnector1">
              <a:avLst/>
            </a:prstGeom>
            <a:noFill/>
            <a:ln cap="flat" cmpd="sng" w="28575">
              <a:solidFill>
                <a:srgbClr val="00CCFF"/>
              </a:solidFill>
              <a:prstDash val="solid"/>
              <a:round/>
              <a:headEnd len="sm" w="sm" type="none"/>
              <a:tailEnd len="sm" w="sm" type="none"/>
            </a:ln>
          </p:spPr>
        </p:cxnSp>
        <p:cxnSp>
          <p:nvCxnSpPr>
            <p:cNvPr id="1291" name="Google Shape;1291;p30"/>
            <p:cNvCxnSpPr/>
            <p:nvPr/>
          </p:nvCxnSpPr>
          <p:spPr>
            <a:xfrm>
              <a:off x="144" y="1680"/>
              <a:ext cx="881" cy="0"/>
            </a:xfrm>
            <a:prstGeom prst="straightConnector1">
              <a:avLst/>
            </a:prstGeom>
            <a:noFill/>
            <a:ln cap="flat" cmpd="sng" w="28575">
              <a:solidFill>
                <a:srgbClr val="00CCFF"/>
              </a:solidFill>
              <a:prstDash val="solid"/>
              <a:round/>
              <a:headEnd len="sm" w="sm" type="none"/>
              <a:tailEnd len="sm" w="sm" type="none"/>
            </a:ln>
          </p:spPr>
        </p:cxnSp>
      </p:grpSp>
      <p:cxnSp>
        <p:nvCxnSpPr>
          <p:cNvPr id="1292" name="Google Shape;1292;p30"/>
          <p:cNvCxnSpPr/>
          <p:nvPr/>
        </p:nvCxnSpPr>
        <p:spPr>
          <a:xfrm flipH="1" rot="10800000">
            <a:off x="2800350" y="4212130"/>
            <a:ext cx="1241425" cy="476250"/>
          </a:xfrm>
          <a:prstGeom prst="straightConnector1">
            <a:avLst/>
          </a:prstGeom>
          <a:noFill/>
          <a:ln cap="flat" cmpd="sng" w="28575">
            <a:solidFill>
              <a:schemeClr val="dk1"/>
            </a:solidFill>
            <a:prstDash val="solid"/>
            <a:round/>
            <a:headEnd len="sm" w="sm" type="none"/>
            <a:tailEnd len="lg" w="lg" type="triangle"/>
          </a:ln>
        </p:spPr>
      </p:cxnSp>
      <p:cxnSp>
        <p:nvCxnSpPr>
          <p:cNvPr id="1293" name="Google Shape;1293;p30"/>
          <p:cNvCxnSpPr/>
          <p:nvPr/>
        </p:nvCxnSpPr>
        <p:spPr>
          <a:xfrm rot="10800000">
            <a:off x="5130800" y="4208955"/>
            <a:ext cx="1292225" cy="371475"/>
          </a:xfrm>
          <a:prstGeom prst="straightConnector1">
            <a:avLst/>
          </a:prstGeom>
          <a:noFill/>
          <a:ln cap="flat" cmpd="sng" w="28575">
            <a:solidFill>
              <a:schemeClr val="dk1"/>
            </a:solidFill>
            <a:prstDash val="solid"/>
            <a:round/>
            <a:headEnd len="sm" w="sm" type="none"/>
            <a:tailEnd len="lg" w="lg" type="triangle"/>
          </a:ln>
        </p:spPr>
      </p:cxnSp>
      <p:cxnSp>
        <p:nvCxnSpPr>
          <p:cNvPr id="1294" name="Google Shape;1294;p30"/>
          <p:cNvCxnSpPr/>
          <p:nvPr/>
        </p:nvCxnSpPr>
        <p:spPr>
          <a:xfrm>
            <a:off x="4581525" y="4456605"/>
            <a:ext cx="0" cy="371475"/>
          </a:xfrm>
          <a:prstGeom prst="straightConnector1">
            <a:avLst/>
          </a:prstGeom>
          <a:noFill/>
          <a:ln cap="flat" cmpd="sng" w="28575">
            <a:solidFill>
              <a:schemeClr val="dk1"/>
            </a:solidFill>
            <a:prstDash val="solid"/>
            <a:round/>
            <a:headEnd len="sm" w="sm" type="none"/>
            <a:tailEnd len="lg" w="lg" type="triangle"/>
          </a:ln>
        </p:spPr>
      </p:cxnSp>
      <p:sp>
        <p:nvSpPr>
          <p:cNvPr id="1295" name="Google Shape;1295;p30"/>
          <p:cNvSpPr/>
          <p:nvPr/>
        </p:nvSpPr>
        <p:spPr>
          <a:xfrm>
            <a:off x="2393950" y="4662980"/>
            <a:ext cx="412750" cy="41275"/>
          </a:xfrm>
          <a:prstGeom prst="rect">
            <a:avLst/>
          </a:prstGeom>
          <a:solidFill>
            <a:schemeClr val="dk2"/>
          </a:solidFill>
          <a:ln cap="flat" cmpd="sng" w="28575">
            <a:solidFill>
              <a:schemeClr val="dk2"/>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96" name="Google Shape;1296;p30"/>
          <p:cNvSpPr/>
          <p:nvPr/>
        </p:nvSpPr>
        <p:spPr>
          <a:xfrm>
            <a:off x="2393950" y="4951905"/>
            <a:ext cx="412750" cy="41275"/>
          </a:xfrm>
          <a:prstGeom prst="rect">
            <a:avLst/>
          </a:prstGeom>
          <a:solidFill>
            <a:schemeClr val="dk2"/>
          </a:solidFill>
          <a:ln cap="flat" cmpd="sng" w="28575">
            <a:solidFill>
              <a:schemeClr val="dk2"/>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97" name="Google Shape;1297;p30"/>
          <p:cNvSpPr/>
          <p:nvPr/>
        </p:nvSpPr>
        <p:spPr>
          <a:xfrm>
            <a:off x="2157413" y="5859955"/>
            <a:ext cx="412750" cy="41275"/>
          </a:xfrm>
          <a:prstGeom prst="rect">
            <a:avLst/>
          </a:prstGeom>
          <a:solidFill>
            <a:schemeClr val="dk2"/>
          </a:solidFill>
          <a:ln cap="flat" cmpd="sng" w="28575">
            <a:solidFill>
              <a:schemeClr val="dk2"/>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98" name="Google Shape;1298;p30"/>
          <p:cNvSpPr/>
          <p:nvPr/>
        </p:nvSpPr>
        <p:spPr>
          <a:xfrm>
            <a:off x="6580188" y="5818680"/>
            <a:ext cx="412750" cy="41275"/>
          </a:xfrm>
          <a:prstGeom prst="rect">
            <a:avLst/>
          </a:prstGeom>
          <a:solidFill>
            <a:schemeClr val="dk2"/>
          </a:solidFill>
          <a:ln cap="flat" cmpd="sng" w="28575">
            <a:solidFill>
              <a:schemeClr val="dk2"/>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299" name="Google Shape;1299;p30"/>
          <p:cNvSpPr/>
          <p:nvPr/>
        </p:nvSpPr>
        <p:spPr>
          <a:xfrm>
            <a:off x="6580188" y="5447205"/>
            <a:ext cx="412750" cy="39688"/>
          </a:xfrm>
          <a:prstGeom prst="rect">
            <a:avLst/>
          </a:prstGeom>
          <a:solidFill>
            <a:schemeClr val="dk2"/>
          </a:solidFill>
          <a:ln cap="flat" cmpd="sng" w="28575">
            <a:solidFill>
              <a:schemeClr val="dk2"/>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00" name="Google Shape;1300;p30"/>
          <p:cNvSpPr/>
          <p:nvPr/>
        </p:nvSpPr>
        <p:spPr>
          <a:xfrm>
            <a:off x="6402388" y="4580430"/>
            <a:ext cx="412750" cy="41275"/>
          </a:xfrm>
          <a:prstGeom prst="rect">
            <a:avLst/>
          </a:prstGeom>
          <a:solidFill>
            <a:schemeClr val="dk2"/>
          </a:solidFill>
          <a:ln cap="flat" cmpd="sng" w="28575">
            <a:solidFill>
              <a:schemeClr val="dk2"/>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01" name="Google Shape;1301;p30"/>
          <p:cNvCxnSpPr/>
          <p:nvPr/>
        </p:nvCxnSpPr>
        <p:spPr>
          <a:xfrm flipH="1" rot="10800000">
            <a:off x="3840163" y="5555155"/>
            <a:ext cx="447675" cy="457200"/>
          </a:xfrm>
          <a:prstGeom prst="straightConnector1">
            <a:avLst/>
          </a:prstGeom>
          <a:noFill/>
          <a:ln cap="flat" cmpd="sng" w="28575">
            <a:solidFill>
              <a:schemeClr val="dk1"/>
            </a:solidFill>
            <a:prstDash val="solid"/>
            <a:round/>
            <a:headEnd len="sm" w="sm" type="none"/>
            <a:tailEnd len="lg" w="lg"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31"/>
          <p:cNvSpPr txBox="1"/>
          <p:nvPr>
            <p:ph type="title"/>
          </p:nvPr>
        </p:nvSpPr>
        <p:spPr>
          <a:xfrm>
            <a:off x="473075" y="152400"/>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Checkpoints: Use-Case Design</a:t>
            </a:r>
            <a:endParaRPr/>
          </a:p>
        </p:txBody>
      </p:sp>
      <p:sp>
        <p:nvSpPr>
          <p:cNvPr id="1309" name="Google Shape;1309;p31"/>
          <p:cNvSpPr txBox="1"/>
          <p:nvPr>
            <p:ph idx="1" type="body"/>
          </p:nvPr>
        </p:nvSpPr>
        <p:spPr>
          <a:xfrm>
            <a:off x="361950" y="1052513"/>
            <a:ext cx="6572250" cy="5043487"/>
          </a:xfrm>
          <a:prstGeom prst="rect">
            <a:avLst/>
          </a:prstGeom>
          <a:noFill/>
          <a:ln>
            <a:noFill/>
          </a:ln>
        </p:spPr>
        <p:txBody>
          <a:bodyPr anchorCtr="0" anchor="t" bIns="45700" lIns="91425" spcFirstLastPara="1" rIns="91425" wrap="square" tIns="45700">
            <a:normAutofit/>
          </a:bodyPr>
          <a:lstStyle/>
          <a:p>
            <a:pPr indent="-274320" lvl="0" marL="274320" rtl="0" algn="l">
              <a:lnSpc>
                <a:spcPct val="70000"/>
              </a:lnSpc>
              <a:spcBef>
                <a:spcPts val="0"/>
              </a:spcBef>
              <a:spcAft>
                <a:spcPts val="0"/>
              </a:spcAft>
              <a:buSzPts val="2375"/>
              <a:buChar char="⚫"/>
            </a:pPr>
            <a:r>
              <a:rPr lang="en-US" sz="2500"/>
              <a:t>Is package/subsystem partitioning logical and consistent?</a:t>
            </a:r>
            <a:endParaRPr/>
          </a:p>
          <a:p>
            <a:pPr indent="-274320" lvl="0" marL="274320" rtl="0" algn="l">
              <a:lnSpc>
                <a:spcPct val="70000"/>
              </a:lnSpc>
              <a:spcBef>
                <a:spcPts val="500"/>
              </a:spcBef>
              <a:spcAft>
                <a:spcPts val="0"/>
              </a:spcAft>
              <a:buSzPts val="2375"/>
              <a:buChar char="⚫"/>
            </a:pPr>
            <a:r>
              <a:rPr lang="en-US" sz="2500"/>
              <a:t>Are the names of the packages/subsystems descriptive? </a:t>
            </a:r>
            <a:endParaRPr/>
          </a:p>
          <a:p>
            <a:pPr indent="-274320" lvl="0" marL="274320" rtl="0" algn="l">
              <a:lnSpc>
                <a:spcPct val="70000"/>
              </a:lnSpc>
              <a:spcBef>
                <a:spcPts val="500"/>
              </a:spcBef>
              <a:spcAft>
                <a:spcPts val="0"/>
              </a:spcAft>
              <a:buSzPts val="2375"/>
              <a:buChar char="⚫"/>
            </a:pPr>
            <a:r>
              <a:rPr lang="en-US" sz="2500"/>
              <a:t>Do the public package classes and subsystem interfaces provide a single, logically consistent set of services?</a:t>
            </a:r>
            <a:endParaRPr/>
          </a:p>
          <a:p>
            <a:pPr indent="-274320" lvl="0" marL="274320" rtl="0" algn="l">
              <a:lnSpc>
                <a:spcPct val="70000"/>
              </a:lnSpc>
              <a:spcBef>
                <a:spcPts val="500"/>
              </a:spcBef>
              <a:spcAft>
                <a:spcPts val="0"/>
              </a:spcAft>
              <a:buSzPts val="2375"/>
              <a:buChar char="⚫"/>
            </a:pPr>
            <a:r>
              <a:rPr lang="en-US" sz="2500"/>
              <a:t>Do the package/subsystem dependencies correspond to the relationships between the contained classes?</a:t>
            </a:r>
            <a:endParaRPr/>
          </a:p>
          <a:p>
            <a:pPr indent="-274320" lvl="0" marL="274320" rtl="0" algn="l">
              <a:lnSpc>
                <a:spcPct val="70000"/>
              </a:lnSpc>
              <a:spcBef>
                <a:spcPts val="500"/>
              </a:spcBef>
              <a:spcAft>
                <a:spcPts val="0"/>
              </a:spcAft>
              <a:buSzPts val="2375"/>
              <a:buChar char="⚫"/>
            </a:pPr>
            <a:r>
              <a:rPr lang="en-US" sz="2500"/>
              <a:t>Do the classes contained in a package belong there according to the criteria for the package division? </a:t>
            </a:r>
            <a:endParaRPr/>
          </a:p>
          <a:p>
            <a:pPr indent="-274320" lvl="0" marL="274320" rtl="0" algn="l">
              <a:lnSpc>
                <a:spcPct val="70000"/>
              </a:lnSpc>
              <a:spcBef>
                <a:spcPts val="500"/>
              </a:spcBef>
              <a:spcAft>
                <a:spcPts val="0"/>
              </a:spcAft>
              <a:buSzPts val="2375"/>
              <a:buChar char="⚫"/>
            </a:pPr>
            <a:r>
              <a:rPr lang="en-US" sz="2500"/>
              <a:t>Are there classes or collaborations of classes that can be separated into an independent package/subsystem?</a:t>
            </a:r>
            <a:endParaRPr/>
          </a:p>
          <a:p>
            <a:pPr indent="-105410" lvl="0" marL="274320" rtl="0" algn="l">
              <a:lnSpc>
                <a:spcPct val="70000"/>
              </a:lnSpc>
              <a:spcBef>
                <a:spcPts val="560"/>
              </a:spcBef>
              <a:spcAft>
                <a:spcPts val="0"/>
              </a:spcAft>
              <a:buSzPts val="2660"/>
              <a:buNone/>
            </a:pPr>
            <a:r>
              <a:t/>
            </a:r>
            <a:endParaRPr sz="2800"/>
          </a:p>
        </p:txBody>
      </p:sp>
      <p:sp>
        <p:nvSpPr>
          <p:cNvPr id="1310" name="Google Shape;1310;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C:\Documents and Settings\dmachado\My Documents\GIFs\clipboard2.gif" id="1311" name="Google Shape;1311;p31"/>
          <p:cNvPicPr preferRelativeResize="0"/>
          <p:nvPr/>
        </p:nvPicPr>
        <p:blipFill rotWithShape="1">
          <a:blip r:embed="rId3">
            <a:alphaModFix/>
          </a:blip>
          <a:srcRect b="0" l="0" r="0" t="0"/>
          <a:stretch/>
        </p:blipFill>
        <p:spPr>
          <a:xfrm>
            <a:off x="7078663" y="1076325"/>
            <a:ext cx="1624012" cy="179228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32"/>
          <p:cNvSpPr txBox="1"/>
          <p:nvPr>
            <p:ph type="title"/>
          </p:nvPr>
        </p:nvSpPr>
        <p:spPr>
          <a:xfrm>
            <a:off x="347662" y="257938"/>
            <a:ext cx="8229600" cy="794575"/>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Checkpoints: Use-Case Design</a:t>
            </a:r>
            <a:endParaRPr/>
          </a:p>
        </p:txBody>
      </p:sp>
      <p:sp>
        <p:nvSpPr>
          <p:cNvPr id="1319" name="Google Shape;1319;p32"/>
          <p:cNvSpPr txBox="1"/>
          <p:nvPr>
            <p:ph idx="1" type="body"/>
          </p:nvPr>
        </p:nvSpPr>
        <p:spPr>
          <a:xfrm>
            <a:off x="361950" y="1052513"/>
            <a:ext cx="6724650" cy="504348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t>Have all the main and/or subflow for this iteration been handled?</a:t>
            </a:r>
            <a:endParaRPr/>
          </a:p>
          <a:p>
            <a:pPr indent="-274320" lvl="0" marL="274320" rtl="0" algn="l">
              <a:spcBef>
                <a:spcPts val="560"/>
              </a:spcBef>
              <a:spcAft>
                <a:spcPts val="0"/>
              </a:spcAft>
              <a:buSzPts val="2660"/>
              <a:buChar char="⚫"/>
            </a:pPr>
            <a:r>
              <a:rPr lang="en-US" sz="2800"/>
              <a:t>Has all behavior been distributed among the participating design elements?</a:t>
            </a:r>
            <a:endParaRPr/>
          </a:p>
          <a:p>
            <a:pPr indent="-274320" lvl="0" marL="274320" rtl="0" algn="l">
              <a:spcBef>
                <a:spcPts val="560"/>
              </a:spcBef>
              <a:spcAft>
                <a:spcPts val="0"/>
              </a:spcAft>
              <a:buSzPts val="2660"/>
              <a:buChar char="⚫"/>
            </a:pPr>
            <a:r>
              <a:rPr lang="en-US" sz="2800"/>
              <a:t>Has behavior been distributed to the right design elements?</a:t>
            </a:r>
            <a:endParaRPr/>
          </a:p>
          <a:p>
            <a:pPr indent="-274320" lvl="0" marL="274320" rtl="0" algn="l">
              <a:spcBef>
                <a:spcPts val="560"/>
              </a:spcBef>
              <a:spcAft>
                <a:spcPts val="0"/>
              </a:spcAft>
              <a:buSzPts val="2660"/>
              <a:buChar char="⚫"/>
            </a:pPr>
            <a:r>
              <a:rPr lang="en-US" sz="2800"/>
              <a:t>If there are several interaction diagrams for the use-case realization, is it easy to understand which collaboration diagrams relate to which flow of events?</a:t>
            </a:r>
            <a:endParaRPr/>
          </a:p>
        </p:txBody>
      </p:sp>
      <p:sp>
        <p:nvSpPr>
          <p:cNvPr id="1320" name="Google Shape;1320;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C:\Documents and Settings\dmachado\My Documents\GIFs\clipboard2.gif" id="1321" name="Google Shape;1321;p32"/>
          <p:cNvPicPr preferRelativeResize="0"/>
          <p:nvPr/>
        </p:nvPicPr>
        <p:blipFill rotWithShape="1">
          <a:blip r:embed="rId3">
            <a:alphaModFix/>
          </a:blip>
          <a:srcRect b="0" l="0" r="0" t="0"/>
          <a:stretch/>
        </p:blipFill>
        <p:spPr>
          <a:xfrm>
            <a:off x="7572375" y="1283112"/>
            <a:ext cx="1624012" cy="179228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3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Review: Use-Case Design</a:t>
            </a:r>
            <a:endParaRPr/>
          </a:p>
        </p:txBody>
      </p:sp>
      <p:sp>
        <p:nvSpPr>
          <p:cNvPr id="1330" name="Google Shape;1330;p3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What is the purpose of Use-Case Design?</a:t>
            </a:r>
            <a:endParaRPr/>
          </a:p>
          <a:p>
            <a:pPr indent="-274320" lvl="0" marL="274320" rtl="0" algn="l">
              <a:spcBef>
                <a:spcPts val="520"/>
              </a:spcBef>
              <a:spcAft>
                <a:spcPts val="0"/>
              </a:spcAft>
              <a:buSzPts val="2470"/>
              <a:buChar char="⚫"/>
            </a:pPr>
            <a:r>
              <a:rPr lang="en-US"/>
              <a:t>What is meant by encapsulating subsystem interactions?  Why is it a good thing to do?</a:t>
            </a:r>
            <a:endParaRPr/>
          </a:p>
        </p:txBody>
      </p:sp>
      <p:sp>
        <p:nvSpPr>
          <p:cNvPr id="1331" name="Google Shape;1331;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C:\Documents and Settings\dmachado\dmachado_view\DEV_ILT\Images\review2.gif" id="1332" name="Google Shape;1332;p33"/>
          <p:cNvPicPr preferRelativeResize="0"/>
          <p:nvPr/>
        </p:nvPicPr>
        <p:blipFill rotWithShape="1">
          <a:blip r:embed="rId3">
            <a:alphaModFix/>
          </a:blip>
          <a:srcRect b="0" l="0" r="0" t="0"/>
          <a:stretch/>
        </p:blipFill>
        <p:spPr>
          <a:xfrm>
            <a:off x="3646488" y="3359150"/>
            <a:ext cx="1933575" cy="187483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34"/>
          <p:cNvSpPr txBox="1"/>
          <p:nvPr>
            <p:ph type="title"/>
          </p:nvPr>
        </p:nvSpPr>
        <p:spPr>
          <a:xfrm>
            <a:off x="487362" y="-47180"/>
            <a:ext cx="8229600" cy="8961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Exercise: Use-Case Design</a:t>
            </a:r>
            <a:endParaRPr/>
          </a:p>
        </p:txBody>
      </p:sp>
      <p:sp>
        <p:nvSpPr>
          <p:cNvPr id="1341" name="Google Shape;1341;p34"/>
          <p:cNvSpPr txBox="1"/>
          <p:nvPr>
            <p:ph idx="1" type="body"/>
          </p:nvPr>
        </p:nvSpPr>
        <p:spPr>
          <a:xfrm>
            <a:off x="361950" y="1052513"/>
            <a:ext cx="6140450" cy="5043487"/>
          </a:xfrm>
          <a:prstGeom prst="rect">
            <a:avLst/>
          </a:prstGeom>
          <a:noFill/>
          <a:ln>
            <a:noFill/>
          </a:ln>
        </p:spPr>
        <p:txBody>
          <a:bodyPr anchorCtr="0" anchor="t" bIns="45700" lIns="91425" spcFirstLastPara="1" rIns="91425" wrap="square" tIns="45700">
            <a:normAutofit/>
          </a:bodyPr>
          <a:lstStyle/>
          <a:p>
            <a:pPr indent="-274320" lvl="0" marL="274320" rtl="0" algn="l">
              <a:lnSpc>
                <a:spcPct val="70000"/>
              </a:lnSpc>
              <a:spcBef>
                <a:spcPts val="0"/>
              </a:spcBef>
              <a:spcAft>
                <a:spcPts val="0"/>
              </a:spcAft>
              <a:buSzPts val="2470"/>
              <a:buChar char="⚫"/>
            </a:pPr>
            <a:r>
              <a:rPr lang="en-US"/>
              <a:t>Given the following:</a:t>
            </a:r>
            <a:endParaRPr/>
          </a:p>
          <a:p>
            <a:pPr indent="-246888" lvl="1" marL="640080" rtl="0" algn="l">
              <a:lnSpc>
                <a:spcPct val="77000"/>
              </a:lnSpc>
              <a:spcBef>
                <a:spcPts val="480"/>
              </a:spcBef>
              <a:spcAft>
                <a:spcPts val="0"/>
              </a:spcAft>
              <a:buSzPts val="2040"/>
              <a:buChar char="⚫"/>
            </a:pPr>
            <a:r>
              <a:rPr lang="en-US"/>
              <a:t>Analysis use-case realizations (VOPCs and interaction diagrams)</a:t>
            </a:r>
            <a:endParaRPr/>
          </a:p>
          <a:p>
            <a:pPr indent="-246888" lvl="1" marL="640080" rtl="0" algn="l">
              <a:lnSpc>
                <a:spcPct val="77000"/>
              </a:lnSpc>
              <a:spcBef>
                <a:spcPts val="480"/>
              </a:spcBef>
              <a:spcAft>
                <a:spcPts val="0"/>
              </a:spcAft>
              <a:buSzPts val="2040"/>
              <a:buChar char="⚫"/>
            </a:pPr>
            <a:r>
              <a:rPr lang="en-US"/>
              <a:t>The analysis-class-to-design-element map</a:t>
            </a:r>
            <a:endParaRPr/>
          </a:p>
          <a:p>
            <a:pPr indent="-246888" lvl="1" marL="640080" rtl="0" algn="l">
              <a:lnSpc>
                <a:spcPct val="77000"/>
              </a:lnSpc>
              <a:spcBef>
                <a:spcPts val="480"/>
              </a:spcBef>
              <a:spcAft>
                <a:spcPts val="0"/>
              </a:spcAft>
              <a:buSzPts val="2040"/>
              <a:buChar char="⚫"/>
            </a:pPr>
            <a:r>
              <a:rPr lang="en-US"/>
              <a:t>The analysis-class-to-analysis-mechanism map</a:t>
            </a:r>
            <a:endParaRPr/>
          </a:p>
          <a:p>
            <a:pPr indent="-246888" lvl="1" marL="640080" rtl="0" algn="l">
              <a:lnSpc>
                <a:spcPct val="77000"/>
              </a:lnSpc>
              <a:spcBef>
                <a:spcPts val="480"/>
              </a:spcBef>
              <a:spcAft>
                <a:spcPts val="0"/>
              </a:spcAft>
              <a:buSzPts val="2040"/>
              <a:buChar char="⚫"/>
            </a:pPr>
            <a:r>
              <a:rPr lang="en-US"/>
              <a:t>Analysis-to-design-mechanism map</a:t>
            </a:r>
            <a:endParaRPr/>
          </a:p>
          <a:p>
            <a:pPr indent="-246888" lvl="1" marL="640080" rtl="0" algn="l">
              <a:lnSpc>
                <a:spcPct val="77000"/>
              </a:lnSpc>
              <a:spcBef>
                <a:spcPts val="480"/>
              </a:spcBef>
              <a:spcAft>
                <a:spcPts val="0"/>
              </a:spcAft>
              <a:buSzPts val="2040"/>
              <a:buChar char="⚫"/>
            </a:pPr>
            <a:r>
              <a:rPr lang="en-US"/>
              <a:t>Patterns of use for the architectural mechanisms</a:t>
            </a:r>
            <a:endParaRPr/>
          </a:p>
          <a:p>
            <a:pPr indent="-117348" lvl="1" marL="640080" rtl="0" algn="l">
              <a:lnSpc>
                <a:spcPct val="77000"/>
              </a:lnSpc>
              <a:spcBef>
                <a:spcPts val="480"/>
              </a:spcBef>
              <a:spcAft>
                <a:spcPts val="0"/>
              </a:spcAft>
              <a:buSzPts val="2040"/>
              <a:buNone/>
            </a:pPr>
            <a:r>
              <a:t/>
            </a:r>
            <a:endParaRPr/>
          </a:p>
        </p:txBody>
      </p:sp>
      <p:sp>
        <p:nvSpPr>
          <p:cNvPr id="1342" name="Google Shape;1342;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343" name="Google Shape;1343;p34"/>
          <p:cNvSpPr txBox="1"/>
          <p:nvPr/>
        </p:nvSpPr>
        <p:spPr>
          <a:xfrm>
            <a:off x="7010400" y="5881688"/>
            <a:ext cx="1828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CCFF"/>
                </a:solidFill>
                <a:latin typeface="Constantia"/>
                <a:ea typeface="Constantia"/>
                <a:cs typeface="Constantia"/>
                <a:sym typeface="Constantia"/>
              </a:rPr>
              <a:t>(continued)</a:t>
            </a:r>
            <a:endParaRPr/>
          </a:p>
        </p:txBody>
      </p:sp>
      <p:pic>
        <p:nvPicPr>
          <p:cNvPr id="1344" name="Google Shape;1344;p34"/>
          <p:cNvPicPr preferRelativeResize="0"/>
          <p:nvPr/>
        </p:nvPicPr>
        <p:blipFill rotWithShape="1">
          <a:blip r:embed="rId3">
            <a:alphaModFix/>
          </a:blip>
          <a:srcRect b="0" l="0" r="0" t="0"/>
          <a:stretch/>
        </p:blipFill>
        <p:spPr>
          <a:xfrm>
            <a:off x="6546850" y="1350963"/>
            <a:ext cx="2155825" cy="21431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35"/>
          <p:cNvSpPr txBox="1"/>
          <p:nvPr/>
        </p:nvSpPr>
        <p:spPr>
          <a:xfrm>
            <a:off x="7010400" y="5881688"/>
            <a:ext cx="1828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CCFF"/>
                </a:solidFill>
                <a:latin typeface="Constantia"/>
                <a:ea typeface="Constantia"/>
                <a:cs typeface="Constantia"/>
                <a:sym typeface="Constantia"/>
              </a:rPr>
              <a:t>(continued)</a:t>
            </a:r>
            <a:endParaRPr/>
          </a:p>
        </p:txBody>
      </p:sp>
      <p:sp>
        <p:nvSpPr>
          <p:cNvPr id="1353" name="Google Shape;1353;p35"/>
          <p:cNvSpPr txBox="1"/>
          <p:nvPr>
            <p:ph type="title"/>
          </p:nvPr>
        </p:nvSpPr>
        <p:spPr>
          <a:xfrm>
            <a:off x="361950" y="0"/>
            <a:ext cx="8229600" cy="1052513"/>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Exercise: Use-Case Design (cont.)</a:t>
            </a:r>
            <a:endParaRPr/>
          </a:p>
        </p:txBody>
      </p:sp>
      <p:sp>
        <p:nvSpPr>
          <p:cNvPr id="1354" name="Google Shape;1354;p35"/>
          <p:cNvSpPr txBox="1"/>
          <p:nvPr>
            <p:ph idx="1" type="body"/>
          </p:nvPr>
        </p:nvSpPr>
        <p:spPr>
          <a:xfrm>
            <a:off x="361950" y="1052513"/>
            <a:ext cx="6026150" cy="519588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t>Identify the following:</a:t>
            </a:r>
            <a:endParaRPr/>
          </a:p>
          <a:p>
            <a:pPr indent="-246888" lvl="1" marL="640080" rtl="0" algn="l">
              <a:spcBef>
                <a:spcPts val="480"/>
              </a:spcBef>
              <a:spcAft>
                <a:spcPts val="0"/>
              </a:spcAft>
              <a:buSzPts val="2040"/>
              <a:buChar char="⚫"/>
            </a:pPr>
            <a:r>
              <a:rPr lang="en-US" sz="2400"/>
              <a:t>The design elements that replaced the analysis classes in the analysis use-case realizations</a:t>
            </a:r>
            <a:endParaRPr/>
          </a:p>
          <a:p>
            <a:pPr indent="-246888" lvl="1" marL="640080" rtl="0" algn="l">
              <a:spcBef>
                <a:spcPts val="480"/>
              </a:spcBef>
              <a:spcAft>
                <a:spcPts val="0"/>
              </a:spcAft>
              <a:buSzPts val="2040"/>
              <a:buChar char="⚫"/>
            </a:pPr>
            <a:r>
              <a:rPr lang="en-US" sz="2400"/>
              <a:t>The architectural mechanisms that affect the use-case realizations</a:t>
            </a:r>
            <a:endParaRPr/>
          </a:p>
          <a:p>
            <a:pPr indent="-246888" lvl="1" marL="640080" rtl="0" algn="l">
              <a:spcBef>
                <a:spcPts val="480"/>
              </a:spcBef>
              <a:spcAft>
                <a:spcPts val="0"/>
              </a:spcAft>
              <a:buSzPts val="2040"/>
              <a:buChar char="⚫"/>
            </a:pPr>
            <a:r>
              <a:rPr lang="en-US" sz="2400"/>
              <a:t>The design element collaborations needed to implement the use case</a:t>
            </a:r>
            <a:endParaRPr/>
          </a:p>
          <a:p>
            <a:pPr indent="-246888" lvl="1" marL="640080" rtl="0" algn="l">
              <a:spcBef>
                <a:spcPts val="480"/>
              </a:spcBef>
              <a:spcAft>
                <a:spcPts val="0"/>
              </a:spcAft>
              <a:buSzPts val="2040"/>
              <a:buChar char="⚫"/>
            </a:pPr>
            <a:r>
              <a:rPr lang="en-US" sz="2400"/>
              <a:t>The relationships between the design elements needed to support the collaborations</a:t>
            </a:r>
            <a:endParaRPr/>
          </a:p>
        </p:txBody>
      </p:sp>
      <p:sp>
        <p:nvSpPr>
          <p:cNvPr id="1355" name="Google Shape;1355;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356" name="Google Shape;1356;p35"/>
          <p:cNvPicPr preferRelativeResize="0"/>
          <p:nvPr/>
        </p:nvPicPr>
        <p:blipFill rotWithShape="1">
          <a:blip r:embed="rId3">
            <a:alphaModFix/>
          </a:blip>
          <a:srcRect b="0" l="0" r="0" t="0"/>
          <a:stretch/>
        </p:blipFill>
        <p:spPr>
          <a:xfrm>
            <a:off x="6546850" y="1350963"/>
            <a:ext cx="2155825" cy="21431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36"/>
          <p:cNvSpPr txBox="1"/>
          <p:nvPr>
            <p:ph type="title"/>
          </p:nvPr>
        </p:nvSpPr>
        <p:spPr>
          <a:xfrm>
            <a:off x="473075" y="105126"/>
            <a:ext cx="8229600" cy="794575"/>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Exercise: Use-Case Design (cont.)</a:t>
            </a:r>
            <a:endParaRPr/>
          </a:p>
        </p:txBody>
      </p:sp>
      <p:sp>
        <p:nvSpPr>
          <p:cNvPr id="1365" name="Google Shape;1365;p36"/>
          <p:cNvSpPr txBox="1"/>
          <p:nvPr>
            <p:ph idx="1" type="body"/>
          </p:nvPr>
        </p:nvSpPr>
        <p:spPr>
          <a:xfrm>
            <a:off x="361950" y="1052513"/>
            <a:ext cx="6496050" cy="5043487"/>
          </a:xfrm>
          <a:prstGeom prst="rect">
            <a:avLst/>
          </a:prstGeom>
          <a:noFill/>
          <a:ln>
            <a:noFill/>
          </a:ln>
        </p:spPr>
        <p:txBody>
          <a:bodyPr anchorCtr="0" anchor="t" bIns="45700" lIns="91425" spcFirstLastPara="1" rIns="91425" wrap="square" tIns="45700">
            <a:normAutofit/>
          </a:bodyPr>
          <a:lstStyle/>
          <a:p>
            <a:pPr indent="-274320" lvl="0" marL="274320" rtl="0" algn="l">
              <a:lnSpc>
                <a:spcPct val="70000"/>
              </a:lnSpc>
              <a:spcBef>
                <a:spcPts val="0"/>
              </a:spcBef>
              <a:spcAft>
                <a:spcPts val="0"/>
              </a:spcAft>
              <a:buSzPts val="2470"/>
              <a:buChar char="⚫"/>
            </a:pPr>
            <a:r>
              <a:rPr lang="en-US"/>
              <a:t>Produce the following:</a:t>
            </a:r>
            <a:endParaRPr/>
          </a:p>
          <a:p>
            <a:pPr indent="-246888" lvl="1" marL="640080" rtl="0" algn="l">
              <a:lnSpc>
                <a:spcPct val="77000"/>
              </a:lnSpc>
              <a:spcBef>
                <a:spcPts val="480"/>
              </a:spcBef>
              <a:spcAft>
                <a:spcPts val="0"/>
              </a:spcAft>
              <a:buSzPts val="2040"/>
              <a:buChar char="⚫"/>
            </a:pPr>
            <a:r>
              <a:rPr lang="en-US"/>
              <a:t>Design use-case realization</a:t>
            </a:r>
            <a:endParaRPr/>
          </a:p>
          <a:p>
            <a:pPr indent="-246887" lvl="2" marL="914400" rtl="0" algn="l">
              <a:lnSpc>
                <a:spcPct val="90000"/>
              </a:lnSpc>
              <a:spcBef>
                <a:spcPts val="420"/>
              </a:spcBef>
              <a:spcAft>
                <a:spcPts val="0"/>
              </a:spcAft>
              <a:buSzPts val="1470"/>
              <a:buChar char="⚫"/>
            </a:pPr>
            <a:r>
              <a:rPr lang="en-US"/>
              <a:t>Interaction diagram(s) per use-case flow of events that describes the design element collaborations required to implement the use case</a:t>
            </a:r>
            <a:endParaRPr/>
          </a:p>
          <a:p>
            <a:pPr indent="-246887" lvl="2" marL="914400" rtl="0" algn="l">
              <a:lnSpc>
                <a:spcPct val="90000"/>
              </a:lnSpc>
              <a:spcBef>
                <a:spcPts val="420"/>
              </a:spcBef>
              <a:spcAft>
                <a:spcPts val="0"/>
              </a:spcAft>
              <a:buSzPts val="1470"/>
              <a:buChar char="⚫"/>
            </a:pPr>
            <a:r>
              <a:rPr lang="en-US"/>
              <a:t>Class diagram (VOPC) that includes the design elements that must collaborate to perform the use case, and their relationships</a:t>
            </a:r>
            <a:endParaRPr/>
          </a:p>
          <a:p>
            <a:pPr indent="-153543" lvl="2" marL="914400" rtl="0" algn="l">
              <a:lnSpc>
                <a:spcPct val="90000"/>
              </a:lnSpc>
              <a:spcBef>
                <a:spcPts val="420"/>
              </a:spcBef>
              <a:spcAft>
                <a:spcPts val="0"/>
              </a:spcAft>
              <a:buSzPts val="1470"/>
              <a:buNone/>
            </a:pPr>
            <a:r>
              <a:t/>
            </a:r>
            <a:endParaRPr/>
          </a:p>
        </p:txBody>
      </p:sp>
      <p:sp>
        <p:nvSpPr>
          <p:cNvPr id="1366" name="Google Shape;1366;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367" name="Google Shape;1367;p36"/>
          <p:cNvPicPr preferRelativeResize="0"/>
          <p:nvPr/>
        </p:nvPicPr>
        <p:blipFill rotWithShape="1">
          <a:blip r:embed="rId3">
            <a:alphaModFix/>
          </a:blip>
          <a:srcRect b="0" l="0" r="0" t="0"/>
          <a:stretch/>
        </p:blipFill>
        <p:spPr>
          <a:xfrm>
            <a:off x="6546850" y="1350963"/>
            <a:ext cx="2155825" cy="2143125"/>
          </a:xfrm>
          <a:prstGeom prst="rect">
            <a:avLst/>
          </a:prstGeom>
          <a:noFill/>
          <a:ln>
            <a:noFill/>
          </a:ln>
        </p:spPr>
      </p:pic>
      <p:sp>
        <p:nvSpPr>
          <p:cNvPr id="1368" name="Google Shape;1368;p36"/>
          <p:cNvSpPr txBox="1"/>
          <p:nvPr/>
        </p:nvSpPr>
        <p:spPr>
          <a:xfrm>
            <a:off x="7010400" y="5881688"/>
            <a:ext cx="1828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CCFF"/>
                </a:solidFill>
                <a:latin typeface="Constantia"/>
                <a:ea typeface="Constantia"/>
                <a:cs typeface="Constantia"/>
                <a:sym typeface="Constantia"/>
              </a:rPr>
              <a:t>(continued)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37"/>
          <p:cNvSpPr txBox="1"/>
          <p:nvPr>
            <p:ph type="title"/>
          </p:nvPr>
        </p:nvSpPr>
        <p:spPr>
          <a:xfrm>
            <a:off x="228600" y="228600"/>
            <a:ext cx="8229600" cy="704088"/>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4000"/>
              <a:t>Exercise: Review </a:t>
            </a:r>
            <a:endParaRPr sz="4000"/>
          </a:p>
        </p:txBody>
      </p:sp>
      <p:sp>
        <p:nvSpPr>
          <p:cNvPr id="1376" name="Google Shape;1376;p37"/>
          <p:cNvSpPr txBox="1"/>
          <p:nvPr>
            <p:ph idx="1" type="body"/>
          </p:nvPr>
        </p:nvSpPr>
        <p:spPr>
          <a:xfrm>
            <a:off x="228600" y="1240996"/>
            <a:ext cx="6861865" cy="517409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Compare your use-case realizations</a:t>
            </a:r>
            <a:endParaRPr/>
          </a:p>
          <a:p>
            <a:pPr indent="-246888" lvl="1" marL="640080" rtl="0" algn="l">
              <a:spcBef>
                <a:spcPts val="560"/>
              </a:spcBef>
              <a:spcAft>
                <a:spcPts val="0"/>
              </a:spcAft>
              <a:buSzPts val="2380"/>
              <a:buChar char="⚫"/>
            </a:pPr>
            <a:r>
              <a:rPr lang="en-US" sz="2800"/>
              <a:t>Have all the main and subflows for this iteration been handled?</a:t>
            </a:r>
            <a:endParaRPr/>
          </a:p>
          <a:p>
            <a:pPr indent="-246888" lvl="1" marL="640080" rtl="0" algn="l">
              <a:spcBef>
                <a:spcPts val="560"/>
              </a:spcBef>
              <a:spcAft>
                <a:spcPts val="0"/>
              </a:spcAft>
              <a:buSzPts val="2380"/>
              <a:buChar char="⚫"/>
            </a:pPr>
            <a:r>
              <a:rPr lang="en-US" sz="2800"/>
              <a:t> Has all behavior been distributed among the participating design elements?</a:t>
            </a:r>
            <a:endParaRPr/>
          </a:p>
          <a:p>
            <a:pPr indent="-246888" lvl="1" marL="640080" rtl="0" algn="l">
              <a:spcBef>
                <a:spcPts val="560"/>
              </a:spcBef>
              <a:spcAft>
                <a:spcPts val="0"/>
              </a:spcAft>
              <a:buSzPts val="2380"/>
              <a:buChar char="⚫"/>
            </a:pPr>
            <a:r>
              <a:rPr lang="en-US" sz="2800"/>
              <a:t>Has behavior been distributed to the right design elements?</a:t>
            </a:r>
            <a:endParaRPr/>
          </a:p>
          <a:p>
            <a:pPr indent="-246888" lvl="1" marL="640080" rtl="0" algn="l">
              <a:spcBef>
                <a:spcPts val="560"/>
              </a:spcBef>
              <a:spcAft>
                <a:spcPts val="0"/>
              </a:spcAft>
              <a:buSzPts val="2380"/>
              <a:buChar char="⚫"/>
            </a:pPr>
            <a:r>
              <a:rPr lang="en-US" sz="2800"/>
              <a:t>Are there any messages coming from the interfaces?</a:t>
            </a:r>
            <a:endParaRPr/>
          </a:p>
          <a:p>
            <a:pPr indent="-117348" lvl="1" marL="640080" rtl="0" algn="l">
              <a:spcBef>
                <a:spcPts val="480"/>
              </a:spcBef>
              <a:spcAft>
                <a:spcPts val="0"/>
              </a:spcAft>
              <a:buSzPts val="2040"/>
              <a:buNone/>
            </a:pPr>
            <a:r>
              <a:t/>
            </a:r>
            <a:endParaRPr/>
          </a:p>
        </p:txBody>
      </p:sp>
      <p:sp>
        <p:nvSpPr>
          <p:cNvPr id="1377" name="Google Shape;1377;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reba\office 2000\09prood02\PFiles\MSOffice\Clipart\standard\stddir1\bd05028_.wmf" id="1378" name="Google Shape;1378;p37"/>
          <p:cNvPicPr preferRelativeResize="0"/>
          <p:nvPr/>
        </p:nvPicPr>
        <p:blipFill rotWithShape="1">
          <a:blip r:embed="rId3">
            <a:alphaModFix/>
          </a:blip>
          <a:srcRect b="0" l="0" r="0" t="0"/>
          <a:stretch/>
        </p:blipFill>
        <p:spPr>
          <a:xfrm>
            <a:off x="7297064" y="1939925"/>
            <a:ext cx="1693862" cy="2038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38"/>
          <p:cNvSpPr txBox="1"/>
          <p:nvPr>
            <p:ph type="title"/>
          </p:nvPr>
        </p:nvSpPr>
        <p:spPr>
          <a:xfrm>
            <a:off x="2895600" y="2438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The End.</a:t>
            </a:r>
            <a:endParaRPr/>
          </a:p>
        </p:txBody>
      </p:sp>
      <p:sp>
        <p:nvSpPr>
          <p:cNvPr id="1384" name="Google Shape;1384;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2017-11-13T20:26:15Z</dcterms:created>
  <dc:creator>ThuGiang</dc:creator>
</cp:coreProperties>
</file>